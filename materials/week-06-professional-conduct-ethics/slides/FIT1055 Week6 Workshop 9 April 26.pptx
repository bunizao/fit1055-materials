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350" r:id="rId23"/>
    <p:sldId id="351" r:id="rId24"/>
    <p:sldId id="277" r:id="rId25"/>
    <p:sldId id="278" r:id="rId26"/>
    <p:sldId id="279" r:id="rId27"/>
    <p:sldId id="280" r:id="rId28"/>
    <p:sldId id="281" r:id="rId29"/>
    <p:sldId id="282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67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16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FDA4D0-A912-3A43-823A-2E9E297F7F06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0C229F-B43F-564D-9978-C085B4523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885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body" sz="quarter" idx="4294967295"/>
          </p:nvPr>
        </p:nvSpPr>
        <p:spPr>
          <a:xfrm>
            <a:off x="652147" y="2369638"/>
            <a:ext cx="5696454" cy="1439863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Garamond" panose="02020404030301010803" pitchFamily="18" charset="0"/>
              </a:rPr>
              <a:t>Week 6: Computing Professional Code of Ethics and Ethical AI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5138584" y="2962762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C11BF76-DB46-7723-5F8E-28A996E100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618" r="2096" b="651"/>
          <a:stretch/>
        </p:blipFill>
        <p:spPr>
          <a:xfrm>
            <a:off x="6552395" y="315310"/>
            <a:ext cx="2591605" cy="31425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CE6D076-9D84-ED2A-EF7B-28B6955C20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180" b="81278"/>
          <a:stretch/>
        </p:blipFill>
        <p:spPr>
          <a:xfrm>
            <a:off x="1249489" y="4135389"/>
            <a:ext cx="2250885" cy="9361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A364201-B955-51AD-3BF7-A8B0B0E0B89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9504" r="77476"/>
          <a:stretch/>
        </p:blipFill>
        <p:spPr>
          <a:xfrm>
            <a:off x="2924310" y="4167987"/>
            <a:ext cx="1426973" cy="975513"/>
          </a:xfrm>
          <a:prstGeom prst="rect">
            <a:avLst/>
          </a:prstGeom>
        </p:spPr>
      </p:pic>
      <p:sp>
        <p:nvSpPr>
          <p:cNvPr id="3" name="Title 4">
            <a:extLst>
              <a:ext uri="{FF2B5EF4-FFF2-40B4-BE49-F238E27FC236}">
                <a16:creationId xmlns:a16="http://schemas.microsoft.com/office/drawing/2014/main" id="{DC9E5B37-550E-BDDA-20D9-6A0D119A6118}"/>
              </a:ext>
            </a:extLst>
          </p:cNvPr>
          <p:cNvSpPr txBox="1">
            <a:spLocks/>
          </p:cNvSpPr>
          <p:nvPr/>
        </p:nvSpPr>
        <p:spPr>
          <a:xfrm>
            <a:off x="557811" y="541128"/>
            <a:ext cx="5994584" cy="147002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tx1"/>
                </a:solidFill>
                <a:latin typeface="Garamond" panose="02020404030301010803" pitchFamily="18" charset="0"/>
              </a:rPr>
              <a:t>FIT1055: IT professional practice and Ethics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 w="1270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01752" y="45720"/>
            <a:ext cx="87508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By the end of this lesson, you will be able to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56032" y="4919472"/>
            <a:ext cx="7315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27EB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01752" y="868680"/>
            <a:ext cx="8705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027EB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By the end of Week 6, you will be able to: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38912" y="1408176"/>
            <a:ext cx="8430768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what computing professional practice is, and what a code of ethics and conduct involves</a:t>
            </a:r>
            <a:endParaRPr lang="en-US" sz="16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how codes of ethics and conduct are applied to analyse ethical issues</a:t>
            </a:r>
            <a:endParaRPr lang="en-US" sz="16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ACM Code of Ethics to case studies and identify its limitations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06DAE"/>
          </a:solidFill>
          <a:ln w="1270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Part 1: The Computing Professional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2212848"/>
            <a:ext cx="3657600" cy="54864"/>
          </a:xfrm>
          <a:prstGeom prst="rect">
            <a:avLst/>
          </a:prstGeom>
          <a:solidFill>
            <a:srgbClr val="5BC2E7"/>
          </a:solidFill>
          <a:ln w="12700">
            <a:solidFill>
              <a:srgbClr val="5BC2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5BC2E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Being more than just a coder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56032" y="4919472"/>
            <a:ext cx="7315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27EB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 w="1270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01752" y="45720"/>
            <a:ext cx="87508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Why This Matters to YOU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56032" y="4919472"/>
            <a:ext cx="7315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27EB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01752" y="886968"/>
            <a:ext cx="870508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What's the difference between a programmer and a computing professional?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01752" y="1344168"/>
            <a:ext cx="8705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Professionals have responsibilities beyond writing code — to employers, colleagues, users, and society.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1752" y="1892808"/>
            <a:ext cx="87050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future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As computing graduates, you will make decisions that affect millions of people's lives, privacy, and safety.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 w="1270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01752" y="45720"/>
            <a:ext cx="87508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What Is Professional Practice?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56032" y="4919472"/>
            <a:ext cx="7315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27EB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01752" y="886968"/>
            <a:ext cx="8705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Practice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applying your knowledge, skills, and ethical judgment to work responsibly in computing roles.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01752" y="1481328"/>
            <a:ext cx="87050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3192" y="1801368"/>
            <a:ext cx="861364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Skills</a:t>
            </a:r>
            <a:endParaRPr lang="en-US" sz="13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Standards (how you work with others)</a:t>
            </a:r>
            <a:endParaRPr lang="en-US" sz="13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Decision-Making (considering impact on people)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01752" y="2944368"/>
            <a:ext cx="8705088" cy="868680"/>
          </a:xfrm>
          <a:prstGeom prst="rect">
            <a:avLst/>
          </a:prstGeom>
          <a:solidFill>
            <a:srgbClr val="EBF4FB"/>
          </a:solidFill>
          <a:ln w="12700">
            <a:solidFill>
              <a:srgbClr val="5BC2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8912" y="3035808"/>
            <a:ext cx="84307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It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Doctors take the Hippocratic Oath. What equivalent commitment should computing professionals make?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 w="1270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01752" y="45720"/>
            <a:ext cx="87508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Who Is a Computing Professional?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56032" y="4919472"/>
            <a:ext cx="7315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27EB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01752" y="886968"/>
            <a:ext cx="870508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who has specialised knowledge in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93192" y="1252728"/>
            <a:ext cx="861364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and database design</a:t>
            </a:r>
            <a:endParaRPr lang="en-US" sz="13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development</a:t>
            </a:r>
            <a:endParaRPr lang="en-US" sz="13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system architecture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" y="2185416"/>
            <a:ext cx="870508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i="1" dirty="0">
                <a:solidFill>
                  <a:srgbClr val="027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plus the wisdom to use these skills responsibly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01752" y="2670048"/>
            <a:ext cx="8705088" cy="594360"/>
          </a:xfrm>
          <a:prstGeom prst="rect">
            <a:avLst/>
          </a:prstGeom>
          <a:solidFill>
            <a:srgbClr val="EBF4FB"/>
          </a:solidFill>
          <a:ln w="12700">
            <a:solidFill>
              <a:srgbClr val="5BC2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8912" y="2761488"/>
            <a:ext cx="843076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becoming one right now, through your studies at Monash.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 w="1270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01752" y="45720"/>
            <a:ext cx="87508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What Will Employers Expect From You?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56032" y="4919472"/>
            <a:ext cx="7315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27EB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01752" y="886968"/>
            <a:ext cx="870508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Tasks: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93192" y="1271016"/>
            <a:ext cx="8613648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system specifications</a:t>
            </a:r>
            <a:endParaRPr lang="en-US" sz="13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software architecture</a:t>
            </a:r>
            <a:endParaRPr lang="en-US" sz="13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algorithms</a:t>
            </a:r>
            <a:endParaRPr lang="en-US" sz="13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and debug systems</a:t>
            </a:r>
            <a:endParaRPr lang="en-US" sz="13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user interfaces</a:t>
            </a:r>
            <a:endParaRPr lang="en-US" sz="13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databases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 w="1270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01752" y="45720"/>
            <a:ext cx="87508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What Will Employers Expect From You?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56032" y="4919472"/>
            <a:ext cx="7315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27EB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01752" y="886968"/>
            <a:ext cx="870508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Skills: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93192" y="1271016"/>
            <a:ext cx="861364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effectively in teams</a:t>
            </a:r>
            <a:endParaRPr lang="en-US" sz="13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technical concepts clearly</a:t>
            </a:r>
            <a:endParaRPr lang="en-US" sz="13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ethical decisions under pressure</a:t>
            </a:r>
            <a:endParaRPr lang="en-US" sz="13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user needs and safety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 w="1270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01752" y="45720"/>
            <a:ext cx="87508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Your Four Key Responsibilities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56032" y="4919472"/>
            <a:ext cx="7315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27EB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01752" y="886968"/>
            <a:ext cx="870508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To Employers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93192" y="1271016"/>
            <a:ext cx="861364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company information confidential</a:t>
            </a:r>
            <a:endParaRPr lang="en-US" sz="13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typically sign a non-disclosure agreement (NDA)</a:t>
            </a:r>
            <a:endParaRPr lang="en-US" sz="13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intellectual work you produce during your employment is the company's intellectual property</a:t>
            </a:r>
            <a:endParaRPr lang="en-US" sz="13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conflicts of interest</a:t>
            </a:r>
            <a:endParaRPr lang="en-US" sz="13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your role loyally and competently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" y="3675888"/>
            <a:ext cx="87050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027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Do not sell your employer's software privately on the side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 w="1270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01752" y="45720"/>
            <a:ext cx="87508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Your Four Key Responsibilities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56032" y="4919472"/>
            <a:ext cx="7315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27EB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01752" y="886968"/>
            <a:ext cx="870508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To Other Professionals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93192" y="1271016"/>
            <a:ext cx="8613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proper credit for others' ideas and work (avoid plagiarism)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coding standards so that others can read and maintain your work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junior developers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" y="2807208"/>
            <a:ext cx="87050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027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Always acknowledge Stack Overflow solutions or open-source code you adapt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 w="1270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01752" y="45720"/>
            <a:ext cx="87508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Your Four Key Responsibilities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56032" y="4919472"/>
            <a:ext cx="7315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27EB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01752" y="886968"/>
            <a:ext cx="870508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To Users and Clients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93192" y="1271016"/>
            <a:ext cx="8613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systems that are safe and reliable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transparent about what your system can and cannot do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how your design choices affect people's lives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" y="2807208"/>
            <a:ext cx="8705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027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Hospital software must be fast — but it must also protect patient privacy — these goals must coexist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 w="1270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01752" y="45720"/>
            <a:ext cx="87508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Your Four Key Responsibilities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56032" y="4919472"/>
            <a:ext cx="7315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27EB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01752" y="886968"/>
            <a:ext cx="870508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To the Public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93192" y="1271016"/>
            <a:ext cx="8613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Educate the public about technology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 to policy discussions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you must “blow the whistle” on dangerous or unethical systems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" y="2807208"/>
            <a:ext cx="87050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027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BART engineers who risked their careers to prevent train accidents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 w="1270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01752" y="45720"/>
            <a:ext cx="87508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Real-World Case Study: The BART Engineers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56032" y="4919472"/>
            <a:ext cx="7315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27EB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01752" y="886968"/>
            <a:ext cx="870508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Three engineers discovered serious safety flaws in San Francisco’s train control system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1752" y="1435608"/>
            <a:ext cx="870508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Dilemma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Stay quiet to keep their jobs, or speak up and protect passengers?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" y="1984248"/>
            <a:ext cx="870508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Did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After internal complaints were ignored, they warned the public through newspapers — an act of whistle-blowing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" y="2606040"/>
            <a:ext cx="87050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3192" y="2916936"/>
            <a:ext cx="861364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was fixed and lives were saved</a:t>
            </a:r>
            <a:endParaRPr lang="en-US" sz="13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were dismissed for “disloyalty”</a:t>
            </a:r>
            <a:endParaRPr lang="en-US" sz="13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engineering societies publicly supported them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1752" y="4014216"/>
            <a:ext cx="870508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027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What would you do in their position?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 w="1270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01752" y="45720"/>
            <a:ext cx="87508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Your Decisions Have REAL Impact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56032" y="4919472"/>
            <a:ext cx="7315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27EB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01752" y="886968"/>
            <a:ext cx="870508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Automatic Transmission Software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" y="1216152"/>
            <a:ext cx="861364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Goal: Make the car shift gears smoothly</a:t>
            </a:r>
            <a:endParaRPr lang="en-US" sz="1200" dirty="0"/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fuel consumption (environmental impact)</a:t>
            </a:r>
            <a:endParaRPr lang="en-US" sz="1200" dirty="0"/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driver safety</a:t>
            </a:r>
            <a:endParaRPr lang="en-US" sz="1200" dirty="0"/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pedestrians and other road users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" y="2304288"/>
            <a:ext cx="870508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Search Engine Design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3192" y="2633472"/>
            <a:ext cx="861364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Choice: Show the most expensive items first — easiest to code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Question: Is this fair to users searching for affordable options?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Decision: This shapes how millions of people shop online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 w="1270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01752" y="45720"/>
            <a:ext cx="87508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Why Ethics Matter Even When There Are No Laws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56032" y="4919472"/>
            <a:ext cx="7315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27EB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01752" y="886968"/>
            <a:ext cx="870508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Check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Technology advances faster than legislation can keep 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1752" y="1481328"/>
            <a:ext cx="870508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Before 1986, the US government could legally read private emails without a warrant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" y="2075688"/>
            <a:ext cx="870508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Yes — it was permitted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" y="2670048"/>
            <a:ext cx="870508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Should computing professionals have protected user privacy regardless?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1752" y="3264408"/>
            <a:ext cx="870508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Challenge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You will regularly face ethical dilemmas where no law provides a clear answer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 w="1270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01752" y="45720"/>
            <a:ext cx="87508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Ethical Obligations of Computing Professionals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56032" y="4919472"/>
            <a:ext cx="7315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27EB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01752" y="886968"/>
            <a:ext cx="870508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professionals have 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1752" y="886968"/>
            <a:ext cx="87050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professionals have </a:t>
            </a:r>
            <a:r>
              <a:rPr lang="en-US" sz="13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obligations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their four key areas of responsibility: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3192" y="1325880"/>
            <a:ext cx="861364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</a:t>
            </a:r>
            <a:endParaRPr lang="en-US" sz="13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and clients</a:t>
            </a:r>
            <a:endParaRPr lang="en-US" sz="13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and employers</a:t>
            </a:r>
            <a:endParaRPr lang="en-US" sz="13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professionals</a:t>
            </a:r>
            <a:endParaRPr lang="en-US" sz="13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public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01752" y="3127248"/>
            <a:ext cx="8705088" cy="868680"/>
          </a:xfrm>
          <a:prstGeom prst="rect">
            <a:avLst/>
          </a:prstGeom>
          <a:solidFill>
            <a:srgbClr val="EBF4FB"/>
          </a:solidFill>
          <a:ln w="12700">
            <a:solidFill>
              <a:srgbClr val="5BC2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8912" y="3227832"/>
            <a:ext cx="843076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027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obligations are formalised in codes of ethics, which provide a framework for navigating ethical problems.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 w="1270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01752" y="45720"/>
            <a:ext cx="87508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Beyond Just Following Rules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56032" y="4919472"/>
            <a:ext cx="7315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27EB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01752" y="886968"/>
            <a:ext cx="87050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Code of Ethics Provides: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" y="1207008"/>
            <a:ext cx="86136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values and principles</a:t>
            </a:r>
            <a:endParaRPr lang="en-US" sz="13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for navigating common professional situations</a:t>
            </a:r>
            <a:endParaRPr lang="en-US" sz="13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basis for justifying difficult decisions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" y="2212848"/>
            <a:ext cx="87050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Must Also Develop: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3192" y="2532888"/>
            <a:ext cx="86136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thinking about the societal impact of technology</a:t>
            </a:r>
            <a:endParaRPr lang="en-US" sz="13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courage to act ethically even when it is difficult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01752" y="3429000"/>
            <a:ext cx="8705088" cy="594360"/>
          </a:xfrm>
          <a:prstGeom prst="rect">
            <a:avLst/>
          </a:prstGeom>
          <a:solidFill>
            <a:srgbClr val="EBF4FB"/>
          </a:solidFill>
          <a:ln w="12700">
            <a:solidFill>
              <a:srgbClr val="5BC2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" y="3529584"/>
            <a:ext cx="8430768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027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precisely why FIT1055 exists — to develop these skills before you graduate.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06DAE"/>
          </a:solidFill>
          <a:ln w="1270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Part 2: Understanding Ethics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and Professional Codes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2212848"/>
            <a:ext cx="3657600" cy="54864"/>
          </a:xfrm>
          <a:prstGeom prst="rect">
            <a:avLst/>
          </a:prstGeom>
          <a:solidFill>
            <a:srgbClr val="5BC2E7"/>
          </a:solidFill>
          <a:ln w="12700">
            <a:solidFill>
              <a:srgbClr val="5BC2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5BC2E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Building on your professional responsibilities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56032" y="4919472"/>
            <a:ext cx="7315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27EB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6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 w="1270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01752" y="45720"/>
            <a:ext cx="87508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What Is Ethics?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56032" y="4919472"/>
            <a:ext cx="7315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27EB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01752" y="886968"/>
            <a:ext cx="87050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Definition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Ethics is the process of deciding what is right and wrong when faced with choices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1752" y="1417320"/>
            <a:ext cx="870508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Computing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Ethics helps you navigate situations where: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3192" y="1783080"/>
            <a:ext cx="861364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people may be harmed or benefited by your decisions</a:t>
            </a:r>
            <a:endParaRPr lang="en-US" sz="13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solutions carry social and human consequences</a:t>
            </a:r>
            <a:endParaRPr lang="en-US" sz="13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face conflicts between competing values or obligations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" y="2898648"/>
            <a:ext cx="870508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027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Think back to the BART engineers. They needed more than technical expertise — they needed ethical judgment to choose public safety over job security.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 w="1270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01752" y="45720"/>
            <a:ext cx="87508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Professional Codes of Ethics: Your Compass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56032" y="4919472"/>
            <a:ext cx="7315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27EB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01752" y="886968"/>
            <a:ext cx="87050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as doctors have the Hippocratic Oath, computing professionals have Codes of Ethics.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1752" y="1344168"/>
            <a:ext cx="87050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Computing Ethics Codes: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3192" y="1664208"/>
            <a:ext cx="861364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for Computing Machinery (ACM)</a:t>
            </a:r>
            <a:endParaRPr lang="en-US" sz="13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British Computer Society (BCS)</a:t>
            </a:r>
            <a:endParaRPr lang="en-US" sz="13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Computer Society (IEEE-CS)</a:t>
            </a:r>
            <a:endParaRPr lang="en-US" sz="13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Australian Computing Professionals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01752" y="2971800"/>
            <a:ext cx="8705088" cy="685800"/>
          </a:xfrm>
          <a:prstGeom prst="rect">
            <a:avLst/>
          </a:prstGeom>
          <a:solidFill>
            <a:srgbClr val="EBF4FB"/>
          </a:solidFill>
          <a:ln w="12700">
            <a:solidFill>
              <a:srgbClr val="5BC2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8912" y="3072384"/>
            <a:ext cx="843076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These are not merely suggestions — they are professional obligations that can affect your career and legal standing.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 w="1270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01752" y="45720"/>
            <a:ext cx="87508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ACM Code of Ethics: Your Professional Guide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56032" y="4919472"/>
            <a:ext cx="7315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27EB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01752" y="886968"/>
            <a:ext cx="87050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" y="1207008"/>
            <a:ext cx="861364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“To inspire and guide the ethical conduct of all computing professionals”</a:t>
            </a:r>
            <a:endParaRPr lang="en-US" sz="13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includes you — as both a current student and a future professional</a:t>
            </a:r>
            <a:endParaRPr lang="en-US" sz="13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places the public good as the primary consideration</a:t>
            </a:r>
            <a:endParaRPr lang="en-US" sz="13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provides clear principles alongside practical guidelines for applying them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" y="2606040"/>
            <a:ext cx="87050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3192" y="2926080"/>
            <a:ext cx="86136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Principles: What you should value — e.g., “Be honest and trustworthy”</a:t>
            </a:r>
            <a:endParaRPr lang="en-US" sz="13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Guidelines: How to put those principles into practice in real situations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1752" y="3794760"/>
            <a:ext cx="870508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027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Code: acm.org/code-of-ethics — you will need to reference this in your assignments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ctivity Slide 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yBar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BlueBar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FooterBg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Footer"/>
          <p:cNvSpPr txBox="1"/>
          <p:nvPr/>
        </p:nvSpPr>
        <p:spPr>
          <a:xfrm>
            <a:off x="228600" y="4910328"/>
            <a:ext cx="7000000" cy="1828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800">
                <a:solidFill>
                  <a:srgbClr val="027EB5"/>
                </a:solidFill>
                <a:latin typeface="Garamond"/>
              </a:rPr>
              <a:t>FIT1055: IT Professional Practice and Ethics  |  Week 6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228600" y="73152"/>
            <a:ext cx="8686800" cy="62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Garamond"/>
              </a:rPr>
              <a:t>🔍  In-Class Activity: You Be the Ethics Detective</a:t>
            </a:r>
          </a:p>
        </p:txBody>
      </p:sp>
      <p:sp>
        <p:nvSpPr>
          <p:cNvPr id="7" name="TB7"/>
          <p:cNvSpPr txBox="1"/>
          <p:nvPr/>
        </p:nvSpPr>
        <p:spPr>
          <a:xfrm>
            <a:off x="302400" y="820000"/>
            <a:ext cx="8534400" cy="32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027EB5"/>
                </a:solidFill>
                <a:latin typeface="Calibri"/>
              </a:rPr>
              <a:t>8 minutes — Work with the person next to you</a:t>
            </a:r>
          </a:p>
        </p:txBody>
      </p:sp>
      <p:sp>
        <p:nvSpPr>
          <p:cNvPr id="8" name="Box8"/>
          <p:cNvSpPr/>
          <p:nvPr/>
        </p:nvSpPr>
        <p:spPr>
          <a:xfrm>
            <a:off x="302400" y="1160000"/>
            <a:ext cx="8534400" cy="480000"/>
          </a:xfrm>
          <a:prstGeom prst="rect">
            <a:avLst/>
          </a:prstGeom>
          <a:solidFill>
            <a:srgbClr val="EBF4FB"/>
          </a:solidFill>
          <a:ln w="18000">
            <a:solidFill>
              <a:srgbClr val="5BC2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B9"/>
          <p:cNvSpPr txBox="1"/>
          <p:nvPr/>
        </p:nvSpPr>
        <p:spPr>
          <a:xfrm>
            <a:off x="393840" y="1200000"/>
            <a:ext cx="8351520" cy="4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2B5C"/>
                </a:solidFill>
                <a:latin typeface="Calibri"/>
              </a:rPr>
              <a:t>A tech company asks you to review their code. You spot something troubling.</a:t>
            </a:r>
          </a:p>
          <a:p>
            <a:r>
              <a:rPr sz="1300">
                <a:solidFill>
                  <a:srgbClr val="333333"/>
                </a:solidFill>
                <a:latin typeface="Calibri"/>
              </a:rPr>
              <a:t>Read each scenario. For each one, decide: </a:t>
            </a:r>
            <a:r>
              <a:rPr sz="1300" b="1">
                <a:solidFill>
                  <a:srgbClr val="002B5C"/>
                </a:solidFill>
                <a:latin typeface="Calibri"/>
              </a:rPr>
              <a:t>Is this an ethical issue?</a:t>
            </a:r>
            <a:r>
              <a:rPr sz="1300">
                <a:solidFill>
                  <a:srgbClr val="333333"/>
                </a:solidFill>
                <a:latin typeface="Calibri"/>
              </a:rPr>
              <a:t> Which ACM principle is violated? What would you do?</a:t>
            </a:r>
          </a:p>
        </p:txBody>
      </p:sp>
      <p:sp>
        <p:nvSpPr>
          <p:cNvPr id="10" name="Box10"/>
          <p:cNvSpPr/>
          <p:nvPr/>
        </p:nvSpPr>
        <p:spPr>
          <a:xfrm>
            <a:off x="302400" y="2130000"/>
            <a:ext cx="2601760" cy="1779708"/>
          </a:xfrm>
          <a:prstGeom prst="rect">
            <a:avLst/>
          </a:prstGeom>
          <a:solidFill>
            <a:srgbClr val="FFF3CD"/>
          </a:solidFill>
          <a:ln w="18000">
            <a:solidFill>
              <a:srgbClr val="F5A62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B11"/>
          <p:cNvSpPr txBox="1"/>
          <p:nvPr/>
        </p:nvSpPr>
        <p:spPr>
          <a:xfrm>
            <a:off x="393840" y="2221440"/>
            <a:ext cx="2510320" cy="14171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A623"/>
                </a:solidFill>
                <a:latin typeface="Calibri"/>
              </a:rPr>
              <a:t>🅰  The Shortcut</a:t>
            </a:r>
          </a:p>
          <a:p>
            <a:r>
              <a:rPr sz="1100">
                <a:solidFill>
                  <a:srgbClr val="333333"/>
                </a:solidFill>
                <a:latin typeface="Calibri"/>
              </a:rPr>
              <a:t>Your team is behind schedule. Your manager asks you to skip security testing — “we’ll patch it after launch.” The app handles medical records.</a:t>
            </a:r>
          </a:p>
          <a:p>
            <a:pPr>
              <a:spcBef>
                <a:spcPts val="120"/>
              </a:spcBef>
            </a:pPr>
            <a:endParaRPr sz="1100">
              <a:solidFill>
                <a:srgbClr val="333333"/>
              </a:solidFill>
              <a:latin typeface="Calibri"/>
            </a:endParaRPr>
          </a:p>
          <a:p>
            <a:r>
              <a:rPr sz="1100" b="1">
                <a:solidFill>
                  <a:srgbClr val="002B5C"/>
                </a:solidFill>
                <a:latin typeface="Calibri"/>
              </a:rPr>
              <a:t>Which ACM principle? What do you do?</a:t>
            </a:r>
          </a:p>
        </p:txBody>
      </p:sp>
      <p:sp>
        <p:nvSpPr>
          <p:cNvPr id="12" name="Box12"/>
          <p:cNvSpPr/>
          <p:nvPr/>
        </p:nvSpPr>
        <p:spPr>
          <a:xfrm>
            <a:off x="3095600" y="2130000"/>
            <a:ext cx="2601760" cy="1779708"/>
          </a:xfrm>
          <a:prstGeom prst="rect">
            <a:avLst/>
          </a:prstGeom>
          <a:solidFill>
            <a:srgbClr val="E8F5E9"/>
          </a:solidFill>
          <a:ln w="18000">
            <a:solidFill>
              <a:srgbClr val="00A88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B13"/>
          <p:cNvSpPr txBox="1"/>
          <p:nvPr/>
        </p:nvSpPr>
        <p:spPr>
          <a:xfrm>
            <a:off x="3187040" y="2221440"/>
            <a:ext cx="2460320" cy="14171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00A887"/>
                </a:solidFill>
                <a:latin typeface="Calibri"/>
              </a:rPr>
              <a:t>🅱  The Borrowed Code</a:t>
            </a:r>
          </a:p>
          <a:p>
            <a:r>
              <a:rPr sz="1100" dirty="0">
                <a:solidFill>
                  <a:srgbClr val="333333"/>
                </a:solidFill>
                <a:latin typeface="Calibri"/>
              </a:rPr>
              <a:t>A colleague copied 200 lines from a Stack Overflow answer with a </a:t>
            </a:r>
            <a:r>
              <a:rPr sz="1200" b="1" dirty="0">
                <a:solidFill>
                  <a:srgbClr val="333333"/>
                </a:solidFill>
                <a:latin typeface="Calibri"/>
              </a:rPr>
              <a:t>non-commercial </a:t>
            </a:r>
            <a:r>
              <a:rPr sz="1200" b="1" dirty="0" err="1">
                <a:solidFill>
                  <a:srgbClr val="333333"/>
                </a:solidFill>
                <a:latin typeface="Calibri"/>
              </a:rPr>
              <a:t>licence</a:t>
            </a:r>
            <a:r>
              <a:rPr sz="1200" b="1" dirty="0">
                <a:solidFill>
                  <a:srgbClr val="333333"/>
                </a:solidFill>
                <a:latin typeface="Calibri"/>
              </a:rPr>
              <a:t> </a:t>
            </a:r>
            <a:r>
              <a:rPr sz="1100" dirty="0">
                <a:solidFill>
                  <a:srgbClr val="333333"/>
                </a:solidFill>
                <a:latin typeface="Calibri"/>
              </a:rPr>
              <a:t>into your company’s paid product — and didn’t mention it.</a:t>
            </a:r>
          </a:p>
          <a:p>
            <a:pPr>
              <a:spcBef>
                <a:spcPts val="120"/>
              </a:spcBef>
            </a:pPr>
            <a:endParaRPr sz="1100" dirty="0">
              <a:solidFill>
                <a:srgbClr val="333333"/>
              </a:solidFill>
              <a:latin typeface="Calibri"/>
            </a:endParaRPr>
          </a:p>
          <a:p>
            <a:r>
              <a:rPr sz="1100" b="1" dirty="0">
                <a:solidFill>
                  <a:srgbClr val="002B5C"/>
                </a:solidFill>
                <a:latin typeface="Calibri"/>
              </a:rPr>
              <a:t>Which ACM principle? What do you do?</a:t>
            </a:r>
          </a:p>
        </p:txBody>
      </p:sp>
      <p:sp>
        <p:nvSpPr>
          <p:cNvPr id="14" name="Box14"/>
          <p:cNvSpPr/>
          <p:nvPr/>
        </p:nvSpPr>
        <p:spPr>
          <a:xfrm>
            <a:off x="5788800" y="2122332"/>
            <a:ext cx="2601760" cy="1779708"/>
          </a:xfrm>
          <a:prstGeom prst="rect">
            <a:avLst/>
          </a:prstGeom>
          <a:solidFill>
            <a:srgbClr val="FCE4EC"/>
          </a:solidFill>
          <a:ln w="18000">
            <a:solidFill>
              <a:srgbClr val="CC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B15"/>
          <p:cNvSpPr txBox="1"/>
          <p:nvPr/>
        </p:nvSpPr>
        <p:spPr>
          <a:xfrm>
            <a:off x="5880240" y="2291440"/>
            <a:ext cx="2510320" cy="14171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CC0000"/>
                </a:solidFill>
                <a:latin typeface="Calibri"/>
              </a:rPr>
              <a:t>🅲  The Silent Bias</a:t>
            </a:r>
          </a:p>
          <a:p>
            <a:r>
              <a:rPr sz="1100" dirty="0">
                <a:solidFill>
                  <a:srgbClr val="333333"/>
                </a:solidFill>
                <a:latin typeface="Calibri"/>
              </a:rPr>
              <a:t>Your team’s AI hiring tool works well for English CVs but </a:t>
            </a:r>
            <a:r>
              <a:rPr sz="1200" b="1" dirty="0">
                <a:solidFill>
                  <a:srgbClr val="333333"/>
                </a:solidFill>
                <a:latin typeface="Calibri"/>
              </a:rPr>
              <a:t>rejects 40% more non-native speakers </a:t>
            </a:r>
            <a:r>
              <a:rPr sz="1100" dirty="0">
                <a:solidFill>
                  <a:srgbClr val="333333"/>
                </a:solidFill>
                <a:latin typeface="Calibri"/>
              </a:rPr>
              <a:t>for the same qualifications. The launch is in two days.</a:t>
            </a:r>
          </a:p>
          <a:p>
            <a:pPr>
              <a:spcBef>
                <a:spcPts val="120"/>
              </a:spcBef>
            </a:pPr>
            <a:endParaRPr sz="1100" dirty="0">
              <a:solidFill>
                <a:srgbClr val="333333"/>
              </a:solidFill>
              <a:latin typeface="Calibri"/>
            </a:endParaRPr>
          </a:p>
          <a:p>
            <a:r>
              <a:rPr sz="1100" b="1" dirty="0">
                <a:solidFill>
                  <a:srgbClr val="002B5C"/>
                </a:solidFill>
                <a:latin typeface="Calibri"/>
              </a:rPr>
              <a:t>Which ACM principle? What do you do?</a:t>
            </a:r>
          </a:p>
        </p:txBody>
      </p:sp>
      <p:sp>
        <p:nvSpPr>
          <p:cNvPr id="16" name="TB16"/>
          <p:cNvSpPr txBox="1"/>
          <p:nvPr/>
        </p:nvSpPr>
        <p:spPr>
          <a:xfrm>
            <a:off x="302400" y="3960000"/>
            <a:ext cx="8534400" cy="3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 i="1">
                <a:solidFill>
                  <a:srgbClr val="333333"/>
                </a:solidFill>
                <a:latin typeface="Calibri"/>
              </a:rPr>
              <a:t>💬  Share your verdict with the class. In your </a:t>
            </a:r>
            <a:r>
              <a:rPr sz="1250" b="1" i="1">
                <a:solidFill>
                  <a:srgbClr val="002B5C"/>
                </a:solidFill>
                <a:latin typeface="Calibri"/>
              </a:rPr>
              <a:t>tutorial session</a:t>
            </a:r>
            <a:r>
              <a:rPr sz="1250" i="1">
                <a:solidFill>
                  <a:srgbClr val="333333"/>
                </a:solidFill>
                <a:latin typeface="Calibri"/>
              </a:rPr>
              <a:t> you’ll go deeper — applying a full ethics framework to a real hospital AI case.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ctivity Slide B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yBar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BlueBar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FooterBg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Footer"/>
          <p:cNvSpPr txBox="1"/>
          <p:nvPr/>
        </p:nvSpPr>
        <p:spPr>
          <a:xfrm>
            <a:off x="228600" y="4910328"/>
            <a:ext cx="7000000" cy="1828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800">
                <a:solidFill>
                  <a:srgbClr val="027EB5"/>
                </a:solidFill>
                <a:latin typeface="Garamond"/>
              </a:rPr>
              <a:t>FIT1055: IT Professional Practice and Ethics  |  Week 6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228600" y="73152"/>
            <a:ext cx="8686800" cy="62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Garamond"/>
              </a:rPr>
              <a:t>What the ACM Code Helped Us See</a:t>
            </a:r>
          </a:p>
        </p:txBody>
      </p:sp>
      <p:sp>
        <p:nvSpPr>
          <p:cNvPr id="7" name="LeftHdr"/>
          <p:cNvSpPr/>
          <p:nvPr/>
        </p:nvSpPr>
        <p:spPr>
          <a:xfrm>
            <a:off x="302400" y="870000"/>
            <a:ext cx="4100000" cy="350000"/>
          </a:xfrm>
          <a:prstGeom prst="rect">
            <a:avLst/>
          </a:prstGeom>
          <a:solidFill>
            <a:srgbClr val="00A8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LeftHdrTxt"/>
          <p:cNvSpPr txBox="1"/>
          <p:nvPr/>
        </p:nvSpPr>
        <p:spPr>
          <a:xfrm>
            <a:off x="393840" y="890000"/>
            <a:ext cx="4000000" cy="31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350" b="1" i="1">
                <a:solidFill>
                  <a:srgbClr val="FFFFFF"/>
                </a:solidFill>
                <a:latin typeface="Calibri"/>
              </a:rPr>
              <a:t>✔  What the ACM Code clarified</a:t>
            </a:r>
          </a:p>
        </p:txBody>
      </p:sp>
      <p:sp>
        <p:nvSpPr>
          <p:cNvPr id="9" name="LeftBullets"/>
          <p:cNvSpPr txBox="1"/>
          <p:nvPr/>
        </p:nvSpPr>
        <p:spPr>
          <a:xfrm>
            <a:off x="393840" y="1260000"/>
            <a:ext cx="3900000" cy="162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Calibri"/>
              </a:rPr>
              <a:t>●  Safety vs. speed: skipping security testing violates ACM 1.2 (Avoid Harm) — no ambiguity.</a:t>
            </a:r>
          </a:p>
          <a:p>
            <a:pPr>
              <a:spcBef>
                <a:spcPts val="12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●  Intellectual property: borrowed code violates ACM 1.5 (Honour Property Rights).</a:t>
            </a:r>
          </a:p>
          <a:p>
            <a:pPr>
              <a:spcBef>
                <a:spcPts val="12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●  AI bias: the hiring tool violates ACM 1.4 (Be Fair) and ACM 1.1 (Contribute to Well-being).</a:t>
            </a:r>
          </a:p>
        </p:txBody>
      </p:sp>
      <p:sp>
        <p:nvSpPr>
          <p:cNvPr id="10" name="RightHdr"/>
          <p:cNvSpPr/>
          <p:nvPr/>
        </p:nvSpPr>
        <p:spPr>
          <a:xfrm>
            <a:off x="4588400" y="870000"/>
            <a:ext cx="4157600" cy="350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RightHdrTxt"/>
          <p:cNvSpPr txBox="1"/>
          <p:nvPr/>
        </p:nvSpPr>
        <p:spPr>
          <a:xfrm>
            <a:off x="4679840" y="890000"/>
            <a:ext cx="4000000" cy="31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350" b="1" i="1">
                <a:solidFill>
                  <a:srgbClr val="FFFFFF"/>
                </a:solidFill>
                <a:latin typeface="Calibri"/>
              </a:rPr>
              <a:t>❓  What the ACM Code couldn’t resolve</a:t>
            </a:r>
          </a:p>
        </p:txBody>
      </p:sp>
      <p:sp>
        <p:nvSpPr>
          <p:cNvPr id="12" name="RightBullets"/>
          <p:cNvSpPr txBox="1"/>
          <p:nvPr/>
        </p:nvSpPr>
        <p:spPr>
          <a:xfrm>
            <a:off x="4679840" y="1260000"/>
            <a:ext cx="4000000" cy="162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5A623"/>
                </a:solidFill>
                <a:latin typeface="Calibri"/>
              </a:rPr>
              <a:t>●  </a:t>
            </a:r>
            <a:r>
              <a:rPr sz="1200" b="1">
                <a:solidFill>
                  <a:srgbClr val="333333"/>
                </a:solidFill>
                <a:latin typeface="Calibri"/>
              </a:rPr>
              <a:t>How much bias is acceptable</a:t>
            </a:r>
            <a:r>
              <a:rPr sz="1200">
                <a:solidFill>
                  <a:srgbClr val="333333"/>
                </a:solidFill>
                <a:latin typeface="Calibri"/>
              </a:rPr>
              <a:t> before you refuse to launch?</a:t>
            </a:r>
          </a:p>
          <a:p>
            <a:pPr>
              <a:spcBef>
                <a:spcPts val="120"/>
              </a:spcBef>
            </a:pPr>
            <a:r>
              <a:rPr sz="1200" b="1">
                <a:solidFill>
                  <a:srgbClr val="F5A623"/>
                </a:solidFill>
                <a:latin typeface="Calibri"/>
              </a:rPr>
              <a:t>●  </a:t>
            </a:r>
            <a:r>
              <a:rPr sz="1200" b="1">
                <a:solidFill>
                  <a:srgbClr val="333333"/>
                </a:solidFill>
                <a:latin typeface="Calibri"/>
              </a:rPr>
              <a:t>Whose judgement wins</a:t>
            </a:r>
            <a:r>
              <a:rPr sz="1200">
                <a:solidFill>
                  <a:srgbClr val="333333"/>
                </a:solidFill>
                <a:latin typeface="Calibri"/>
              </a:rPr>
              <a:t> when manager, user, and public interests clash?</a:t>
            </a:r>
          </a:p>
          <a:p>
            <a:pPr>
              <a:spcBef>
                <a:spcPts val="120"/>
              </a:spcBef>
            </a:pPr>
            <a:r>
              <a:rPr sz="1200" b="1">
                <a:solidFill>
                  <a:srgbClr val="F5A623"/>
                </a:solidFill>
                <a:latin typeface="Calibri"/>
              </a:rPr>
              <a:t>●  </a:t>
            </a:r>
            <a:r>
              <a:rPr sz="1200">
                <a:solidFill>
                  <a:srgbClr val="333333"/>
                </a:solidFill>
                <a:latin typeface="Calibri"/>
              </a:rPr>
              <a:t>What counts as </a:t>
            </a:r>
            <a:r>
              <a:rPr sz="1200" b="1">
                <a:solidFill>
                  <a:srgbClr val="333333"/>
                </a:solidFill>
                <a:latin typeface="Calibri"/>
              </a:rPr>
              <a:t>“harm”</a:t>
            </a:r>
            <a:r>
              <a:rPr sz="1200">
                <a:solidFill>
                  <a:srgbClr val="333333"/>
                </a:solidFill>
                <a:latin typeface="Calibri"/>
              </a:rPr>
              <a:t> when damage unfolds across millions of decisions?</a:t>
            </a:r>
          </a:p>
        </p:txBody>
      </p:sp>
      <p:sp>
        <p:nvSpPr>
          <p:cNvPr id="13" name="Divider"/>
          <p:cNvSpPr/>
          <p:nvPr/>
        </p:nvSpPr>
        <p:spPr>
          <a:xfrm>
            <a:off x="302400" y="2960000"/>
            <a:ext cx="8534400" cy="18000"/>
          </a:xfrm>
          <a:prstGeom prst="rect">
            <a:avLst/>
          </a:prstGeom>
          <a:solidFill>
            <a:srgbClr val="5BC2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BridgeBox"/>
          <p:cNvSpPr/>
          <p:nvPr/>
        </p:nvSpPr>
        <p:spPr>
          <a:xfrm>
            <a:off x="302400" y="3030000"/>
            <a:ext cx="8534400" cy="1700000"/>
          </a:xfrm>
          <a:prstGeom prst="rect">
            <a:avLst/>
          </a:prstGeom>
          <a:solidFill>
            <a:srgbClr val="EBF4FB"/>
          </a:solidFill>
          <a:ln w="18000">
            <a:solidFill>
              <a:srgbClr val="027E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BridgeText"/>
          <p:cNvSpPr txBox="1"/>
          <p:nvPr/>
        </p:nvSpPr>
        <p:spPr>
          <a:xfrm>
            <a:off x="393840" y="3070000"/>
            <a:ext cx="8351520" cy="16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2B5C"/>
                </a:solidFill>
                <a:latin typeface="Calibri"/>
              </a:rPr>
              <a:t>📚  Coming up in your tutorial: the Charlie Diabetes App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A hospital AI that works brilliantly for some patients — and dangerously poorly for others. You’ll apply a </a:t>
            </a:r>
            <a:r>
              <a:rPr sz="1200" b="1">
                <a:solidFill>
                  <a:srgbClr val="333333"/>
                </a:solidFill>
                <a:latin typeface="Calibri"/>
              </a:rPr>
              <a:t>structured ethical reasoning framework</a:t>
            </a:r>
            <a:r>
              <a:rPr sz="1200">
                <a:solidFill>
                  <a:srgbClr val="333333"/>
                </a:solidFill>
                <a:latin typeface="Calibri"/>
              </a:rPr>
              <a:t> to make the call a real engineer had to make.</a:t>
            </a:r>
          </a:p>
          <a:p>
            <a:pPr>
              <a:spcBef>
                <a:spcPts val="120"/>
              </a:spcBef>
            </a:pPr>
            <a:r>
              <a:rPr sz="1200" b="1">
                <a:solidFill>
                  <a:srgbClr val="027EB5"/>
                </a:solidFill>
                <a:latin typeface="Calibri"/>
              </a:rPr>
              <a:t>Think about it before your tutorial: </a:t>
            </a:r>
            <a:r>
              <a:rPr sz="1200">
                <a:solidFill>
                  <a:srgbClr val="333333"/>
                </a:solidFill>
                <a:latin typeface="Calibri"/>
              </a:rPr>
              <a:t>If you were the engineer — and you knew the AI would harm the very patients it was designed to help — what would you do?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 w="1270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01752" y="45720"/>
            <a:ext cx="87508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Case Study: When Ethics Get Complicated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56032" y="4919472"/>
            <a:ext cx="7315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27EB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01752" y="886968"/>
            <a:ext cx="87050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" y="978408"/>
            <a:ext cx="843076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Scenario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XYZ Corporation wants to covertly monitor employee web browsing using data mining software. Chris, an engineer, recommends purchasing software from Robin — an independent contractor — without disclosing that Robin is Chris’s partner.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2057400"/>
            <a:ext cx="84307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Robin developed this software while employed at a previous company (UVW) — without UVW’s knowledge or authorisation.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01752" y="3264408"/>
            <a:ext cx="8705088" cy="777240"/>
          </a:xfrm>
          <a:prstGeom prst="rect">
            <a:avLst/>
          </a:prstGeom>
          <a:solidFill>
            <a:srgbClr val="EBF4FB"/>
          </a:solidFill>
          <a:ln w="12700">
            <a:solidFill>
              <a:srgbClr val="5BC2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8912" y="3355848"/>
            <a:ext cx="843076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Challenge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What ethical issues can you identify here? Consider this before we analyse it using the ACM Code of Ethics.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 w="1270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01752" y="45720"/>
            <a:ext cx="87508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ACM Code Analysis: Multiple Ethical Violations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56032" y="4919472"/>
            <a:ext cx="7315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27EB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01752" y="886968"/>
            <a:ext cx="870508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1: Employee Privacy Violation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01752" y="1271016"/>
            <a:ext cx="870508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27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 Code 1.7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“Respect the privacy of others”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" y="1655064"/>
            <a:ext cx="870508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27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 Code 3.5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“Protect the dignity of users and others”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" y="2130552"/>
            <a:ext cx="8705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Covert monitoring of employees amounts to digital eavesdropping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 w="1270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01752" y="45720"/>
            <a:ext cx="87508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ACM Code Analysis: Multiple Ethical Violations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56032" y="4919472"/>
            <a:ext cx="7315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27EB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01752" y="886968"/>
            <a:ext cx="870508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2: Conflict of Interest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01752" y="1271016"/>
            <a:ext cx="870508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27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 Code 1.3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“Be honest and trustworthy”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" y="1746504"/>
            <a:ext cx="8705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Chris stands to benefit financially from this recommendation without disclosing his personal relationship with Robin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 w="1270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01752" y="45720"/>
            <a:ext cx="87508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ACM Code Analysis: Multiple Ethical Violations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56032" y="4919472"/>
            <a:ext cx="7315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27EB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01752" y="886968"/>
            <a:ext cx="870508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3: Intellectual Property Theft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01752" y="1271016"/>
            <a:ext cx="870508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27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 Code 1.5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“Honour property rights including copyrights”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" y="1655064"/>
            <a:ext cx="870508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27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 Code 2.6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“Honour contracts, agreements, and responsibilities”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" y="2130552"/>
            <a:ext cx="8705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Robin almost certainly does not own the software — UVW most likely does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01752" y="2816352"/>
            <a:ext cx="8705088" cy="868680"/>
          </a:xfrm>
          <a:prstGeom prst="rect">
            <a:avLst/>
          </a:prstGeom>
          <a:solidFill>
            <a:srgbClr val="EBF4FB"/>
          </a:solidFill>
          <a:ln w="12700">
            <a:solidFill>
              <a:srgbClr val="5BC2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" y="2916936"/>
            <a:ext cx="843076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027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Impact: This single scenario involves privacy violations, dishonesty, and potential intellectual property theft — all with serious professional and legal consequences.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06DAE"/>
          </a:solidFill>
          <a:ln w="1270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Part 3: Ethical Issues in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Algorithms and AI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2212848"/>
            <a:ext cx="3657600" cy="54864"/>
          </a:xfrm>
          <a:prstGeom prst="rect">
            <a:avLst/>
          </a:prstGeom>
          <a:solidFill>
            <a:srgbClr val="5BC2E7"/>
          </a:solidFill>
          <a:ln w="12700">
            <a:solidFill>
              <a:srgbClr val="5BC2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5BC2E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Why your code decisions matter more than ever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56032" y="4919472"/>
            <a:ext cx="7315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27EB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6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 w="1270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01752" y="45720"/>
            <a:ext cx="87508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From Codes of Ethics to Real-World AI Challenges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56032" y="4919472"/>
            <a:ext cx="7315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27EB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01752" y="886968"/>
            <a:ext cx="870508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Have Established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Professional codes like the ACM Code provide valuable principles — but they cannot resolve every dilemma. Modern AI introduces challenges that no code of ethics could have fully anticipated.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01752" y="1984248"/>
            <a:ext cx="8705088" cy="1417320"/>
          </a:xfrm>
          <a:prstGeom prst="rect">
            <a:avLst/>
          </a:prstGeom>
          <a:solidFill>
            <a:srgbClr val="EBF4FB"/>
          </a:solidFill>
          <a:ln w="12700">
            <a:solidFill>
              <a:srgbClr val="5BC2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8912" y="2084832"/>
            <a:ext cx="843076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Reality Check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As future computing professionals, you will almost certainly work with AI systems making decisions that affect thousands — or millions — of people. Understanding these ethical issues is not optional. It is essential.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 w="1270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01752" y="45720"/>
            <a:ext cx="87508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Quick AI Refresher: What Are We Talking About?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56032" y="4919472"/>
            <a:ext cx="7315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27EB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01752" y="886968"/>
            <a:ext cx="87050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" y="1207008"/>
            <a:ext cx="861364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step-by-step set of instructions for solving a problem</a:t>
            </a:r>
            <a:endParaRPr lang="en-US" sz="13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a recipe — but for computers</a:t>
            </a:r>
            <a:endParaRPr lang="en-US" sz="13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can be simple (calculating an average) or highly complex (recognising faces in a photo)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" y="2258568"/>
            <a:ext cx="87050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(AI):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3192" y="2578608"/>
            <a:ext cx="861364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programs that simulate human intelligence</a:t>
            </a:r>
            <a:endParaRPr lang="en-US" sz="13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 began in 1956 with the goal of creating “intelligent” computer behaviour</a:t>
            </a:r>
            <a:endParaRPr lang="en-US" sz="13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AI is not magic — it is a set of advanced programming techniques</a:t>
            </a:r>
            <a:endParaRPr lang="en-US" sz="13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methods can be broadly categorised as symbolic or sub-symbolic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 w="1270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01752" y="45720"/>
            <a:ext cx="87508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Quick AI Refresher: What Are We Talking About?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56032" y="4919472"/>
            <a:ext cx="7315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27EB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01752" y="886968"/>
            <a:ext cx="87050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" y="1207008"/>
            <a:ext cx="861364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technique for teaching computers to recognise patterns from data</a:t>
            </a:r>
            <a:endParaRPr lang="en-US" sz="12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programming every rule explicitly, we provide examples and let the computer identify the patterns itself</a:t>
            </a:r>
            <a:endParaRPr lang="en-US" sz="12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Show a model 1,000 photos of cats and dogs and it learns to tell them apart</a:t>
            </a:r>
            <a:endParaRPr lang="en-US" sz="12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is a sub-symbolic approach to building intelligence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" y="2624328"/>
            <a:ext cx="87050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Agents: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3192" y="2944368"/>
            <a:ext cx="861364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that makes decisions and takes actions without requiring constant human oversight</a:t>
            </a:r>
            <a:endParaRPr lang="en-US" sz="12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Trading bots, smart home systems, recommendation algorithms</a:t>
            </a:r>
            <a:endParaRPr lang="en-US" sz="12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They are given goals, and provided with set of methods to achieve them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 w="1270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01752" y="45720"/>
            <a:ext cx="87508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How Machine Learning Actually Works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56032" y="4919472"/>
            <a:ext cx="7315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27EB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01752" y="886968"/>
            <a:ext cx="870508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(simplified):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1752" y="1252728"/>
            <a:ext cx="87050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27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Data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Gather raw inputs — photos, text, medical records, sensor readings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" y="1874520"/>
            <a:ext cx="87050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27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Data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Convert everything into numerical form (e.g. breathless = [1], difficulty breathing = [2])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1752" y="2496312"/>
            <a:ext cx="87050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27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Model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computer analyses the data and identifies patterns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1752" y="3118104"/>
            <a:ext cx="87050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27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Evaluate the model against new, unseen data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1752" y="3739896"/>
            <a:ext cx="87050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27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Improve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Release the model into the real world and refine it over time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 w="1270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01752" y="45720"/>
            <a:ext cx="87508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Key Technologies You Will Encounter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56032" y="4919472"/>
            <a:ext cx="7315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27EB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01752" y="886968"/>
            <a:ext cx="870508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Neural networks with many layers — effective for image and speech recognition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1752" y="1801368"/>
            <a:ext cx="870508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 (NLP)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Teaching computers to understand and work with human language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" y="2715768"/>
            <a:ext cx="870508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Systems that produce new content — text, images, code, and more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 w="1270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01752" y="45720"/>
            <a:ext cx="87508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What Is Deep Learning?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56032" y="4919472"/>
            <a:ext cx="7315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27EB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01752" y="886968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is a subset of machine learning.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uses neural networks with a large number of layers and parameters.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excels at extracting meaningful patterns from large volumes of data drawn from diverse sources.</a:t>
            </a: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63440" y="886968"/>
            <a:ext cx="411480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 w="1270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01752" y="45720"/>
            <a:ext cx="87508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What Is Natural Language Processing (NLP)?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56032" y="4919472"/>
            <a:ext cx="7315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27EB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01752" y="886968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is a branch of AI focused on enabling computers to understand, interpret, and work with human language.</a:t>
            </a:r>
            <a:endParaRPr lang="en-US" sz="13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Historically rule-based, NLP has evolved to incorporate machine learning and computational linguistics — the study of how language is structured and understood.</a:t>
            </a: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63440" y="886968"/>
            <a:ext cx="411480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 w="1270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01752" y="45720"/>
            <a:ext cx="87508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Natural Language Processing (NLP) — Continued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56032" y="4919472"/>
            <a:ext cx="7315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27EB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01752" y="886968"/>
            <a:ext cx="870508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its core, NLP comprises two complementary capabilities: natural language understanding (human to machine) and natural language generation (machine to human).</a:t>
            </a:r>
            <a:endParaRPr lang="en-US" sz="13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draws on syntax and semantic analysis to power chatbots and conversational agents capable of engaging in human-like dialogue.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 w="1270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01752" y="45720"/>
            <a:ext cx="87508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What Is Generative AI?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56032" y="4919472"/>
            <a:ext cx="7315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27EB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01752" y="886968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builds on the foundations of NLP — moving beyond comprehension to actively producing new content</a:t>
            </a:r>
            <a:endParaRPr lang="en-US" sz="13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uses large language models and deep learning to learn from, process, and generate new text, images, and audio — given a prompt or existing data</a:t>
            </a: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63440" y="886968"/>
            <a:ext cx="4114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 w="1270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01752" y="45720"/>
            <a:ext cx="87508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Strengths and Limitations of Machine Learning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56032" y="4919472"/>
            <a:ext cx="7315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27EB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6</a:t>
            </a:r>
            <a:endParaRPr lang="en-US" sz="8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1752" y="841248"/>
          <a:ext cx="8705088" cy="3657600"/>
        </p:xfrm>
        <a:graphic>
          <a:graphicData uri="http://schemas.openxmlformats.org/drawingml/2006/table">
            <a:tbl>
              <a:tblPr/>
              <a:tblGrid>
                <a:gridCol w="4352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52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Strengths</a:t>
                      </a:r>
                      <a:endParaRPr lang="en-US" sz="13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Limitations</a:t>
                      </a:r>
                      <a:endParaRPr lang="en-US" sz="13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capability — learns from data without constant reprogramming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Explainability — lacks transparency in how it reaches conclusions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data — handles complex, unstructured big data effectively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acquisition — requires massive, inclusive, high-quality datasets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 identification — discerns intricate trends in vast datasets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Bias — reflects biases in training data, skewing results accordingly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— improves over time as it trains on new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and cost — processing and training can take weeks, months, or years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06DAE"/>
          </a:solidFill>
          <a:ln w="1270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Part 4: Ethical Challenges in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Use of AI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2212848"/>
            <a:ext cx="3657600" cy="54864"/>
          </a:xfrm>
          <a:prstGeom prst="rect">
            <a:avLst/>
          </a:prstGeom>
          <a:solidFill>
            <a:srgbClr val="5BC2E7"/>
          </a:solidFill>
          <a:ln w="12700">
            <a:solidFill>
              <a:srgbClr val="5BC2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5BC2E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Where your code decisions have real consequences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56032" y="4919472"/>
            <a:ext cx="7315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27EB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6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 w="1270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01752" y="45720"/>
            <a:ext cx="87508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Real-World Complexity: Beyond Simple Rules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56032" y="4919472"/>
            <a:ext cx="7315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27EB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01752" y="886968"/>
            <a:ext cx="870508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Ethical Dilemmas You Will Face: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1325880"/>
            <a:ext cx="843076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Bias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Your hiring algorithm performs well for male candidates but poorly for female candidates. What do you do?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0352" y="1874520"/>
            <a:ext cx="833932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it as-is — it meets the technical requirements</a:t>
            </a:r>
            <a:endParaRPr lang="en-US" sz="13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the launch to address the bias — at a cost to budget and schedule</a:t>
            </a:r>
            <a:endParaRPr lang="en-US" sz="13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Disclose the limitation to users — which may reduce adoption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 w="1270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01752" y="45720"/>
            <a:ext cx="87508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Where Ethical Issues Emerge in AI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56032" y="4919472"/>
            <a:ext cx="7315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27EB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01752" y="886968"/>
            <a:ext cx="87050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Processing Problems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" y="1207008"/>
            <a:ext cx="861364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engines appear neutral but frequently encode gender stereotypes in their results</a:t>
            </a:r>
            <a:endParaRPr lang="en-US" sz="12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tools frequently assume “doctor” = male and “nurse” = female</a:t>
            </a:r>
            <a:endParaRPr lang="en-US" sz="12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Google Translate converting gender-neutral source languages into gendered English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" y="2304288"/>
            <a:ext cx="87050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Training Data Bias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3192" y="2624328"/>
            <a:ext cx="861364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In, Garbage Out — biased training data produces biased AI</a:t>
            </a:r>
            <a:endParaRPr lang="en-US" sz="12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Facial recognition trained predominantly on lighter-skinned faces performs significantly worse on people with darker skin</a:t>
            </a:r>
            <a:endParaRPr lang="en-US" sz="12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Impact: Medical AI trained on data from one demographic may produce inaccurate results for others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 w="1270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01752" y="45720"/>
            <a:ext cx="87508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Where Ethical Issues Emerge in AI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56032" y="4919472"/>
            <a:ext cx="7315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27EB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01752" y="886968"/>
            <a:ext cx="87050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Algorithmic Decision-Making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" y="1234440"/>
            <a:ext cx="861364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are making consequential decisions about loans, job applications, and criminal sentencing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affected often have no idea that an AI was involved, or how the decision was reached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 w="1270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01752" y="45720"/>
            <a:ext cx="87508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Real-World Examples You Should Know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56032" y="4919472"/>
            <a:ext cx="7315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27EB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01752" y="886968"/>
            <a:ext cx="87050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Algorithms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1752" y="1234440"/>
            <a:ext cx="87050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27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Amazon’s AI recruitment tool systematically down-ranked resumes containing the word “women” — including phrases like “women’s chess team”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" y="1892808"/>
            <a:ext cx="87050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27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model was trained on a decade of historically male-dominated hiring data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" y="2551176"/>
            <a:ext cx="87050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27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Historical patterns of bias get directly encoded into AI systems</a:t>
            </a:r>
            <a:endParaRPr lang="en-US" sz="13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 w="1270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01752" y="45720"/>
            <a:ext cx="87508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Real-World Examples You Should Know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56032" y="4919472"/>
            <a:ext cx="7315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27EB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01752" y="886968"/>
            <a:ext cx="87050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 Justice AI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1752" y="1216152"/>
            <a:ext cx="87050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27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COMPAS system, used to predict reoffending risk, was found to exhibit significant racial bias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" y="1737360"/>
            <a:ext cx="87050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27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Its training data reflected pre-existing inequalities within the criminal justice system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1752" y="2258568"/>
            <a:ext cx="87050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27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People’s freedom and futures were shaped by the outputs of a biased algorithm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1752" y="2825496"/>
            <a:ext cx="87050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AI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1752" y="3172968"/>
            <a:ext cx="870508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27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Pulse oximeters — widely used during COVID-19 — were found to be less accurate for patients with darker skin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1752" y="3675888"/>
            <a:ext cx="870508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27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devices had been calibrated primarily using data from lighter-skinned patients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1752" y="4178808"/>
            <a:ext cx="870508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27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This led to delayed or inadequate medical treatment for affected patients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 w="1270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01752" y="45720"/>
            <a:ext cx="87508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Root Cause: Lack of Awareness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56032" y="4919472"/>
            <a:ext cx="7315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27EB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01752" y="886968"/>
            <a:ext cx="87050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027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These Problems Keep Happening?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1752" y="1234440"/>
            <a:ext cx="87050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Identity Crisis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3192" y="1545336"/>
            <a:ext cx="86136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often see themselves as “just coders” rather than as decision-makers with societal influence</a:t>
            </a:r>
            <a:endParaRPr lang="en-US" sz="13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Reality: Every line of code embeds values, assumptions, and choices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" y="2423160"/>
            <a:ext cx="87050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Blindness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3192" y="2734056"/>
            <a:ext cx="86136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are often unaware of their own biases and the assumptions built into their work</a:t>
            </a:r>
            <a:endParaRPr lang="en-US" sz="13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Assuming the “default user” looks like — or shares the background of — the development team</a:t>
            </a:r>
            <a:endParaRPr lang="en-US" sz="13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 w="1270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01752" y="45720"/>
            <a:ext cx="87508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Root Cause: Lack of Awareness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56032" y="4919472"/>
            <a:ext cx="7315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27EB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01752" y="886968"/>
            <a:ext cx="87050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027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These Problems Keep Happening?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1752" y="1234440"/>
            <a:ext cx="87050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Thinking Gap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3192" y="1545336"/>
            <a:ext cx="86136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focus on technical requirements while ignoring broader social context</a:t>
            </a:r>
            <a:endParaRPr lang="en-US" sz="13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Missing: The understanding that algorithms operate within complex systems involving people, culture, law, and power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" y="2578608"/>
            <a:ext cx="87050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Decision-Making Deficit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3192" y="2889504"/>
            <a:ext cx="86136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graduates are often not taught to think systematically about ethical implications</a:t>
            </a:r>
            <a:endParaRPr lang="en-US" sz="13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Ethical thinking becomes reactive — responding to problems after they arise — rather than proactive</a:t>
            </a:r>
            <a:endParaRPr lang="en-US" sz="13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 w="1270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01752" y="45720"/>
            <a:ext cx="87508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Challenge: Technology Changes Faster Than Rules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56032" y="4919472"/>
            <a:ext cx="7315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27EB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01752" y="886968"/>
            <a:ext cx="87050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ethics codes were designed for a simpler era: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" y="1207008"/>
            <a:ext cx="86136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Clear-cut situations</a:t>
            </a:r>
            <a:endParaRPr lang="en-US" sz="13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Well-established practices</a:t>
            </a:r>
            <a:endParaRPr lang="en-US" sz="13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consequences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" y="2121408"/>
            <a:ext cx="87050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AI and Algorithmic Challenges: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3192" y="2441448"/>
            <a:ext cx="861364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systems make millions of decisions that are difficult or impossible to predict in advance</a:t>
            </a:r>
            <a:endParaRPr lang="en-US" sz="13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affect people in ways we are still discovering</a:t>
            </a:r>
            <a:endParaRPr lang="en-US" sz="13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implications often only become apparent after deployment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01752" y="3584448"/>
            <a:ext cx="8705088" cy="685800"/>
          </a:xfrm>
          <a:prstGeom prst="rect">
            <a:avLst/>
          </a:prstGeom>
          <a:solidFill>
            <a:srgbClr val="EBF4FB"/>
          </a:solidFill>
          <a:ln w="12700">
            <a:solidFill>
              <a:srgbClr val="5BC2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" y="3685032"/>
            <a:ext cx="843076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i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Is it ethical to deploy facial recognition for campus security when the system has higher error rates for certain ethnic groups?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 w="1270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01752" y="45720"/>
            <a:ext cx="87508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Problem: When Codes of Ethics Aren’t Enough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56032" y="4919472"/>
            <a:ext cx="7315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27EB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01752" y="886968"/>
            <a:ext cx="87050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ACM Code Does Well: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" y="1234440"/>
            <a:ext cx="861364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practitioners identify ethical problems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clear general principles to guide conduct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Illustrates what not to do</a:t>
            </a:r>
            <a:endParaRPr lang="en-US" sz="13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 w="1270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01752" y="45720"/>
            <a:ext cx="87508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Problem: When Codes of Ethics Aren’t Enough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56032" y="4919472"/>
            <a:ext cx="7315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27EB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01752" y="886968"/>
            <a:ext cx="87050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ACM Code Falls Short: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" y="1234440"/>
            <a:ext cx="861364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resolve conflicts between competing principles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provide guidance on complex technical decisions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 anticipate every new ethical challenge that emerging technology will create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01752" y="2368296"/>
            <a:ext cx="8705088" cy="594360"/>
          </a:xfrm>
          <a:prstGeom prst="rect">
            <a:avLst/>
          </a:prstGeom>
          <a:solidFill>
            <a:srgbClr val="EBF4FB"/>
          </a:solidFill>
          <a:ln w="12700">
            <a:solidFill>
              <a:srgbClr val="5BC2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" y="2459736"/>
            <a:ext cx="843076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 introduce the </a:t>
            </a:r>
            <a:r>
              <a:rPr lang="en-US" sz="13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Reasoning Framework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next, Week 7 workshop.</a:t>
            </a:r>
            <a:endParaRPr lang="en-US" sz="13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06DAE"/>
          </a:solidFill>
          <a:ln w="1270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Part 5: What Does Ethical Use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of Algorithms Look Like?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2212848"/>
            <a:ext cx="3657600" cy="54864"/>
          </a:xfrm>
          <a:prstGeom prst="rect">
            <a:avLst/>
          </a:prstGeom>
          <a:solidFill>
            <a:srgbClr val="5BC2E7"/>
          </a:solidFill>
          <a:ln w="12700">
            <a:solidFill>
              <a:srgbClr val="5BC2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5BC2E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Moving from problems to principles — what should ethical AI look like?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56032" y="4919472"/>
            <a:ext cx="7315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27EB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6</a:t>
            </a:r>
            <a:endParaRPr lang="en-US" sz="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 w="1270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01752" y="45720"/>
            <a:ext cx="87508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Five Core Principles for Ethical Algorithms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56032" y="4919472"/>
            <a:ext cx="7315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27EB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01752" y="886968"/>
            <a:ext cx="870508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Human, Societal, and Environmental Well-being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01752" y="1325880"/>
            <a:ext cx="870508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27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AI systems should improve life for people, communities, and the planet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" y="2130552"/>
            <a:ext cx="870508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27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Healthcare AI that improves diagnostic accuracy while minimising energy consumption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" y="2935224"/>
            <a:ext cx="870508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27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Role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Ask — does this technology genuinely make the world better?</a:t>
            </a:r>
            <a:endParaRPr lang="en-US" sz="13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 w="1270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01752" y="45720"/>
            <a:ext cx="87508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Five Core Principles for Ethical Algorithms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56032" y="4919472"/>
            <a:ext cx="7315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27EB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01752" y="886968"/>
            <a:ext cx="870508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Human-Centred Values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01752" y="1325880"/>
            <a:ext cx="870508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27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AI systems should uphold human rights, dignity, diversity, and individual autonomy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" y="2130552"/>
            <a:ext cx="870508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27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Translation systems that honour cultural nuances rather than defaulting to Western norms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" y="2935224"/>
            <a:ext cx="870508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27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Role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Ask — does this system respect people’s fundamental rights and choices?</a:t>
            </a:r>
            <a:endParaRPr lang="en-US" sz="13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 w="1270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01752" y="45720"/>
            <a:ext cx="87508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Five Core Principles for Ethical Algorithms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56032" y="4919472"/>
            <a:ext cx="7315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27EB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01752" y="886968"/>
            <a:ext cx="870508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Fairness and Inclusion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01752" y="1325880"/>
            <a:ext cx="870508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27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AI systems should be accessible to all and avoid discriminating unfairly against any group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" y="2130552"/>
            <a:ext cx="870508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27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Hiring algorithms that assess candidates equitably, regardless of gender, ethnicity, or background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" y="2935224"/>
            <a:ext cx="870508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27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Role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Ask — who might this system exclude or disadvantage?</a:t>
            </a:r>
            <a:endParaRPr lang="en-US" sz="13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 w="1270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01752" y="45720"/>
            <a:ext cx="87508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Five Core Principles for Ethical Algorithms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56032" y="4919472"/>
            <a:ext cx="7315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27EB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01752" y="886968"/>
            <a:ext cx="870508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Privacy Protection and Security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01752" y="1325880"/>
            <a:ext cx="870508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27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AI systems must protect personal information and maintain robust security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" y="2130552"/>
            <a:ext cx="870508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27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Health apps that process data locally on the device rather than transmitting it to external servers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" y="2935224"/>
            <a:ext cx="870508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27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Role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Ask — how is personal data being collected, used, and safeguarded?</a:t>
            </a:r>
            <a:endParaRPr lang="en-US" sz="13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 w="1270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01752" y="45720"/>
            <a:ext cx="87508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Five Core Principles for Ethical Algorithms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56032" y="4919472"/>
            <a:ext cx="7315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27EB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01752" y="886968"/>
            <a:ext cx="870508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Reliability and Safety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01752" y="1325880"/>
            <a:ext cx="870508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27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AI systems must behave consistently, safely, and as intended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" y="2130552"/>
            <a:ext cx="870508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27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Autonomous vehicles designed to fail safely and predictably in the event of a system malfunction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" y="2935224"/>
            <a:ext cx="870508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27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Role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Ask — what happens when this system gets it wrong?</a:t>
            </a:r>
            <a:endParaRPr lang="en-US" sz="13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06DAE"/>
          </a:solidFill>
          <a:ln w="1270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2286000"/>
            <a:ext cx="3657600" cy="54864"/>
          </a:xfrm>
          <a:prstGeom prst="rect">
            <a:avLst/>
          </a:prstGeom>
          <a:solidFill>
            <a:srgbClr val="5BC2E7"/>
          </a:solidFill>
          <a:ln w="12700">
            <a:solidFill>
              <a:srgbClr val="5BC2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⚡ Week 6 Quiz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5BC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challenges in AI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" y="4919472"/>
            <a:ext cx="7315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27EB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6</a:t>
            </a:r>
            <a:endParaRPr lang="en-US" sz="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 w="1270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01752" y="45720"/>
            <a:ext cx="87508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Summary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56032" y="4919472"/>
            <a:ext cx="73152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27EB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01752" y="886968"/>
            <a:ext cx="870508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" y="996696"/>
            <a:ext cx="843076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development is governed by professional guidelines spanning technical leadership, ethical conduct, and collaborative practice with fellow professionals.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01752" y="2459736"/>
            <a:ext cx="8705088" cy="1600200"/>
          </a:xfrm>
          <a:prstGeom prst="rect">
            <a:avLst/>
          </a:prstGeom>
          <a:solidFill>
            <a:srgbClr val="EBF4FB"/>
          </a:solidFill>
          <a:ln w="12700">
            <a:solidFill>
              <a:srgbClr val="5BC2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" y="2569464"/>
            <a:ext cx="843076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development requires a rigorous ethical decision-making framework at every stage of system and algorithm design — ensuring innovation that is both responsible and principled.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4293</Words>
  <Application>Microsoft Macintosh PowerPoint</Application>
  <PresentationFormat>On-screen Show (16:9)</PresentationFormat>
  <Paragraphs>463</Paragraphs>
  <Slides>57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2" baseType="lpstr">
      <vt:lpstr>Aptos</vt:lpstr>
      <vt:lpstr>Arial</vt:lpstr>
      <vt:lpstr>Calibri</vt:lpstr>
      <vt:lpstr>Garamond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FIT1055 Week 6 – Computing Professional Code of Ethics and Ethical AI</dc:title>
  <dc:subject>PptxGenJS Presentation</dc:subject>
  <dc:creator>PptxGenJS</dc:creator>
  <cp:lastModifiedBy>nik nailah abdullah</cp:lastModifiedBy>
  <cp:revision>4</cp:revision>
  <dcterms:created xsi:type="dcterms:W3CDTF">2026-04-07T14:26:17Z</dcterms:created>
  <dcterms:modified xsi:type="dcterms:W3CDTF">2026-04-09T06:34:23Z</dcterms:modified>
</cp:coreProperties>
</file>