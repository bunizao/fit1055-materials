
<file path=[Content_Types].xml><?xml version="1.0" encoding="utf-8"?>
<Types xmlns="http://schemas.openxmlformats.org/package/2006/content-types">
  <Default Extension="png" ContentType="image/png"/>
  <Default Extension="jpeg" ContentType="image/jpeg"/>
  <Default Extension="m4a" ContentType="audio/mp4"/>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1"/>
    <p:sldMasterId id="2147483751" r:id="rId2"/>
    <p:sldMasterId id="2147483763" r:id="rId3"/>
    <p:sldMasterId id="2147483766" r:id="rId4"/>
    <p:sldMasterId id="2147483769" r:id="rId5"/>
    <p:sldMasterId id="2147483776" r:id="rId6"/>
    <p:sldMasterId id="2147483778" r:id="rId7"/>
    <p:sldMasterId id="2147483780" r:id="rId8"/>
  </p:sldMasterIdLst>
  <p:notesMasterIdLst>
    <p:notesMasterId r:id="rId36"/>
  </p:notesMasterIdLst>
  <p:handoutMasterIdLst>
    <p:handoutMasterId r:id="rId37"/>
  </p:handoutMasterIdLst>
  <p:sldIdLst>
    <p:sldId id="531" r:id="rId9"/>
    <p:sldId id="748" r:id="rId10"/>
    <p:sldId id="793" r:id="rId11"/>
    <p:sldId id="755" r:id="rId12"/>
    <p:sldId id="812" r:id="rId13"/>
    <p:sldId id="817" r:id="rId14"/>
    <p:sldId id="818" r:id="rId15"/>
    <p:sldId id="819" r:id="rId16"/>
    <p:sldId id="820" r:id="rId17"/>
    <p:sldId id="821" r:id="rId18"/>
    <p:sldId id="837" r:id="rId19"/>
    <p:sldId id="832" r:id="rId20"/>
    <p:sldId id="839" r:id="rId21"/>
    <p:sldId id="838" r:id="rId22"/>
    <p:sldId id="834" r:id="rId23"/>
    <p:sldId id="836" r:id="rId24"/>
    <p:sldId id="841" r:id="rId25"/>
    <p:sldId id="842" r:id="rId26"/>
    <p:sldId id="843" r:id="rId27"/>
    <p:sldId id="823" r:id="rId28"/>
    <p:sldId id="825" r:id="rId29"/>
    <p:sldId id="824" r:id="rId30"/>
    <p:sldId id="762" r:id="rId31"/>
    <p:sldId id="828" r:id="rId32"/>
    <p:sldId id="829" r:id="rId33"/>
    <p:sldId id="814" r:id="rId34"/>
    <p:sldId id="830" r:id="rId35"/>
  </p:sldIdLst>
  <p:sldSz cx="12192000" cy="6858000"/>
  <p:notesSz cx="6805613" cy="9939338"/>
  <p:embeddedFontLst>
    <p:embeddedFont>
      <p:font typeface="Arial Narrow" panose="020B0606020202030204" pitchFamily="34" charset="0"/>
      <p:regular r:id="rId38"/>
      <p:bold r:id="rId39"/>
      <p:italic r:id="rId40"/>
      <p:boldItalic r:id="rId41"/>
    </p:embeddedFont>
    <p:embeddedFont>
      <p:font typeface="Calibri" panose="020F0502020204030204" pitchFamily="34" charset="0"/>
      <p:regular r:id="rId42"/>
      <p:bold r:id="rId43"/>
      <p:italic r:id="rId44"/>
      <p:boldItalic r:id="rId45"/>
    </p:embeddedFont>
    <p:embeddedFont>
      <p:font typeface="Calibri Light" panose="020F0302020204030204" pitchFamily="34" charset="0"/>
      <p:regular r:id="rId46"/>
      <p:italic r:id="rId47"/>
    </p:embeddedFont>
    <p:embeddedFont>
      <p:font typeface="Garamond" panose="02020404030301010803" pitchFamily="18" charset="0"/>
      <p:regular r:id="rId48"/>
      <p:bold r:id="rId49"/>
      <p:italic r:id="rId50"/>
      <p:boldItalic r:id="rId51"/>
    </p:embeddedFont>
  </p:embeddedFontLst>
  <p:custDataLst>
    <p:tags r:id="rId52"/>
  </p:custDataLst>
  <p:defaultTextStyle>
    <a:defPPr>
      <a:defRPr lang="en-A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7469"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900"/>
    <a:srgbClr val="B0FF00"/>
    <a:srgbClr val="FFD808"/>
    <a:srgbClr val="FF9933"/>
    <a:srgbClr val="FF9900"/>
    <a:srgbClr val="66CCFF"/>
    <a:srgbClr val="89B9FF"/>
    <a:srgbClr val="FF00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40" autoAdjust="0"/>
    <p:restoredTop sz="83905" autoAdjust="0"/>
  </p:normalViewPr>
  <p:slideViewPr>
    <p:cSldViewPr>
      <p:cViewPr varScale="1">
        <p:scale>
          <a:sx n="93" d="100"/>
          <a:sy n="93" d="100"/>
        </p:scale>
        <p:origin x="66" y="66"/>
      </p:cViewPr>
      <p:guideLst>
        <p:guide pos="7469"/>
        <p:guide orient="horz" pos="2160"/>
      </p:guideLst>
    </p:cSldViewPr>
  </p:slideViewPr>
  <p:outlineViewPr>
    <p:cViewPr>
      <p:scale>
        <a:sx n="33" d="100"/>
        <a:sy n="33" d="100"/>
      </p:scale>
      <p:origin x="0" y="58718"/>
    </p:cViewPr>
  </p:outlineViewPr>
  <p:notesTextViewPr>
    <p:cViewPr>
      <p:scale>
        <a:sx n="100" d="100"/>
        <a:sy n="100" d="100"/>
      </p:scale>
      <p:origin x="0" y="0"/>
    </p:cViewPr>
  </p:notesTextViewPr>
  <p:sorterViewPr>
    <p:cViewPr varScale="1">
      <p:scale>
        <a:sx n="132" d="100"/>
        <a:sy n="132" d="100"/>
      </p:scale>
      <p:origin x="0" y="-9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font" Target="fonts/font2.fntdata"/><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font" Target="fonts/font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notesMaster" Target="notesMasters/notesMaster1.xml"/><Relationship Id="rId49"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font" Target="fonts/font7.fntdata"/><Relationship Id="rId52"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font" Target="fonts/font14.fntdata"/><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210947" name="Rectangle 3"/>
          <p:cNvSpPr>
            <a:spLocks noGrp="1" noChangeArrowheads="1"/>
          </p:cNvSpPr>
          <p:nvPr>
            <p:ph type="dt" sz="quarter"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210948" name="Rectangle 4"/>
          <p:cNvSpPr>
            <a:spLocks noGrp="1" noChangeArrowheads="1"/>
          </p:cNvSpPr>
          <p:nvPr>
            <p:ph type="ftr" sz="quarter" idx="2"/>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210949" name="Rectangle 5"/>
          <p:cNvSpPr>
            <a:spLocks noGrp="1" noChangeArrowheads="1"/>
          </p:cNvSpPr>
          <p:nvPr>
            <p:ph type="sldNum" sz="quarter" idx="3"/>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6F4BC11-27CE-467A-8EFD-5CAC0396F796}" type="slidenum">
              <a:rPr lang="en-AU"/>
              <a:pPr>
                <a:defRPr/>
              </a:pPr>
              <a:t>‹#›</a:t>
            </a:fld>
            <a:endParaRPr lang="en-AU" dirty="0"/>
          </a:p>
        </p:txBody>
      </p:sp>
    </p:spTree>
    <p:extLst>
      <p:ext uri="{BB962C8B-B14F-4D97-AF65-F5344CB8AC3E}">
        <p14:creationId xmlns:p14="http://schemas.microsoft.com/office/powerpoint/2010/main" val="36749802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36867" name="Rectangle 3"/>
          <p:cNvSpPr>
            <a:spLocks noGrp="1" noChangeArrowheads="1"/>
          </p:cNvSpPr>
          <p:nvPr>
            <p:ph type="dt"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41988" name="Rectangle 4"/>
          <p:cNvSpPr>
            <a:spLocks noGrp="1" noRot="1" noChangeAspect="1" noChangeArrowheads="1" noTextEdit="1"/>
          </p:cNvSpPr>
          <p:nvPr>
            <p:ph type="sldImg" idx="2"/>
          </p:nvPr>
        </p:nvSpPr>
        <p:spPr bwMode="auto">
          <a:xfrm>
            <a:off x="88900" y="744538"/>
            <a:ext cx="6627813" cy="3729037"/>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80857" y="4721517"/>
            <a:ext cx="5443900" cy="4473359"/>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6870" name="Rectangle 6"/>
          <p:cNvSpPr>
            <a:spLocks noGrp="1" noChangeArrowheads="1"/>
          </p:cNvSpPr>
          <p:nvPr>
            <p:ph type="ftr" sz="quarter" idx="4"/>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36871" name="Rectangle 7"/>
          <p:cNvSpPr>
            <a:spLocks noGrp="1" noChangeArrowheads="1"/>
          </p:cNvSpPr>
          <p:nvPr>
            <p:ph type="sldNum" sz="quarter" idx="5"/>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88EB2CA-45D1-42A0-A762-9254DBFB78C5}" type="slidenum">
              <a:rPr lang="en-AU"/>
              <a:pPr>
                <a:defRPr/>
              </a:pPr>
              <a:t>‹#›</a:t>
            </a:fld>
            <a:endParaRPr lang="en-AU" dirty="0"/>
          </a:p>
        </p:txBody>
      </p:sp>
    </p:spTree>
    <p:extLst>
      <p:ext uri="{BB962C8B-B14F-4D97-AF65-F5344CB8AC3E}">
        <p14:creationId xmlns:p14="http://schemas.microsoft.com/office/powerpoint/2010/main" val="103319454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sz="1200" u="none" kern="1200" baseline="0" dirty="0">
              <a:solidFill>
                <a:schemeClr val="tx1"/>
              </a:solidFill>
              <a:latin typeface="Arial" charset="0"/>
              <a:ea typeface="+mn-ea"/>
              <a:cs typeface="+mn-cs"/>
            </a:endParaRPr>
          </a:p>
        </p:txBody>
      </p:sp>
    </p:spTree>
    <p:extLst>
      <p:ext uri="{BB962C8B-B14F-4D97-AF65-F5344CB8AC3E}">
        <p14:creationId xmlns:p14="http://schemas.microsoft.com/office/powerpoint/2010/main" val="12315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6912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64A9-C8D7-3230-387D-AE4CC084E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6F390-48A7-AC99-BA03-B7EE9747D9DA}"/>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D51795F1-BE8D-7048-A6F7-870262B1BC48}"/>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513423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1. 23. 4. </a:t>
            </a:r>
            <a:endParaRPr lang="en-US" b="0" dirty="0">
              <a:effectLst/>
            </a:endParaRPr>
          </a:p>
          <a:p>
            <a:pPr rtl="0" fontAlgn="t"/>
            <a:r>
              <a:rPr lang="en-US" sz="1200" b="0" i="0" u="none" strike="noStrike" kern="1200" dirty="0">
                <a:solidFill>
                  <a:schemeClr val="tx1"/>
                </a:solidFill>
                <a:effectLst/>
                <a:latin typeface="Arial" charset="0"/>
                <a:ea typeface="+mn-ea"/>
                <a:cs typeface="+mn-cs"/>
              </a:rPr>
              <a:t>5.  6. </a:t>
            </a:r>
            <a:endParaRPr lang="en-US" b="0" dirty="0">
              <a:effectLst/>
            </a:endParaRPr>
          </a:p>
        </p:txBody>
      </p:sp>
    </p:spTree>
    <p:extLst>
      <p:ext uri="{BB962C8B-B14F-4D97-AF65-F5344CB8AC3E}">
        <p14:creationId xmlns:p14="http://schemas.microsoft.com/office/powerpoint/2010/main" val="2015604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724C-CC39-1CAC-22F6-76B44DE2A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0BE9C-A1C3-CA87-9D43-596D3575D35F}"/>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BD0BE7D2-FB67-7A1C-AD47-E7BCF5B5E6C7}"/>
              </a:ext>
            </a:extLst>
          </p:cNvPr>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1. 23. 4. </a:t>
            </a:r>
            <a:endParaRPr lang="en-US" b="0" dirty="0">
              <a:effectLst/>
            </a:endParaRPr>
          </a:p>
          <a:p>
            <a:pPr rtl="0" fontAlgn="t"/>
            <a:r>
              <a:rPr lang="en-US" sz="1200" b="0" i="0" u="none" strike="noStrike" kern="1200" dirty="0">
                <a:solidFill>
                  <a:schemeClr val="tx1"/>
                </a:solidFill>
                <a:effectLst/>
                <a:latin typeface="Arial" charset="0"/>
                <a:ea typeface="+mn-ea"/>
                <a:cs typeface="+mn-cs"/>
              </a:rPr>
              <a:t>5.  6. </a:t>
            </a:r>
            <a:endParaRPr lang="en-US" b="0" dirty="0">
              <a:effectLst/>
            </a:endParaRPr>
          </a:p>
        </p:txBody>
      </p:sp>
    </p:spTree>
    <p:extLst>
      <p:ext uri="{BB962C8B-B14F-4D97-AF65-F5344CB8AC3E}">
        <p14:creationId xmlns:p14="http://schemas.microsoft.com/office/powerpoint/2010/main" val="599889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6A50A-5BAD-72AF-008C-F77C44E1C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78201-4168-59D4-33FC-B8199052A71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6AF9AD09-4208-71CF-C85F-60E0AA6046F0}"/>
              </a:ext>
            </a:extLst>
          </p:cNvPr>
          <p:cNvSpPr>
            <a:spLocks noGrp="1"/>
          </p:cNvSpPr>
          <p:nvPr>
            <p:ph type="body" idx="1"/>
          </p:nvPr>
        </p:nvSpPr>
        <p:spPr/>
        <p:txBody>
          <a:bodyPr/>
          <a:lstStyle/>
          <a:p>
            <a:pPr rtl="0" fontAlgn="t"/>
            <a:endParaRPr lang="en-US" b="0" dirty="0">
              <a:effectLst/>
            </a:endParaRPr>
          </a:p>
        </p:txBody>
      </p:sp>
    </p:spTree>
    <p:extLst>
      <p:ext uri="{BB962C8B-B14F-4D97-AF65-F5344CB8AC3E}">
        <p14:creationId xmlns:p14="http://schemas.microsoft.com/office/powerpoint/2010/main" val="189443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B08A5-14A4-A1C7-0696-F655D0492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02BDE-0704-AE62-7A92-2139D44DAAB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D0E9F58D-492E-9421-07D7-8D5E767B07E9}"/>
              </a:ext>
            </a:extLst>
          </p:cNvPr>
          <p:cNvSpPr>
            <a:spLocks noGrp="1"/>
          </p:cNvSpPr>
          <p:nvPr>
            <p:ph type="body" idx="1"/>
          </p:nvPr>
        </p:nvSpPr>
        <p:spPr/>
        <p:txBody>
          <a:bodyPr/>
          <a:lstStyle/>
          <a:p>
            <a:pPr rtl="0" fontAlgn="t"/>
            <a:endParaRPr lang="en-US" b="0" dirty="0">
              <a:effectLst/>
            </a:endParaRPr>
          </a:p>
        </p:txBody>
      </p:sp>
    </p:spTree>
    <p:extLst>
      <p:ext uri="{BB962C8B-B14F-4D97-AF65-F5344CB8AC3E}">
        <p14:creationId xmlns:p14="http://schemas.microsoft.com/office/powerpoint/2010/main" val="1587326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C6272-779D-3A95-C2ED-7283CFC89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D4EEC-5BAA-B64D-8AFC-7A36206167AF}"/>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A7567358-0D93-23A9-D195-571EF7DB2219}"/>
              </a:ext>
            </a:extLst>
          </p:cNvPr>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Lifelong learning</a:t>
            </a:r>
            <a:endParaRPr lang="en-US" b="0" dirty="0">
              <a:effectLst/>
            </a:endParaRPr>
          </a:p>
        </p:txBody>
      </p:sp>
    </p:spTree>
    <p:extLst>
      <p:ext uri="{BB962C8B-B14F-4D97-AF65-F5344CB8AC3E}">
        <p14:creationId xmlns:p14="http://schemas.microsoft.com/office/powerpoint/2010/main" val="999418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2E709-2AC6-768B-A321-8C1C76558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B740D-0FA3-971B-A014-D6F990AB252C}"/>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C7A159D-5434-F68D-494A-071652A303C8}"/>
              </a:ext>
            </a:extLst>
          </p:cNvPr>
          <p:cNvSpPr>
            <a:spLocks noGrp="1"/>
          </p:cNvSpPr>
          <p:nvPr>
            <p:ph type="body" idx="1"/>
          </p:nvPr>
        </p:nvSpPr>
        <p:spPr/>
        <p:txBody>
          <a:bodyPr/>
          <a:lstStyle/>
          <a:p>
            <a:pPr rtl="0" fontAlgn="ctr"/>
            <a:r>
              <a:rPr lang="en-US" sz="1200" b="1" i="0" u="none" strike="noStrike" kern="1200" dirty="0">
                <a:solidFill>
                  <a:schemeClr val="tx1"/>
                </a:solidFill>
                <a:effectLst/>
                <a:latin typeface="Arial" charset="0"/>
                <a:ea typeface="+mn-ea"/>
                <a:cs typeface="+mn-cs"/>
              </a:rPr>
              <a:t>C3</a:t>
            </a:r>
            <a:endParaRPr lang="en-US" b="0" dirty="0">
              <a:effectLst/>
            </a:endParaRPr>
          </a:p>
          <a:p>
            <a:pPr rtl="0" fontAlgn="ctr"/>
            <a:r>
              <a:rPr lang="en-US" sz="1200" b="0" i="0" u="none" strike="noStrike" kern="1200" dirty="0">
                <a:solidFill>
                  <a:schemeClr val="tx1"/>
                </a:solidFill>
                <a:effectLst/>
                <a:latin typeface="Arial" charset="0"/>
                <a:ea typeface="+mn-ea"/>
                <a:cs typeface="+mn-cs"/>
              </a:rPr>
              <a:t>Application:</a:t>
            </a:r>
            <a:endParaRPr lang="en-US" b="0" dirty="0">
              <a:effectLst/>
            </a:endParaRPr>
          </a:p>
          <a:p>
            <a:pPr rtl="0" fontAlgn="ctr"/>
            <a:r>
              <a:rPr lang="en-US" sz="1200" b="1" i="0" u="none" strike="noStrike" kern="1200" dirty="0">
                <a:solidFill>
                  <a:schemeClr val="tx1"/>
                </a:solidFill>
                <a:effectLst/>
                <a:latin typeface="Arial" charset="0"/>
                <a:ea typeface="+mn-ea"/>
                <a:cs typeface="+mn-cs"/>
              </a:rPr>
              <a:t>C5</a:t>
            </a:r>
            <a:endParaRPr lang="en-US" b="0" dirty="0">
              <a:effectLst/>
            </a:endParaRPr>
          </a:p>
          <a:p>
            <a:pPr rtl="0" fontAlgn="ctr"/>
            <a:r>
              <a:rPr lang="en-US" sz="1200" b="1" i="0" u="none" strike="noStrike" kern="1200" dirty="0">
                <a:solidFill>
                  <a:schemeClr val="tx1"/>
                </a:solidFill>
                <a:effectLst/>
                <a:latin typeface="Arial" charset="0"/>
                <a:ea typeface="+mn-ea"/>
                <a:cs typeface="+mn-cs"/>
              </a:rPr>
              <a:t>C6</a:t>
            </a:r>
            <a:endParaRPr lang="en-US" b="0" dirty="0">
              <a:effectLst/>
            </a:endParaRPr>
          </a:p>
          <a:p>
            <a:pPr rtl="0" fontAlgn="ctr"/>
            <a:r>
              <a:rPr lang="en-US" sz="1200" b="0" i="0" u="none" strike="noStrike" kern="1200" dirty="0">
                <a:solidFill>
                  <a:schemeClr val="tx1"/>
                </a:solidFill>
                <a:effectLst/>
                <a:latin typeface="Arial" charset="0"/>
                <a:ea typeface="+mn-ea"/>
                <a:cs typeface="+mn-cs"/>
              </a:rPr>
              <a:t>Synthesis: </a:t>
            </a:r>
            <a:endParaRPr lang="en-US" b="0" dirty="0">
              <a:effectLst/>
            </a:endParaRPr>
          </a:p>
          <a:p>
            <a:pPr rtl="0" fontAlgn="ctr"/>
            <a:r>
              <a:rPr lang="en-US" sz="1200" b="0" i="0" u="none" strike="noStrike" kern="1200" dirty="0">
                <a:solidFill>
                  <a:schemeClr val="tx1"/>
                </a:solidFill>
                <a:effectLst/>
                <a:latin typeface="Arial" charset="0"/>
                <a:ea typeface="+mn-ea"/>
                <a:cs typeface="+mn-cs"/>
              </a:rPr>
              <a:t>Evaluation: </a:t>
            </a:r>
            <a:endParaRPr lang="en-US" b="0" dirty="0">
              <a:effectLst/>
            </a:endParaRPr>
          </a:p>
          <a:p>
            <a:pPr rtl="0" fontAlgn="t"/>
            <a:br>
              <a:rPr lang="en-US" b="0" dirty="0">
                <a:effectLst/>
              </a:rPr>
            </a:br>
            <a:endParaRPr lang="en-US" b="0" dirty="0">
              <a:effectLst/>
            </a:endParaRPr>
          </a:p>
          <a:p>
            <a:pPr rtl="0" fontAlgn="ctr"/>
            <a:r>
              <a:rPr lang="en-US" sz="1200" b="0" i="0" u="none" strike="noStrike" kern="1200" dirty="0">
                <a:solidFill>
                  <a:schemeClr val="tx1"/>
                </a:solidFill>
                <a:effectLst/>
                <a:latin typeface="Arial" charset="0"/>
                <a:ea typeface="+mn-ea"/>
                <a:cs typeface="+mn-cs"/>
              </a:rPr>
              <a:t>Organization:</a:t>
            </a:r>
            <a:endParaRPr lang="en-US" b="0" dirty="0">
              <a:effectLst/>
            </a:endParaRPr>
          </a:p>
          <a:p>
            <a:pPr rtl="0" fontAlgn="t"/>
            <a:endParaRPr lang="en-US" b="0" dirty="0">
              <a:effectLst/>
            </a:endParaRPr>
          </a:p>
        </p:txBody>
      </p:sp>
    </p:spTree>
    <p:extLst>
      <p:ext uri="{BB962C8B-B14F-4D97-AF65-F5344CB8AC3E}">
        <p14:creationId xmlns:p14="http://schemas.microsoft.com/office/powerpoint/2010/main" val="91168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89DA-E600-8C33-EEFC-A0094EE61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A546C-2692-19B6-44DF-4AA443DCBF5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6BE3064-0DF3-FFD7-59C5-8E2BAA081124}"/>
              </a:ext>
            </a:extLst>
          </p:cNvPr>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Identify and </a:t>
            </a:r>
            <a:r>
              <a:rPr lang="en-US" sz="1200" b="0" i="0" u="none" strike="noStrike" kern="1200" dirty="0" err="1">
                <a:solidFill>
                  <a:schemeClr val="tx1"/>
                </a:solidFill>
                <a:effectLst/>
                <a:latin typeface="Arial" charset="0"/>
                <a:ea typeface="+mn-ea"/>
                <a:cs typeface="+mn-cs"/>
              </a:rPr>
              <a:t>analyse</a:t>
            </a:r>
            <a:r>
              <a:rPr lang="en-US" sz="1200" b="0" i="0" u="none" strike="noStrike" kern="1200" dirty="0">
                <a:solidFill>
                  <a:schemeClr val="tx1"/>
                </a:solidFill>
                <a:effectLst/>
                <a:latin typeface="Arial" charset="0"/>
                <a:ea typeface="+mn-ea"/>
                <a:cs typeface="+mn-cs"/>
              </a:rPr>
              <a:t> complex computing problems reaching substantiated conclusions using fundamental principles of mathematics, computing and data sciences, and relevant domain knowledge</a:t>
            </a:r>
            <a:endParaRPr lang="en-US" b="0" dirty="0">
              <a:effectLst/>
            </a:endParaRPr>
          </a:p>
        </p:txBody>
      </p:sp>
    </p:spTree>
    <p:extLst>
      <p:ext uri="{BB962C8B-B14F-4D97-AF65-F5344CB8AC3E}">
        <p14:creationId xmlns:p14="http://schemas.microsoft.com/office/powerpoint/2010/main" val="2161326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B9BEA-E307-AD1E-D006-E98403D98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5B443-5F17-839C-12FB-2572ED78CCA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0E09805F-9C84-C365-4B55-1259366C6D7C}"/>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1629005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88FF9-8941-A4FE-E5DC-31C639F82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75227-084A-CA9B-F172-988B36B6C6A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0D7D05BF-1303-3954-ABE1-2FB142CCF766}"/>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4286207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85D62-2CCD-673B-FECB-B7A26EEC1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025D3-CE59-FF2B-1D36-9523DA7BDBD9}"/>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4FAF69F1-7D76-61CF-15D9-70F5E250C4FF}"/>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3817274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67A96-12CE-0F52-C83E-4906D0307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67FEC-828F-0D43-78D6-F1AD59A8B769}"/>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570F1293-0BAC-9948-7C05-C5AED4529061}"/>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1078327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9EEF4-AC34-42A8-F425-60D3019D0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0EDB7-E75A-8D6E-6955-CCA270532349}"/>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CB91BDA8-06DA-FF8A-8DC8-836766DAF442}"/>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2172358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616A-5D89-EEB3-19CC-5FA236EAA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2BCE9-56B9-DA5D-79A3-86995A5F5C08}"/>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BF21167C-ADF0-89FE-4FF2-09A64E345E20}"/>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1066672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6CB8E-8681-233B-6114-E4BEE7362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B35A2-ECDF-AD03-5D83-CC5FB7EC3513}"/>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B6B1D951-ECA8-D021-D2DD-5952E77B1B4E}"/>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2189543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297E2-509C-8025-0727-7B854958F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1C673-6381-1E69-FC19-091748563034}"/>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983E62D-968D-BF2E-2CAD-E0BF4F4C9053}"/>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593010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BDE91-B7CA-2148-7641-3EF0E5A72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59121-58DE-035B-CDB6-4D9EE595CEEC}"/>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04FA2359-BCF4-91D0-7C0C-C45D1AF4FD35}"/>
              </a:ext>
            </a:extLst>
          </p:cNvPr>
          <p:cNvSpPr>
            <a:spLocks noGrp="1"/>
          </p:cNvSpPr>
          <p:nvPr>
            <p:ph type="body" idx="1"/>
          </p:nvPr>
        </p:nvSpPr>
        <p:spPr/>
        <p:txBody>
          <a:bodyPr/>
          <a:lstStyle/>
          <a:p>
            <a:pPr rtl="0" fontAlgn="t"/>
            <a:r>
              <a:rPr lang="en-US" b="0" dirty="0">
                <a:effectLst/>
              </a:rPr>
              <a:t>5.8; 8.3; 8; 5; 3.7</a:t>
            </a:r>
          </a:p>
        </p:txBody>
      </p:sp>
    </p:spTree>
    <p:extLst>
      <p:ext uri="{BB962C8B-B14F-4D97-AF65-F5344CB8AC3E}">
        <p14:creationId xmlns:p14="http://schemas.microsoft.com/office/powerpoint/2010/main" val="2716679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371CF-27B0-CAAA-C987-F500EB634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43EF5-AD62-4CE8-0E6E-CA94792A5D48}"/>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D57610D4-B13C-8FE0-9BB8-EF0CA501C9B9}"/>
              </a:ext>
            </a:extLst>
          </p:cNvPr>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Identify and </a:t>
            </a:r>
            <a:r>
              <a:rPr lang="en-US" sz="1200" b="0" i="0" u="none" strike="noStrike" kern="1200" dirty="0" err="1">
                <a:solidFill>
                  <a:schemeClr val="tx1"/>
                </a:solidFill>
                <a:effectLst/>
                <a:latin typeface="Arial" charset="0"/>
                <a:ea typeface="+mn-ea"/>
                <a:cs typeface="+mn-cs"/>
              </a:rPr>
              <a:t>analyse</a:t>
            </a:r>
            <a:r>
              <a:rPr lang="en-US" sz="1200" b="0" i="0" u="none" strike="noStrike" kern="1200" dirty="0">
                <a:solidFill>
                  <a:schemeClr val="tx1"/>
                </a:solidFill>
                <a:effectLst/>
                <a:latin typeface="Arial" charset="0"/>
                <a:ea typeface="+mn-ea"/>
                <a:cs typeface="+mn-cs"/>
              </a:rPr>
              <a:t> complex computing problems reaching substantiated conclusions using fundamental principles of mathematics, computing and data sciences, and relevant domain knowledge</a:t>
            </a:r>
            <a:endParaRPr lang="en-US" b="0" dirty="0">
              <a:effectLst/>
            </a:endParaRPr>
          </a:p>
        </p:txBody>
      </p:sp>
    </p:spTree>
    <p:extLst>
      <p:ext uri="{BB962C8B-B14F-4D97-AF65-F5344CB8AC3E}">
        <p14:creationId xmlns:p14="http://schemas.microsoft.com/office/powerpoint/2010/main" val="1642277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321D9-74C6-A8FF-3E23-073125E9D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B96D8-85B6-183B-0E85-95063AE9A0F7}"/>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AA26812B-1DD7-05BA-BFC2-F2BA4E14475E}"/>
              </a:ext>
            </a:extLst>
          </p:cNvPr>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Identify and </a:t>
            </a:r>
            <a:r>
              <a:rPr lang="en-US" sz="1200" b="0" i="0" u="none" strike="noStrike" kern="1200" dirty="0" err="1">
                <a:solidFill>
                  <a:schemeClr val="tx1"/>
                </a:solidFill>
                <a:effectLst/>
                <a:latin typeface="Arial" charset="0"/>
                <a:ea typeface="+mn-ea"/>
                <a:cs typeface="+mn-cs"/>
              </a:rPr>
              <a:t>analyse</a:t>
            </a:r>
            <a:r>
              <a:rPr lang="en-US" sz="1200" b="0" i="0" u="none" strike="noStrike" kern="1200" dirty="0">
                <a:solidFill>
                  <a:schemeClr val="tx1"/>
                </a:solidFill>
                <a:effectLst/>
                <a:latin typeface="Arial" charset="0"/>
                <a:ea typeface="+mn-ea"/>
                <a:cs typeface="+mn-cs"/>
              </a:rPr>
              <a:t> complex computing problems reaching substantiated conclusions using fundamental principles of mathematics, computing and data sciences, and relevant domain knowledge</a:t>
            </a:r>
            <a:endParaRPr lang="en-US" b="0" dirty="0">
              <a:effectLst/>
            </a:endParaRPr>
          </a:p>
        </p:txBody>
      </p:sp>
    </p:spTree>
    <p:extLst>
      <p:ext uri="{BB962C8B-B14F-4D97-AF65-F5344CB8AC3E}">
        <p14:creationId xmlns:p14="http://schemas.microsoft.com/office/powerpoint/2010/main" val="35486996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35AC6-B5F9-0651-5C27-ED9AC6D41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D840D-E0FA-924D-32B8-1329E55B377F}"/>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80C947DE-10F7-0C50-666D-061EE64B9C9D}"/>
              </a:ext>
            </a:extLst>
          </p:cNvPr>
          <p:cNvSpPr>
            <a:spLocks noGrp="1"/>
          </p:cNvSpPr>
          <p:nvPr>
            <p:ph type="body" idx="1"/>
          </p:nvPr>
        </p:nvSpPr>
        <p:spPr/>
        <p:txBody>
          <a:bodyPr/>
          <a:lstStyle/>
          <a:p>
            <a:pPr rtl="0" fontAlgn="t"/>
            <a:r>
              <a:rPr lang="en-US" sz="1200" b="0" i="0" u="none" strike="noStrike" kern="1200" dirty="0">
                <a:solidFill>
                  <a:schemeClr val="tx1"/>
                </a:solidFill>
                <a:effectLst/>
                <a:latin typeface="Arial" charset="0"/>
                <a:ea typeface="+mn-ea"/>
                <a:cs typeface="+mn-cs"/>
              </a:rPr>
              <a:t>Identify and </a:t>
            </a:r>
            <a:r>
              <a:rPr lang="en-US" sz="1200" b="0" i="0" u="none" strike="noStrike" kern="1200" dirty="0" err="1">
                <a:solidFill>
                  <a:schemeClr val="tx1"/>
                </a:solidFill>
                <a:effectLst/>
                <a:latin typeface="Arial" charset="0"/>
                <a:ea typeface="+mn-ea"/>
                <a:cs typeface="+mn-cs"/>
              </a:rPr>
              <a:t>analyse</a:t>
            </a:r>
            <a:r>
              <a:rPr lang="en-US" sz="1200" b="0" i="0" u="none" strike="noStrike" kern="1200" dirty="0">
                <a:solidFill>
                  <a:schemeClr val="tx1"/>
                </a:solidFill>
                <a:effectLst/>
                <a:latin typeface="Arial" charset="0"/>
                <a:ea typeface="+mn-ea"/>
                <a:cs typeface="+mn-cs"/>
              </a:rPr>
              <a:t> complex computing problems reaching substantiated conclusions using fundamental principles of mathematics, computing and data sciences, and relevant domain knowledge</a:t>
            </a:r>
            <a:endParaRPr lang="en-US" b="0" dirty="0">
              <a:effectLst/>
            </a:endParaRPr>
          </a:p>
        </p:txBody>
      </p:sp>
    </p:spTree>
    <p:extLst>
      <p:ext uri="{BB962C8B-B14F-4D97-AF65-F5344CB8AC3E}">
        <p14:creationId xmlns:p14="http://schemas.microsoft.com/office/powerpoint/2010/main" val="2526661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171628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2A668-1F45-5337-DE9D-9857676D9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C5506-3340-EFE8-A469-F2B0DE6717C4}"/>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2B8CFC0-48CB-EF3A-D584-63D3DBDAC7DC}"/>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1195345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E435-26A9-64FB-515C-FDBE18EAD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63F94-EB11-208B-71B9-24A818AEB8B1}"/>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F0BA8B69-F116-78AB-58A6-7E23471D9FF7}"/>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635654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2803125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C9F18-937E-E6CE-1241-213911D8D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87C6B-4B58-0E89-31D2-CB7D26E1A74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8E598A16-3CED-9A52-8B5B-879D823984BB}"/>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074832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65D7EE65-8AFE-4022-B3D9-7794B9342842}" type="slidenum">
              <a:rPr lang="en-AU"/>
              <a:pPr>
                <a:defRPr/>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136BB8A-0854-4320-9CB6-5978F93B7D0C}" type="slidenum">
              <a:rPr lang="en-AU"/>
              <a:pPr>
                <a:defRPr/>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76A1EC1-FD81-4297-932F-0F31C26A9517}" type="slidenum">
              <a:rPr lang="en-AU"/>
              <a:pPr>
                <a:defRPr/>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6ECD963F-0ABF-4DDA-94F2-B28E844934B8}" type="slidenum">
              <a:rPr lang="en-AU"/>
              <a:pPr>
                <a:defRPr/>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AU"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9" name="Rectangle 6"/>
          <p:cNvSpPr>
            <a:spLocks noGrp="1" noChangeArrowheads="1"/>
          </p:cNvSpPr>
          <p:nvPr>
            <p:ph type="sldNum" sz="quarter" idx="12"/>
          </p:nvPr>
        </p:nvSpPr>
        <p:spPr>
          <a:ln/>
        </p:spPr>
        <p:txBody>
          <a:bodyPr/>
          <a:lstStyle>
            <a:lvl1pPr>
              <a:defRPr/>
            </a:lvl1pPr>
          </a:lstStyle>
          <a:p>
            <a:pPr>
              <a:defRPr/>
            </a:pPr>
            <a:fld id="{A09639DC-AEAE-42DF-8ED1-CED4DC05F609}" type="slidenum">
              <a:rPr lang="en-AU"/>
              <a:pPr>
                <a:defRPr/>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AU"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5" name="Rectangle 6"/>
          <p:cNvSpPr>
            <a:spLocks noGrp="1" noChangeArrowheads="1"/>
          </p:cNvSpPr>
          <p:nvPr>
            <p:ph type="sldNum" sz="quarter" idx="12"/>
          </p:nvPr>
        </p:nvSpPr>
        <p:spPr>
          <a:ln/>
        </p:spPr>
        <p:txBody>
          <a:bodyPr/>
          <a:lstStyle>
            <a:lvl1pPr>
              <a:defRPr/>
            </a:lvl1pPr>
          </a:lstStyle>
          <a:p>
            <a:pPr>
              <a:defRPr/>
            </a:pPr>
            <a:fld id="{DC955108-5A2D-4238-A310-FF266209B693}" type="slidenum">
              <a:rPr lang="en-AU"/>
              <a:pPr>
                <a:defRPr/>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AU"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4" name="Rectangle 6"/>
          <p:cNvSpPr>
            <a:spLocks noGrp="1" noChangeArrowheads="1"/>
          </p:cNvSpPr>
          <p:nvPr>
            <p:ph type="sldNum" sz="quarter" idx="12"/>
          </p:nvPr>
        </p:nvSpPr>
        <p:spPr>
          <a:ln/>
        </p:spPr>
        <p:txBody>
          <a:bodyPr/>
          <a:lstStyle>
            <a:lvl1pPr>
              <a:defRPr/>
            </a:lvl1pPr>
          </a:lstStyle>
          <a:p>
            <a:pPr>
              <a:defRPr/>
            </a:pPr>
            <a:fld id="{F50E377F-86B6-4B25-9512-8E32B5A83205}" type="slidenum">
              <a:rPr lang="en-AU"/>
              <a:pPr>
                <a:defRPr/>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87EFDFB0-E6FC-4290-A842-FF8549BB4702}" type="slidenum">
              <a:rPr lang="en-AU"/>
              <a:pPr>
                <a:defRPr/>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BA3BEABF-3905-4967-992F-0A3A0239B510}" type="slidenum">
              <a:rPr lang="en-AU"/>
              <a:pPr>
                <a:defRPr/>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D2A828E1-5CE8-43FC-9875-7EB32D9DC9F6}" type="slidenum">
              <a:rPr lang="en-AU"/>
              <a:pPr>
                <a:defRPr/>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600201"/>
            <a:ext cx="2743200" cy="4525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600201"/>
            <a:ext cx="80264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C3306096-8DC5-4C75-83E3-7A39F1488DB7}" type="slidenum">
              <a:rPr lang="en-AU"/>
              <a:pPr>
                <a:defRPr/>
              </a:pPr>
              <a:t>‹#›</a:t>
            </a:fld>
            <a:endParaRPr lang="en-AU"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701516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20292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3545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AU"/>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66955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656933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84885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9683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26697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28796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03827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09663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921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latin typeface="Arial Narrow"/>
                <a:cs typeface="Arial Narrow"/>
              </a:defRPr>
            </a:lvl1pPr>
          </a:lstStyle>
          <a:p>
            <a:r>
              <a:rPr lang="en-AU" dirty="0"/>
              <a:t>TITLE PAGE (30pt Arial Narrow)</a:t>
            </a:r>
            <a:endParaRPr lang="en-US" dirty="0"/>
          </a:p>
        </p:txBody>
      </p:sp>
      <p:sp>
        <p:nvSpPr>
          <p:cNvPr id="3"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lumMod val="50000"/>
                  </a:schemeClr>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1921637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438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solidFill>
                  <a:schemeClr val="bg1"/>
                </a:solidFill>
                <a:latin typeface="Arial Narrow"/>
                <a:cs typeface="Arial Narrow"/>
              </a:defRPr>
            </a:lvl1pPr>
          </a:lstStyle>
          <a:p>
            <a:r>
              <a:rPr lang="en-AU" dirty="0"/>
              <a:t>TITLE PAGE (30pt Arial Narrow)</a:t>
            </a:r>
            <a:endParaRPr lang="en-US" dirty="0"/>
          </a:p>
        </p:txBody>
      </p:sp>
      <p:sp>
        <p:nvSpPr>
          <p:cNvPr id="7"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30732634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8088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5"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
        <p:nvSpPr>
          <p:cNvPr id="3" name="TextBox 2"/>
          <p:cNvSpPr txBox="1"/>
          <p:nvPr userDrawn="1"/>
        </p:nvSpPr>
        <p:spPr>
          <a:xfrm>
            <a:off x="10739779" y="638473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238362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12" name="Content Placeholder 2"/>
          <p:cNvSpPr>
            <a:spLocks noGrp="1"/>
          </p:cNvSpPr>
          <p:nvPr>
            <p:ph sz="half" idx="1"/>
          </p:nvPr>
        </p:nvSpPr>
        <p:spPr>
          <a:xfrm>
            <a:off x="609599" y="1231261"/>
            <a:ext cx="11092828"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586413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3" name="Content Placeholder 2"/>
          <p:cNvSpPr>
            <a:spLocks noGrp="1"/>
          </p:cNvSpPr>
          <p:nvPr>
            <p:ph sz="half" idx="1"/>
          </p:nvPr>
        </p:nvSpPr>
        <p:spPr>
          <a:xfrm>
            <a:off x="609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1046320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10" name="Picture Placeholder 2"/>
          <p:cNvSpPr>
            <a:spLocks noGrp="1"/>
          </p:cNvSpPr>
          <p:nvPr>
            <p:ph type="pic" idx="15"/>
          </p:nvPr>
        </p:nvSpPr>
        <p:spPr>
          <a:xfrm>
            <a:off x="4381704" y="1088126"/>
            <a:ext cx="7349104" cy="474379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9" name="Content Placeholder 2"/>
          <p:cNvSpPr>
            <a:spLocks noGrp="1"/>
          </p:cNvSpPr>
          <p:nvPr>
            <p:ph idx="14"/>
          </p:nvPr>
        </p:nvSpPr>
        <p:spPr>
          <a:xfrm>
            <a:off x="609600" y="1088126"/>
            <a:ext cx="3312888" cy="474379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33557358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Picture Placeholder 2"/>
          <p:cNvSpPr>
            <a:spLocks noGrp="1"/>
          </p:cNvSpPr>
          <p:nvPr>
            <p:ph type="pic" idx="1"/>
          </p:nvPr>
        </p:nvSpPr>
        <p:spPr>
          <a:xfrm>
            <a:off x="679260" y="1031359"/>
            <a:ext cx="11051549" cy="4871506"/>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Title 2"/>
          <p:cNvSpPr>
            <a:spLocks noGrp="1"/>
          </p:cNvSpPr>
          <p:nvPr>
            <p:ph type="title" hasCustomPrompt="1"/>
          </p:nvPr>
        </p:nvSpPr>
        <p:spPr>
          <a:xfrm>
            <a:off x="620809" y="141897"/>
            <a:ext cx="11110000" cy="487491"/>
          </a:xfrm>
          <a:prstGeom prst="rect">
            <a:avLst/>
          </a:prstGeom>
        </p:spPr>
        <p:txBody>
          <a:bodyPr/>
          <a:lstStyle>
            <a:lvl1pPr algn="l">
              <a:defRPr sz="2400">
                <a:latin typeface="Arial Narrow" charset="0"/>
                <a:ea typeface="Arial Narrow" charset="0"/>
                <a:cs typeface="Arial Narrow" charset="0"/>
              </a:defRPr>
            </a:lvl1pPr>
          </a:lstStyle>
          <a:p>
            <a:r>
              <a:rPr lang="en-AU" dirty="0"/>
              <a:t>CLICK TO EDIT MASTER TITLE STYLE</a:t>
            </a:r>
            <a:endParaRPr lang="en-US" dirty="0"/>
          </a:p>
        </p:txBody>
      </p:sp>
      <p:sp>
        <p:nvSpPr>
          <p:cNvPr id="6"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41280158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284" y="944564"/>
            <a:ext cx="10936816" cy="604837"/>
          </a:xfrm>
          <a:prstGeom prst="rect">
            <a:avLst/>
          </a:prstGeom>
        </p:spPr>
        <p:txBody>
          <a:bodyPr/>
          <a:lstStyle/>
          <a:p>
            <a:r>
              <a:rPr lang="en-US"/>
              <a:t>Click to edit Master title style</a:t>
            </a:r>
            <a:endParaRPr lang="en-MY"/>
          </a:p>
        </p:txBody>
      </p:sp>
      <p:sp>
        <p:nvSpPr>
          <p:cNvPr id="3" name="Rectangle 3"/>
          <p:cNvSpPr>
            <a:spLocks noGrp="1" noChangeArrowheads="1"/>
          </p:cNvSpPr>
          <p:nvPr>
            <p:ph type="dt" idx="10"/>
          </p:nvPr>
        </p:nvSpPr>
        <p:spPr>
          <a:xfrm>
            <a:off x="9793818" y="6542088"/>
            <a:ext cx="1587500" cy="138112"/>
          </a:xfrm>
          <a:prstGeom prst="rect">
            <a:avLst/>
          </a:prstGeom>
          <a:ln/>
        </p:spPr>
        <p:txBody>
          <a:bodyPr/>
          <a:lstStyle>
            <a:lvl1pPr>
              <a:defRPr/>
            </a:lvl1pPr>
          </a:lstStyle>
          <a:p>
            <a:pPr>
              <a:defRPr/>
            </a:pPr>
            <a:endParaRPr lang="en-AU" altLang="en-US"/>
          </a:p>
        </p:txBody>
      </p:sp>
      <p:sp>
        <p:nvSpPr>
          <p:cNvPr id="4" name="Rectangle 4"/>
          <p:cNvSpPr>
            <a:spLocks noGrp="1" noChangeArrowheads="1"/>
          </p:cNvSpPr>
          <p:nvPr>
            <p:ph type="ftr" idx="11"/>
          </p:nvPr>
        </p:nvSpPr>
        <p:spPr>
          <a:xfrm>
            <a:off x="4165600" y="6356351"/>
            <a:ext cx="3860800" cy="365125"/>
          </a:xfrm>
          <a:prstGeom prst="rect">
            <a:avLst/>
          </a:prstGeom>
          <a:ln/>
        </p:spPr>
        <p:txBody>
          <a:bodyPr/>
          <a:lstStyle>
            <a:lvl1pPr>
              <a:defRPr/>
            </a:lvl1pPr>
          </a:lstStyle>
          <a:p>
            <a:pPr>
              <a:defRPr/>
            </a:pPr>
            <a:endParaRPr lang="en-AU" altLang="en-US"/>
          </a:p>
        </p:txBody>
      </p:sp>
      <p:sp>
        <p:nvSpPr>
          <p:cNvPr id="5" name="Rectangle 5"/>
          <p:cNvSpPr>
            <a:spLocks noGrp="1" noChangeArrowheads="1"/>
          </p:cNvSpPr>
          <p:nvPr>
            <p:ph type="sldNum" idx="12"/>
          </p:nvPr>
        </p:nvSpPr>
        <p:spPr>
          <a:ln/>
        </p:spPr>
        <p:txBody>
          <a:bodyPr/>
          <a:lstStyle>
            <a:lvl1pPr>
              <a:defRPr/>
            </a:lvl1pPr>
          </a:lstStyle>
          <a:p>
            <a:fld id="{6BC81E26-17D9-47C5-A402-BC342BFCF728}" type="slidenum">
              <a:rPr lang="en-AU" altLang="en-US"/>
              <a:pPr/>
              <a:t>‹#›</a:t>
            </a:fld>
            <a:endParaRPr lang="en-AU" altLang="en-US"/>
          </a:p>
        </p:txBody>
      </p:sp>
    </p:spTree>
    <p:extLst>
      <p:ext uri="{BB962C8B-B14F-4D97-AF65-F5344CB8AC3E}">
        <p14:creationId xmlns:p14="http://schemas.microsoft.com/office/powerpoint/2010/main" val="30372226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7993" y="2362515"/>
            <a:ext cx="7325545" cy="1470025"/>
          </a:xfrm>
          <a:prstGeom prst="rect">
            <a:avLst/>
          </a:prstGeom>
        </p:spPr>
        <p:txBody>
          <a:bodyPr anchor="ctr"/>
          <a:lstStyle>
            <a:lvl1pPr algn="l">
              <a:defRPr sz="2800">
                <a:latin typeface="Arial Narrow"/>
                <a:cs typeface="Arial Narrow"/>
              </a:defRPr>
            </a:lvl1pPr>
          </a:lstStyle>
          <a:p>
            <a:r>
              <a:rPr lang="en-US" sz="3000" dirty="0">
                <a:solidFill>
                  <a:srgbClr val="000000"/>
                </a:solidFill>
                <a:latin typeface="Arial Narrow"/>
                <a:cs typeface="Arial Narrow"/>
              </a:rPr>
              <a:t>SECTION BREAK 2 </a:t>
            </a:r>
            <a:br>
              <a:rPr lang="en-US" sz="3000" dirty="0">
                <a:solidFill>
                  <a:srgbClr val="000000"/>
                </a:solidFill>
                <a:latin typeface="Arial Narrow"/>
                <a:cs typeface="Arial Narrow"/>
              </a:rPr>
            </a:br>
            <a:r>
              <a:rPr lang="en-US" sz="3000" dirty="0">
                <a:solidFill>
                  <a:srgbClr val="000000"/>
                </a:solidFill>
                <a:latin typeface="Arial Narrow"/>
                <a:cs typeface="Arial Narrow"/>
              </a:rPr>
              <a:t>(30pt Arial Narrow)</a:t>
            </a:r>
          </a:p>
        </p:txBody>
      </p:sp>
    </p:spTree>
    <p:extLst>
      <p:ext uri="{BB962C8B-B14F-4D97-AF65-F5344CB8AC3E}">
        <p14:creationId xmlns:p14="http://schemas.microsoft.com/office/powerpoint/2010/main" val="1279951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459513" y="2582358"/>
            <a:ext cx="7101769" cy="1963182"/>
          </a:xfrm>
          <a:prstGeom prst="rect">
            <a:avLst/>
          </a:prstGeom>
        </p:spPr>
        <p:txBody>
          <a:bodyPr vert="horz" anchor="t"/>
          <a:lstStyle>
            <a:lvl1pPr marL="0" indent="0">
              <a:buNone/>
              <a:defRPr sz="3000" baseline="0">
                <a:solidFill>
                  <a:schemeClr val="bg1"/>
                </a:solidFill>
                <a:latin typeface="Arial Narrow"/>
                <a:cs typeface="Arial Narrow"/>
              </a:defRPr>
            </a:lvl1pPr>
          </a:lstStyle>
          <a:p>
            <a:pPr lvl="0"/>
            <a:r>
              <a:rPr lang="en-AU" dirty="0"/>
              <a:t>SECTION BREAK 1 </a:t>
            </a:r>
            <a:br>
              <a:rPr lang="en-AU" dirty="0"/>
            </a:br>
            <a:r>
              <a:rPr lang="en-AU" dirty="0"/>
              <a:t>(30pt Arial Narrow)</a:t>
            </a:r>
          </a:p>
        </p:txBody>
      </p:sp>
    </p:spTree>
    <p:extLst>
      <p:ext uri="{BB962C8B-B14F-4D97-AF65-F5344CB8AC3E}">
        <p14:creationId xmlns:p14="http://schemas.microsoft.com/office/powerpoint/2010/main" val="284762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547393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line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367" y="1600201"/>
            <a:ext cx="10972800" cy="4525963"/>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875142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8000" y="160020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096000" y="1600201"/>
            <a:ext cx="5384800" cy="4525963"/>
          </a:xfrm>
          <a:prstGeom prst="rect">
            <a:avLst/>
          </a:prstGeom>
        </p:spPr>
        <p:txBody>
          <a:bodyPr/>
          <a:lstStyle>
            <a:lvl1pPr marL="342900" indent="-342900">
              <a:buFont typeface="Wingdings" charset="2"/>
              <a:buChar char="§"/>
              <a:defRPr sz="2400">
                <a:latin typeface="Arial"/>
                <a:cs typeface="Arial"/>
              </a:defRPr>
            </a:lvl1pPr>
            <a:lvl2pPr marL="742950" indent="-285750">
              <a:buFont typeface="Wingdings" charset="2"/>
              <a:buChar cha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6"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743260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amp;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138" y="1315159"/>
            <a:ext cx="5082791"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6084982" y="1315159"/>
            <a:ext cx="5531365" cy="500647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211133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125" y="1315159"/>
            <a:ext cx="3312888"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4289229" y="1315159"/>
            <a:ext cx="7349104"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0085647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59211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30.xml"/><Relationship Id="rId7"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6.xml"/><Relationship Id="rId1"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7.xml"/><Relationship Id="rId1" Type="http://schemas.openxmlformats.org/officeDocument/2006/relationships/slideLayout" Target="../slideLayouts/slideLayout35.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38.xml"/><Relationship Id="rId7" Type="http://schemas.openxmlformats.org/officeDocument/2006/relationships/theme" Target="../theme/theme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609600" y="24923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410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AU" dirty="0"/>
          </a:p>
        </p:txBody>
      </p:sp>
      <p:sp>
        <p:nvSpPr>
          <p:cNvPr id="4101"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AU" dirty="0"/>
          </a:p>
        </p:txBody>
      </p:sp>
      <p:sp>
        <p:nvSpPr>
          <p:cNvPr id="410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B73441E8-46F8-4770-A23D-405C5F7C34D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87" r:id="rId12"/>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itchFamily="18" charset="0"/>
        </a:defRPr>
      </a:lvl2pPr>
      <a:lvl3pPr algn="l" rtl="0" eaLnBrk="0" fontAlgn="base" hangingPunct="0">
        <a:spcBef>
          <a:spcPct val="0"/>
        </a:spcBef>
        <a:spcAft>
          <a:spcPct val="0"/>
        </a:spcAft>
        <a:defRPr sz="4000">
          <a:solidFill>
            <a:schemeClr val="tx2"/>
          </a:solidFill>
          <a:latin typeface="Times New Roman" pitchFamily="18" charset="0"/>
        </a:defRPr>
      </a:lvl3pPr>
      <a:lvl4pPr algn="l" rtl="0" eaLnBrk="0" fontAlgn="base" hangingPunct="0">
        <a:spcBef>
          <a:spcPct val="0"/>
        </a:spcBef>
        <a:spcAft>
          <a:spcPct val="0"/>
        </a:spcAft>
        <a:defRPr sz="4000">
          <a:solidFill>
            <a:schemeClr val="tx2"/>
          </a:solidFill>
          <a:latin typeface="Times New Roman" pitchFamily="18" charset="0"/>
        </a:defRPr>
      </a:lvl4pPr>
      <a:lvl5pPr algn="l" rtl="0" eaLnBrk="0" fontAlgn="base" hangingPunct="0">
        <a:spcBef>
          <a:spcPct val="0"/>
        </a:spcBef>
        <a:spcAft>
          <a:spcPct val="0"/>
        </a:spcAft>
        <a:defRPr sz="4000">
          <a:solidFill>
            <a:schemeClr val="tx2"/>
          </a:solidFill>
          <a:latin typeface="Times New Roman"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AU"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73441E8-46F8-4770-A23D-405C5F7C34D0}" type="slidenum">
              <a:rPr lang="en-AU" smtClean="0"/>
              <a:pPr>
                <a:defRPr/>
              </a:pPr>
              <a:t>‹#›</a:t>
            </a:fld>
            <a:endParaRPr lang="en-AU" dirty="0"/>
          </a:p>
        </p:txBody>
      </p:sp>
      <p:pic>
        <p:nvPicPr>
          <p:cNvPr id="7" name="Picture 6" descr="PPT templates-1-standard-FINAL-2.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8521533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FDCB2-E1AF-CF45-BF86-32B8D7F4E267}" type="slidenum">
              <a:rPr lang="en-US" smtClean="0"/>
              <a:t>‹#›</a:t>
            </a:fld>
            <a:endParaRPr lang="en-US"/>
          </a:p>
        </p:txBody>
      </p:sp>
      <p:pic>
        <p:nvPicPr>
          <p:cNvPr id="4" name="Picture 3" descr="PPT templates-1-standard-FINAL.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3825717"/>
      </p:ext>
    </p:extLst>
  </p:cSld>
  <p:clrMap bg1="lt1" tx1="dk1" bg2="lt2" tx2="dk2" accent1="accent1" accent2="accent2" accent3="accent3" accent4="accent4" accent5="accent5" accent6="accent6" hlink="hlink" folHlink="folHlink"/>
  <p:sldLayoutIdLst>
    <p:sldLayoutId id="2147483764" r:id="rId1"/>
    <p:sldLayoutId id="2147483765"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3" name="Picture 2" descr="PPT templates-1-standard-FINAL-2.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02806701"/>
      </p:ext>
    </p:extLst>
  </p:cSld>
  <p:clrMap bg1="lt1" tx1="dk1" bg2="lt2" tx2="dk2" accent1="accent1" accent2="accent2" accent3="accent3" accent4="accent4" accent5="accent5" accent6="accent6" hlink="hlink" folHlink="folHlink"/>
  <p:sldLayoutIdLst>
    <p:sldLayoutId id="2147483767" r:id="rId1"/>
    <p:sldLayoutId id="2147483768"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116A7-1BBE-0246-8B18-68B8A757ECD8}" type="slidenum">
              <a:rPr lang="en-US" smtClean="0"/>
              <a:t>‹#›</a:t>
            </a:fld>
            <a:endParaRPr lang="en-US"/>
          </a:p>
        </p:txBody>
      </p:sp>
      <p:pic>
        <p:nvPicPr>
          <p:cNvPr id="4" name="Picture 3" descr="PPT templates-1-standard-covers-3-1.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6756717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 templates-1-standard-covers-3-6.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1075489"/>
      </p:ext>
    </p:extLst>
  </p:cSld>
  <p:clrMap bg1="lt1" tx1="dk1" bg2="lt2" tx2="dk2" accent1="accent1" accent2="accent2" accent3="accent3" accent4="accent4" accent5="accent5" accent6="accent6" hlink="hlink" folHlink="folHlink"/>
  <p:sldLayoutIdLst>
    <p:sldLayoutId id="214748377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PPT templates-1-standard-covers-3-3.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6691000"/>
      </p:ext>
    </p:extLst>
  </p:cSld>
  <p:clrMap bg1="lt1" tx1="dk1" bg2="lt2" tx2="dk2" accent1="accent1" accent2="accent2" accent3="accent3" accent4="accent4" accent5="accent5" accent6="accent6" hlink="hlink" folHlink="folHlink"/>
  <p:sldLayoutIdLst>
    <p:sldLayoutId id="214748377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templates-1-standard-6.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4365964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767408" y="764704"/>
            <a:ext cx="6984776" cy="1470025"/>
          </a:xfrm>
          <a:prstGeom prst="rect">
            <a:avLst/>
          </a:prstGeom>
        </p:spPr>
        <p:txBody>
          <a:bodyPr>
            <a:normAutofit/>
          </a:bodyPr>
          <a:lstStyle/>
          <a:p>
            <a:pPr algn="l"/>
            <a:r>
              <a:rPr lang="en-US" dirty="0">
                <a:latin typeface="Garamond" panose="02020404030301010803" pitchFamily="18" charset="0"/>
              </a:rPr>
              <a:t>FIT1055: IT professional practice and Ethics</a:t>
            </a:r>
          </a:p>
        </p:txBody>
      </p:sp>
      <p:sp>
        <p:nvSpPr>
          <p:cNvPr id="6" name="Subtitle 5"/>
          <p:cNvSpPr>
            <a:spLocks noGrp="1"/>
          </p:cNvSpPr>
          <p:nvPr>
            <p:ph type="body" sz="quarter" idx="4294967295"/>
          </p:nvPr>
        </p:nvSpPr>
        <p:spPr>
          <a:xfrm>
            <a:off x="767408" y="2427496"/>
            <a:ext cx="7776864" cy="1439863"/>
          </a:xfrm>
          <a:prstGeom prst="rect">
            <a:avLst/>
          </a:prstGeom>
        </p:spPr>
        <p:txBody>
          <a:bodyPr>
            <a:normAutofit/>
          </a:bodyPr>
          <a:lstStyle/>
          <a:p>
            <a:pPr marL="0" indent="0">
              <a:buNone/>
            </a:pPr>
            <a:r>
              <a:rPr lang="en-US" dirty="0">
                <a:solidFill>
                  <a:schemeClr val="tx2"/>
                </a:solidFill>
                <a:latin typeface="Garamond" panose="02020404030301010803" pitchFamily="18" charset="0"/>
              </a:rPr>
              <a:t>Revision week</a:t>
            </a:r>
          </a:p>
        </p:txBody>
      </p:sp>
      <p:sp>
        <p:nvSpPr>
          <p:cNvPr id="2" name="TextBox 1"/>
          <p:cNvSpPr txBox="1"/>
          <p:nvPr/>
        </p:nvSpPr>
        <p:spPr>
          <a:xfrm>
            <a:off x="15138584" y="2962762"/>
            <a:ext cx="184666" cy="369332"/>
          </a:xfrm>
          <a:prstGeom prst="rect">
            <a:avLst/>
          </a:prstGeom>
          <a:noFill/>
        </p:spPr>
        <p:txBody>
          <a:bodyPr wrap="none" rtlCol="0">
            <a:spAutoFit/>
          </a:bodyPr>
          <a:lstStyle/>
          <a:p>
            <a:endParaRPr lang="en-US" dirty="0"/>
          </a:p>
        </p:txBody>
      </p:sp>
      <p:pic>
        <p:nvPicPr>
          <p:cNvPr id="3" name="Picture 2"/>
          <p:cNvPicPr>
            <a:picLocks noChangeAspect="1"/>
          </p:cNvPicPr>
          <p:nvPr/>
        </p:nvPicPr>
        <p:blipFill rotWithShape="1">
          <a:blip r:embed="rId5"/>
          <a:srcRect l="61618" r="2096" b="651"/>
          <a:stretch/>
        </p:blipFill>
        <p:spPr>
          <a:xfrm>
            <a:off x="8256240" y="0"/>
            <a:ext cx="3347375" cy="6885384"/>
          </a:xfrm>
          <a:prstGeom prst="rect">
            <a:avLst/>
          </a:prstGeom>
        </p:spPr>
      </p:pic>
      <p:pic>
        <p:nvPicPr>
          <p:cNvPr id="4" name="Picture 3"/>
          <p:cNvPicPr>
            <a:picLocks noChangeAspect="1"/>
          </p:cNvPicPr>
          <p:nvPr/>
        </p:nvPicPr>
        <p:blipFill rotWithShape="1">
          <a:blip r:embed="rId5"/>
          <a:srcRect l="-8303" t="-32096" r="79376" b="114920"/>
          <a:stretch/>
        </p:blipFill>
        <p:spPr>
          <a:xfrm>
            <a:off x="-1934161" y="-2603813"/>
            <a:ext cx="4645785" cy="2072373"/>
          </a:xfrm>
          <a:prstGeom prst="rect">
            <a:avLst/>
          </a:prstGeom>
        </p:spPr>
      </p:pic>
      <p:pic>
        <p:nvPicPr>
          <p:cNvPr id="7" name="Picture 6"/>
          <p:cNvPicPr>
            <a:picLocks noChangeAspect="1"/>
          </p:cNvPicPr>
          <p:nvPr/>
        </p:nvPicPr>
        <p:blipFill rotWithShape="1">
          <a:blip r:embed="rId5"/>
          <a:srcRect r="66180" b="81278"/>
          <a:stretch/>
        </p:blipFill>
        <p:spPr>
          <a:xfrm>
            <a:off x="692441" y="5661249"/>
            <a:ext cx="2250885" cy="936104"/>
          </a:xfrm>
          <a:prstGeom prst="rect">
            <a:avLst/>
          </a:prstGeom>
        </p:spPr>
      </p:pic>
      <p:pic>
        <p:nvPicPr>
          <p:cNvPr id="8" name="Picture 7"/>
          <p:cNvPicPr>
            <a:picLocks noChangeAspect="1"/>
          </p:cNvPicPr>
          <p:nvPr/>
        </p:nvPicPr>
        <p:blipFill rotWithShape="1">
          <a:blip r:embed="rId5"/>
          <a:srcRect t="79504" r="77476"/>
          <a:stretch/>
        </p:blipFill>
        <p:spPr>
          <a:xfrm>
            <a:off x="2367262" y="5252513"/>
            <a:ext cx="2072554" cy="1416847"/>
          </a:xfrm>
          <a:prstGeom prst="rect">
            <a:avLst/>
          </a:prstGeom>
        </p:spPr>
      </p:pic>
      <p:pic>
        <p:nvPicPr>
          <p:cNvPr id="10" name="Audio 9">
            <a:hlinkClick r:id="" action="ppaction://media"/>
            <a:extLst>
              <a:ext uri="{FF2B5EF4-FFF2-40B4-BE49-F238E27FC236}">
                <a16:creationId xmlns:a16="http://schemas.microsoft.com/office/drawing/2014/main" id="{980E43B1-77CC-FC50-7A33-EC9BABC800D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935780418"/>
      </p:ext>
    </p:extLst>
  </p:cSld>
  <p:clrMapOvr>
    <a:masterClrMapping/>
  </p:clrMapOvr>
  <mc:AlternateContent xmlns:mc="http://schemas.openxmlformats.org/markup-compatibility/2006" xmlns:p14="http://schemas.microsoft.com/office/powerpoint/2010/main">
    <mc:Choice Requires="p14">
      <p:transition spd="slow" p14:dur="2000" advTm="44709"/>
    </mc:Choice>
    <mc:Fallback xmlns="">
      <p:transition spd="slow" advTm="447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39416" y="1484784"/>
            <a:ext cx="10225136" cy="4032448"/>
          </a:xfrm>
        </p:spPr>
        <p:txBody>
          <a:bodyPr>
            <a:noAutofit/>
          </a:bodyPr>
          <a:lstStyle/>
          <a:p>
            <a:endParaRPr lang="en-US" dirty="0">
              <a:latin typeface="Garamond" panose="02020404030301010803" pitchFamily="18" charset="0"/>
              <a:cs typeface="Arial"/>
            </a:endParaRPr>
          </a:p>
          <a:p>
            <a:pPr marL="514350" indent="-514350">
              <a:buFont typeface="+mj-lt"/>
              <a:buAutoNum type="arabicPeriod"/>
            </a:pPr>
            <a:r>
              <a:rPr lang="en-US" sz="2600" dirty="0">
                <a:latin typeface="Garamond" panose="02020404030301010803" pitchFamily="18" charset="0"/>
              </a:rPr>
              <a:t>Comprehend how Assignments are assessed based on Learning Outcomes</a:t>
            </a:r>
          </a:p>
          <a:p>
            <a:pPr marL="514350" indent="-514350">
              <a:buFont typeface="+mj-lt"/>
              <a:buAutoNum type="arabicPeriod"/>
            </a:pPr>
            <a:r>
              <a:rPr lang="en-US" sz="2600" dirty="0">
                <a:latin typeface="Garamond" panose="02020404030301010803" pitchFamily="18" charset="0"/>
              </a:rPr>
              <a:t>Comprehend what an authentic assessment (trial end-of-semester quiz)</a:t>
            </a:r>
          </a:p>
          <a:p>
            <a:pPr marL="514350" indent="-514350">
              <a:buFont typeface="+mj-lt"/>
              <a:buAutoNum type="arabicPeriod"/>
            </a:pPr>
            <a:r>
              <a:rPr lang="en-US" sz="2600" dirty="0">
                <a:latin typeface="Garamond" panose="02020404030301010803" pitchFamily="18" charset="0"/>
              </a:rPr>
              <a:t>Comprehend how to better strategize the use of lecture notes in preparation for the upcoming end-semester-quiz</a:t>
            </a:r>
          </a:p>
        </p:txBody>
      </p:sp>
      <p:sp>
        <p:nvSpPr>
          <p:cNvPr id="2" name="Title 1"/>
          <p:cNvSpPr>
            <a:spLocks noGrp="1"/>
          </p:cNvSpPr>
          <p:nvPr>
            <p:ph type="title" idx="4294967295"/>
          </p:nvPr>
        </p:nvSpPr>
        <p:spPr>
          <a:xfrm>
            <a:off x="583202" y="188640"/>
            <a:ext cx="9505056" cy="1106488"/>
          </a:xfrm>
          <a:prstGeom prst="rect">
            <a:avLst/>
          </a:prstGeom>
        </p:spPr>
        <p:txBody>
          <a:bodyPr>
            <a:normAutofit/>
          </a:bodyPr>
          <a:lstStyle/>
          <a:p>
            <a:r>
              <a:rPr lang="en-US" dirty="0">
                <a:latin typeface="Garamond" panose="02020404030301010803" pitchFamily="18" charset="0"/>
                <a:cs typeface="Arial"/>
              </a:rPr>
              <a:t>Things you will learn by the end of lesson</a:t>
            </a:r>
          </a:p>
        </p:txBody>
      </p:sp>
      <p:pic>
        <p:nvPicPr>
          <p:cNvPr id="4" name="Audio 3">
            <a:hlinkClick r:id="" action="ppaction://media"/>
            <a:extLst>
              <a:ext uri="{FF2B5EF4-FFF2-40B4-BE49-F238E27FC236}">
                <a16:creationId xmlns:a16="http://schemas.microsoft.com/office/drawing/2014/main" id="{35531892-1F91-1D4D-88D2-ABC4D8A8061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577827782"/>
      </p:ext>
    </p:extLst>
  </p:cSld>
  <p:clrMapOvr>
    <a:masterClrMapping/>
  </p:clrMapOvr>
  <mc:AlternateContent xmlns:mc="http://schemas.openxmlformats.org/markup-compatibility/2006" xmlns:p14="http://schemas.microsoft.com/office/powerpoint/2010/main">
    <mc:Choice Requires="p14">
      <p:transition spd="slow" p14:dur="2000" advTm="13152"/>
    </mc:Choice>
    <mc:Fallback xmlns="">
      <p:transition spd="slow" advTm="131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9017F-0B65-C6E7-B2E0-E665B3465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779B9-F898-CADE-C68A-3DBB938C761B}"/>
              </a:ext>
            </a:extLst>
          </p:cNvPr>
          <p:cNvSpPr>
            <a:spLocks noGrp="1"/>
          </p:cNvSpPr>
          <p:nvPr>
            <p:ph type="title" idx="4294967295"/>
          </p:nvPr>
        </p:nvSpPr>
        <p:spPr>
          <a:xfrm>
            <a:off x="1119586" y="4797152"/>
            <a:ext cx="10369152" cy="1106488"/>
          </a:xfrm>
          <a:prstGeom prst="rect">
            <a:avLst/>
          </a:prstGeom>
        </p:spPr>
        <p:txBody>
          <a:bodyPr>
            <a:normAutofit fontScale="90000"/>
          </a:bodyPr>
          <a:lstStyle/>
          <a:p>
            <a:r>
              <a:rPr lang="en-US" dirty="0">
                <a:solidFill>
                  <a:srgbClr val="333333"/>
                </a:solidFill>
                <a:latin typeface="Garamond" panose="02020404030301010803" pitchFamily="18" charset="0"/>
              </a:rPr>
              <a:t>Learning outcomes, Program Outcomes, Assignments and Authentic assessment </a:t>
            </a:r>
            <a:endParaRPr lang="en-US" dirty="0">
              <a:solidFill>
                <a:srgbClr val="333333"/>
              </a:solidFill>
              <a:effectLst/>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523EFD82-6758-B45A-9391-A05DDD15207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984748066"/>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23392" y="188640"/>
            <a:ext cx="10369152" cy="1106488"/>
          </a:xfrm>
          <a:prstGeom prst="rect">
            <a:avLst/>
          </a:prstGeom>
        </p:spPr>
        <p:txBody>
          <a:bodyPr>
            <a:normAutofit fontScale="90000"/>
          </a:bodyPr>
          <a:lstStyle/>
          <a:p>
            <a:r>
              <a:rPr lang="en-US" dirty="0">
                <a:latin typeface="Garamond" panose="02020404030301010803" pitchFamily="18" charset="0"/>
              </a:rPr>
              <a:t>Assignments and Authentic Assessments are created and assessed based on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3919D345-11EB-B115-671B-FB750BE72CE4}"/>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BD19FA9C-7559-4B5A-671A-6D19DE174574}"/>
              </a:ext>
            </a:extLst>
          </p:cNvPr>
          <p:cNvGraphicFramePr>
            <a:graphicFrameLocks noGrp="1"/>
          </p:cNvGraphicFramePr>
          <p:nvPr>
            <p:extLst>
              <p:ext uri="{D42A27DB-BD31-4B8C-83A1-F6EECF244321}">
                <p14:modId xmlns:p14="http://schemas.microsoft.com/office/powerpoint/2010/main" val="3529312748"/>
              </p:ext>
            </p:extLst>
          </p:nvPr>
        </p:nvGraphicFramePr>
        <p:xfrm>
          <a:off x="263352" y="1406739"/>
          <a:ext cx="11737303" cy="5257800"/>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1870056336"/>
                    </a:ext>
                  </a:extLst>
                </a:gridCol>
                <a:gridCol w="1872208">
                  <a:extLst>
                    <a:ext uri="{9D8B030D-6E8A-4147-A177-3AD203B41FA5}">
                      <a16:colId xmlns:a16="http://schemas.microsoft.com/office/drawing/2014/main" val="1685631846"/>
                    </a:ext>
                  </a:extLst>
                </a:gridCol>
                <a:gridCol w="6840759">
                  <a:extLst>
                    <a:ext uri="{9D8B030D-6E8A-4147-A177-3AD203B41FA5}">
                      <a16:colId xmlns:a16="http://schemas.microsoft.com/office/drawing/2014/main" val="515417957"/>
                    </a:ext>
                  </a:extLst>
                </a:gridCol>
              </a:tblGrid>
              <a:tr h="483482">
                <a:tc>
                  <a:txBody>
                    <a:bodyPr/>
                    <a:lstStyle/>
                    <a:p>
                      <a:r>
                        <a:rPr lang="en-US" sz="2400" dirty="0">
                          <a:solidFill>
                            <a:schemeClr val="tx1"/>
                          </a:solidFill>
                          <a:latin typeface="Garamond" panose="02020404030301010803" pitchFamily="18" charset="0"/>
                        </a:rPr>
                        <a:t>Assessment (Individual/Group)</a:t>
                      </a:r>
                    </a:p>
                  </a:txBody>
                  <a:tcPr/>
                </a:tc>
                <a:tc>
                  <a:txBody>
                    <a:bodyPr/>
                    <a:lstStyle/>
                    <a:p>
                      <a:r>
                        <a:rPr lang="en-US" sz="2400" dirty="0">
                          <a:solidFill>
                            <a:schemeClr val="tx1"/>
                          </a:solidFill>
                          <a:latin typeface="Garamond" panose="02020404030301010803" pitchFamily="18" charset="0"/>
                        </a:rPr>
                        <a:t>Authentic Assessment</a:t>
                      </a:r>
                    </a:p>
                  </a:txBody>
                  <a:tcPr/>
                </a:tc>
                <a:tc>
                  <a:txBody>
                    <a:bodyPr/>
                    <a:lstStyle/>
                    <a:p>
                      <a:r>
                        <a:rPr lang="en-US" sz="2400" dirty="0">
                          <a:solidFill>
                            <a:schemeClr val="tx1"/>
                          </a:solidFill>
                          <a:latin typeface="Garamond" panose="02020404030301010803" pitchFamily="18" charset="0"/>
                        </a:rPr>
                        <a:t>Learning outcomes</a:t>
                      </a:r>
                    </a:p>
                  </a:txBody>
                  <a:tcPr/>
                </a:tc>
                <a:extLst>
                  <a:ext uri="{0D108BD9-81ED-4DB2-BD59-A6C34878D82A}">
                    <a16:rowId xmlns:a16="http://schemas.microsoft.com/office/drawing/2014/main" val="2033980725"/>
                  </a:ext>
                </a:extLst>
              </a:tr>
              <a:tr h="4834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Garamond" panose="02020404030301010803" pitchFamily="18" charset="0"/>
                        </a:rPr>
                        <a:t>Assignment 2a, 2b</a:t>
                      </a:r>
                    </a:p>
                    <a:p>
                      <a:endParaRPr lang="en-US" sz="1600" dirty="0">
                        <a:solidFill>
                          <a:schemeClr val="tx1"/>
                        </a:solidFill>
                        <a:latin typeface="Garamond" panose="02020404030301010803" pitchFamily="18" charset="0"/>
                      </a:endParaRPr>
                    </a:p>
                  </a:txBody>
                  <a:tcPr/>
                </a:tc>
                <a:tc rowSpan="6">
                  <a:txBody>
                    <a:bodyPr/>
                    <a:lstStyle/>
                    <a:p>
                      <a:pPr algn="l"/>
                      <a:r>
                        <a:rPr lang="en-US" sz="1700" dirty="0">
                          <a:solidFill>
                            <a:schemeClr val="tx1"/>
                          </a:solidFill>
                          <a:latin typeface="Garamond" panose="02020404030301010803" pitchFamily="18" charset="0"/>
                        </a:rPr>
                        <a:t>QUIZ for all topics on </a:t>
                      </a:r>
                      <a:r>
                        <a:rPr lang="en-US" sz="1700">
                          <a:solidFill>
                            <a:schemeClr val="tx1"/>
                          </a:solidFill>
                          <a:latin typeface="Garamond" panose="02020404030301010803" pitchFamily="18" charset="0"/>
                        </a:rPr>
                        <a:t>authentic assessments</a:t>
                      </a:r>
                      <a:endParaRPr lang="en-US" sz="1700" dirty="0">
                        <a:solidFill>
                          <a:schemeClr val="tx1"/>
                        </a:solidFill>
                        <a:latin typeface="Garamond" panose="02020404030301010803" pitchFamily="18" charset="0"/>
                      </a:endParaRPr>
                    </a:p>
                  </a:txBody>
                  <a:tcPr/>
                </a:tc>
                <a:tc>
                  <a:txBody>
                    <a:bodyPr/>
                    <a:lstStyle/>
                    <a:p>
                      <a:pPr rtl="0" fontAlgn="t"/>
                      <a:r>
                        <a:rPr lang="en-US" sz="1700" b="0" i="0" u="none" strike="noStrike" kern="1200" dirty="0">
                          <a:solidFill>
                            <a:schemeClr val="tx1"/>
                          </a:solidFill>
                          <a:effectLst/>
                          <a:latin typeface="Garamond" panose="02020404030301010803" pitchFamily="18" charset="0"/>
                          <a:ea typeface="+mn-ea"/>
                          <a:cs typeface="+mn-cs"/>
                        </a:rPr>
                        <a:t>Comprehend a range of communication skills and modes that is effective for presentation,</a:t>
                      </a:r>
                      <a:r>
                        <a:rPr lang="en-US" sz="1700" b="0" i="0" u="none" strike="noStrike" kern="1200" dirty="0">
                          <a:solidFill>
                            <a:schemeClr val="dk1"/>
                          </a:solidFill>
                          <a:effectLst/>
                          <a:latin typeface="Garamond" panose="02020404030301010803" pitchFamily="18" charset="0"/>
                          <a:ea typeface="+mn-ea"/>
                          <a:cs typeface="+mn-cs"/>
                        </a:rPr>
                        <a:t> </a:t>
                      </a:r>
                      <a:r>
                        <a:rPr lang="en-US" sz="1700" b="0" i="0" u="none" strike="noStrike" kern="1200" dirty="0">
                          <a:solidFill>
                            <a:schemeClr val="tx1"/>
                          </a:solidFill>
                          <a:effectLst/>
                          <a:latin typeface="Garamond" panose="02020404030301010803" pitchFamily="18" charset="0"/>
                          <a:ea typeface="+mn-ea"/>
                          <a:cs typeface="+mn-cs"/>
                        </a:rPr>
                        <a:t>management and entrepreneurial</a:t>
                      </a:r>
                      <a:endParaRPr lang="en-US" sz="1700" b="0" dirty="0">
                        <a:effectLst/>
                        <a:latin typeface="Garamond" panose="02020404030301010803" pitchFamily="18" charset="0"/>
                      </a:endParaRPr>
                    </a:p>
                  </a:txBody>
                  <a:tcPr/>
                </a:tc>
                <a:extLst>
                  <a:ext uri="{0D108BD9-81ED-4DB2-BD59-A6C34878D82A}">
                    <a16:rowId xmlns:a16="http://schemas.microsoft.com/office/drawing/2014/main" val="1822639932"/>
                  </a:ext>
                </a:extLst>
              </a:tr>
              <a:tr h="4834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Garamond" panose="02020404030301010803" pitchFamily="18" charset="0"/>
                        </a:rPr>
                        <a:t>Assignment 2a,2b, 3</a:t>
                      </a:r>
                    </a:p>
                    <a:p>
                      <a:endParaRPr lang="en-US" sz="1600" dirty="0">
                        <a:solidFill>
                          <a:schemeClr val="tx1"/>
                        </a:solidFill>
                        <a:latin typeface="Garamond" panose="02020404030301010803" pitchFamily="18" charset="0"/>
                      </a:endParaRPr>
                    </a:p>
                  </a:txBody>
                  <a:tcPr/>
                </a:tc>
                <a:tc vMerge="1">
                  <a:txBody>
                    <a:bodyPr/>
                    <a:lstStyle/>
                    <a:p>
                      <a:endParaRPr lang="en-US" sz="1600" dirty="0">
                        <a:solidFill>
                          <a:schemeClr val="tx1"/>
                        </a:solidFill>
                        <a:latin typeface="Garamond" panose="02020404030301010803" pitchFamily="18" charset="0"/>
                      </a:endParaRPr>
                    </a:p>
                  </a:txBody>
                  <a:tcPr/>
                </a:tc>
                <a:tc>
                  <a:txBody>
                    <a:bodyPr/>
                    <a:lstStyle/>
                    <a:p>
                      <a:pPr rtl="0" fontAlgn="t"/>
                      <a:r>
                        <a:rPr lang="en-US" sz="1700" b="0" i="0" u="none" strike="noStrike" kern="1200" dirty="0">
                          <a:solidFill>
                            <a:schemeClr val="tx1"/>
                          </a:solidFill>
                          <a:effectLst/>
                          <a:latin typeface="Garamond" panose="02020404030301010803" pitchFamily="18" charset="0"/>
                          <a:ea typeface="+mn-ea"/>
                          <a:cs typeface="+mn-cs"/>
                        </a:rPr>
                        <a:t>Distinguishes a variety of techniques to enhance working collaboratively and managing</a:t>
                      </a:r>
                      <a:r>
                        <a:rPr lang="en-US" sz="1700" b="0" i="0" u="none" strike="noStrike" kern="1200" dirty="0">
                          <a:solidFill>
                            <a:schemeClr val="dk1"/>
                          </a:solidFill>
                          <a:effectLst/>
                          <a:latin typeface="Garamond" panose="02020404030301010803" pitchFamily="18" charset="0"/>
                          <a:ea typeface="+mn-ea"/>
                          <a:cs typeface="+mn-cs"/>
                        </a:rPr>
                        <a:t> </a:t>
                      </a:r>
                      <a:r>
                        <a:rPr lang="en-US" sz="1700" b="0" i="0" u="none" strike="noStrike" kern="1200" dirty="0">
                          <a:solidFill>
                            <a:schemeClr val="tx1"/>
                          </a:solidFill>
                          <a:effectLst/>
                          <a:latin typeface="Garamond" panose="02020404030301010803" pitchFamily="18" charset="0"/>
                          <a:ea typeface="+mn-ea"/>
                          <a:cs typeface="+mn-cs"/>
                        </a:rPr>
                        <a:t>conflict as part of a team</a:t>
                      </a:r>
                      <a:endParaRPr lang="en-US" sz="1700" b="0" dirty="0">
                        <a:effectLst/>
                        <a:latin typeface="Garamond" panose="02020404030301010803" pitchFamily="18" charset="0"/>
                      </a:endParaRPr>
                    </a:p>
                  </a:txBody>
                  <a:tcPr/>
                </a:tc>
                <a:extLst>
                  <a:ext uri="{0D108BD9-81ED-4DB2-BD59-A6C34878D82A}">
                    <a16:rowId xmlns:a16="http://schemas.microsoft.com/office/drawing/2014/main" val="1382447952"/>
                  </a:ext>
                </a:extLst>
              </a:tr>
              <a:tr h="4834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Garamond" panose="02020404030301010803" pitchFamily="18" charset="0"/>
                        </a:rPr>
                        <a:t>Assignment 1</a:t>
                      </a:r>
                    </a:p>
                    <a:p>
                      <a:endParaRPr lang="en-US" sz="1600" dirty="0">
                        <a:solidFill>
                          <a:schemeClr val="tx1"/>
                        </a:solidFill>
                        <a:latin typeface="Garamond" panose="02020404030301010803" pitchFamily="18" charset="0"/>
                      </a:endParaRPr>
                    </a:p>
                  </a:txBody>
                  <a:tcPr/>
                </a:tc>
                <a:tc vMerge="1">
                  <a:txBody>
                    <a:bodyPr/>
                    <a:lstStyle/>
                    <a:p>
                      <a:endParaRPr lang="en-US" sz="1600" dirty="0">
                        <a:solidFill>
                          <a:schemeClr val="tx1"/>
                        </a:solidFill>
                        <a:latin typeface="Garamond" panose="02020404030301010803" pitchFamily="18" charset="0"/>
                      </a:endParaRPr>
                    </a:p>
                  </a:txBody>
                  <a:tcPr/>
                </a:tc>
                <a:tc>
                  <a:txBody>
                    <a:bodyPr/>
                    <a:lstStyle/>
                    <a:p>
                      <a:pPr rtl="0" fontAlgn="t"/>
                      <a:r>
                        <a:rPr lang="en-US" sz="1700" b="0" i="0" u="none" strike="noStrike" kern="1200" dirty="0">
                          <a:solidFill>
                            <a:schemeClr val="tx1"/>
                          </a:solidFill>
                          <a:effectLst/>
                          <a:latin typeface="Garamond" panose="02020404030301010803" pitchFamily="18" charset="0"/>
                          <a:ea typeface="+mn-ea"/>
                          <a:cs typeface="+mn-cs"/>
                        </a:rPr>
                        <a:t>Demonstrate the research process in gathering and management of information, critical</a:t>
                      </a:r>
                      <a:r>
                        <a:rPr lang="en-US" sz="1700" b="0" i="0" u="none" strike="noStrike" kern="1200" dirty="0">
                          <a:solidFill>
                            <a:schemeClr val="dk1"/>
                          </a:solidFill>
                          <a:effectLst/>
                          <a:latin typeface="Garamond" panose="02020404030301010803" pitchFamily="18" charset="0"/>
                          <a:ea typeface="+mn-ea"/>
                          <a:cs typeface="+mn-cs"/>
                        </a:rPr>
                        <a:t> </a:t>
                      </a:r>
                      <a:r>
                        <a:rPr lang="en-US" sz="1700" b="0" i="0" u="none" strike="noStrike" kern="1200" dirty="0">
                          <a:solidFill>
                            <a:schemeClr val="tx1"/>
                          </a:solidFill>
                          <a:effectLst/>
                          <a:latin typeface="Garamond" panose="02020404030301010803" pitchFamily="18" charset="0"/>
                          <a:ea typeface="+mn-ea"/>
                          <a:cs typeface="+mn-cs"/>
                        </a:rPr>
                        <a:t>evaluation, and responsible dissemination of material into lifelong learning skills.</a:t>
                      </a:r>
                      <a:endParaRPr lang="en-US" sz="1700" b="0" dirty="0">
                        <a:effectLst/>
                        <a:latin typeface="Garamond" panose="02020404030301010803" pitchFamily="18" charset="0"/>
                      </a:endParaRPr>
                    </a:p>
                  </a:txBody>
                  <a:tcPr/>
                </a:tc>
                <a:extLst>
                  <a:ext uri="{0D108BD9-81ED-4DB2-BD59-A6C34878D82A}">
                    <a16:rowId xmlns:a16="http://schemas.microsoft.com/office/drawing/2014/main" val="1015578123"/>
                  </a:ext>
                </a:extLst>
              </a:tr>
              <a:tr h="483482">
                <a:tc>
                  <a:txBody>
                    <a:bodyPr/>
                    <a:lstStyle/>
                    <a:p>
                      <a:r>
                        <a:rPr lang="en-US" sz="1600" dirty="0">
                          <a:solidFill>
                            <a:schemeClr val="tx1"/>
                          </a:solidFill>
                          <a:latin typeface="Garamond" panose="02020404030301010803" pitchFamily="18" charset="0"/>
                        </a:rPr>
                        <a:t>Assignment 2a, 2b</a:t>
                      </a:r>
                    </a:p>
                  </a:txBody>
                  <a:tcPr/>
                </a:tc>
                <a:tc vMerge="1">
                  <a:txBody>
                    <a:bodyPr/>
                    <a:lstStyle/>
                    <a:p>
                      <a:endParaRPr lang="en-US" sz="1600" dirty="0">
                        <a:solidFill>
                          <a:schemeClr val="tx1"/>
                        </a:solidFill>
                        <a:latin typeface="Garamond" panose="02020404030301010803" pitchFamily="18" charset="0"/>
                      </a:endParaRPr>
                    </a:p>
                  </a:txBody>
                  <a:tcPr/>
                </a:tc>
                <a:tc>
                  <a:txBody>
                    <a:bodyPr/>
                    <a:lstStyle/>
                    <a:p>
                      <a:r>
                        <a:rPr lang="en-US" sz="1700" b="0" i="0" u="none" strike="noStrike" kern="1200" dirty="0" err="1">
                          <a:solidFill>
                            <a:schemeClr val="tx1"/>
                          </a:solidFill>
                          <a:effectLst/>
                          <a:latin typeface="Garamond" panose="02020404030301010803" pitchFamily="18" charset="0"/>
                          <a:ea typeface="+mn-ea"/>
                          <a:cs typeface="+mn-cs"/>
                        </a:rPr>
                        <a:t>Conceptualise</a:t>
                      </a:r>
                      <a:r>
                        <a:rPr lang="en-US" sz="1700" b="0" i="0" u="none" strike="noStrike" kern="1200" dirty="0">
                          <a:solidFill>
                            <a:schemeClr val="tx1"/>
                          </a:solidFill>
                          <a:effectLst/>
                          <a:latin typeface="Garamond" panose="02020404030301010803" pitchFamily="18" charset="0"/>
                          <a:ea typeface="+mn-ea"/>
                          <a:cs typeface="+mn-cs"/>
                        </a:rPr>
                        <a:t> how various code of ethics - ACM, MNCC, ACS applies to IT professionals in a variety of coding and software development scenarios. In this context, discuss how the code of conducts affect their decision making.</a:t>
                      </a:r>
                      <a:endParaRPr lang="en-US" sz="1700" dirty="0">
                        <a:solidFill>
                          <a:schemeClr val="tx1"/>
                        </a:solidFill>
                        <a:latin typeface="Garamond" panose="02020404030301010803" pitchFamily="18" charset="0"/>
                      </a:endParaRPr>
                    </a:p>
                  </a:txBody>
                  <a:tcPr/>
                </a:tc>
                <a:extLst>
                  <a:ext uri="{0D108BD9-81ED-4DB2-BD59-A6C34878D82A}">
                    <a16:rowId xmlns:a16="http://schemas.microsoft.com/office/drawing/2014/main" val="1113509613"/>
                  </a:ext>
                </a:extLst>
              </a:tr>
              <a:tr h="483482">
                <a:tc>
                  <a:txBody>
                    <a:bodyPr/>
                    <a:lstStyle/>
                    <a:p>
                      <a:r>
                        <a:rPr lang="en-US" sz="1600" dirty="0">
                          <a:solidFill>
                            <a:schemeClr val="tx1"/>
                          </a:solidFill>
                          <a:latin typeface="Garamond" panose="02020404030301010803" pitchFamily="18" charset="0"/>
                        </a:rPr>
                        <a:t>Assignment 2a, 2b</a:t>
                      </a:r>
                    </a:p>
                  </a:txBody>
                  <a:tcPr/>
                </a:tc>
                <a:tc vMerge="1">
                  <a:txBody>
                    <a:bodyPr/>
                    <a:lstStyle/>
                    <a:p>
                      <a:endParaRPr lang="en-US" sz="1600" dirty="0">
                        <a:solidFill>
                          <a:schemeClr val="tx1"/>
                        </a:solidFill>
                        <a:latin typeface="Garamond" panose="02020404030301010803"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i="0" u="none" strike="noStrike" kern="1200" dirty="0">
                          <a:solidFill>
                            <a:schemeClr val="tx1"/>
                          </a:solidFill>
                          <a:effectLst/>
                          <a:latin typeface="Garamond" panose="02020404030301010803" pitchFamily="18" charset="0"/>
                          <a:ea typeface="+mn-ea"/>
                          <a:cs typeface="+mn-cs"/>
                        </a:rPr>
                        <a:t>Evaluate variety of ethical reasoning frameworks in making ethical decisions in the context of social, environment and legal aspects issues arriving from their work.</a:t>
                      </a:r>
                      <a:endParaRPr lang="en-US" sz="1700" b="0" dirty="0">
                        <a:effectLst/>
                        <a:latin typeface="Garamond" panose="02020404030301010803" pitchFamily="18" charset="0"/>
                      </a:endParaRPr>
                    </a:p>
                  </a:txBody>
                  <a:tcPr/>
                </a:tc>
                <a:extLst>
                  <a:ext uri="{0D108BD9-81ED-4DB2-BD59-A6C34878D82A}">
                    <a16:rowId xmlns:a16="http://schemas.microsoft.com/office/drawing/2014/main" val="1693950421"/>
                  </a:ext>
                </a:extLst>
              </a:tr>
              <a:tr h="483482">
                <a:tc>
                  <a:txBody>
                    <a:bodyPr/>
                    <a:lstStyle/>
                    <a:p>
                      <a:r>
                        <a:rPr lang="en-US" sz="1600" dirty="0">
                          <a:solidFill>
                            <a:schemeClr val="tx1"/>
                          </a:solidFill>
                          <a:latin typeface="Garamond" panose="02020404030301010803" pitchFamily="18" charset="0"/>
                        </a:rPr>
                        <a:t>Assignment 2a</a:t>
                      </a:r>
                    </a:p>
                  </a:txBody>
                  <a:tcPr/>
                </a:tc>
                <a:tc vMerge="1">
                  <a:txBody>
                    <a:bodyPr/>
                    <a:lstStyle/>
                    <a:p>
                      <a:pPr rtl="0" fontAlgn="t"/>
                      <a:endParaRPr lang="en-US" sz="1600" b="0" dirty="0">
                        <a:effectLst/>
                        <a:latin typeface="Garamond" panose="02020404030301010803" pitchFamily="18" charset="0"/>
                      </a:endParaRPr>
                    </a:p>
                  </a:txBody>
                  <a:tcPr/>
                </a:tc>
                <a:tc>
                  <a:txBody>
                    <a:bodyPr/>
                    <a:lstStyle/>
                    <a:p>
                      <a:pPr rtl="0" fontAlgn="t"/>
                      <a:r>
                        <a:rPr lang="en-US" sz="1700" b="0" i="0" u="none" strike="noStrike" kern="1200" dirty="0">
                          <a:solidFill>
                            <a:schemeClr val="tx1"/>
                          </a:solidFill>
                          <a:effectLst/>
                          <a:latin typeface="Garamond" panose="02020404030301010803" pitchFamily="18" charset="0"/>
                          <a:ea typeface="+mn-ea"/>
                          <a:cs typeface="+mn-cs"/>
                        </a:rPr>
                        <a:t>Describe how religious and cultural diversity contributes to solving future IT challenges in</a:t>
                      </a:r>
                      <a:r>
                        <a:rPr lang="en-US" sz="1700" b="0" i="0" u="none" strike="noStrike" kern="1200" dirty="0">
                          <a:solidFill>
                            <a:schemeClr val="dk1"/>
                          </a:solidFill>
                          <a:effectLst/>
                          <a:latin typeface="Garamond" panose="02020404030301010803" pitchFamily="18" charset="0"/>
                          <a:ea typeface="+mn-ea"/>
                          <a:cs typeface="+mn-cs"/>
                        </a:rPr>
                        <a:t> </a:t>
                      </a:r>
                      <a:r>
                        <a:rPr lang="en-US" sz="1700" b="0" i="0" u="none" strike="noStrike" kern="1200" dirty="0">
                          <a:solidFill>
                            <a:schemeClr val="tx1"/>
                          </a:solidFill>
                          <a:effectLst/>
                          <a:latin typeface="Garamond" panose="02020404030301010803" pitchFamily="18" charset="0"/>
                          <a:ea typeface="+mn-ea"/>
                          <a:cs typeface="+mn-cs"/>
                        </a:rPr>
                        <a:t>AI both locally and internationally.</a:t>
                      </a:r>
                      <a:endParaRPr lang="en-US" sz="1700" b="0" dirty="0">
                        <a:effectLst/>
                        <a:latin typeface="Garamond" panose="02020404030301010803" pitchFamily="18" charset="0"/>
                      </a:endParaRPr>
                    </a:p>
                  </a:txBody>
                  <a:tcPr/>
                </a:tc>
                <a:extLst>
                  <a:ext uri="{0D108BD9-81ED-4DB2-BD59-A6C34878D82A}">
                    <a16:rowId xmlns:a16="http://schemas.microsoft.com/office/drawing/2014/main" val="437635608"/>
                  </a:ext>
                </a:extLst>
              </a:tr>
            </a:tbl>
          </a:graphicData>
        </a:graphic>
      </p:graphicFrame>
    </p:spTree>
    <p:extLst>
      <p:ext uri="{BB962C8B-B14F-4D97-AF65-F5344CB8AC3E}">
        <p14:creationId xmlns:p14="http://schemas.microsoft.com/office/powerpoint/2010/main" val="3211627351"/>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DA7EB-F404-E1C5-7900-168E496E7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2A1D9-3C03-0DB0-F0B0-FDF2F4CAC60A}"/>
              </a:ext>
            </a:extLst>
          </p:cNvPr>
          <p:cNvSpPr>
            <a:spLocks noGrp="1"/>
          </p:cNvSpPr>
          <p:nvPr>
            <p:ph type="title" idx="4294967295"/>
          </p:nvPr>
        </p:nvSpPr>
        <p:spPr>
          <a:xfrm>
            <a:off x="911424" y="36994"/>
            <a:ext cx="10369152" cy="1106488"/>
          </a:xfrm>
          <a:prstGeom prst="rect">
            <a:avLst/>
          </a:prstGeom>
        </p:spPr>
        <p:txBody>
          <a:bodyPr>
            <a:normAutofit fontScale="90000"/>
          </a:bodyPr>
          <a:lstStyle/>
          <a:p>
            <a:r>
              <a:rPr lang="en-US" dirty="0">
                <a:latin typeface="Garamond" panose="02020404030301010803" pitchFamily="18" charset="0"/>
              </a:rPr>
              <a:t>Monash BSC program outcomes, Bloom’s domain mapping to FIT1055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0E3BDAEA-2172-276C-122E-AAEAB46A6B33}"/>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CC75EECA-E0BD-AC60-09F1-156D89BEED48}"/>
              </a:ext>
            </a:extLst>
          </p:cNvPr>
          <p:cNvGraphicFramePr>
            <a:graphicFrameLocks noGrp="1"/>
          </p:cNvGraphicFramePr>
          <p:nvPr>
            <p:extLst>
              <p:ext uri="{D42A27DB-BD31-4B8C-83A1-F6EECF244321}">
                <p14:modId xmlns:p14="http://schemas.microsoft.com/office/powerpoint/2010/main" val="4182836339"/>
              </p:ext>
            </p:extLst>
          </p:nvPr>
        </p:nvGraphicFramePr>
        <p:xfrm>
          <a:off x="407368" y="1165471"/>
          <a:ext cx="11398207" cy="5547360"/>
        </p:xfrm>
        <a:graphic>
          <a:graphicData uri="http://schemas.openxmlformats.org/drawingml/2006/table">
            <a:tbl>
              <a:tblPr firstRow="1" bandRow="1">
                <a:tableStyleId>{5C22544A-7EE6-4342-B048-85BDC9FD1C3A}</a:tableStyleId>
              </a:tblPr>
              <a:tblGrid>
                <a:gridCol w="2267119">
                  <a:extLst>
                    <a:ext uri="{9D8B030D-6E8A-4147-A177-3AD203B41FA5}">
                      <a16:colId xmlns:a16="http://schemas.microsoft.com/office/drawing/2014/main" val="1870056336"/>
                    </a:ext>
                  </a:extLst>
                </a:gridCol>
                <a:gridCol w="3495945">
                  <a:extLst>
                    <a:ext uri="{9D8B030D-6E8A-4147-A177-3AD203B41FA5}">
                      <a16:colId xmlns:a16="http://schemas.microsoft.com/office/drawing/2014/main" val="1976443364"/>
                    </a:ext>
                  </a:extLst>
                </a:gridCol>
                <a:gridCol w="2469885">
                  <a:extLst>
                    <a:ext uri="{9D8B030D-6E8A-4147-A177-3AD203B41FA5}">
                      <a16:colId xmlns:a16="http://schemas.microsoft.com/office/drawing/2014/main" val="4029813964"/>
                    </a:ext>
                  </a:extLst>
                </a:gridCol>
                <a:gridCol w="3165258">
                  <a:extLst>
                    <a:ext uri="{9D8B030D-6E8A-4147-A177-3AD203B41FA5}">
                      <a16:colId xmlns:a16="http://schemas.microsoft.com/office/drawing/2014/main" val="4005909035"/>
                    </a:ext>
                  </a:extLst>
                </a:gridCol>
              </a:tblGrid>
              <a:tr h="483482">
                <a:tc>
                  <a:txBody>
                    <a:bodyPr/>
                    <a:lstStyle/>
                    <a:p>
                      <a:r>
                        <a:rPr lang="en-US" sz="2400" dirty="0">
                          <a:solidFill>
                            <a:schemeClr val="tx1"/>
                          </a:solidFill>
                          <a:latin typeface="Garamond" panose="02020404030301010803" pitchFamily="18" charset="0"/>
                        </a:rPr>
                        <a:t>BSC Program Outcomes and Bloom’s Domain</a:t>
                      </a:r>
                    </a:p>
                  </a:txBody>
                  <a:tcPr/>
                </a:tc>
                <a:tc>
                  <a:txBody>
                    <a:bodyPr/>
                    <a:lstStyle/>
                    <a:p>
                      <a:r>
                        <a:rPr lang="en-US" sz="2400" dirty="0">
                          <a:solidFill>
                            <a:schemeClr val="tx1"/>
                          </a:solidFill>
                          <a:latin typeface="Garamond" panose="02020404030301010803" pitchFamily="18" charset="0"/>
                        </a:rPr>
                        <a:t>Bloom’s Domain</a:t>
                      </a:r>
                    </a:p>
                  </a:txBody>
                  <a:tcPr/>
                </a:tc>
                <a:tc>
                  <a:txBody>
                    <a:bodyPr/>
                    <a:lstStyle/>
                    <a:p>
                      <a:r>
                        <a:rPr lang="en-US" sz="2400" dirty="0">
                          <a:solidFill>
                            <a:schemeClr val="tx1"/>
                          </a:solidFill>
                          <a:latin typeface="Garamond" panose="02020404030301010803" pitchFamily="18" charset="0"/>
                        </a:rPr>
                        <a:t>Assignments</a:t>
                      </a:r>
                    </a:p>
                  </a:txBody>
                  <a:tcPr/>
                </a:tc>
                <a:tc>
                  <a:txBody>
                    <a:bodyPr/>
                    <a:lstStyle/>
                    <a:p>
                      <a:r>
                        <a:rPr lang="en-US" sz="2400" dirty="0">
                          <a:solidFill>
                            <a:schemeClr val="tx1"/>
                          </a:solidFill>
                          <a:latin typeface="Garamond" panose="02020404030301010803" pitchFamily="18" charset="0"/>
                        </a:rPr>
                        <a:t>FIT1055 Learning Outcomes</a:t>
                      </a:r>
                    </a:p>
                  </a:txBody>
                  <a:tcPr/>
                </a:tc>
                <a:extLst>
                  <a:ext uri="{0D108BD9-81ED-4DB2-BD59-A6C34878D82A}">
                    <a16:rowId xmlns:a16="http://schemas.microsoft.com/office/drawing/2014/main" val="2033980725"/>
                  </a:ext>
                </a:extLst>
              </a:tr>
              <a:tr h="483482">
                <a:tc>
                  <a:txBody>
                    <a:bodyPr/>
                    <a:lstStyle/>
                    <a:p>
                      <a:pPr rtl="0" fontAlgn="t">
                        <a:buNone/>
                      </a:pPr>
                      <a:r>
                        <a:rPr lang="en-US" sz="1600" b="1" i="0" u="none" strike="noStrike" dirty="0">
                          <a:solidFill>
                            <a:srgbClr val="000000"/>
                          </a:solidFill>
                          <a:effectLst/>
                          <a:latin typeface="Garamond" panose="02020404030301010803" pitchFamily="18" charset="0"/>
                        </a:rPr>
                        <a:t>Communication</a:t>
                      </a:r>
                      <a:endParaRPr lang="en-US" sz="1600" b="0" i="0" u="none" strike="noStrike" dirty="0">
                        <a:solidFill>
                          <a:srgbClr val="000000"/>
                        </a:solidFill>
                        <a:effectLst/>
                        <a:latin typeface="Garamond" panose="02020404030301010803" pitchFamily="18" charset="0"/>
                      </a:endParaRPr>
                    </a:p>
                    <a:p>
                      <a:pPr rtl="0"/>
                      <a:r>
                        <a:rPr lang="en-US" sz="1600" b="0" i="0" u="none" strike="noStrike" kern="1200" dirty="0">
                          <a:solidFill>
                            <a:schemeClr val="dk1"/>
                          </a:solidFill>
                          <a:effectLst/>
                          <a:latin typeface="Garamond" panose="02020404030301010803" pitchFamily="18" charset="0"/>
                          <a:ea typeface="+mn-ea"/>
                          <a:cs typeface="+mn-cs"/>
                        </a:rPr>
                        <a:t>Communicate effectively with the computing and </a:t>
                      </a:r>
                      <a:r>
                        <a:rPr lang="en-US" sz="1600" b="1" i="0" u="none" strike="noStrike" kern="1200" dirty="0">
                          <a:solidFill>
                            <a:schemeClr val="dk1"/>
                          </a:solidFill>
                          <a:effectLst/>
                          <a:latin typeface="Garamond" panose="02020404030301010803" pitchFamily="18" charset="0"/>
                          <a:ea typeface="+mn-ea"/>
                          <a:cs typeface="+mn-cs"/>
                        </a:rPr>
                        <a:t>data science community </a:t>
                      </a:r>
                      <a:r>
                        <a:rPr lang="en-US" sz="1600" b="0" i="0" u="none" strike="noStrike" kern="1200" dirty="0">
                          <a:solidFill>
                            <a:schemeClr val="dk1"/>
                          </a:solidFill>
                          <a:effectLst/>
                          <a:latin typeface="Garamond" panose="02020404030301010803" pitchFamily="18" charset="0"/>
                          <a:ea typeface="+mn-ea"/>
                          <a:cs typeface="+mn-cs"/>
                        </a:rPr>
                        <a:t>about complex computing activities by being able to comprehend and write effective reports, design documentation, make effective presentations, and give and understand clear instructions</a:t>
                      </a:r>
                      <a:endParaRPr lang="en-US" sz="1600" b="0" dirty="0">
                        <a:effectLst/>
                        <a:latin typeface="Garamond" panose="02020404030301010803" pitchFamily="18" charset="0"/>
                      </a:endParaRPr>
                    </a:p>
                    <a:p>
                      <a:br>
                        <a:rPr lang="en-US" sz="1600" dirty="0">
                          <a:latin typeface="Garamond" panose="02020404030301010803" pitchFamily="18" charset="0"/>
                        </a:rPr>
                      </a:br>
                      <a:endParaRPr lang="en-US" sz="1600" dirty="0">
                        <a:effectLst/>
                        <a:latin typeface="Garamond" panose="02020404030301010803" pitchFamily="18" charset="0"/>
                      </a:endParaRPr>
                    </a:p>
                  </a:txBody>
                  <a:tcPr marL="68580" marR="6858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The cognitive domain involves knowledge and the development of intellectual skills. This includes the recall or recognition of specific facts, procedural patterns, and concepts that serve in the development of intellectual abilities and skills.</a:t>
                      </a: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Garamond" panose="02020404030301010803" pitchFamily="18" charset="0"/>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Garamond" panose="02020404030301010803" pitchFamily="18" charset="0"/>
                        </a:rPr>
                        <a:t>Cognitive (application)</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Garamond" panose="02020404030301010803" pitchFamily="18" charset="0"/>
                          <a:ea typeface="+mn-ea"/>
                          <a:cs typeface="+mn-cs"/>
                        </a:rPr>
                        <a:t>Uses learning in new and concrete situations (higher level of understanding)</a:t>
                      </a: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Garamond" panose="02020404030301010803" pitchFamily="18" charset="0"/>
                        </a:rPr>
                        <a:t>Cognitive (Synthesis)</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Garamond" panose="02020404030301010803" pitchFamily="18" charset="0"/>
                          <a:ea typeface="+mn-ea"/>
                          <a:cs typeface="+mn-cs"/>
                        </a:rPr>
                        <a:t>Formulates new structures from existing knowledge and skills</a:t>
                      </a:r>
                      <a:endParaRPr lang="en-US" sz="1600" b="0" i="0" u="none" strike="noStrike" dirty="0">
                        <a:solidFill>
                          <a:srgbClr val="000000"/>
                        </a:solidFill>
                        <a:effectLst/>
                        <a:latin typeface="Garamond" panose="02020404030301010803" pitchFamily="18" charset="0"/>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Garamond" panose="02020404030301010803" pitchFamily="18" charset="0"/>
                        </a:rPr>
                        <a:t> </a:t>
                      </a:r>
                      <a:endParaRPr lang="en-US" sz="1600" dirty="0">
                        <a:effectLst/>
                        <a:latin typeface="Garamond" panose="02020404030301010803" pitchFamily="18" charset="0"/>
                      </a:endParaRPr>
                    </a:p>
                  </a:txBody>
                  <a:tcPr marL="68580" marR="68580"/>
                </a:tc>
                <a:tc>
                  <a:txBody>
                    <a:bodyPr/>
                    <a:lstStyle/>
                    <a:p>
                      <a:pPr rtl="0" fontAlgn="t">
                        <a:buNone/>
                      </a:pPr>
                      <a:r>
                        <a:rPr lang="en-US" sz="1600" dirty="0">
                          <a:effectLst/>
                          <a:latin typeface="Garamond" panose="02020404030301010803" pitchFamily="18" charset="0"/>
                        </a:rPr>
                        <a:t>Assignment 2a, 2b</a:t>
                      </a:r>
                    </a:p>
                  </a:txBody>
                  <a:tcPr marL="68580" marR="6858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Comprehend a range of communication skills and modes that is effective for presentation,</a:t>
                      </a:r>
                      <a:r>
                        <a:rPr lang="en-US" sz="1600" b="0" i="0" u="none" strike="noStrike" kern="1200" dirty="0">
                          <a:solidFill>
                            <a:schemeClr val="dk1"/>
                          </a:solidFill>
                          <a:effectLst/>
                          <a:latin typeface="Garamond" panose="02020404030301010803" pitchFamily="18" charset="0"/>
                          <a:ea typeface="+mn-ea"/>
                          <a:cs typeface="+mn-cs"/>
                        </a:rPr>
                        <a:t> </a:t>
                      </a:r>
                      <a:r>
                        <a:rPr lang="en-US" sz="1600" b="0" i="0" u="none" strike="noStrike" kern="1200" dirty="0">
                          <a:solidFill>
                            <a:schemeClr val="tx1"/>
                          </a:solidFill>
                          <a:effectLst/>
                          <a:latin typeface="Garamond" panose="02020404030301010803" pitchFamily="18" charset="0"/>
                          <a:ea typeface="+mn-ea"/>
                          <a:cs typeface="+mn-cs"/>
                        </a:rPr>
                        <a:t>management and entrepreneurship</a:t>
                      </a:r>
                      <a:endParaRPr lang="en-US" sz="1600" b="0" dirty="0">
                        <a:effectLst/>
                        <a:latin typeface="Garamond" panose="02020404030301010803" pitchFamily="18" charset="0"/>
                      </a:endParaRPr>
                    </a:p>
                  </a:txBody>
                  <a:tcPr marL="68580" marR="68580"/>
                </a:tc>
                <a:extLst>
                  <a:ext uri="{0D108BD9-81ED-4DB2-BD59-A6C34878D82A}">
                    <a16:rowId xmlns:a16="http://schemas.microsoft.com/office/drawing/2014/main" val="1822639932"/>
                  </a:ext>
                </a:extLst>
              </a:tr>
            </a:tbl>
          </a:graphicData>
        </a:graphic>
      </p:graphicFrame>
    </p:spTree>
    <p:extLst>
      <p:ext uri="{BB962C8B-B14F-4D97-AF65-F5344CB8AC3E}">
        <p14:creationId xmlns:p14="http://schemas.microsoft.com/office/powerpoint/2010/main" val="3199082072"/>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6BB8-CF25-1F58-899B-96995C084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5D52A-187F-98A5-7BB7-E137FA05D348}"/>
              </a:ext>
            </a:extLst>
          </p:cNvPr>
          <p:cNvSpPr>
            <a:spLocks noGrp="1"/>
          </p:cNvSpPr>
          <p:nvPr>
            <p:ph type="title" idx="4294967295"/>
          </p:nvPr>
        </p:nvSpPr>
        <p:spPr>
          <a:xfrm>
            <a:off x="911424" y="36994"/>
            <a:ext cx="10369152" cy="1106488"/>
          </a:xfrm>
          <a:prstGeom prst="rect">
            <a:avLst/>
          </a:prstGeom>
        </p:spPr>
        <p:txBody>
          <a:bodyPr>
            <a:normAutofit fontScale="90000"/>
          </a:bodyPr>
          <a:lstStyle/>
          <a:p>
            <a:r>
              <a:rPr lang="en-US" dirty="0">
                <a:latin typeface="Garamond" panose="02020404030301010803" pitchFamily="18" charset="0"/>
              </a:rPr>
              <a:t>Monash BSC program outcomes, Bloom’s domain mapping to FIT1055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90AF5B7A-A6A7-8E58-DDA6-8426A490BC7C}"/>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3CF800A3-C804-05F2-0A8E-61282E343F3B}"/>
              </a:ext>
            </a:extLst>
          </p:cNvPr>
          <p:cNvGraphicFramePr>
            <a:graphicFrameLocks noGrp="1"/>
          </p:cNvGraphicFramePr>
          <p:nvPr>
            <p:extLst>
              <p:ext uri="{D42A27DB-BD31-4B8C-83A1-F6EECF244321}">
                <p14:modId xmlns:p14="http://schemas.microsoft.com/office/powerpoint/2010/main" val="3568222344"/>
              </p:ext>
            </p:extLst>
          </p:nvPr>
        </p:nvGraphicFramePr>
        <p:xfrm>
          <a:off x="335360" y="1312425"/>
          <a:ext cx="11665296" cy="3352800"/>
        </p:xfrm>
        <a:graphic>
          <a:graphicData uri="http://schemas.openxmlformats.org/drawingml/2006/table">
            <a:tbl>
              <a:tblPr firstRow="1" bandRow="1">
                <a:tableStyleId>{5C22544A-7EE6-4342-B048-85BDC9FD1C3A}</a:tableStyleId>
              </a:tblPr>
              <a:tblGrid>
                <a:gridCol w="2320244">
                  <a:extLst>
                    <a:ext uri="{9D8B030D-6E8A-4147-A177-3AD203B41FA5}">
                      <a16:colId xmlns:a16="http://schemas.microsoft.com/office/drawing/2014/main" val="1870056336"/>
                    </a:ext>
                  </a:extLst>
                </a:gridCol>
                <a:gridCol w="4059737">
                  <a:extLst>
                    <a:ext uri="{9D8B030D-6E8A-4147-A177-3AD203B41FA5}">
                      <a16:colId xmlns:a16="http://schemas.microsoft.com/office/drawing/2014/main" val="1976443364"/>
                    </a:ext>
                  </a:extLst>
                </a:gridCol>
                <a:gridCol w="2451161">
                  <a:extLst>
                    <a:ext uri="{9D8B030D-6E8A-4147-A177-3AD203B41FA5}">
                      <a16:colId xmlns:a16="http://schemas.microsoft.com/office/drawing/2014/main" val="4029813964"/>
                    </a:ext>
                  </a:extLst>
                </a:gridCol>
                <a:gridCol w="2834154">
                  <a:extLst>
                    <a:ext uri="{9D8B030D-6E8A-4147-A177-3AD203B41FA5}">
                      <a16:colId xmlns:a16="http://schemas.microsoft.com/office/drawing/2014/main" val="4005909035"/>
                    </a:ext>
                  </a:extLst>
                </a:gridCol>
              </a:tblGrid>
              <a:tr h="483482">
                <a:tc>
                  <a:txBody>
                    <a:bodyPr/>
                    <a:lstStyle/>
                    <a:p>
                      <a:r>
                        <a:rPr lang="en-US" sz="2400" dirty="0">
                          <a:solidFill>
                            <a:schemeClr val="tx1"/>
                          </a:solidFill>
                          <a:latin typeface="Garamond" panose="02020404030301010803" pitchFamily="18" charset="0"/>
                        </a:rPr>
                        <a:t>BSC Program Outcomes and Bloom’s Domain</a:t>
                      </a:r>
                    </a:p>
                  </a:txBody>
                  <a:tcPr/>
                </a:tc>
                <a:tc>
                  <a:txBody>
                    <a:bodyPr/>
                    <a:lstStyle/>
                    <a:p>
                      <a:r>
                        <a:rPr lang="en-US" sz="2400" dirty="0">
                          <a:solidFill>
                            <a:schemeClr val="tx1"/>
                          </a:solidFill>
                          <a:latin typeface="Garamond" panose="02020404030301010803" pitchFamily="18" charset="0"/>
                        </a:rPr>
                        <a:t>Bloom’s Domain</a:t>
                      </a:r>
                    </a:p>
                  </a:txBody>
                  <a:tcPr/>
                </a:tc>
                <a:tc>
                  <a:txBody>
                    <a:bodyPr/>
                    <a:lstStyle/>
                    <a:p>
                      <a:r>
                        <a:rPr lang="en-US" sz="2400" dirty="0">
                          <a:solidFill>
                            <a:schemeClr val="tx1"/>
                          </a:solidFill>
                          <a:latin typeface="Garamond" panose="02020404030301010803" pitchFamily="18" charset="0"/>
                        </a:rPr>
                        <a:t>Assignments</a:t>
                      </a:r>
                    </a:p>
                  </a:txBody>
                  <a:tcPr/>
                </a:tc>
                <a:tc>
                  <a:txBody>
                    <a:bodyPr/>
                    <a:lstStyle/>
                    <a:p>
                      <a:r>
                        <a:rPr lang="en-US" sz="2400" dirty="0">
                          <a:solidFill>
                            <a:schemeClr val="tx1"/>
                          </a:solidFill>
                          <a:latin typeface="Garamond" panose="02020404030301010803" pitchFamily="18" charset="0"/>
                        </a:rPr>
                        <a:t>FIT1055 Learning Outcomes</a:t>
                      </a:r>
                    </a:p>
                  </a:txBody>
                  <a:tcPr/>
                </a:tc>
                <a:extLst>
                  <a:ext uri="{0D108BD9-81ED-4DB2-BD59-A6C34878D82A}">
                    <a16:rowId xmlns:a16="http://schemas.microsoft.com/office/drawing/2014/main" val="2033980725"/>
                  </a:ext>
                </a:extLst>
              </a:tr>
              <a:tr h="483482">
                <a:tc>
                  <a:txBody>
                    <a:bodyPr/>
                    <a:lstStyle/>
                    <a:p>
                      <a:pPr rtl="0" fontAlgn="t">
                        <a:buNone/>
                      </a:pPr>
                      <a:r>
                        <a:rPr lang="en-US" sz="1600" b="1" i="0" u="none" strike="noStrike" dirty="0">
                          <a:solidFill>
                            <a:srgbClr val="000000"/>
                          </a:solidFill>
                          <a:effectLst/>
                          <a:latin typeface="Garamond" panose="02020404030301010803" pitchFamily="18" charset="0"/>
                        </a:rPr>
                        <a:t>Individual and teamwork</a:t>
                      </a:r>
                      <a:endParaRPr lang="en-US" sz="1600" b="0" i="0" u="none" strike="noStrike" dirty="0">
                        <a:solidFill>
                          <a:srgbClr val="000000"/>
                        </a:solidFill>
                        <a:effectLst/>
                        <a:latin typeface="Garamond" panose="02020404030301010803" pitchFamily="18" charset="0"/>
                      </a:endParaRPr>
                    </a:p>
                    <a:p>
                      <a:pPr rtl="0" fontAlgn="t"/>
                      <a:r>
                        <a:rPr lang="en-US" sz="1600" b="0" i="0" u="none" strike="noStrike" kern="1200" dirty="0">
                          <a:solidFill>
                            <a:schemeClr val="tx1"/>
                          </a:solidFill>
                          <a:effectLst/>
                          <a:latin typeface="Garamond" panose="02020404030301010803" pitchFamily="18" charset="0"/>
                          <a:ea typeface="+mn-ea"/>
                          <a:cs typeface="+mn-cs"/>
                        </a:rPr>
                        <a:t>Function effectively as an individual, and as a member or leader in diverse teams and in multi-disciplinary settings</a:t>
                      </a:r>
                      <a:endParaRPr lang="en-US" sz="1600" b="0" dirty="0">
                        <a:effectLst/>
                        <a:latin typeface="Garamond" panose="02020404030301010803" pitchFamily="18" charset="0"/>
                      </a:endParaRPr>
                    </a:p>
                    <a:p>
                      <a:pPr rtl="0" fontAlgn="t">
                        <a:buNone/>
                      </a:pPr>
                      <a:endParaRPr lang="en-US" sz="1600" dirty="0">
                        <a:effectLst/>
                        <a:latin typeface="Garamond" panose="02020404030301010803" pitchFamily="18" charset="0"/>
                      </a:endParaRPr>
                    </a:p>
                  </a:txBody>
                  <a:tcPr marL="68580" marR="6858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a:solidFill>
                            <a:srgbClr val="000000"/>
                          </a:solidFill>
                          <a:effectLst/>
                          <a:latin typeface="Garamond" panose="02020404030301010803" pitchFamily="18" charset="0"/>
                        </a:rPr>
                        <a:t>Cognitive </a:t>
                      </a:r>
                      <a:r>
                        <a:rPr lang="en-US" sz="1600" b="1" i="0" u="none" strike="noStrike" dirty="0">
                          <a:solidFill>
                            <a:srgbClr val="000000"/>
                          </a:solidFill>
                          <a:effectLst/>
                          <a:latin typeface="Garamond" panose="02020404030301010803" pitchFamily="18" charset="0"/>
                        </a:rPr>
                        <a:t>(application)</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Garamond" panose="02020404030301010803" pitchFamily="18" charset="0"/>
                          <a:ea typeface="+mn-ea"/>
                          <a:cs typeface="+mn-cs"/>
                        </a:rPr>
                        <a:t>Uses learning in new and concrete situations (higher level of </a:t>
                      </a:r>
                      <a:r>
                        <a:rPr lang="en-US" sz="1600" b="0" i="0" u="none" strike="noStrike" kern="1200">
                          <a:solidFill>
                            <a:schemeClr val="dk1"/>
                          </a:solidFill>
                          <a:effectLst/>
                          <a:latin typeface="Garamond" panose="02020404030301010803" pitchFamily="18" charset="0"/>
                          <a:ea typeface="+mn-ea"/>
                          <a:cs typeface="+mn-cs"/>
                        </a:rPr>
                        <a:t>understanding)</a:t>
                      </a: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Garamond" panose="02020404030301010803" pitchFamily="18" charset="0"/>
                        </a:rPr>
                        <a:t>Cognitive (Synthesis)</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Garamond" panose="02020404030301010803" pitchFamily="18" charset="0"/>
                          <a:ea typeface="+mn-ea"/>
                          <a:cs typeface="+mn-cs"/>
                        </a:rPr>
                        <a:t>Formulates new structures from existing knowledge </a:t>
                      </a:r>
                      <a:r>
                        <a:rPr lang="en-US" sz="1600" b="0" i="0" u="none" strike="noStrike" kern="1200">
                          <a:solidFill>
                            <a:schemeClr val="dk1"/>
                          </a:solidFill>
                          <a:effectLst/>
                          <a:latin typeface="Garamond" panose="02020404030301010803" pitchFamily="18" charset="0"/>
                          <a:ea typeface="+mn-ea"/>
                          <a:cs typeface="+mn-cs"/>
                        </a:rPr>
                        <a:t>and skills</a:t>
                      </a:r>
                      <a:endParaRPr lang="en-US" sz="1600" b="0" i="0" u="none" strike="noStrike" kern="1200" dirty="0">
                        <a:solidFill>
                          <a:schemeClr val="dk1"/>
                        </a:solidFill>
                        <a:effectLst/>
                        <a:latin typeface="Garamond" panose="02020404030301010803" pitchFamily="18" charset="0"/>
                        <a:ea typeface="+mn-ea"/>
                        <a:cs typeface="+mn-cs"/>
                      </a:endParaRPr>
                    </a:p>
                  </a:txBody>
                  <a:tcPr marL="68580" marR="68580"/>
                </a:tc>
                <a:tc>
                  <a:txBody>
                    <a:bodyPr/>
                    <a:lstStyle/>
                    <a:p>
                      <a:pPr rtl="0" fontAlgn="t">
                        <a:buNone/>
                      </a:pPr>
                      <a:r>
                        <a:rPr lang="en-US" sz="1600" dirty="0">
                          <a:effectLst/>
                          <a:latin typeface="Garamond" panose="02020404030301010803" pitchFamily="18" charset="0"/>
                        </a:rPr>
                        <a:t>Assignment 2a,2b, 3</a:t>
                      </a:r>
                    </a:p>
                  </a:txBody>
                  <a:tcPr marL="68580" marR="68580"/>
                </a:tc>
                <a:tc>
                  <a:txBody>
                    <a:bodyPr/>
                    <a:lstStyle/>
                    <a:p>
                      <a:pPr rtl="0" fontAlgn="t"/>
                      <a:r>
                        <a:rPr lang="en-US" sz="1600" b="0" i="0" u="none" strike="noStrike" kern="1200" dirty="0">
                          <a:solidFill>
                            <a:schemeClr val="tx1"/>
                          </a:solidFill>
                          <a:effectLst/>
                          <a:latin typeface="Garamond" panose="02020404030301010803" pitchFamily="18" charset="0"/>
                          <a:ea typeface="+mn-ea"/>
                          <a:cs typeface="+mn-cs"/>
                        </a:rPr>
                        <a:t>Distinguishes a variety of techniques to enhance working collaboratively and managing</a:t>
                      </a:r>
                      <a:r>
                        <a:rPr lang="en-US" sz="1600" b="0" i="0" u="none" strike="noStrike" kern="1200" dirty="0">
                          <a:solidFill>
                            <a:schemeClr val="dk1"/>
                          </a:solidFill>
                          <a:effectLst/>
                          <a:latin typeface="Garamond" panose="02020404030301010803" pitchFamily="18" charset="0"/>
                          <a:ea typeface="+mn-ea"/>
                          <a:cs typeface="+mn-cs"/>
                        </a:rPr>
                        <a:t> </a:t>
                      </a:r>
                      <a:r>
                        <a:rPr lang="en-US" sz="1600" b="0" i="0" u="none" strike="noStrike" kern="1200" dirty="0">
                          <a:solidFill>
                            <a:schemeClr val="tx1"/>
                          </a:solidFill>
                          <a:effectLst/>
                          <a:latin typeface="Garamond" panose="02020404030301010803" pitchFamily="18" charset="0"/>
                          <a:ea typeface="+mn-ea"/>
                          <a:cs typeface="+mn-cs"/>
                        </a:rPr>
                        <a:t>conflict as part of a team</a:t>
                      </a:r>
                      <a:endParaRPr lang="en-US" sz="1600" b="0" dirty="0">
                        <a:effectLst/>
                        <a:latin typeface="Garamond" panose="02020404030301010803" pitchFamily="18" charset="0"/>
                      </a:endParaRPr>
                    </a:p>
                  </a:txBody>
                  <a:tcPr marL="68580" marR="68580"/>
                </a:tc>
                <a:extLst>
                  <a:ext uri="{0D108BD9-81ED-4DB2-BD59-A6C34878D82A}">
                    <a16:rowId xmlns:a16="http://schemas.microsoft.com/office/drawing/2014/main" val="1822639932"/>
                  </a:ext>
                </a:extLst>
              </a:tr>
            </a:tbl>
          </a:graphicData>
        </a:graphic>
      </p:graphicFrame>
    </p:spTree>
    <p:extLst>
      <p:ext uri="{BB962C8B-B14F-4D97-AF65-F5344CB8AC3E}">
        <p14:creationId xmlns:p14="http://schemas.microsoft.com/office/powerpoint/2010/main" val="4101388208"/>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D0C70-D95D-234C-179B-D8F87057B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7371A-C3E8-473E-2BEC-67765521AB1F}"/>
              </a:ext>
            </a:extLst>
          </p:cNvPr>
          <p:cNvSpPr>
            <a:spLocks noGrp="1"/>
          </p:cNvSpPr>
          <p:nvPr>
            <p:ph type="title" idx="4294967295"/>
          </p:nvPr>
        </p:nvSpPr>
        <p:spPr>
          <a:xfrm>
            <a:off x="911424" y="36994"/>
            <a:ext cx="10369152" cy="1106488"/>
          </a:xfrm>
          <a:prstGeom prst="rect">
            <a:avLst/>
          </a:prstGeom>
        </p:spPr>
        <p:txBody>
          <a:bodyPr>
            <a:normAutofit fontScale="90000"/>
          </a:bodyPr>
          <a:lstStyle/>
          <a:p>
            <a:r>
              <a:rPr lang="en-US" dirty="0">
                <a:latin typeface="Garamond" panose="02020404030301010803" pitchFamily="18" charset="0"/>
              </a:rPr>
              <a:t>Monash BSC program outcomes, Bloom’s domain mapping to FIT1055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0EC9C569-6F3B-2F6A-F11D-030577A271CB}"/>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C618C890-3867-2EB1-BBD7-3A4FFF2740D9}"/>
              </a:ext>
            </a:extLst>
          </p:cNvPr>
          <p:cNvGraphicFramePr>
            <a:graphicFrameLocks noGrp="1"/>
          </p:cNvGraphicFramePr>
          <p:nvPr>
            <p:extLst>
              <p:ext uri="{D42A27DB-BD31-4B8C-83A1-F6EECF244321}">
                <p14:modId xmlns:p14="http://schemas.microsoft.com/office/powerpoint/2010/main" val="2042733307"/>
              </p:ext>
            </p:extLst>
          </p:nvPr>
        </p:nvGraphicFramePr>
        <p:xfrm>
          <a:off x="95672" y="1384166"/>
          <a:ext cx="12000656" cy="5425440"/>
        </p:xfrm>
        <a:graphic>
          <a:graphicData uri="http://schemas.openxmlformats.org/drawingml/2006/table">
            <a:tbl>
              <a:tblPr firstRow="1" bandRow="1">
                <a:tableStyleId>{5C22544A-7EE6-4342-B048-85BDC9FD1C3A}</a:tableStyleId>
              </a:tblPr>
              <a:tblGrid>
                <a:gridCol w="2386948">
                  <a:extLst>
                    <a:ext uri="{9D8B030D-6E8A-4147-A177-3AD203B41FA5}">
                      <a16:colId xmlns:a16="http://schemas.microsoft.com/office/drawing/2014/main" val="1870056336"/>
                    </a:ext>
                  </a:extLst>
                </a:gridCol>
                <a:gridCol w="4176448">
                  <a:extLst>
                    <a:ext uri="{9D8B030D-6E8A-4147-A177-3AD203B41FA5}">
                      <a16:colId xmlns:a16="http://schemas.microsoft.com/office/drawing/2014/main" val="1976443364"/>
                    </a:ext>
                  </a:extLst>
                </a:gridCol>
                <a:gridCol w="2029666">
                  <a:extLst>
                    <a:ext uri="{9D8B030D-6E8A-4147-A177-3AD203B41FA5}">
                      <a16:colId xmlns:a16="http://schemas.microsoft.com/office/drawing/2014/main" val="4029813964"/>
                    </a:ext>
                  </a:extLst>
                </a:gridCol>
                <a:gridCol w="3407594">
                  <a:extLst>
                    <a:ext uri="{9D8B030D-6E8A-4147-A177-3AD203B41FA5}">
                      <a16:colId xmlns:a16="http://schemas.microsoft.com/office/drawing/2014/main" val="4005909035"/>
                    </a:ext>
                  </a:extLst>
                </a:gridCol>
              </a:tblGrid>
              <a:tr h="483482">
                <a:tc>
                  <a:txBody>
                    <a:bodyPr/>
                    <a:lstStyle/>
                    <a:p>
                      <a:r>
                        <a:rPr lang="en-US" sz="2400" dirty="0">
                          <a:solidFill>
                            <a:schemeClr val="tx1"/>
                          </a:solidFill>
                          <a:latin typeface="Garamond" panose="02020404030301010803" pitchFamily="18" charset="0"/>
                        </a:rPr>
                        <a:t>BSC Program Outcomes and Bloom’s Domain</a:t>
                      </a:r>
                    </a:p>
                  </a:txBody>
                  <a:tcPr/>
                </a:tc>
                <a:tc>
                  <a:txBody>
                    <a:bodyPr/>
                    <a:lstStyle/>
                    <a:p>
                      <a:r>
                        <a:rPr lang="en-US" sz="2400" dirty="0">
                          <a:solidFill>
                            <a:schemeClr val="tx1"/>
                          </a:solidFill>
                          <a:latin typeface="Garamond" panose="02020404030301010803" pitchFamily="18" charset="0"/>
                        </a:rPr>
                        <a:t>Bloom’s Domain</a:t>
                      </a:r>
                    </a:p>
                  </a:txBody>
                  <a:tcPr/>
                </a:tc>
                <a:tc>
                  <a:txBody>
                    <a:bodyPr/>
                    <a:lstStyle/>
                    <a:p>
                      <a:r>
                        <a:rPr lang="en-US" sz="2400" dirty="0">
                          <a:solidFill>
                            <a:schemeClr val="tx1"/>
                          </a:solidFill>
                          <a:latin typeface="Garamond" panose="02020404030301010803" pitchFamily="18" charset="0"/>
                        </a:rPr>
                        <a:t>Assignments</a:t>
                      </a:r>
                    </a:p>
                  </a:txBody>
                  <a:tcPr/>
                </a:tc>
                <a:tc>
                  <a:txBody>
                    <a:bodyPr/>
                    <a:lstStyle/>
                    <a:p>
                      <a:r>
                        <a:rPr lang="en-US" sz="2400" dirty="0">
                          <a:solidFill>
                            <a:schemeClr val="tx1"/>
                          </a:solidFill>
                          <a:latin typeface="Garamond" panose="02020404030301010803" pitchFamily="18" charset="0"/>
                        </a:rPr>
                        <a:t>FIT1055 Learning Outcomes</a:t>
                      </a:r>
                    </a:p>
                  </a:txBody>
                  <a:tcPr/>
                </a:tc>
                <a:extLst>
                  <a:ext uri="{0D108BD9-81ED-4DB2-BD59-A6C34878D82A}">
                    <a16:rowId xmlns:a16="http://schemas.microsoft.com/office/drawing/2014/main" val="2033980725"/>
                  </a:ext>
                </a:extLst>
              </a:tr>
              <a:tr h="483482">
                <a:tc>
                  <a:txBody>
                    <a:bodyPr/>
                    <a:lstStyle/>
                    <a:p>
                      <a:pPr rtl="0" fontAlgn="t">
                        <a:buNone/>
                      </a:pPr>
                      <a:r>
                        <a:rPr lang="en-US" sz="1600" b="1" i="0" u="none" strike="noStrike" dirty="0">
                          <a:solidFill>
                            <a:srgbClr val="000000"/>
                          </a:solidFill>
                          <a:effectLst/>
                          <a:latin typeface="Garamond" panose="02020404030301010803" pitchFamily="18" charset="0"/>
                        </a:rPr>
                        <a:t>Individual and teamwork</a:t>
                      </a:r>
                      <a:endParaRPr lang="en-US" sz="1600" b="0" i="0" u="none" strike="noStrike" dirty="0">
                        <a:solidFill>
                          <a:srgbClr val="000000"/>
                        </a:solidFill>
                        <a:effectLst/>
                        <a:latin typeface="Garamond" panose="02020404030301010803" pitchFamily="18" charset="0"/>
                      </a:endParaRPr>
                    </a:p>
                    <a:p>
                      <a:pPr rtl="0" fontAlgn="t"/>
                      <a:r>
                        <a:rPr lang="en-US" sz="1600" b="0" i="0" u="none" strike="noStrike" kern="1200" dirty="0">
                          <a:solidFill>
                            <a:schemeClr val="tx1"/>
                          </a:solidFill>
                          <a:effectLst/>
                          <a:latin typeface="Garamond" panose="02020404030301010803" pitchFamily="18" charset="0"/>
                          <a:ea typeface="+mn-ea"/>
                          <a:cs typeface="+mn-cs"/>
                        </a:rPr>
                        <a:t>Function effectively as an individual, and as a member or leader in diverse teams and in multi-disciplinary settings</a:t>
                      </a:r>
                      <a:endParaRPr lang="en-US" sz="1600" b="0" dirty="0">
                        <a:effectLst/>
                        <a:latin typeface="Garamond" panose="02020404030301010803" pitchFamily="18" charset="0"/>
                      </a:endParaRPr>
                    </a:p>
                    <a:p>
                      <a:pPr rtl="0" fontAlgn="t">
                        <a:buNone/>
                      </a:pPr>
                      <a:endParaRPr lang="en-US" sz="1600" dirty="0">
                        <a:effectLst/>
                        <a:latin typeface="Garamond" panose="02020404030301010803" pitchFamily="18" charset="0"/>
                      </a:endParaRPr>
                    </a:p>
                  </a:txBody>
                  <a:tcPr marL="68580" marR="68580"/>
                </a:tc>
                <a:tc>
                  <a:txBody>
                    <a:bodyPr/>
                    <a:lstStyle/>
                    <a:p>
                      <a:pPr rtl="0" fontAlgn="base"/>
                      <a:r>
                        <a:rPr lang="en-US" sz="1600" b="1" i="0" u="none" strike="noStrike" kern="1200" dirty="0">
                          <a:solidFill>
                            <a:schemeClr val="dk1"/>
                          </a:solidFill>
                          <a:effectLst/>
                          <a:latin typeface="Garamond" panose="02020404030301010803" pitchFamily="18" charset="0"/>
                          <a:ea typeface="+mn-ea"/>
                          <a:cs typeface="+mn-cs"/>
                        </a:rPr>
                        <a:t>Affective: growth in feelings or emotional areas (Heart)</a:t>
                      </a:r>
                    </a:p>
                    <a:p>
                      <a:pPr rtl="0" fontAlgn="base"/>
                      <a:r>
                        <a:rPr lang="en-US" sz="1600" b="1" i="0" u="none" strike="noStrike" kern="1200" dirty="0">
                          <a:solidFill>
                            <a:schemeClr val="dk1"/>
                          </a:solidFill>
                          <a:effectLst/>
                          <a:latin typeface="Garamond" panose="02020404030301010803" pitchFamily="18" charset="0"/>
                          <a:ea typeface="+mn-ea"/>
                          <a:cs typeface="+mn-cs"/>
                        </a:rPr>
                        <a:t>The affective domain includes the attitudes with which someone deals with things emotionally, such as feelings, values, appreciation, enthusiasms and motivations.</a:t>
                      </a: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Affective (valuing):</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Garamond" panose="02020404030301010803" pitchFamily="18" charset="0"/>
                          <a:ea typeface="+mn-ea"/>
                          <a:cs typeface="+mn-cs"/>
                        </a:rPr>
                        <a:t>Attaches value or worth to something</a:t>
                      </a: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Affective (organization)</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Conceptualizes the value and resolves conflict between it and other values</a:t>
                      </a:r>
                      <a:endParaRPr lang="en-US" sz="1600" b="0" dirty="0">
                        <a:effectLst/>
                        <a:latin typeface="Garamond" panose="02020404030301010803" pitchFamily="18" charset="0"/>
                      </a:endParaRP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Affective (internalizing)</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Integrates the value into a value system that controls </a:t>
                      </a:r>
                      <a:r>
                        <a:rPr lang="en-US" sz="1600" b="0" i="0" u="none" strike="noStrike" kern="1200" dirty="0" err="1">
                          <a:solidFill>
                            <a:schemeClr val="tx1"/>
                          </a:solidFill>
                          <a:effectLst/>
                          <a:latin typeface="Garamond" panose="02020404030301010803" pitchFamily="18" charset="0"/>
                          <a:ea typeface="+mn-ea"/>
                          <a:cs typeface="+mn-cs"/>
                        </a:rPr>
                        <a:t>behaviour</a:t>
                      </a:r>
                      <a:endParaRPr lang="en-US" sz="1600" b="0" dirty="0">
                        <a:effectLst/>
                        <a:latin typeface="Garamond" panose="02020404030301010803" pitchFamily="18" charset="0"/>
                      </a:endParaRPr>
                    </a:p>
                  </a:txBody>
                  <a:tcPr marL="68580" marR="68580"/>
                </a:tc>
                <a:tc>
                  <a:txBody>
                    <a:bodyPr/>
                    <a:lstStyle/>
                    <a:p>
                      <a:pPr rtl="0" fontAlgn="t">
                        <a:buNone/>
                      </a:pPr>
                      <a:r>
                        <a:rPr lang="en-US" sz="1600" dirty="0">
                          <a:effectLst/>
                          <a:latin typeface="Garamond" panose="02020404030301010803" pitchFamily="18" charset="0"/>
                        </a:rPr>
                        <a:t>Assignment 2a,2b, 3</a:t>
                      </a:r>
                    </a:p>
                  </a:txBody>
                  <a:tcPr marL="68580" marR="68580"/>
                </a:tc>
                <a:tc>
                  <a:txBody>
                    <a:bodyPr/>
                    <a:lstStyle/>
                    <a:p>
                      <a:pPr rtl="0" fontAlgn="t"/>
                      <a:r>
                        <a:rPr lang="en-US" sz="1600" b="0" i="0" u="none" strike="noStrike" kern="1200" dirty="0">
                          <a:solidFill>
                            <a:schemeClr val="tx1"/>
                          </a:solidFill>
                          <a:effectLst/>
                          <a:latin typeface="Garamond" panose="02020404030301010803" pitchFamily="18" charset="0"/>
                          <a:ea typeface="+mn-ea"/>
                          <a:cs typeface="+mn-cs"/>
                        </a:rPr>
                        <a:t>Distinguishes a variety of techniques to enhance working collaboratively and managing</a:t>
                      </a:r>
                      <a:r>
                        <a:rPr lang="en-US" sz="1600" b="0" i="0" u="none" strike="noStrike" kern="1200" dirty="0">
                          <a:solidFill>
                            <a:schemeClr val="dk1"/>
                          </a:solidFill>
                          <a:effectLst/>
                          <a:latin typeface="Garamond" panose="02020404030301010803" pitchFamily="18" charset="0"/>
                          <a:ea typeface="+mn-ea"/>
                          <a:cs typeface="+mn-cs"/>
                        </a:rPr>
                        <a:t> </a:t>
                      </a:r>
                      <a:r>
                        <a:rPr lang="en-US" sz="1600" b="0" i="0" u="none" strike="noStrike" kern="1200" dirty="0">
                          <a:solidFill>
                            <a:schemeClr val="tx1"/>
                          </a:solidFill>
                          <a:effectLst/>
                          <a:latin typeface="Garamond" panose="02020404030301010803" pitchFamily="18" charset="0"/>
                          <a:ea typeface="+mn-ea"/>
                          <a:cs typeface="+mn-cs"/>
                        </a:rPr>
                        <a:t>conflict as part of a team</a:t>
                      </a:r>
                      <a:endParaRPr lang="en-US" sz="1600" b="0" dirty="0">
                        <a:effectLst/>
                        <a:latin typeface="Garamond" panose="02020404030301010803" pitchFamily="18" charset="0"/>
                      </a:endParaRPr>
                    </a:p>
                  </a:txBody>
                  <a:tcPr marL="68580" marR="68580"/>
                </a:tc>
                <a:extLst>
                  <a:ext uri="{0D108BD9-81ED-4DB2-BD59-A6C34878D82A}">
                    <a16:rowId xmlns:a16="http://schemas.microsoft.com/office/drawing/2014/main" val="1822639932"/>
                  </a:ext>
                </a:extLst>
              </a:tr>
            </a:tbl>
          </a:graphicData>
        </a:graphic>
      </p:graphicFrame>
    </p:spTree>
    <p:extLst>
      <p:ext uri="{BB962C8B-B14F-4D97-AF65-F5344CB8AC3E}">
        <p14:creationId xmlns:p14="http://schemas.microsoft.com/office/powerpoint/2010/main" val="4249142933"/>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1B2A-D588-6DB2-0BAB-8807BC81F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21E20-6DEB-3930-17A5-EFC633D9FC66}"/>
              </a:ext>
            </a:extLst>
          </p:cNvPr>
          <p:cNvSpPr>
            <a:spLocks noGrp="1"/>
          </p:cNvSpPr>
          <p:nvPr>
            <p:ph type="title" idx="4294967295"/>
          </p:nvPr>
        </p:nvSpPr>
        <p:spPr>
          <a:xfrm>
            <a:off x="911424" y="36994"/>
            <a:ext cx="10369152" cy="1106488"/>
          </a:xfrm>
          <a:prstGeom prst="rect">
            <a:avLst/>
          </a:prstGeom>
        </p:spPr>
        <p:txBody>
          <a:bodyPr>
            <a:normAutofit fontScale="90000"/>
          </a:bodyPr>
          <a:lstStyle/>
          <a:p>
            <a:r>
              <a:rPr lang="en-US" dirty="0">
                <a:latin typeface="Garamond" panose="02020404030301010803" pitchFamily="18" charset="0"/>
              </a:rPr>
              <a:t>Monash BSC program outcomes, Bloom’s domain mapping to FIT1055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A1104CA0-CA6C-68DB-8490-5ED2DF36744D}"/>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05A7D214-BB12-257F-21AB-091422710663}"/>
              </a:ext>
            </a:extLst>
          </p:cNvPr>
          <p:cNvGraphicFramePr>
            <a:graphicFrameLocks noGrp="1"/>
          </p:cNvGraphicFramePr>
          <p:nvPr>
            <p:extLst>
              <p:ext uri="{D42A27DB-BD31-4B8C-83A1-F6EECF244321}">
                <p14:modId xmlns:p14="http://schemas.microsoft.com/office/powerpoint/2010/main" val="2724784731"/>
              </p:ext>
            </p:extLst>
          </p:nvPr>
        </p:nvGraphicFramePr>
        <p:xfrm>
          <a:off x="95671" y="1268760"/>
          <a:ext cx="12000657" cy="5425440"/>
        </p:xfrm>
        <a:graphic>
          <a:graphicData uri="http://schemas.openxmlformats.org/drawingml/2006/table">
            <a:tbl>
              <a:tblPr firstRow="1" bandRow="1">
                <a:tableStyleId>{5C22544A-7EE6-4342-B048-85BDC9FD1C3A}</a:tableStyleId>
              </a:tblPr>
              <a:tblGrid>
                <a:gridCol w="3143672">
                  <a:extLst>
                    <a:ext uri="{9D8B030D-6E8A-4147-A177-3AD203B41FA5}">
                      <a16:colId xmlns:a16="http://schemas.microsoft.com/office/drawing/2014/main" val="1870056336"/>
                    </a:ext>
                  </a:extLst>
                </a:gridCol>
                <a:gridCol w="3152969">
                  <a:extLst>
                    <a:ext uri="{9D8B030D-6E8A-4147-A177-3AD203B41FA5}">
                      <a16:colId xmlns:a16="http://schemas.microsoft.com/office/drawing/2014/main" val="1976443364"/>
                    </a:ext>
                  </a:extLst>
                </a:gridCol>
                <a:gridCol w="2148266">
                  <a:extLst>
                    <a:ext uri="{9D8B030D-6E8A-4147-A177-3AD203B41FA5}">
                      <a16:colId xmlns:a16="http://schemas.microsoft.com/office/drawing/2014/main" val="4029813964"/>
                    </a:ext>
                  </a:extLst>
                </a:gridCol>
                <a:gridCol w="3555750">
                  <a:extLst>
                    <a:ext uri="{9D8B030D-6E8A-4147-A177-3AD203B41FA5}">
                      <a16:colId xmlns:a16="http://schemas.microsoft.com/office/drawing/2014/main" val="4005909035"/>
                    </a:ext>
                  </a:extLst>
                </a:gridCol>
              </a:tblGrid>
              <a:tr h="483482">
                <a:tc>
                  <a:txBody>
                    <a:bodyPr/>
                    <a:lstStyle/>
                    <a:p>
                      <a:r>
                        <a:rPr lang="en-US" sz="2400" dirty="0">
                          <a:solidFill>
                            <a:schemeClr val="tx1"/>
                          </a:solidFill>
                          <a:latin typeface="Garamond" panose="02020404030301010803" pitchFamily="18" charset="0"/>
                        </a:rPr>
                        <a:t>BSC Program Outcomes and Bloom’s Domain</a:t>
                      </a:r>
                    </a:p>
                  </a:txBody>
                  <a:tcPr/>
                </a:tc>
                <a:tc>
                  <a:txBody>
                    <a:bodyPr/>
                    <a:lstStyle/>
                    <a:p>
                      <a:r>
                        <a:rPr lang="en-US" sz="2400" dirty="0">
                          <a:solidFill>
                            <a:schemeClr val="tx1"/>
                          </a:solidFill>
                          <a:latin typeface="Garamond" panose="02020404030301010803" pitchFamily="18" charset="0"/>
                        </a:rPr>
                        <a:t>Bloom’s Domain</a:t>
                      </a:r>
                    </a:p>
                  </a:txBody>
                  <a:tcPr/>
                </a:tc>
                <a:tc>
                  <a:txBody>
                    <a:bodyPr/>
                    <a:lstStyle/>
                    <a:p>
                      <a:r>
                        <a:rPr lang="en-US" sz="2400" dirty="0">
                          <a:solidFill>
                            <a:schemeClr val="tx1"/>
                          </a:solidFill>
                          <a:latin typeface="Garamond" panose="02020404030301010803" pitchFamily="18" charset="0"/>
                        </a:rPr>
                        <a:t>Assignments</a:t>
                      </a:r>
                    </a:p>
                  </a:txBody>
                  <a:tcPr/>
                </a:tc>
                <a:tc>
                  <a:txBody>
                    <a:bodyPr/>
                    <a:lstStyle/>
                    <a:p>
                      <a:r>
                        <a:rPr lang="en-US" sz="2400" dirty="0">
                          <a:solidFill>
                            <a:schemeClr val="tx1"/>
                          </a:solidFill>
                          <a:latin typeface="Garamond" panose="02020404030301010803" pitchFamily="18" charset="0"/>
                        </a:rPr>
                        <a:t>FIT1055 Learning Outcomes</a:t>
                      </a:r>
                    </a:p>
                  </a:txBody>
                  <a:tcPr/>
                </a:tc>
                <a:extLst>
                  <a:ext uri="{0D108BD9-81ED-4DB2-BD59-A6C34878D82A}">
                    <a16:rowId xmlns:a16="http://schemas.microsoft.com/office/drawing/2014/main" val="2033980725"/>
                  </a:ext>
                </a:extLst>
              </a:tr>
              <a:tr h="483482">
                <a:tc>
                  <a:txBody>
                    <a:bodyPr/>
                    <a:lstStyle/>
                    <a:p>
                      <a:pPr rtl="0" fontAlgn="t"/>
                      <a:r>
                        <a:rPr lang="en-US" sz="1600" b="1" i="0" u="none" strike="noStrike" kern="1200" dirty="0">
                          <a:solidFill>
                            <a:schemeClr val="tx1"/>
                          </a:solidFill>
                          <a:effectLst/>
                          <a:latin typeface="Garamond" panose="02020404030301010803" pitchFamily="18" charset="0"/>
                          <a:ea typeface="+mn-ea"/>
                          <a:cs typeface="+mn-cs"/>
                        </a:rPr>
                        <a:t>Research Investigation</a:t>
                      </a:r>
                      <a:endParaRPr lang="en-US" sz="1600" b="1" i="0" u="none" strike="noStrike" dirty="0">
                        <a:solidFill>
                          <a:srgbClr val="000000"/>
                        </a:solidFill>
                        <a:effectLst/>
                        <a:latin typeface="Garamond" panose="02020404030301010803" pitchFamily="18" charset="0"/>
                      </a:endParaRPr>
                    </a:p>
                    <a:p>
                      <a:pPr rtl="0" fontAlgn="t"/>
                      <a:r>
                        <a:rPr lang="en-US" sz="1600" b="0" i="0" u="none" strike="noStrike" kern="1200" dirty="0">
                          <a:solidFill>
                            <a:schemeClr val="tx1"/>
                          </a:solidFill>
                          <a:effectLst/>
                          <a:latin typeface="Garamond" panose="02020404030301010803" pitchFamily="18" charset="0"/>
                          <a:ea typeface="+mn-ea"/>
                          <a:cs typeface="+mn-cs"/>
                        </a:rPr>
                        <a:t>Conduct investigations of complex computing and data science problems using research-based knowledge and methods including analysis and interpretation of data, and synthesis of information to provide valid conclusions</a:t>
                      </a:r>
                    </a:p>
                    <a:p>
                      <a:pPr rtl="0" fontAlgn="t"/>
                      <a:endParaRPr lang="en-US" sz="1600" b="0" i="0" u="none" strike="noStrike" kern="1200" dirty="0">
                        <a:solidFill>
                          <a:schemeClr val="tx1"/>
                        </a:solidFill>
                        <a:effectLst/>
                        <a:latin typeface="Garamond" panose="02020404030301010803" pitchFamily="18" charset="0"/>
                        <a:ea typeface="+mn-ea"/>
                        <a:cs typeface="+mn-cs"/>
                      </a:endParaRPr>
                    </a:p>
                    <a:p>
                      <a:pPr rtl="0" fontAlgn="t"/>
                      <a:endParaRPr lang="en-US" sz="1600" b="0" dirty="0">
                        <a:effectLst/>
                        <a:latin typeface="Garamond" panose="02020404030301010803" pitchFamily="18" charset="0"/>
                      </a:endParaRPr>
                    </a:p>
                    <a:p>
                      <a:pPr rtl="0" fontAlgn="t"/>
                      <a:r>
                        <a:rPr lang="en-US" sz="1600" b="1" dirty="0">
                          <a:effectLst/>
                          <a:latin typeface="Garamond" panose="02020404030301010803" pitchFamily="18" charset="0"/>
                        </a:rPr>
                        <a:t>Lifelong learning</a:t>
                      </a:r>
                    </a:p>
                    <a:p>
                      <a:pPr marL="0" marR="0" lvl="0" indent="0" algn="l"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Recognize the need for, and have the preparation and ability to engage in independent learning for continual development as a computing and data science professional.</a:t>
                      </a:r>
                      <a:endParaRPr lang="en-US" sz="1600" b="0" dirty="0">
                        <a:effectLst/>
                        <a:latin typeface="Garamond" panose="02020404030301010803" pitchFamily="18" charset="0"/>
                      </a:endParaRPr>
                    </a:p>
                    <a:p>
                      <a:pPr rtl="0" fontAlgn="t">
                        <a:buNone/>
                      </a:pPr>
                      <a:endParaRPr lang="en-US" sz="1600" dirty="0">
                        <a:effectLst/>
                        <a:latin typeface="Garamond" panose="02020404030301010803" pitchFamily="18" charset="0"/>
                      </a:endParaRPr>
                    </a:p>
                  </a:txBody>
                  <a:tcPr marL="68580" marR="6858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The cognitive domain involves knowledge and the development of intellectual skills. This includes the recall or recognition of specific facts, procedural patterns, and concepts that serve in the development of intellectual abilities and skills.</a:t>
                      </a: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Cognitive (Analysis)</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Garamond" panose="02020404030301010803" pitchFamily="18" charset="0"/>
                          <a:ea typeface="+mn-ea"/>
                          <a:cs typeface="+mn-cs"/>
                        </a:rPr>
                        <a:t>Understands both the content and structure of material</a:t>
                      </a:r>
                    </a:p>
                  </a:txBody>
                  <a:tcPr marL="68580" marR="68580"/>
                </a:tc>
                <a:tc>
                  <a:txBody>
                    <a:bodyPr/>
                    <a:lstStyle/>
                    <a:p>
                      <a:pPr rtl="0" fontAlgn="t">
                        <a:buNone/>
                      </a:pPr>
                      <a:r>
                        <a:rPr lang="en-US" sz="1600" dirty="0">
                          <a:effectLst/>
                          <a:latin typeface="Garamond" panose="02020404030301010803" pitchFamily="18" charset="0"/>
                        </a:rPr>
                        <a:t>Assignment 1</a:t>
                      </a:r>
                    </a:p>
                  </a:txBody>
                  <a:tcPr marL="68580" marR="68580"/>
                </a:tc>
                <a:tc>
                  <a:txBody>
                    <a:bodyPr/>
                    <a:lstStyle/>
                    <a:p>
                      <a:pPr rtl="0" fontAlgn="t"/>
                      <a:r>
                        <a:rPr lang="en-US" sz="1600" b="0" i="0" u="none" strike="noStrike" kern="1200" dirty="0">
                          <a:solidFill>
                            <a:schemeClr val="tx1"/>
                          </a:solidFill>
                          <a:effectLst/>
                          <a:latin typeface="Garamond" panose="02020404030301010803" pitchFamily="18" charset="0"/>
                          <a:ea typeface="+mn-ea"/>
                          <a:cs typeface="+mn-cs"/>
                        </a:rPr>
                        <a:t>Demonstrate the research process in gathering and management of information, critical</a:t>
                      </a:r>
                      <a:r>
                        <a:rPr lang="en-US" sz="1600" b="0" i="0" u="none" strike="noStrike" kern="1200" dirty="0">
                          <a:solidFill>
                            <a:schemeClr val="dk1"/>
                          </a:solidFill>
                          <a:effectLst/>
                          <a:latin typeface="Garamond" panose="02020404030301010803" pitchFamily="18" charset="0"/>
                          <a:ea typeface="+mn-ea"/>
                          <a:cs typeface="+mn-cs"/>
                        </a:rPr>
                        <a:t> </a:t>
                      </a:r>
                      <a:r>
                        <a:rPr lang="en-US" sz="1600" b="0" i="0" u="none" strike="noStrike" kern="1200" dirty="0">
                          <a:solidFill>
                            <a:schemeClr val="tx1"/>
                          </a:solidFill>
                          <a:effectLst/>
                          <a:latin typeface="Garamond" panose="02020404030301010803" pitchFamily="18" charset="0"/>
                          <a:ea typeface="+mn-ea"/>
                          <a:cs typeface="+mn-cs"/>
                        </a:rPr>
                        <a:t>evaluation, and responsible dissemination of material into lifelong learning skills.</a:t>
                      </a:r>
                      <a:endParaRPr lang="en-US" sz="1600" b="0" dirty="0">
                        <a:effectLst/>
                        <a:latin typeface="Garamond" panose="02020404030301010803" pitchFamily="18" charset="0"/>
                      </a:endParaRPr>
                    </a:p>
                  </a:txBody>
                  <a:tcPr marL="68580" marR="68580"/>
                </a:tc>
                <a:extLst>
                  <a:ext uri="{0D108BD9-81ED-4DB2-BD59-A6C34878D82A}">
                    <a16:rowId xmlns:a16="http://schemas.microsoft.com/office/drawing/2014/main" val="1822639932"/>
                  </a:ext>
                </a:extLst>
              </a:tr>
            </a:tbl>
          </a:graphicData>
        </a:graphic>
      </p:graphicFrame>
    </p:spTree>
    <p:extLst>
      <p:ext uri="{BB962C8B-B14F-4D97-AF65-F5344CB8AC3E}">
        <p14:creationId xmlns:p14="http://schemas.microsoft.com/office/powerpoint/2010/main" val="406685766"/>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2F817-C903-ED5F-6E99-DCFDF79AB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5475-99D3-C413-FFDD-6B69AA1DA598}"/>
              </a:ext>
            </a:extLst>
          </p:cNvPr>
          <p:cNvSpPr>
            <a:spLocks noGrp="1"/>
          </p:cNvSpPr>
          <p:nvPr>
            <p:ph type="title" idx="4294967295"/>
          </p:nvPr>
        </p:nvSpPr>
        <p:spPr>
          <a:xfrm>
            <a:off x="911424" y="36994"/>
            <a:ext cx="10369152" cy="1106488"/>
          </a:xfrm>
          <a:prstGeom prst="rect">
            <a:avLst/>
          </a:prstGeom>
        </p:spPr>
        <p:txBody>
          <a:bodyPr>
            <a:normAutofit fontScale="90000"/>
          </a:bodyPr>
          <a:lstStyle/>
          <a:p>
            <a:r>
              <a:rPr lang="en-US" dirty="0">
                <a:latin typeface="Garamond" panose="02020404030301010803" pitchFamily="18" charset="0"/>
              </a:rPr>
              <a:t>Monash BSC program outcomes, Bloom’s domain mapping to FIT1055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E22404E8-14B3-F14C-5C97-ACFE92571547}"/>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C854BEF4-267E-2A48-2419-24154F5E6AC6}"/>
              </a:ext>
            </a:extLst>
          </p:cNvPr>
          <p:cNvGraphicFramePr>
            <a:graphicFrameLocks noGrp="1"/>
          </p:cNvGraphicFramePr>
          <p:nvPr>
            <p:extLst>
              <p:ext uri="{D42A27DB-BD31-4B8C-83A1-F6EECF244321}">
                <p14:modId xmlns:p14="http://schemas.microsoft.com/office/powerpoint/2010/main" val="2070565035"/>
              </p:ext>
            </p:extLst>
          </p:nvPr>
        </p:nvGraphicFramePr>
        <p:xfrm>
          <a:off x="119336" y="1312425"/>
          <a:ext cx="11881320" cy="5425440"/>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1870056336"/>
                    </a:ext>
                  </a:extLst>
                </a:gridCol>
                <a:gridCol w="3283031">
                  <a:extLst>
                    <a:ext uri="{9D8B030D-6E8A-4147-A177-3AD203B41FA5}">
                      <a16:colId xmlns:a16="http://schemas.microsoft.com/office/drawing/2014/main" val="1976443364"/>
                    </a:ext>
                  </a:extLst>
                </a:gridCol>
                <a:gridCol w="1980220">
                  <a:extLst>
                    <a:ext uri="{9D8B030D-6E8A-4147-A177-3AD203B41FA5}">
                      <a16:colId xmlns:a16="http://schemas.microsoft.com/office/drawing/2014/main" val="4029813964"/>
                    </a:ext>
                  </a:extLst>
                </a:gridCol>
                <a:gridCol w="3593733">
                  <a:extLst>
                    <a:ext uri="{9D8B030D-6E8A-4147-A177-3AD203B41FA5}">
                      <a16:colId xmlns:a16="http://schemas.microsoft.com/office/drawing/2014/main" val="4005909035"/>
                    </a:ext>
                  </a:extLst>
                </a:gridCol>
              </a:tblGrid>
              <a:tr h="483482">
                <a:tc>
                  <a:txBody>
                    <a:bodyPr/>
                    <a:lstStyle/>
                    <a:p>
                      <a:r>
                        <a:rPr lang="en-US" sz="2400" dirty="0">
                          <a:solidFill>
                            <a:schemeClr val="tx1"/>
                          </a:solidFill>
                          <a:latin typeface="Garamond" panose="02020404030301010803" pitchFamily="18" charset="0"/>
                        </a:rPr>
                        <a:t>BSC Program Outcomes and Bloom’s Domain</a:t>
                      </a:r>
                    </a:p>
                  </a:txBody>
                  <a:tcPr/>
                </a:tc>
                <a:tc>
                  <a:txBody>
                    <a:bodyPr/>
                    <a:lstStyle/>
                    <a:p>
                      <a:r>
                        <a:rPr lang="en-US" sz="2400" dirty="0">
                          <a:solidFill>
                            <a:schemeClr val="tx1"/>
                          </a:solidFill>
                          <a:latin typeface="Garamond" panose="02020404030301010803" pitchFamily="18" charset="0"/>
                        </a:rPr>
                        <a:t>Bloom’s Domain</a:t>
                      </a:r>
                    </a:p>
                  </a:txBody>
                  <a:tcPr/>
                </a:tc>
                <a:tc>
                  <a:txBody>
                    <a:bodyPr/>
                    <a:lstStyle/>
                    <a:p>
                      <a:r>
                        <a:rPr lang="en-US" sz="2400" dirty="0">
                          <a:solidFill>
                            <a:schemeClr val="tx1"/>
                          </a:solidFill>
                          <a:latin typeface="Garamond" panose="02020404030301010803" pitchFamily="18" charset="0"/>
                        </a:rPr>
                        <a:t>Assignments</a:t>
                      </a:r>
                    </a:p>
                  </a:txBody>
                  <a:tcPr/>
                </a:tc>
                <a:tc>
                  <a:txBody>
                    <a:bodyPr/>
                    <a:lstStyle/>
                    <a:p>
                      <a:r>
                        <a:rPr lang="en-US" sz="2400" dirty="0">
                          <a:solidFill>
                            <a:schemeClr val="tx1"/>
                          </a:solidFill>
                          <a:latin typeface="Garamond" panose="02020404030301010803" pitchFamily="18" charset="0"/>
                        </a:rPr>
                        <a:t>FIT1055 Learning Outcomes</a:t>
                      </a:r>
                    </a:p>
                  </a:txBody>
                  <a:tcPr/>
                </a:tc>
                <a:extLst>
                  <a:ext uri="{0D108BD9-81ED-4DB2-BD59-A6C34878D82A}">
                    <a16:rowId xmlns:a16="http://schemas.microsoft.com/office/drawing/2014/main" val="2033980725"/>
                  </a:ext>
                </a:extLst>
              </a:tr>
              <a:tr h="483482">
                <a:tc>
                  <a:txBody>
                    <a:bodyPr/>
                    <a:lstStyle/>
                    <a:p>
                      <a:pPr rtl="0" fontAlgn="t"/>
                      <a:r>
                        <a:rPr lang="en-US" sz="1600" b="1" i="0" u="none" strike="noStrike" kern="1200" dirty="0">
                          <a:solidFill>
                            <a:schemeClr val="tx1"/>
                          </a:solidFill>
                          <a:effectLst/>
                          <a:latin typeface="Garamond" panose="02020404030301010803" pitchFamily="18" charset="0"/>
                          <a:ea typeface="+mn-ea"/>
                          <a:cs typeface="+mn-cs"/>
                        </a:rPr>
                        <a:t>Computing Professionalism and Society</a:t>
                      </a:r>
                      <a:endParaRPr lang="en-US" sz="1600" b="0" dirty="0">
                        <a:effectLst/>
                        <a:latin typeface="Garamond" panose="02020404030301010803" pitchFamily="18" charset="0"/>
                      </a:endParaRPr>
                    </a:p>
                    <a:p>
                      <a:pPr rtl="0" fontAlgn="t"/>
                      <a:r>
                        <a:rPr lang="en-US" sz="1600" b="0" i="0" u="none" strike="noStrike" kern="1200" dirty="0">
                          <a:solidFill>
                            <a:schemeClr val="tx1"/>
                          </a:solidFill>
                          <a:effectLst/>
                          <a:latin typeface="Garamond" panose="02020404030301010803" pitchFamily="18" charset="0"/>
                          <a:ea typeface="+mn-ea"/>
                          <a:cs typeface="+mn-cs"/>
                        </a:rPr>
                        <a:t>Apply reasoning informed by contextual knowledge to assess societal, health, safety, legal and cultural issues and the consequent responsibilities relevant to professional engineering practice and solutions to complex computing and data science problems</a:t>
                      </a:r>
                    </a:p>
                    <a:p>
                      <a:pPr rtl="0" fontAlgn="t"/>
                      <a:endParaRPr lang="en-US" sz="1600" b="0" i="0" u="none" strike="noStrike" kern="1200" dirty="0">
                        <a:solidFill>
                          <a:schemeClr val="tx1"/>
                        </a:solidFill>
                        <a:effectLst/>
                        <a:latin typeface="Garamond" panose="02020404030301010803" pitchFamily="18" charset="0"/>
                        <a:ea typeface="+mn-ea"/>
                        <a:cs typeface="+mn-cs"/>
                      </a:endParaRPr>
                    </a:p>
                    <a:p>
                      <a:pPr rtl="0" fontAlgn="t"/>
                      <a:r>
                        <a:rPr lang="en-US" sz="1600" b="1" i="0" u="none" strike="noStrike" kern="1200" dirty="0">
                          <a:solidFill>
                            <a:schemeClr val="tx1"/>
                          </a:solidFill>
                          <a:effectLst/>
                          <a:latin typeface="Garamond" panose="02020404030301010803" pitchFamily="18" charset="0"/>
                          <a:ea typeface="+mn-ea"/>
                          <a:cs typeface="+mn-cs"/>
                        </a:rPr>
                        <a:t>Ethics</a:t>
                      </a:r>
                      <a:endParaRPr lang="en-US" sz="1600" b="0" dirty="0">
                        <a:effectLst/>
                        <a:latin typeface="Garamond" panose="02020404030301010803" pitchFamily="18" charset="0"/>
                      </a:endParaRPr>
                    </a:p>
                    <a:p>
                      <a:pPr rtl="0" fontAlgn="t"/>
                      <a:r>
                        <a:rPr lang="en-US" sz="1600" b="0" i="0" u="none" strike="noStrike" kern="1200" dirty="0">
                          <a:solidFill>
                            <a:schemeClr val="tx1"/>
                          </a:solidFill>
                          <a:effectLst/>
                          <a:latin typeface="Garamond" panose="02020404030301010803" pitchFamily="18" charset="0"/>
                          <a:ea typeface="+mn-ea"/>
                          <a:cs typeface="+mn-cs"/>
                        </a:rPr>
                        <a:t>Apply ethical principles and commit to professional ethics and responsibilities and norms of computing and data science practice</a:t>
                      </a:r>
                      <a:endParaRPr lang="en-US" sz="1600" b="0" dirty="0">
                        <a:effectLst/>
                        <a:latin typeface="Garamond" panose="02020404030301010803" pitchFamily="18" charset="0"/>
                      </a:endParaRPr>
                    </a:p>
                    <a:p>
                      <a:pPr rtl="0" fontAlgn="t"/>
                      <a:endParaRPr lang="en-US" sz="1600" b="0" dirty="0">
                        <a:effectLst/>
                      </a:endParaRPr>
                    </a:p>
                  </a:txBody>
                  <a:tcPr marL="68580" marR="6858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dk1"/>
                          </a:solidFill>
                          <a:effectLst/>
                          <a:latin typeface="Garamond" panose="02020404030301010803" pitchFamily="18" charset="0"/>
                          <a:ea typeface="+mn-ea"/>
                          <a:cs typeface="+mn-cs"/>
                        </a:rPr>
                        <a:t>Cognitive (Application)</a:t>
                      </a:r>
                    </a:p>
                    <a:p>
                      <a:pPr rtl="0" fontAlgn="ctr"/>
                      <a:r>
                        <a:rPr lang="en-US" sz="1600" b="0" i="0" u="none" strike="noStrike" kern="1200" dirty="0">
                          <a:solidFill>
                            <a:schemeClr val="tx1"/>
                          </a:solidFill>
                          <a:effectLst/>
                          <a:latin typeface="Garamond" panose="02020404030301010803" pitchFamily="18" charset="0"/>
                          <a:ea typeface="+mn-ea"/>
                          <a:cs typeface="+mn-cs"/>
                        </a:rPr>
                        <a:t>Uses learning in new and concrete situations (higher level of understanding)</a:t>
                      </a:r>
                      <a:br>
                        <a:rPr lang="en-US" sz="1600" b="0" dirty="0">
                          <a:effectLst/>
                          <a:latin typeface="Garamond" panose="02020404030301010803" pitchFamily="18" charset="0"/>
                        </a:rPr>
                      </a:br>
                      <a:br>
                        <a:rPr lang="en-US" sz="1600" b="0" dirty="0">
                          <a:effectLst/>
                          <a:latin typeface="Garamond" panose="02020404030301010803" pitchFamily="18" charset="0"/>
                        </a:rPr>
                      </a:br>
                      <a:r>
                        <a:rPr lang="en-US" sz="1600" b="1" dirty="0">
                          <a:effectLst/>
                          <a:latin typeface="Garamond" panose="02020404030301010803" pitchFamily="18" charset="0"/>
                        </a:rPr>
                        <a:t>Cognitive (Synthesis)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Formulates new structures from existing knowledge and skills</a:t>
                      </a:r>
                      <a:endParaRPr lang="en-US" sz="1600" b="0" dirty="0">
                        <a:effectLst/>
                        <a:latin typeface="Garamond" panose="02020404030301010803" pitchFamily="18" charset="0"/>
                      </a:endParaRPr>
                    </a:p>
                    <a:p>
                      <a:pPr rtl="0"/>
                      <a:endParaRPr lang="en-US" sz="1600" b="0" dirty="0">
                        <a:effectLst/>
                        <a:latin typeface="Garamond" panose="02020404030301010803" pitchFamily="18" charset="0"/>
                      </a:endParaRPr>
                    </a:p>
                    <a:p>
                      <a:pPr rtl="0"/>
                      <a:r>
                        <a:rPr lang="en-US" sz="1600" b="1" dirty="0">
                          <a:effectLst/>
                          <a:latin typeface="Garamond" panose="02020404030301010803" pitchFamily="18" charset="0"/>
                        </a:rPr>
                        <a:t>Affective (Organization)</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Conceptualizes the value and resolves conflict between it and other values</a:t>
                      </a:r>
                      <a:endParaRPr lang="en-US" sz="1600" b="0" dirty="0">
                        <a:effectLst/>
                        <a:latin typeface="Garamond" panose="02020404030301010803" pitchFamily="18" charset="0"/>
                      </a:endParaRP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txBody>
                  <a:tcPr marL="68580" marR="68580"/>
                </a:tc>
                <a:tc>
                  <a:txBody>
                    <a:bodyPr/>
                    <a:lstStyle/>
                    <a:p>
                      <a:pPr rtl="0" fontAlgn="t">
                        <a:buNone/>
                      </a:pPr>
                      <a:r>
                        <a:rPr lang="en-US" sz="1600" dirty="0">
                          <a:effectLst/>
                          <a:latin typeface="Garamond" panose="02020404030301010803" pitchFamily="18" charset="0"/>
                        </a:rPr>
                        <a:t>Assignment 2a, 2b</a:t>
                      </a:r>
                    </a:p>
                  </a:txBody>
                  <a:tcPr marL="68580" marR="68580"/>
                </a:tc>
                <a:tc>
                  <a:txBody>
                    <a:bodyPr/>
                    <a:lstStyle/>
                    <a:p>
                      <a:r>
                        <a:rPr lang="en-US" sz="1600" b="0" i="0" u="none" strike="noStrike" kern="1200" dirty="0" err="1">
                          <a:solidFill>
                            <a:schemeClr val="tx1"/>
                          </a:solidFill>
                          <a:effectLst/>
                          <a:latin typeface="Garamond" panose="02020404030301010803" pitchFamily="18" charset="0"/>
                          <a:ea typeface="+mn-ea"/>
                          <a:cs typeface="+mn-cs"/>
                        </a:rPr>
                        <a:t>Conceptualise</a:t>
                      </a:r>
                      <a:r>
                        <a:rPr lang="en-US" sz="1600" b="0" i="0" u="none" strike="noStrike" kern="1200" dirty="0">
                          <a:solidFill>
                            <a:schemeClr val="tx1"/>
                          </a:solidFill>
                          <a:effectLst/>
                          <a:latin typeface="Garamond" panose="02020404030301010803" pitchFamily="18" charset="0"/>
                          <a:ea typeface="+mn-ea"/>
                          <a:cs typeface="+mn-cs"/>
                        </a:rPr>
                        <a:t> how various code of ethics - ACM, MNCC, ACS applies to IT professionals in a variety of coding and software development scenarios. In this context, discuss how the code of conducts affect their decision making.</a:t>
                      </a:r>
                    </a:p>
                    <a:p>
                      <a:endParaRPr lang="en-US" sz="1600" b="0" i="0" u="none" strike="noStrike" kern="1200" dirty="0">
                        <a:solidFill>
                          <a:schemeClr val="tx1"/>
                        </a:solidFill>
                        <a:effectLst/>
                        <a:latin typeface="Garamond" panose="020204040303010108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Evaluate variety of ethical reasoning frameworks in making ethical decisions in the context of social, environment and legal aspects issues arriving from their work.</a:t>
                      </a:r>
                      <a:endParaRPr lang="en-US" sz="1600" b="0" dirty="0">
                        <a:effectLst/>
                        <a:latin typeface="Garamond" panose="02020404030301010803" pitchFamily="18" charset="0"/>
                      </a:endParaRPr>
                    </a:p>
                    <a:p>
                      <a:endParaRPr lang="en-US" sz="1600" dirty="0">
                        <a:solidFill>
                          <a:schemeClr val="tx1"/>
                        </a:solidFill>
                        <a:latin typeface="Garamond" panose="02020404030301010803" pitchFamily="18" charset="0"/>
                      </a:endParaRPr>
                    </a:p>
                  </a:txBody>
                  <a:tcPr marL="68580" marR="68580"/>
                </a:tc>
                <a:extLst>
                  <a:ext uri="{0D108BD9-81ED-4DB2-BD59-A6C34878D82A}">
                    <a16:rowId xmlns:a16="http://schemas.microsoft.com/office/drawing/2014/main" val="1822639932"/>
                  </a:ext>
                </a:extLst>
              </a:tr>
            </a:tbl>
          </a:graphicData>
        </a:graphic>
      </p:graphicFrame>
    </p:spTree>
    <p:extLst>
      <p:ext uri="{BB962C8B-B14F-4D97-AF65-F5344CB8AC3E}">
        <p14:creationId xmlns:p14="http://schemas.microsoft.com/office/powerpoint/2010/main" val="2170232323"/>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84AFA-AAA0-F58E-10FE-4BE5665E8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B680A-B866-F128-8DC8-8CD70F57DAEA}"/>
              </a:ext>
            </a:extLst>
          </p:cNvPr>
          <p:cNvSpPr>
            <a:spLocks noGrp="1"/>
          </p:cNvSpPr>
          <p:nvPr>
            <p:ph type="title" idx="4294967295"/>
          </p:nvPr>
        </p:nvSpPr>
        <p:spPr>
          <a:xfrm>
            <a:off x="911424" y="36994"/>
            <a:ext cx="10369152" cy="1106488"/>
          </a:xfrm>
          <a:prstGeom prst="rect">
            <a:avLst/>
          </a:prstGeom>
        </p:spPr>
        <p:txBody>
          <a:bodyPr>
            <a:normAutofit fontScale="90000"/>
          </a:bodyPr>
          <a:lstStyle/>
          <a:p>
            <a:r>
              <a:rPr lang="en-US" dirty="0">
                <a:latin typeface="Garamond" panose="02020404030301010803" pitchFamily="18" charset="0"/>
              </a:rPr>
              <a:t>Monash BSC program outcomes, Bloom’s domain mapping to FIT1055 learning outcomes</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A92610BE-6FD9-5888-749A-457260B5CD23}"/>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FDC1DD9C-5198-535E-DB40-83AC4F07CC83}"/>
              </a:ext>
            </a:extLst>
          </p:cNvPr>
          <p:cNvGraphicFramePr>
            <a:graphicFrameLocks noGrp="1"/>
          </p:cNvGraphicFramePr>
          <p:nvPr>
            <p:extLst>
              <p:ext uri="{D42A27DB-BD31-4B8C-83A1-F6EECF244321}">
                <p14:modId xmlns:p14="http://schemas.microsoft.com/office/powerpoint/2010/main" val="2231600731"/>
              </p:ext>
            </p:extLst>
          </p:nvPr>
        </p:nvGraphicFramePr>
        <p:xfrm>
          <a:off x="407368" y="1484784"/>
          <a:ext cx="11665296" cy="3718560"/>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1870056336"/>
                    </a:ext>
                  </a:extLst>
                </a:gridCol>
                <a:gridCol w="3384376">
                  <a:extLst>
                    <a:ext uri="{9D8B030D-6E8A-4147-A177-3AD203B41FA5}">
                      <a16:colId xmlns:a16="http://schemas.microsoft.com/office/drawing/2014/main" val="1976443364"/>
                    </a:ext>
                  </a:extLst>
                </a:gridCol>
                <a:gridCol w="2016224">
                  <a:extLst>
                    <a:ext uri="{9D8B030D-6E8A-4147-A177-3AD203B41FA5}">
                      <a16:colId xmlns:a16="http://schemas.microsoft.com/office/drawing/2014/main" val="4029813964"/>
                    </a:ext>
                  </a:extLst>
                </a:gridCol>
                <a:gridCol w="3528392">
                  <a:extLst>
                    <a:ext uri="{9D8B030D-6E8A-4147-A177-3AD203B41FA5}">
                      <a16:colId xmlns:a16="http://schemas.microsoft.com/office/drawing/2014/main" val="4005909035"/>
                    </a:ext>
                  </a:extLst>
                </a:gridCol>
              </a:tblGrid>
              <a:tr h="483482">
                <a:tc>
                  <a:txBody>
                    <a:bodyPr/>
                    <a:lstStyle/>
                    <a:p>
                      <a:r>
                        <a:rPr lang="en-US" sz="2400" dirty="0">
                          <a:solidFill>
                            <a:schemeClr val="tx1"/>
                          </a:solidFill>
                          <a:latin typeface="Garamond" panose="02020404030301010803" pitchFamily="18" charset="0"/>
                        </a:rPr>
                        <a:t>BSC Program Outcomes and Bloom’s Domain</a:t>
                      </a:r>
                    </a:p>
                  </a:txBody>
                  <a:tcPr/>
                </a:tc>
                <a:tc>
                  <a:txBody>
                    <a:bodyPr/>
                    <a:lstStyle/>
                    <a:p>
                      <a:r>
                        <a:rPr lang="en-US" sz="2400" dirty="0">
                          <a:solidFill>
                            <a:schemeClr val="tx1"/>
                          </a:solidFill>
                          <a:latin typeface="Garamond" panose="02020404030301010803" pitchFamily="18" charset="0"/>
                        </a:rPr>
                        <a:t>Bloom’s Domain</a:t>
                      </a:r>
                    </a:p>
                  </a:txBody>
                  <a:tcPr/>
                </a:tc>
                <a:tc>
                  <a:txBody>
                    <a:bodyPr/>
                    <a:lstStyle/>
                    <a:p>
                      <a:r>
                        <a:rPr lang="en-US" sz="2400" dirty="0">
                          <a:solidFill>
                            <a:schemeClr val="tx1"/>
                          </a:solidFill>
                          <a:latin typeface="Garamond" panose="02020404030301010803" pitchFamily="18" charset="0"/>
                        </a:rPr>
                        <a:t>Assignments</a:t>
                      </a:r>
                    </a:p>
                  </a:txBody>
                  <a:tcPr/>
                </a:tc>
                <a:tc>
                  <a:txBody>
                    <a:bodyPr/>
                    <a:lstStyle/>
                    <a:p>
                      <a:r>
                        <a:rPr lang="en-US" sz="2400" dirty="0">
                          <a:solidFill>
                            <a:schemeClr val="tx1"/>
                          </a:solidFill>
                          <a:latin typeface="Garamond" panose="02020404030301010803" pitchFamily="18" charset="0"/>
                        </a:rPr>
                        <a:t>FIT1055 Learning Outcomes</a:t>
                      </a:r>
                    </a:p>
                  </a:txBody>
                  <a:tcPr/>
                </a:tc>
                <a:extLst>
                  <a:ext uri="{0D108BD9-81ED-4DB2-BD59-A6C34878D82A}">
                    <a16:rowId xmlns:a16="http://schemas.microsoft.com/office/drawing/2014/main" val="2033980725"/>
                  </a:ext>
                </a:extLst>
              </a:tr>
              <a:tr h="483482">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b="1" i="0" u="none" strike="noStrike" kern="1200" dirty="0">
                          <a:solidFill>
                            <a:schemeClr val="tx1"/>
                          </a:solidFill>
                          <a:effectLst/>
                          <a:latin typeface="Garamond" panose="02020404030301010803" pitchFamily="18" charset="0"/>
                          <a:ea typeface="+mn-ea"/>
                          <a:cs typeface="+mn-cs"/>
                        </a:rPr>
                        <a:t>Problem Analysis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Identify and </a:t>
                      </a:r>
                      <a:r>
                        <a:rPr lang="en-US" sz="1600" b="0" i="0" u="none" strike="noStrike" kern="1200" dirty="0" err="1">
                          <a:solidFill>
                            <a:schemeClr val="tx1"/>
                          </a:solidFill>
                          <a:effectLst/>
                          <a:latin typeface="Garamond" panose="02020404030301010803" pitchFamily="18" charset="0"/>
                          <a:ea typeface="+mn-ea"/>
                          <a:cs typeface="+mn-cs"/>
                        </a:rPr>
                        <a:t>analyse</a:t>
                      </a:r>
                      <a:r>
                        <a:rPr lang="en-US" sz="1600" b="0" i="0" u="none" strike="noStrike" kern="1200" dirty="0">
                          <a:solidFill>
                            <a:schemeClr val="tx1"/>
                          </a:solidFill>
                          <a:effectLst/>
                          <a:latin typeface="Garamond" panose="02020404030301010803" pitchFamily="18" charset="0"/>
                          <a:ea typeface="+mn-ea"/>
                          <a:cs typeface="+mn-cs"/>
                        </a:rPr>
                        <a:t> complex computing problems reaching substantiated conclusions using fundamental principles of mathematics, computing and data sciences, and relevant domain knowledge</a:t>
                      </a:r>
                      <a:endParaRPr lang="en-US" sz="1600" b="0" dirty="0">
                        <a:effectLst/>
                        <a:latin typeface="Garamond" panose="02020404030301010803" pitchFamily="18" charset="0"/>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600" b="0" dirty="0">
                        <a:effectLst/>
                      </a:endParaRPr>
                    </a:p>
                    <a:p>
                      <a:pPr rtl="0" fontAlgn="t"/>
                      <a:endParaRPr lang="en-US" sz="1600" b="0" dirty="0">
                        <a:effectLst/>
                      </a:endParaRPr>
                    </a:p>
                  </a:txBody>
                  <a:tcPr marL="68580" marR="68580"/>
                </a:tc>
                <a:tc>
                  <a:txBody>
                    <a:bodyPr/>
                    <a:lstStyle/>
                    <a:p>
                      <a:pPr rtl="0"/>
                      <a:r>
                        <a:rPr lang="en-US" sz="1600" b="1" dirty="0">
                          <a:effectLst/>
                          <a:latin typeface="Garamond" panose="02020404030301010803" pitchFamily="18" charset="0"/>
                        </a:rPr>
                        <a:t>Cognitive (Evaluation)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Judges the value of material for a given purpose</a:t>
                      </a:r>
                      <a:endParaRPr lang="en-US" sz="1600" b="0" dirty="0">
                        <a:effectLst/>
                        <a:latin typeface="Garamond" panose="02020404030301010803" pitchFamily="18" charset="0"/>
                      </a:endParaRPr>
                    </a:p>
                    <a:p>
                      <a:pPr rtl="0"/>
                      <a:endParaRPr lang="en-US" sz="1600" b="0" dirty="0">
                        <a:effectLst/>
                        <a:latin typeface="Garamond" panose="02020404030301010803" pitchFamily="18" charset="0"/>
                      </a:endParaRPr>
                    </a:p>
                    <a:p>
                      <a:pPr marL="0" marR="0" lvl="0" indent="0" algn="just" defTabSz="914400" rtl="0" eaLnBrk="1" fontAlgn="t" latinLnBrk="0" hangingPunct="1">
                        <a:lnSpc>
                          <a:spcPct val="100000"/>
                        </a:lnSpc>
                        <a:spcBef>
                          <a:spcPts val="0"/>
                        </a:spcBef>
                        <a:spcAft>
                          <a:spcPts val="0"/>
                        </a:spcAft>
                        <a:buClrTx/>
                        <a:buSzTx/>
                        <a:buFontTx/>
                        <a:buNone/>
                        <a:tabLst/>
                        <a:defRPr/>
                      </a:pPr>
                      <a:endParaRPr lang="en-US" sz="1600" b="0" i="0" u="none" strike="noStrike" kern="1200" dirty="0">
                        <a:solidFill>
                          <a:schemeClr val="dk1"/>
                        </a:solidFill>
                        <a:effectLst/>
                        <a:latin typeface="Garamond" panose="02020404030301010803" pitchFamily="18" charset="0"/>
                        <a:ea typeface="+mn-ea"/>
                        <a:cs typeface="+mn-cs"/>
                      </a:endParaRPr>
                    </a:p>
                  </a:txBody>
                  <a:tcPr marL="68580" marR="68580"/>
                </a:tc>
                <a:tc>
                  <a:txBody>
                    <a:bodyPr/>
                    <a:lstStyle/>
                    <a:p>
                      <a:pPr rtl="0" fontAlgn="t">
                        <a:buNone/>
                      </a:pPr>
                      <a:r>
                        <a:rPr lang="en-US" sz="1600" dirty="0">
                          <a:effectLst/>
                          <a:latin typeface="Garamond" panose="02020404030301010803" pitchFamily="18" charset="0"/>
                        </a:rPr>
                        <a:t>Assignment 2a</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Garamond" panose="02020404030301010803" pitchFamily="18" charset="0"/>
                          <a:ea typeface="+mn-ea"/>
                          <a:cs typeface="+mn-cs"/>
                        </a:rPr>
                        <a:t>Describe how religious and cultural diversity contributes to solving future IT challenges in</a:t>
                      </a:r>
                      <a:r>
                        <a:rPr lang="en-US" sz="1600" b="0" i="0" u="none" strike="noStrike" kern="1200" dirty="0">
                          <a:solidFill>
                            <a:schemeClr val="dk1"/>
                          </a:solidFill>
                          <a:effectLst/>
                          <a:latin typeface="Garamond" panose="02020404030301010803" pitchFamily="18" charset="0"/>
                          <a:ea typeface="+mn-ea"/>
                          <a:cs typeface="+mn-cs"/>
                        </a:rPr>
                        <a:t> </a:t>
                      </a:r>
                      <a:r>
                        <a:rPr lang="en-US" sz="1600" b="0" i="0" u="none" strike="noStrike" kern="1200" dirty="0">
                          <a:solidFill>
                            <a:schemeClr val="tx1"/>
                          </a:solidFill>
                          <a:effectLst/>
                          <a:latin typeface="Garamond" panose="02020404030301010803" pitchFamily="18" charset="0"/>
                          <a:ea typeface="+mn-ea"/>
                          <a:cs typeface="+mn-cs"/>
                        </a:rPr>
                        <a:t>AI both locally and internationally.</a:t>
                      </a:r>
                      <a:endParaRPr lang="en-US" sz="1600" b="0" dirty="0">
                        <a:effectLst/>
                        <a:latin typeface="Garamond" panose="02020404030301010803" pitchFamily="18" charset="0"/>
                      </a:endParaRPr>
                    </a:p>
                    <a:p>
                      <a:endParaRPr lang="en-US" sz="1600" dirty="0">
                        <a:solidFill>
                          <a:schemeClr val="tx1"/>
                        </a:solidFill>
                        <a:latin typeface="Garamond" panose="02020404030301010803" pitchFamily="18" charset="0"/>
                      </a:endParaRPr>
                    </a:p>
                  </a:txBody>
                  <a:tcPr marL="68580" marR="68580"/>
                </a:tc>
                <a:extLst>
                  <a:ext uri="{0D108BD9-81ED-4DB2-BD59-A6C34878D82A}">
                    <a16:rowId xmlns:a16="http://schemas.microsoft.com/office/drawing/2014/main" val="1822639932"/>
                  </a:ext>
                </a:extLst>
              </a:tr>
            </a:tbl>
          </a:graphicData>
        </a:graphic>
      </p:graphicFrame>
    </p:spTree>
    <p:extLst>
      <p:ext uri="{BB962C8B-B14F-4D97-AF65-F5344CB8AC3E}">
        <p14:creationId xmlns:p14="http://schemas.microsoft.com/office/powerpoint/2010/main" val="3257798541"/>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5A41-C44C-CB09-312C-A4BB0C850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A9F98-CC67-5F1A-2753-0D96FFDF959A}"/>
              </a:ext>
            </a:extLst>
          </p:cNvPr>
          <p:cNvSpPr>
            <a:spLocks noGrp="1"/>
          </p:cNvSpPr>
          <p:nvPr>
            <p:ph type="title" idx="4294967295"/>
          </p:nvPr>
        </p:nvSpPr>
        <p:spPr>
          <a:xfrm>
            <a:off x="767408" y="260648"/>
            <a:ext cx="10369152" cy="1106488"/>
          </a:xfrm>
          <a:prstGeom prst="rect">
            <a:avLst/>
          </a:prstGeom>
        </p:spPr>
        <p:txBody>
          <a:bodyPr>
            <a:normAutofit/>
          </a:bodyPr>
          <a:lstStyle/>
          <a:p>
            <a:r>
              <a:rPr lang="en-US" sz="4000" dirty="0">
                <a:latin typeface="Garamond" panose="02020404030301010803" pitchFamily="18" charset="0"/>
              </a:rPr>
              <a:t>Class result on Assignment 1</a:t>
            </a:r>
          </a:p>
        </p:txBody>
      </p:sp>
      <p:sp>
        <p:nvSpPr>
          <p:cNvPr id="7" name="Rectangle 1">
            <a:extLst>
              <a:ext uri="{FF2B5EF4-FFF2-40B4-BE49-F238E27FC236}">
                <a16:creationId xmlns:a16="http://schemas.microsoft.com/office/drawing/2014/main" id="{D17193CC-208B-C664-6CEF-F58257059C0F}"/>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5D1D5A22-C46D-201E-DA1F-6FA1208253B8}"/>
              </a:ext>
            </a:extLst>
          </p:cNvPr>
          <p:cNvPicPr>
            <a:picLocks noChangeAspect="1"/>
          </p:cNvPicPr>
          <p:nvPr/>
        </p:nvPicPr>
        <p:blipFill>
          <a:blip r:embed="rId3"/>
          <a:stretch>
            <a:fillRect/>
          </a:stretch>
        </p:blipFill>
        <p:spPr>
          <a:xfrm>
            <a:off x="2451100" y="1367136"/>
            <a:ext cx="6100315" cy="5122564"/>
          </a:xfrm>
          <a:prstGeom prst="rect">
            <a:avLst/>
          </a:prstGeom>
        </p:spPr>
      </p:pic>
    </p:spTree>
    <p:extLst>
      <p:ext uri="{BB962C8B-B14F-4D97-AF65-F5344CB8AC3E}">
        <p14:creationId xmlns:p14="http://schemas.microsoft.com/office/powerpoint/2010/main" val="1525944457"/>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18BB0-9C6B-FCA3-06B6-1536E19BB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A8626-C9D5-014E-6BAF-DAAEFD6AEF40}"/>
              </a:ext>
            </a:extLst>
          </p:cNvPr>
          <p:cNvSpPr>
            <a:spLocks noGrp="1"/>
          </p:cNvSpPr>
          <p:nvPr>
            <p:ph type="title" idx="4294967295"/>
          </p:nvPr>
        </p:nvSpPr>
        <p:spPr>
          <a:xfrm>
            <a:off x="767408" y="260648"/>
            <a:ext cx="10369152" cy="1106488"/>
          </a:xfrm>
          <a:prstGeom prst="rect">
            <a:avLst/>
          </a:prstGeom>
        </p:spPr>
        <p:txBody>
          <a:bodyPr>
            <a:normAutofit/>
          </a:bodyPr>
          <a:lstStyle/>
          <a:p>
            <a:r>
              <a:rPr lang="en-US" sz="4000" dirty="0">
                <a:latin typeface="Garamond" panose="02020404030301010803" pitchFamily="18" charset="0"/>
              </a:rPr>
              <a:t>Class result on Assignment 1</a:t>
            </a:r>
          </a:p>
        </p:txBody>
      </p:sp>
      <p:sp>
        <p:nvSpPr>
          <p:cNvPr id="7" name="Rectangle 1">
            <a:extLst>
              <a:ext uri="{FF2B5EF4-FFF2-40B4-BE49-F238E27FC236}">
                <a16:creationId xmlns:a16="http://schemas.microsoft.com/office/drawing/2014/main" id="{142DF390-C8ED-CA04-38BB-E19038E47EF2}"/>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8601F330-D7EB-23F9-93E1-FF954B30D412}"/>
              </a:ext>
            </a:extLst>
          </p:cNvPr>
          <p:cNvPicPr>
            <a:picLocks noChangeAspect="1"/>
          </p:cNvPicPr>
          <p:nvPr/>
        </p:nvPicPr>
        <p:blipFill>
          <a:blip r:embed="rId3"/>
          <a:stretch>
            <a:fillRect/>
          </a:stretch>
        </p:blipFill>
        <p:spPr>
          <a:xfrm>
            <a:off x="29479" y="1772816"/>
            <a:ext cx="12197202" cy="3312368"/>
          </a:xfrm>
          <a:prstGeom prst="rect">
            <a:avLst/>
          </a:prstGeom>
        </p:spPr>
      </p:pic>
    </p:spTree>
    <p:extLst>
      <p:ext uri="{BB962C8B-B14F-4D97-AF65-F5344CB8AC3E}">
        <p14:creationId xmlns:p14="http://schemas.microsoft.com/office/powerpoint/2010/main" val="2348774321"/>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AA47-982E-04B2-78EC-E9B478747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3A537-386B-B2CA-0CED-B49D9DA19586}"/>
              </a:ext>
            </a:extLst>
          </p:cNvPr>
          <p:cNvSpPr>
            <a:spLocks noGrp="1"/>
          </p:cNvSpPr>
          <p:nvPr>
            <p:ph type="title" idx="4294967295"/>
          </p:nvPr>
        </p:nvSpPr>
        <p:spPr>
          <a:xfrm>
            <a:off x="767408" y="260648"/>
            <a:ext cx="10369152" cy="1106488"/>
          </a:xfrm>
          <a:prstGeom prst="rect">
            <a:avLst/>
          </a:prstGeom>
        </p:spPr>
        <p:txBody>
          <a:bodyPr>
            <a:normAutofit/>
          </a:bodyPr>
          <a:lstStyle/>
          <a:p>
            <a:r>
              <a:rPr lang="en-US" sz="4000" dirty="0">
                <a:latin typeface="Garamond" panose="02020404030301010803" pitchFamily="18" charset="0"/>
              </a:rPr>
              <a:t>Class result on Assignment 1</a:t>
            </a:r>
          </a:p>
        </p:txBody>
      </p:sp>
      <p:sp>
        <p:nvSpPr>
          <p:cNvPr id="7" name="Rectangle 1">
            <a:extLst>
              <a:ext uri="{FF2B5EF4-FFF2-40B4-BE49-F238E27FC236}">
                <a16:creationId xmlns:a16="http://schemas.microsoft.com/office/drawing/2014/main" id="{AEE3C005-364B-DAAA-8888-BFD5C454C095}"/>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C4443B81-1C5E-A683-D7DA-FECDC38E6201}"/>
              </a:ext>
            </a:extLst>
          </p:cNvPr>
          <p:cNvPicPr>
            <a:picLocks noChangeAspect="1"/>
          </p:cNvPicPr>
          <p:nvPr/>
        </p:nvPicPr>
        <p:blipFill>
          <a:blip r:embed="rId3"/>
          <a:stretch>
            <a:fillRect/>
          </a:stretch>
        </p:blipFill>
        <p:spPr>
          <a:xfrm>
            <a:off x="3029631" y="1093810"/>
            <a:ext cx="5154601" cy="5764189"/>
          </a:xfrm>
          <a:prstGeom prst="rect">
            <a:avLst/>
          </a:prstGeom>
        </p:spPr>
      </p:pic>
    </p:spTree>
    <p:extLst>
      <p:ext uri="{BB962C8B-B14F-4D97-AF65-F5344CB8AC3E}">
        <p14:creationId xmlns:p14="http://schemas.microsoft.com/office/powerpoint/2010/main" val="431895665"/>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426BC-91DD-CD67-F9D1-9A087741B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B92D1-539C-D192-409C-091514396FF8}"/>
              </a:ext>
            </a:extLst>
          </p:cNvPr>
          <p:cNvSpPr>
            <a:spLocks noGrp="1"/>
          </p:cNvSpPr>
          <p:nvPr>
            <p:ph type="title" idx="4294967295"/>
          </p:nvPr>
        </p:nvSpPr>
        <p:spPr>
          <a:xfrm>
            <a:off x="767408" y="260648"/>
            <a:ext cx="10369152" cy="1106488"/>
          </a:xfrm>
          <a:prstGeom prst="rect">
            <a:avLst/>
          </a:prstGeom>
        </p:spPr>
        <p:txBody>
          <a:bodyPr>
            <a:normAutofit/>
          </a:bodyPr>
          <a:lstStyle/>
          <a:p>
            <a:r>
              <a:rPr lang="en-US" sz="4000" dirty="0">
                <a:latin typeface="Garamond" panose="02020404030301010803" pitchFamily="18" charset="0"/>
              </a:rPr>
              <a:t>Class result on Assignment 1</a:t>
            </a:r>
          </a:p>
        </p:txBody>
      </p:sp>
      <p:sp>
        <p:nvSpPr>
          <p:cNvPr id="7" name="Rectangle 1">
            <a:extLst>
              <a:ext uri="{FF2B5EF4-FFF2-40B4-BE49-F238E27FC236}">
                <a16:creationId xmlns:a16="http://schemas.microsoft.com/office/drawing/2014/main" id="{A3A72ECA-154B-D09C-D343-EF741662120E}"/>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F95498D7-BE40-F2CC-5D3A-5952FEDEBAD5}"/>
              </a:ext>
            </a:extLst>
          </p:cNvPr>
          <p:cNvPicPr>
            <a:picLocks noChangeAspect="1"/>
          </p:cNvPicPr>
          <p:nvPr/>
        </p:nvPicPr>
        <p:blipFill>
          <a:blip r:embed="rId3"/>
          <a:stretch>
            <a:fillRect/>
          </a:stretch>
        </p:blipFill>
        <p:spPr>
          <a:xfrm>
            <a:off x="1828096" y="1384276"/>
            <a:ext cx="7669272" cy="4997052"/>
          </a:xfrm>
          <a:prstGeom prst="rect">
            <a:avLst/>
          </a:prstGeom>
        </p:spPr>
      </p:pic>
    </p:spTree>
    <p:extLst>
      <p:ext uri="{BB962C8B-B14F-4D97-AF65-F5344CB8AC3E}">
        <p14:creationId xmlns:p14="http://schemas.microsoft.com/office/powerpoint/2010/main" val="3448026271"/>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EFB5-6E93-D725-19ED-2C450A8C2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0ED3E-B378-B512-C105-89C64A4EB4ED}"/>
              </a:ext>
            </a:extLst>
          </p:cNvPr>
          <p:cNvSpPr>
            <a:spLocks noGrp="1"/>
          </p:cNvSpPr>
          <p:nvPr>
            <p:ph type="title" idx="4294967295"/>
          </p:nvPr>
        </p:nvSpPr>
        <p:spPr>
          <a:xfrm>
            <a:off x="734616" y="0"/>
            <a:ext cx="10369152" cy="1106488"/>
          </a:xfrm>
          <a:prstGeom prst="rect">
            <a:avLst/>
          </a:prstGeom>
        </p:spPr>
        <p:txBody>
          <a:bodyPr>
            <a:normAutofit/>
          </a:bodyPr>
          <a:lstStyle/>
          <a:p>
            <a:r>
              <a:rPr lang="en-US" sz="4000" dirty="0">
                <a:latin typeface="Garamond" panose="02020404030301010803" pitchFamily="18" charset="0"/>
              </a:rPr>
              <a:t>Feedback Assignm</a:t>
            </a:r>
            <a:r>
              <a:rPr lang="en-US" dirty="0">
                <a:latin typeface="Garamond" panose="02020404030301010803" pitchFamily="18" charset="0"/>
              </a:rPr>
              <a:t>ent 1</a:t>
            </a:r>
            <a:r>
              <a:rPr lang="en-US" sz="4000" dirty="0">
                <a:latin typeface="Garamond" panose="02020404030301010803" pitchFamily="18" charset="0"/>
              </a:rPr>
              <a:t>:</a:t>
            </a:r>
          </a:p>
        </p:txBody>
      </p:sp>
      <p:sp>
        <p:nvSpPr>
          <p:cNvPr id="7" name="Rectangle 1">
            <a:extLst>
              <a:ext uri="{FF2B5EF4-FFF2-40B4-BE49-F238E27FC236}">
                <a16:creationId xmlns:a16="http://schemas.microsoft.com/office/drawing/2014/main" id="{043B112F-F3B2-7D10-7A2F-D7422E6FAD28}"/>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E2B61CA5-DD09-0635-72F1-48C61DDD16B5}"/>
              </a:ext>
            </a:extLst>
          </p:cNvPr>
          <p:cNvSpPr txBox="1"/>
          <p:nvPr/>
        </p:nvSpPr>
        <p:spPr>
          <a:xfrm>
            <a:off x="590600" y="969807"/>
            <a:ext cx="10513168" cy="5632311"/>
          </a:xfrm>
          <a:prstGeom prst="rect">
            <a:avLst/>
          </a:prstGeom>
          <a:noFill/>
        </p:spPr>
        <p:txBody>
          <a:bodyPr wrap="square" rtlCol="0">
            <a:spAutoFit/>
          </a:bodyPr>
          <a:lstStyle/>
          <a:p>
            <a:pPr marL="457200" indent="-457200">
              <a:buAutoNum type="arabicPeriod"/>
            </a:pPr>
            <a:r>
              <a:rPr lang="en-US" sz="2400" dirty="0">
                <a:latin typeface="Garamond" panose="02020404030301010803" pitchFamily="18" charset="0"/>
              </a:rPr>
              <a:t>Writing &amp; Referencing — Critical Weakness (59.3% avg)</a:t>
            </a:r>
          </a:p>
          <a:p>
            <a:endParaRPr lang="en-US" sz="2400" dirty="0">
              <a:latin typeface="Garamond" panose="02020404030301010803" pitchFamily="18" charset="0"/>
            </a:endParaRPr>
          </a:p>
          <a:p>
            <a:r>
              <a:rPr lang="en-US" sz="2400" i="1" dirty="0">
                <a:latin typeface="Garamond" panose="02020404030301010803" pitchFamily="18" charset="0"/>
              </a:rPr>
              <a:t>This is the weakest area across all students.</a:t>
            </a:r>
            <a:r>
              <a:rPr lang="en-US" sz="2400" dirty="0">
                <a:latin typeface="Garamond" panose="02020404030301010803" pitchFamily="18" charset="0"/>
              </a:rPr>
              <a:t> Students averaged 5.93/10 marks, indicating widespread struggles with academic integrity and professional communication.</a:t>
            </a:r>
          </a:p>
          <a:p>
            <a:endParaRPr lang="en-US" sz="2400" dirty="0">
              <a:latin typeface="Garamond" panose="02020404030301010803" pitchFamily="18" charset="0"/>
            </a:endParaRPr>
          </a:p>
          <a:p>
            <a:pPr marL="342900" indent="-342900">
              <a:buFont typeface="Arial" panose="020B0604020202020204" pitchFamily="34" charset="0"/>
              <a:buChar char="•"/>
            </a:pPr>
            <a:r>
              <a:rPr lang="en-US" sz="2400" b="1" dirty="0">
                <a:latin typeface="Garamond" panose="02020404030301010803" pitchFamily="18" charset="0"/>
              </a:rPr>
              <a:t>Missing In-Text Citations</a:t>
            </a:r>
            <a:r>
              <a:rPr lang="en-US" sz="2400" dirty="0">
                <a:latin typeface="Garamond" panose="02020404030301010803" pitchFamily="18" charset="0"/>
              </a:rPr>
              <a:t>: Most students fail to provide proper APA citations for claims, statistics, and evidence. </a:t>
            </a:r>
            <a:r>
              <a:rPr lang="en-US" sz="2400" b="1" dirty="0">
                <a:latin typeface="Garamond" panose="02020404030301010803" pitchFamily="18" charset="0"/>
              </a:rPr>
              <a:t>This is repeatedly mentioned as the primary reason for lost marks.</a:t>
            </a:r>
          </a:p>
          <a:p>
            <a:pPr marL="342900" indent="-342900">
              <a:buFont typeface="Arial" panose="020B0604020202020204" pitchFamily="34" charset="0"/>
              <a:buChar char="•"/>
            </a:pPr>
            <a:r>
              <a:rPr lang="en-US" sz="2400" dirty="0">
                <a:latin typeface="Garamond" panose="02020404030301010803" pitchFamily="18" charset="0"/>
              </a:rPr>
              <a:t>APA Format Inconsistencies: Even when citations are attempted, errors in APA 7th edition formatting are common—incorrect author-year format, missing page numbers, improper reference lists.</a:t>
            </a:r>
          </a:p>
          <a:p>
            <a:pPr marL="342900" indent="-342900">
              <a:buFont typeface="Arial" panose="020B0604020202020204" pitchFamily="34" charset="0"/>
              <a:buChar char="•"/>
            </a:pPr>
            <a:r>
              <a:rPr lang="en-US" sz="2400" dirty="0">
                <a:latin typeface="Garamond" panose="02020404030301010803" pitchFamily="18" charset="0"/>
              </a:rPr>
              <a:t>Grammatical &amp; Typographical Errors: Many submissions contain spelling mistakes, grammatical errors, and inconsistent formatting.</a:t>
            </a:r>
          </a:p>
          <a:p>
            <a:pPr marL="342900" indent="-342900">
              <a:buFont typeface="Arial" panose="020B0604020202020204" pitchFamily="34" charset="0"/>
              <a:buChar char="•"/>
            </a:pPr>
            <a:r>
              <a:rPr lang="en-US" sz="2400" dirty="0">
                <a:latin typeface="Garamond" panose="02020404030301010803" pitchFamily="18" charset="0"/>
              </a:rPr>
              <a:t>Weak Transitions: Students struggle with creating seamless transitions between ideas and sections, resulting in arguments that are disjointed.</a:t>
            </a:r>
          </a:p>
        </p:txBody>
      </p:sp>
    </p:spTree>
    <p:extLst>
      <p:ext uri="{BB962C8B-B14F-4D97-AF65-F5344CB8AC3E}">
        <p14:creationId xmlns:p14="http://schemas.microsoft.com/office/powerpoint/2010/main" val="3083713792"/>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19582-8289-26F2-FD5D-6A01563F8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60230-2D60-BABF-C4E6-B5972A5118E8}"/>
              </a:ext>
            </a:extLst>
          </p:cNvPr>
          <p:cNvSpPr>
            <a:spLocks noGrp="1"/>
          </p:cNvSpPr>
          <p:nvPr>
            <p:ph type="title" idx="4294967295"/>
          </p:nvPr>
        </p:nvSpPr>
        <p:spPr>
          <a:xfrm>
            <a:off x="781370" y="105983"/>
            <a:ext cx="10369152" cy="1106488"/>
          </a:xfrm>
          <a:prstGeom prst="rect">
            <a:avLst/>
          </a:prstGeom>
        </p:spPr>
        <p:txBody>
          <a:bodyPr>
            <a:normAutofit/>
          </a:bodyPr>
          <a:lstStyle/>
          <a:p>
            <a:r>
              <a:rPr lang="en-US" dirty="0">
                <a:latin typeface="Garamond" panose="02020404030301010803" pitchFamily="18" charset="0"/>
              </a:rPr>
              <a:t>Feedback Assignment 1:</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A39790E7-1FD8-012F-0E53-433096280822}"/>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E7A18958-25FC-3ECE-D6A2-A78B33441B32}"/>
              </a:ext>
            </a:extLst>
          </p:cNvPr>
          <p:cNvSpPr txBox="1"/>
          <p:nvPr/>
        </p:nvSpPr>
        <p:spPr>
          <a:xfrm>
            <a:off x="1041478" y="1212471"/>
            <a:ext cx="9937104" cy="4832092"/>
          </a:xfrm>
          <a:prstGeom prst="rect">
            <a:avLst/>
          </a:prstGeom>
          <a:noFill/>
        </p:spPr>
        <p:txBody>
          <a:bodyPr wrap="square" rtlCol="0">
            <a:spAutoFit/>
          </a:bodyPr>
          <a:lstStyle/>
          <a:p>
            <a:r>
              <a:rPr lang="en-US" sz="2200" dirty="0">
                <a:latin typeface="Garamond" panose="02020404030301010803" pitchFamily="18" charset="0"/>
              </a:rPr>
              <a:t>2. Problem Statement — Critical Analysis (69.5% avg)</a:t>
            </a:r>
          </a:p>
          <a:p>
            <a:endParaRPr lang="en-US" sz="2200" dirty="0">
              <a:latin typeface="Garamond" panose="02020404030301010803" pitchFamily="18" charset="0"/>
            </a:endParaRPr>
          </a:p>
          <a:p>
            <a:r>
              <a:rPr lang="en-US" sz="2200" i="1" dirty="0">
                <a:latin typeface="Garamond" panose="02020404030301010803" pitchFamily="18" charset="0"/>
              </a:rPr>
              <a:t>Students show basic understanding but lack depth in critical thinking.</a:t>
            </a:r>
            <a:r>
              <a:rPr lang="en-US" sz="2200" dirty="0">
                <a:latin typeface="Garamond" panose="02020404030301010803" pitchFamily="18" charset="0"/>
              </a:rPr>
              <a:t> Average score of 17.37/25 indicates significant room for improvement.</a:t>
            </a:r>
          </a:p>
          <a:p>
            <a:endParaRPr lang="en-US" sz="2200" dirty="0">
              <a:latin typeface="Garamond" panose="02020404030301010803" pitchFamily="18" charset="0"/>
            </a:endParaRPr>
          </a:p>
          <a:p>
            <a:pPr marL="342900" indent="-342900">
              <a:buFont typeface="Arial" panose="020B0604020202020204" pitchFamily="34" charset="0"/>
              <a:buChar char="•"/>
            </a:pPr>
            <a:r>
              <a:rPr lang="en-US" sz="2200" dirty="0">
                <a:latin typeface="Garamond" panose="02020404030301010803" pitchFamily="18" charset="0"/>
              </a:rPr>
              <a:t>Shallow HOW Analysis: Descriptions of how AI should work are superficial, lacking technical depth in algorithmic mechanisms and implementation details.</a:t>
            </a:r>
          </a:p>
          <a:p>
            <a:pPr marL="342900" indent="-342900">
              <a:buFont typeface="Arial" panose="020B0604020202020204" pitchFamily="34" charset="0"/>
              <a:buChar char="•"/>
            </a:pPr>
            <a:r>
              <a:rPr lang="en-US" sz="2200" dirty="0">
                <a:latin typeface="Garamond" panose="02020404030301010803" pitchFamily="18" charset="0"/>
              </a:rPr>
              <a:t>Weak WHAT Definition: Ethical problems are identified but with limited theoretical application—students fail to clearly define the nature and scope using ethical frameworks.</a:t>
            </a:r>
          </a:p>
          <a:p>
            <a:pPr marL="342900" indent="-342900">
              <a:buFont typeface="Arial" panose="020B0604020202020204" pitchFamily="34" charset="0"/>
              <a:buChar char="•"/>
            </a:pPr>
            <a:r>
              <a:rPr lang="en-US" sz="2200" dirty="0">
                <a:latin typeface="Garamond" panose="02020404030301010803" pitchFamily="18" charset="0"/>
              </a:rPr>
              <a:t>Missing Root Cause Analysis: Basic understanding of causation without identifying root causes, cascading effects, or underlying reasons why ethical issues emerge.</a:t>
            </a:r>
          </a:p>
          <a:p>
            <a:pPr marL="342900" indent="-342900">
              <a:buFont typeface="Arial" panose="020B0604020202020204" pitchFamily="34" charset="0"/>
              <a:buChar char="•"/>
            </a:pPr>
            <a:r>
              <a:rPr lang="en-US" sz="2200" dirty="0">
                <a:latin typeface="Garamond" panose="02020404030301010803" pitchFamily="18" charset="0"/>
              </a:rPr>
              <a:t>Limited Perspectives: Insufficient consideration of multiple stakeholder perspectives—arguments lack substantial evidence</a:t>
            </a:r>
          </a:p>
        </p:txBody>
      </p:sp>
    </p:spTree>
    <p:extLst>
      <p:ext uri="{BB962C8B-B14F-4D97-AF65-F5344CB8AC3E}">
        <p14:creationId xmlns:p14="http://schemas.microsoft.com/office/powerpoint/2010/main" val="3768576513"/>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6668-C29E-85E1-433E-CCB7C5379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AAAC5-3F18-DFD1-DDC6-25207D9BFDC4}"/>
              </a:ext>
            </a:extLst>
          </p:cNvPr>
          <p:cNvSpPr>
            <a:spLocks noGrp="1"/>
          </p:cNvSpPr>
          <p:nvPr>
            <p:ph type="title" idx="4294967295"/>
          </p:nvPr>
        </p:nvSpPr>
        <p:spPr>
          <a:xfrm>
            <a:off x="767408" y="260648"/>
            <a:ext cx="10369152" cy="1106488"/>
          </a:xfrm>
          <a:prstGeom prst="rect">
            <a:avLst/>
          </a:prstGeom>
        </p:spPr>
        <p:txBody>
          <a:bodyPr>
            <a:normAutofit/>
          </a:bodyPr>
          <a:lstStyle/>
          <a:p>
            <a:r>
              <a:rPr lang="en-US" dirty="0">
                <a:latin typeface="Garamond" panose="02020404030301010803" pitchFamily="18" charset="0"/>
              </a:rPr>
              <a:t>Feedback Assignment 1:</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DC23E2DF-48D3-B74A-2B1E-D8086E4440A6}"/>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7B0A8EE3-A000-18B3-5630-E9A43955A072}"/>
              </a:ext>
            </a:extLst>
          </p:cNvPr>
          <p:cNvSpPr txBox="1"/>
          <p:nvPr/>
        </p:nvSpPr>
        <p:spPr>
          <a:xfrm>
            <a:off x="1199456" y="1196752"/>
            <a:ext cx="9793088" cy="4493538"/>
          </a:xfrm>
          <a:prstGeom prst="rect">
            <a:avLst/>
          </a:prstGeom>
          <a:noFill/>
        </p:spPr>
        <p:txBody>
          <a:bodyPr wrap="square" rtlCol="0">
            <a:spAutoFit/>
          </a:bodyPr>
          <a:lstStyle/>
          <a:p>
            <a:r>
              <a:rPr lang="en-US" sz="2200" dirty="0">
                <a:latin typeface="Garamond" panose="02020404030301010803" pitchFamily="18" charset="0"/>
              </a:rPr>
              <a:t>3. Literature Review — Source Analysis (69.7% avg)</a:t>
            </a:r>
          </a:p>
          <a:p>
            <a:endParaRPr lang="en-US" sz="2200" dirty="0">
              <a:latin typeface="Garamond" panose="02020404030301010803" pitchFamily="18" charset="0"/>
            </a:endParaRPr>
          </a:p>
          <a:p>
            <a:r>
              <a:rPr lang="en-US" sz="2200" i="1" dirty="0">
                <a:latin typeface="Garamond" panose="02020404030301010803" pitchFamily="18" charset="0"/>
              </a:rPr>
              <a:t>Analysis tends to be descriptive rather than critical.</a:t>
            </a:r>
            <a:r>
              <a:rPr lang="en-US" sz="2200" dirty="0">
                <a:latin typeface="Garamond" panose="02020404030301010803" pitchFamily="18" charset="0"/>
              </a:rPr>
              <a:t> Students averaged 17.42/25 marks.</a:t>
            </a:r>
          </a:p>
          <a:p>
            <a:endParaRPr lang="en-US" sz="2200" dirty="0">
              <a:latin typeface="Garamond" panose="02020404030301010803" pitchFamily="18" charset="0"/>
            </a:endParaRPr>
          </a:p>
          <a:p>
            <a:pPr marL="342900" indent="-342900">
              <a:buFont typeface="Arial" panose="020B0604020202020204" pitchFamily="34" charset="0"/>
              <a:buChar char="•"/>
            </a:pPr>
            <a:r>
              <a:rPr lang="en-US" sz="2200" dirty="0">
                <a:latin typeface="Garamond" panose="02020404030301010803" pitchFamily="18" charset="0"/>
              </a:rPr>
              <a:t>Descriptive vs. Analytical: Students often describe case studies and sources rather than conducting a systematic analysis of how technical limitations create ethical vulnerabilities.</a:t>
            </a:r>
          </a:p>
          <a:p>
            <a:pPr marL="342900" indent="-342900">
              <a:buFont typeface="Arial" panose="020B0604020202020204" pitchFamily="34" charset="0"/>
              <a:buChar char="•"/>
            </a:pPr>
            <a:r>
              <a:rPr lang="en-US" sz="2200" dirty="0">
                <a:latin typeface="Garamond" panose="02020404030301010803" pitchFamily="18" charset="0"/>
              </a:rPr>
              <a:t>Poor Source Integration: </a:t>
            </a:r>
            <a:r>
              <a:rPr lang="en-US" sz="2200" b="1" dirty="0">
                <a:latin typeface="Garamond" panose="02020404030301010803" pitchFamily="18" charset="0"/>
              </a:rPr>
              <a:t>Instead of synthesizing multiple perspectives </a:t>
            </a:r>
            <a:r>
              <a:rPr lang="en-US" sz="2200" dirty="0">
                <a:latin typeface="Garamond" panose="02020404030301010803" pitchFamily="18" charset="0"/>
              </a:rPr>
              <a:t>to build a nuanced understanding, students present separate narratives from different sources.</a:t>
            </a:r>
          </a:p>
          <a:p>
            <a:pPr marL="342900" indent="-342900">
              <a:buFont typeface="Arial" panose="020B0604020202020204" pitchFamily="34" charset="0"/>
              <a:buChar char="•"/>
            </a:pPr>
            <a:r>
              <a:rPr lang="en-US" sz="2200" dirty="0">
                <a:latin typeface="Garamond" panose="02020404030301010803" pitchFamily="18" charset="0"/>
              </a:rPr>
              <a:t>Superficial Technical Understanding: Limited depth in explaining AI techniques and their operational mechanisms—many show only basic understanding.</a:t>
            </a:r>
          </a:p>
          <a:p>
            <a:pPr marL="342900" indent="-342900">
              <a:buFont typeface="Arial" panose="020B0604020202020204" pitchFamily="34" charset="0"/>
              <a:buChar char="•"/>
            </a:pPr>
            <a:r>
              <a:rPr lang="en-US" sz="2200" dirty="0">
                <a:latin typeface="Garamond" panose="02020404030301010803" pitchFamily="18" charset="0"/>
              </a:rPr>
              <a:t>Insufficient Critical Evaluation: Students do not critically evaluate sources or establish clear connections between technical functionality and ethical outcomes.</a:t>
            </a:r>
          </a:p>
        </p:txBody>
      </p:sp>
    </p:spTree>
    <p:extLst>
      <p:ext uri="{BB962C8B-B14F-4D97-AF65-F5344CB8AC3E}">
        <p14:creationId xmlns:p14="http://schemas.microsoft.com/office/powerpoint/2010/main" val="128683572"/>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B0DDA-4471-CC0A-3BCE-006494F60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399AA-2DF4-96B8-9515-2B0ECC85DD80}"/>
              </a:ext>
            </a:extLst>
          </p:cNvPr>
          <p:cNvSpPr>
            <a:spLocks noGrp="1"/>
          </p:cNvSpPr>
          <p:nvPr>
            <p:ph type="title" idx="4294967295"/>
          </p:nvPr>
        </p:nvSpPr>
        <p:spPr>
          <a:xfrm>
            <a:off x="767408" y="260648"/>
            <a:ext cx="10369152" cy="1106488"/>
          </a:xfrm>
          <a:prstGeom prst="rect">
            <a:avLst/>
          </a:prstGeom>
        </p:spPr>
        <p:txBody>
          <a:bodyPr>
            <a:normAutofit/>
          </a:bodyPr>
          <a:lstStyle/>
          <a:p>
            <a:r>
              <a:rPr lang="en-US" dirty="0">
                <a:latin typeface="Garamond" panose="02020404030301010803" pitchFamily="18" charset="0"/>
              </a:rPr>
              <a:t>Feedback Assignment 1:</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C9067200-7588-CD59-E8EC-1EA0924A6FD9}"/>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4F62A7E1-66A9-4E0E-6D77-33A1FAF38025}"/>
              </a:ext>
            </a:extLst>
          </p:cNvPr>
          <p:cNvSpPr txBox="1"/>
          <p:nvPr/>
        </p:nvSpPr>
        <p:spPr>
          <a:xfrm>
            <a:off x="1199456" y="1196752"/>
            <a:ext cx="9793088" cy="4154984"/>
          </a:xfrm>
          <a:prstGeom prst="rect">
            <a:avLst/>
          </a:prstGeom>
          <a:noFill/>
        </p:spPr>
        <p:txBody>
          <a:bodyPr wrap="square" rtlCol="0">
            <a:spAutoFit/>
          </a:bodyPr>
          <a:lstStyle/>
          <a:p>
            <a:r>
              <a:rPr lang="en-US" sz="2400" dirty="0">
                <a:latin typeface="Garamond" panose="02020404030301010803" pitchFamily="18" charset="0"/>
              </a:rPr>
              <a:t>4. Conclusion — Synthesis (70.5% avg)</a:t>
            </a:r>
          </a:p>
          <a:p>
            <a:r>
              <a:rPr lang="en-US" sz="2400" i="1" dirty="0">
                <a:latin typeface="Garamond" panose="02020404030301010803" pitchFamily="18" charset="0"/>
              </a:rPr>
              <a:t>Relatively strong area but still room for improvement.</a:t>
            </a:r>
            <a:r>
              <a:rPr lang="en-US" sz="2400" dirty="0">
                <a:latin typeface="Garamond" panose="02020404030301010803" pitchFamily="18" charset="0"/>
              </a:rPr>
              <a:t> Students averaged 14.10/20 marks.</a:t>
            </a:r>
          </a:p>
          <a:p>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Incomplete Synthesis: While students summarize findings adequately, they do not create comprehensive synthesis that weaves together all investigation elements.</a:t>
            </a:r>
          </a:p>
          <a:p>
            <a:pPr marL="342900" indent="-342900">
              <a:buFont typeface="Arial" panose="020B0604020202020204" pitchFamily="34" charset="0"/>
              <a:buChar char="•"/>
            </a:pPr>
            <a:r>
              <a:rPr lang="en-US" sz="2400" dirty="0">
                <a:latin typeface="Garamond" panose="02020404030301010803" pitchFamily="18" charset="0"/>
              </a:rPr>
              <a:t>Lack of Forward-Looking Insights: Missing reflection on emerging trends, future implications, or specific recommendations for professional development.</a:t>
            </a:r>
          </a:p>
          <a:p>
            <a:pPr marL="342900" indent="-342900">
              <a:buFont typeface="Arial" panose="020B0604020202020204" pitchFamily="34" charset="0"/>
              <a:buChar char="•"/>
            </a:pPr>
            <a:r>
              <a:rPr lang="en-US" sz="2400" dirty="0">
                <a:latin typeface="Garamond" panose="02020404030301010803" pitchFamily="18" charset="0"/>
              </a:rPr>
              <a:t>Limited Broader Impact: Insufficient critical reflection on implications for the broader computing field beyond immediate case study findings.</a:t>
            </a:r>
          </a:p>
        </p:txBody>
      </p:sp>
    </p:spTree>
    <p:extLst>
      <p:ext uri="{BB962C8B-B14F-4D97-AF65-F5344CB8AC3E}">
        <p14:creationId xmlns:p14="http://schemas.microsoft.com/office/powerpoint/2010/main" val="2838748611"/>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2CC2-975D-2BCC-5509-2D38ED949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A9802-7B98-1569-FD8F-9AA11F6CA33E}"/>
              </a:ext>
            </a:extLst>
          </p:cNvPr>
          <p:cNvSpPr>
            <a:spLocks noGrp="1"/>
          </p:cNvSpPr>
          <p:nvPr>
            <p:ph type="title" idx="4294967295"/>
          </p:nvPr>
        </p:nvSpPr>
        <p:spPr>
          <a:xfrm>
            <a:off x="767408" y="260648"/>
            <a:ext cx="10369152" cy="1106488"/>
          </a:xfrm>
          <a:prstGeom prst="rect">
            <a:avLst/>
          </a:prstGeom>
        </p:spPr>
        <p:txBody>
          <a:bodyPr>
            <a:normAutofit/>
          </a:bodyPr>
          <a:lstStyle/>
          <a:p>
            <a:r>
              <a:rPr lang="en-US" dirty="0">
                <a:latin typeface="Garamond" panose="02020404030301010803" pitchFamily="18" charset="0"/>
              </a:rPr>
              <a:t>Feedback Assignment 1:</a:t>
            </a:r>
            <a:endParaRPr lang="en-US" sz="4000" dirty="0">
              <a:latin typeface="Garamond" panose="02020404030301010803" pitchFamily="18" charset="0"/>
            </a:endParaRPr>
          </a:p>
        </p:txBody>
      </p:sp>
      <p:sp>
        <p:nvSpPr>
          <p:cNvPr id="7" name="Rectangle 1">
            <a:extLst>
              <a:ext uri="{FF2B5EF4-FFF2-40B4-BE49-F238E27FC236}">
                <a16:creationId xmlns:a16="http://schemas.microsoft.com/office/drawing/2014/main" id="{7B50A8BA-18CF-44CA-7075-054E7E1BAE41}"/>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7984AD69-9295-E20D-CA0F-38A5C1D9EFE0}"/>
              </a:ext>
            </a:extLst>
          </p:cNvPr>
          <p:cNvSpPr txBox="1"/>
          <p:nvPr/>
        </p:nvSpPr>
        <p:spPr>
          <a:xfrm>
            <a:off x="1199456" y="1196752"/>
            <a:ext cx="9793088" cy="4154984"/>
          </a:xfrm>
          <a:prstGeom prst="rect">
            <a:avLst/>
          </a:prstGeom>
          <a:noFill/>
        </p:spPr>
        <p:txBody>
          <a:bodyPr wrap="square" rtlCol="0">
            <a:spAutoFit/>
          </a:bodyPr>
          <a:lstStyle/>
          <a:p>
            <a:r>
              <a:rPr lang="en-US" sz="2400" dirty="0">
                <a:latin typeface="Garamond" panose="02020404030301010803" pitchFamily="18" charset="0"/>
              </a:rPr>
              <a:t>5. Introduction — Context &amp; Significance (71.7% avg)</a:t>
            </a:r>
          </a:p>
          <a:p>
            <a:endParaRPr lang="en-US" sz="2400" dirty="0">
              <a:latin typeface="Garamond" panose="02020404030301010803" pitchFamily="18" charset="0"/>
            </a:endParaRPr>
          </a:p>
          <a:p>
            <a:r>
              <a:rPr lang="en-US" sz="2400" i="1" dirty="0">
                <a:latin typeface="Garamond" panose="02020404030301010803" pitchFamily="18" charset="0"/>
              </a:rPr>
              <a:t>Strongest area overall.</a:t>
            </a:r>
            <a:r>
              <a:rPr lang="en-US" sz="2400" dirty="0">
                <a:latin typeface="Garamond" panose="02020404030301010803" pitchFamily="18" charset="0"/>
              </a:rPr>
              <a:t> Students averaged 14.34/20 marks, but improvement still possible.</a:t>
            </a:r>
          </a:p>
          <a:p>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Lack of Quantitative Evidence: Introductions often lack specific statistics, numerical data, or metrics to demonstrate severity and impact.</a:t>
            </a:r>
          </a:p>
          <a:p>
            <a:pPr marL="342900" indent="-342900">
              <a:buFont typeface="Arial" panose="020B0604020202020204" pitchFamily="34" charset="0"/>
              <a:buChar char="•"/>
            </a:pPr>
            <a:r>
              <a:rPr lang="en-US" sz="2400" dirty="0">
                <a:latin typeface="Garamond" panose="02020404030301010803" pitchFamily="18" charset="0"/>
              </a:rPr>
              <a:t>Weak Topic Justification: Students fail to provide compelling, evidence-based arguments for topic significance using multiple authoritative sources.</a:t>
            </a:r>
          </a:p>
          <a:p>
            <a:pPr marL="342900" indent="-342900">
              <a:buFont typeface="Arial" panose="020B0604020202020204" pitchFamily="34" charset="0"/>
              <a:buChar char="•"/>
            </a:pPr>
            <a:r>
              <a:rPr lang="en-US" sz="2400" dirty="0">
                <a:latin typeface="Garamond" panose="02020404030301010803" pitchFamily="18" charset="0"/>
              </a:rPr>
              <a:t>Missing Professional Relevance: Insufficient explanation of why computing professionals must engage with the ethical issue.</a:t>
            </a:r>
          </a:p>
        </p:txBody>
      </p:sp>
    </p:spTree>
    <p:extLst>
      <p:ext uri="{BB962C8B-B14F-4D97-AF65-F5344CB8AC3E}">
        <p14:creationId xmlns:p14="http://schemas.microsoft.com/office/powerpoint/2010/main" val="1406300894"/>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CC3E0-6292-9A75-D7C8-7B541DCE0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A439F-C4D1-7630-888E-69BDBF2AD59D}"/>
              </a:ext>
            </a:extLst>
          </p:cNvPr>
          <p:cNvSpPr>
            <a:spLocks noGrp="1"/>
          </p:cNvSpPr>
          <p:nvPr>
            <p:ph type="title" idx="4294967295"/>
          </p:nvPr>
        </p:nvSpPr>
        <p:spPr>
          <a:xfrm>
            <a:off x="767408" y="260648"/>
            <a:ext cx="10369152" cy="1106488"/>
          </a:xfrm>
          <a:prstGeom prst="rect">
            <a:avLst/>
          </a:prstGeom>
        </p:spPr>
        <p:txBody>
          <a:bodyPr>
            <a:normAutofit fontScale="90000"/>
          </a:bodyPr>
          <a:lstStyle/>
          <a:p>
            <a:r>
              <a:rPr lang="en-US" sz="4000" dirty="0">
                <a:latin typeface="Garamond" panose="02020404030301010803" pitchFamily="18" charset="0"/>
              </a:rPr>
              <a:t>In summary main Cognitive Skills to develop is Cognitive (Analysis)</a:t>
            </a:r>
          </a:p>
        </p:txBody>
      </p:sp>
      <p:sp>
        <p:nvSpPr>
          <p:cNvPr id="7" name="Rectangle 1">
            <a:extLst>
              <a:ext uri="{FF2B5EF4-FFF2-40B4-BE49-F238E27FC236}">
                <a16:creationId xmlns:a16="http://schemas.microsoft.com/office/drawing/2014/main" id="{D01720AA-97C0-88BB-9EDC-73D658DBEC87}"/>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85A65FA5-A66A-C495-FE1F-C1526D53A9B0}"/>
              </a:ext>
            </a:extLst>
          </p:cNvPr>
          <p:cNvSpPr txBox="1"/>
          <p:nvPr/>
        </p:nvSpPr>
        <p:spPr>
          <a:xfrm>
            <a:off x="911424" y="1533595"/>
            <a:ext cx="9217024" cy="4154984"/>
          </a:xfrm>
          <a:prstGeom prst="rect">
            <a:avLst/>
          </a:prstGeom>
          <a:noFill/>
        </p:spPr>
        <p:txBody>
          <a:bodyPr wrap="square" rtlCol="0">
            <a:spAutoFit/>
          </a:bodyPr>
          <a:lstStyle/>
          <a:p>
            <a:r>
              <a:rPr lang="en-US" sz="2400" b="1" dirty="0">
                <a:latin typeface="Garamond" panose="02020404030301010803" pitchFamily="18" charset="0"/>
              </a:rPr>
              <a:t>Developing this Cognitive Analysis skills involve:</a:t>
            </a:r>
          </a:p>
          <a:p>
            <a:endParaRPr lang="en-US" sz="2400" dirty="0">
              <a:latin typeface="Garamond" panose="02020404030301010803" pitchFamily="18" charset="0"/>
            </a:endParaRPr>
          </a:p>
          <a:p>
            <a:pPr marL="342900" indent="-342900">
              <a:buFont typeface="Arial" panose="020B0604020202020204" pitchFamily="34" charset="0"/>
              <a:buChar char="•"/>
            </a:pPr>
            <a:r>
              <a:rPr lang="en-US" sz="2400" b="1" dirty="0">
                <a:latin typeface="Garamond" panose="02020404030301010803" pitchFamily="18" charset="0"/>
              </a:rPr>
              <a:t>Examining content:</a:t>
            </a:r>
            <a:r>
              <a:rPr lang="en-US" sz="2400" dirty="0">
                <a:latin typeface="Garamond" panose="02020404030301010803" pitchFamily="18" charset="0"/>
              </a:rPr>
              <a:t> Identifying main ideas, supporting evidence, and key arguments within research materials.</a:t>
            </a:r>
          </a:p>
          <a:p>
            <a:pPr marL="342900" indent="-342900">
              <a:buFont typeface="Arial" panose="020B0604020202020204" pitchFamily="34" charset="0"/>
              <a:buChar char="•"/>
            </a:pPr>
            <a:r>
              <a:rPr lang="en-US" sz="2400" b="1" dirty="0">
                <a:latin typeface="Garamond" panose="02020404030301010803" pitchFamily="18" charset="0"/>
              </a:rPr>
              <a:t>Recognizing structure:</a:t>
            </a:r>
            <a:r>
              <a:rPr lang="en-US" sz="2400" dirty="0">
                <a:latin typeface="Garamond" panose="02020404030301010803" pitchFamily="18" charset="0"/>
              </a:rPr>
              <a:t> Understanding how information is organized, identifying patterns, relationships, and organizational principles.</a:t>
            </a:r>
          </a:p>
          <a:p>
            <a:pPr marL="342900" indent="-342900">
              <a:buFont typeface="Arial" panose="020B0604020202020204" pitchFamily="34" charset="0"/>
              <a:buChar char="•"/>
            </a:pPr>
            <a:r>
              <a:rPr lang="en-US" sz="2400" b="1" dirty="0">
                <a:latin typeface="Garamond" panose="02020404030301010803" pitchFamily="18" charset="0"/>
              </a:rPr>
              <a:t>Identifying relationships:</a:t>
            </a:r>
            <a:r>
              <a:rPr lang="en-US" sz="2400" dirty="0">
                <a:latin typeface="Garamond" panose="02020404030301010803" pitchFamily="18" charset="0"/>
              </a:rPr>
              <a:t> Seeing connections between concepts, detecting cause-and-effect relationships, and recognizing how different elements work together.</a:t>
            </a:r>
          </a:p>
          <a:p>
            <a:pPr marL="342900" indent="-342900">
              <a:buFont typeface="Arial" panose="020B0604020202020204" pitchFamily="34" charset="0"/>
              <a:buChar char="•"/>
            </a:pPr>
            <a:r>
              <a:rPr lang="en-US" sz="2400" b="1" dirty="0">
                <a:latin typeface="Garamond" panose="02020404030301010803" pitchFamily="18" charset="0"/>
              </a:rPr>
              <a:t>Distinguishing components:</a:t>
            </a:r>
            <a:r>
              <a:rPr lang="en-US" sz="2400" dirty="0">
                <a:latin typeface="Garamond" panose="02020404030301010803" pitchFamily="18" charset="0"/>
              </a:rPr>
              <a:t> Breaking down complex ideas into manageable parts to better understand the whole.</a:t>
            </a:r>
          </a:p>
        </p:txBody>
      </p:sp>
    </p:spTree>
    <p:extLst>
      <p:ext uri="{BB962C8B-B14F-4D97-AF65-F5344CB8AC3E}">
        <p14:creationId xmlns:p14="http://schemas.microsoft.com/office/powerpoint/2010/main" val="656133445"/>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A8AC-5321-F226-C647-6CDC5119F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C9C9B-91C2-DE5C-1040-5198ACB9B8E9}"/>
              </a:ext>
            </a:extLst>
          </p:cNvPr>
          <p:cNvSpPr>
            <a:spLocks noGrp="1"/>
          </p:cNvSpPr>
          <p:nvPr>
            <p:ph type="title" idx="4294967295"/>
          </p:nvPr>
        </p:nvSpPr>
        <p:spPr>
          <a:xfrm>
            <a:off x="767408" y="260648"/>
            <a:ext cx="10369152" cy="1106488"/>
          </a:xfrm>
          <a:prstGeom prst="rect">
            <a:avLst/>
          </a:prstGeom>
        </p:spPr>
        <p:txBody>
          <a:bodyPr>
            <a:normAutofit fontScale="90000"/>
          </a:bodyPr>
          <a:lstStyle/>
          <a:p>
            <a:r>
              <a:rPr lang="en-US" sz="4000" dirty="0">
                <a:latin typeface="Garamond" panose="02020404030301010803" pitchFamily="18" charset="0"/>
              </a:rPr>
              <a:t>In summary main Cognitive Skills to develop is Cognitive (Analysis)</a:t>
            </a:r>
          </a:p>
        </p:txBody>
      </p:sp>
      <p:sp>
        <p:nvSpPr>
          <p:cNvPr id="7" name="Rectangle 1">
            <a:extLst>
              <a:ext uri="{FF2B5EF4-FFF2-40B4-BE49-F238E27FC236}">
                <a16:creationId xmlns:a16="http://schemas.microsoft.com/office/drawing/2014/main" id="{C07016EA-A15B-08C4-EDB2-891804E48A14}"/>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F6806B42-CD88-6E6C-ED7F-4D8C5C760BB6}"/>
              </a:ext>
            </a:extLst>
          </p:cNvPr>
          <p:cNvSpPr txBox="1"/>
          <p:nvPr/>
        </p:nvSpPr>
        <p:spPr>
          <a:xfrm>
            <a:off x="911424" y="1533595"/>
            <a:ext cx="9217024" cy="4154984"/>
          </a:xfrm>
          <a:prstGeom prst="rect">
            <a:avLst/>
          </a:prstGeom>
          <a:noFill/>
        </p:spPr>
        <p:txBody>
          <a:bodyPr wrap="square" rtlCol="0">
            <a:spAutoFit/>
          </a:bodyPr>
          <a:lstStyle/>
          <a:p>
            <a:r>
              <a:rPr lang="en-US" sz="2200" b="1" dirty="0">
                <a:latin typeface="Garamond" panose="02020404030301010803" pitchFamily="18" charset="0"/>
              </a:rPr>
              <a:t>How to Apply Analysis in Research Assignments (which is provided by marking rubric criterion to guide you in this skill development):</a:t>
            </a:r>
          </a:p>
          <a:p>
            <a:endParaRPr lang="en-US" sz="2200" dirty="0">
              <a:latin typeface="Garamond" panose="02020404030301010803" pitchFamily="18" charset="0"/>
            </a:endParaRPr>
          </a:p>
          <a:p>
            <a:pPr marL="342900" indent="-342900">
              <a:buFont typeface="Arial" panose="020B0604020202020204" pitchFamily="34" charset="0"/>
              <a:buChar char="•"/>
            </a:pPr>
            <a:r>
              <a:rPr lang="en-US" sz="2200" dirty="0">
                <a:latin typeface="Garamond" panose="02020404030301010803" pitchFamily="18" charset="0"/>
              </a:rPr>
              <a:t>Deconstruct research questions to identify what information is needed</a:t>
            </a:r>
          </a:p>
          <a:p>
            <a:pPr marL="342900" indent="-342900">
              <a:buFont typeface="Arial" panose="020B0604020202020204" pitchFamily="34" charset="0"/>
              <a:buChar char="•"/>
            </a:pPr>
            <a:r>
              <a:rPr lang="en-US" sz="2200" dirty="0">
                <a:latin typeface="Garamond" panose="02020404030301010803" pitchFamily="18" charset="0"/>
              </a:rPr>
              <a:t>Break down scholarly articles to understand their methodology, findings, and conclusions</a:t>
            </a:r>
          </a:p>
          <a:p>
            <a:pPr marL="342900" indent="-342900">
              <a:buFont typeface="Arial" panose="020B0604020202020204" pitchFamily="34" charset="0"/>
              <a:buChar char="•"/>
            </a:pPr>
            <a:r>
              <a:rPr lang="en-US" sz="2200" dirty="0">
                <a:latin typeface="Garamond" panose="02020404030301010803" pitchFamily="18" charset="0"/>
              </a:rPr>
              <a:t>Compare and contrast different sources to identify points of agreement and contradiction</a:t>
            </a:r>
          </a:p>
          <a:p>
            <a:pPr marL="342900" indent="-342900">
              <a:buFont typeface="Arial" panose="020B0604020202020204" pitchFamily="34" charset="0"/>
              <a:buChar char="•"/>
            </a:pPr>
            <a:r>
              <a:rPr lang="en-US" sz="2200" dirty="0">
                <a:latin typeface="Garamond" panose="02020404030301010803" pitchFamily="18" charset="0"/>
              </a:rPr>
              <a:t>Examine evidence to determine its relevance and strength</a:t>
            </a:r>
          </a:p>
          <a:p>
            <a:pPr marL="342900" indent="-342900">
              <a:buFont typeface="Arial" panose="020B0604020202020204" pitchFamily="34" charset="0"/>
              <a:buChar char="•"/>
            </a:pPr>
            <a:r>
              <a:rPr lang="en-US" sz="2200" dirty="0">
                <a:latin typeface="Garamond" panose="02020404030301010803" pitchFamily="18" charset="0"/>
              </a:rPr>
              <a:t>Identify underlying assumptions in arguments</a:t>
            </a:r>
          </a:p>
          <a:p>
            <a:pPr marL="342900" indent="-342900">
              <a:buFont typeface="Arial" panose="020B0604020202020204" pitchFamily="34" charset="0"/>
              <a:buChar char="•"/>
            </a:pPr>
            <a:r>
              <a:rPr lang="en-US" sz="2200" dirty="0">
                <a:latin typeface="Garamond" panose="02020404030301010803" pitchFamily="18" charset="0"/>
              </a:rPr>
              <a:t>Recognize patterns across multiple sources</a:t>
            </a:r>
          </a:p>
          <a:p>
            <a:endParaRPr lang="en-US" sz="2200" dirty="0">
              <a:latin typeface="Garamond" panose="02020404030301010803" pitchFamily="18" charset="0"/>
            </a:endParaRPr>
          </a:p>
        </p:txBody>
      </p:sp>
    </p:spTree>
    <p:extLst>
      <p:ext uri="{BB962C8B-B14F-4D97-AF65-F5344CB8AC3E}">
        <p14:creationId xmlns:p14="http://schemas.microsoft.com/office/powerpoint/2010/main" val="3012132857"/>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CB0EC-5693-C598-3CF4-377616D36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C4BF3-5472-BEC8-DD9E-F942CEDA9548}"/>
              </a:ext>
            </a:extLst>
          </p:cNvPr>
          <p:cNvSpPr>
            <a:spLocks noGrp="1"/>
          </p:cNvSpPr>
          <p:nvPr>
            <p:ph type="title" idx="4294967295"/>
          </p:nvPr>
        </p:nvSpPr>
        <p:spPr>
          <a:xfrm>
            <a:off x="767408" y="260648"/>
            <a:ext cx="10369152" cy="1106488"/>
          </a:xfrm>
          <a:prstGeom prst="rect">
            <a:avLst/>
          </a:prstGeom>
        </p:spPr>
        <p:txBody>
          <a:bodyPr>
            <a:normAutofit fontScale="90000"/>
          </a:bodyPr>
          <a:lstStyle/>
          <a:p>
            <a:r>
              <a:rPr lang="en-US" dirty="0">
                <a:latin typeface="Garamond" panose="02020404030301010803" pitchFamily="18" charset="0"/>
              </a:rPr>
              <a:t>In summary </a:t>
            </a:r>
            <a:r>
              <a:rPr lang="en-US" sz="4000" dirty="0">
                <a:latin typeface="Garamond" panose="02020404030301010803" pitchFamily="18" charset="0"/>
              </a:rPr>
              <a:t>main Cognitive Skills to develop is Cognitive (Analysis)</a:t>
            </a:r>
          </a:p>
        </p:txBody>
      </p:sp>
      <p:sp>
        <p:nvSpPr>
          <p:cNvPr id="7" name="Rectangle 1">
            <a:extLst>
              <a:ext uri="{FF2B5EF4-FFF2-40B4-BE49-F238E27FC236}">
                <a16:creationId xmlns:a16="http://schemas.microsoft.com/office/drawing/2014/main" id="{F587A9F3-3ABA-0820-EA29-219E958B4A19}"/>
              </a:ext>
            </a:extLst>
          </p:cNvPr>
          <p:cNvSpPr>
            <a:spLocks noChangeArrowheads="1"/>
          </p:cNvSpPr>
          <p:nvPr/>
        </p:nvSpPr>
        <p:spPr bwMode="auto">
          <a:xfrm>
            <a:off x="4667250" y="2051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6831E6EC-6D8B-D700-9492-7D3FC4C25CD8}"/>
              </a:ext>
            </a:extLst>
          </p:cNvPr>
          <p:cNvSpPr txBox="1"/>
          <p:nvPr/>
        </p:nvSpPr>
        <p:spPr>
          <a:xfrm>
            <a:off x="911424" y="1533595"/>
            <a:ext cx="9217024" cy="4524315"/>
          </a:xfrm>
          <a:prstGeom prst="rect">
            <a:avLst/>
          </a:prstGeom>
          <a:noFill/>
        </p:spPr>
        <p:txBody>
          <a:bodyPr wrap="square" rtlCol="0">
            <a:spAutoFit/>
          </a:bodyPr>
          <a:lstStyle/>
          <a:p>
            <a:r>
              <a:rPr lang="en-US" sz="2400" b="1" dirty="0">
                <a:latin typeface="Garamond" panose="02020404030301010803" pitchFamily="18" charset="0"/>
              </a:rPr>
              <a:t>How is this a skill for lifelong learning?</a:t>
            </a:r>
          </a:p>
          <a:p>
            <a:endParaRPr lang="en-US" sz="2400" dirty="0">
              <a:latin typeface="Garamond" panose="02020404030301010803" pitchFamily="18" charset="0"/>
            </a:endParaRPr>
          </a:p>
          <a:p>
            <a:r>
              <a:rPr lang="en-US" sz="2400" b="1" dirty="0">
                <a:latin typeface="Garamond" panose="02020404030301010803" pitchFamily="18" charset="0"/>
              </a:rPr>
              <a:t>Self-Directed Learning: </a:t>
            </a:r>
            <a:r>
              <a:rPr lang="en-US" sz="2400" dirty="0">
                <a:latin typeface="Garamond" panose="02020404030301010803" pitchFamily="18" charset="0"/>
              </a:rPr>
              <a:t>Strong analysis skills empower individuals to:</a:t>
            </a:r>
          </a:p>
          <a:p>
            <a:pPr marL="342900" indent="-342900">
              <a:buFont typeface="Arial" panose="020B0604020202020204" pitchFamily="34" charset="0"/>
              <a:buChar char="•"/>
            </a:pPr>
            <a:r>
              <a:rPr lang="en-US" sz="2400" b="1" dirty="0">
                <a:latin typeface="Garamond" panose="02020404030301010803" pitchFamily="18" charset="0"/>
              </a:rPr>
              <a:t>Identify knowledge gaps:</a:t>
            </a:r>
            <a:r>
              <a:rPr lang="en-US" sz="2400" dirty="0">
                <a:latin typeface="Garamond" panose="02020404030301010803" pitchFamily="18" charset="0"/>
              </a:rPr>
              <a:t> Recognizing what you know and what you need to learn</a:t>
            </a:r>
          </a:p>
          <a:p>
            <a:pPr marL="342900" indent="-342900">
              <a:buFont typeface="Arial" panose="020B0604020202020204" pitchFamily="34" charset="0"/>
              <a:buChar char="•"/>
            </a:pPr>
            <a:r>
              <a:rPr lang="en-US" sz="2400" b="1" dirty="0">
                <a:latin typeface="Garamond" panose="02020404030301010803" pitchFamily="18" charset="0"/>
              </a:rPr>
              <a:t>Evaluate learning resources:</a:t>
            </a:r>
            <a:r>
              <a:rPr lang="en-US" sz="2400" dirty="0">
                <a:latin typeface="Garamond" panose="02020404030301010803" pitchFamily="18" charset="0"/>
              </a:rPr>
              <a:t> Determining which sources are most valuable for your needs</a:t>
            </a:r>
          </a:p>
          <a:p>
            <a:pPr marL="342900" indent="-342900">
              <a:buFont typeface="Arial" panose="020B0604020202020204" pitchFamily="34" charset="0"/>
              <a:buChar char="•"/>
            </a:pPr>
            <a:r>
              <a:rPr lang="en-US" sz="2400" b="1" dirty="0">
                <a:latin typeface="Garamond" panose="02020404030301010803" pitchFamily="18" charset="0"/>
              </a:rPr>
              <a:t>Structure personal learning:</a:t>
            </a:r>
            <a:r>
              <a:rPr lang="en-US" sz="2400" dirty="0">
                <a:latin typeface="Garamond" panose="02020404030301010803" pitchFamily="18" charset="0"/>
              </a:rPr>
              <a:t> Creating effective self-study approaches tailored to your goals</a:t>
            </a:r>
          </a:p>
          <a:p>
            <a:pPr marL="342900" indent="-342900">
              <a:buFont typeface="Arial" panose="020B0604020202020204" pitchFamily="34" charset="0"/>
              <a:buChar char="•"/>
            </a:pPr>
            <a:r>
              <a:rPr lang="en-US" sz="2400" b="1" dirty="0">
                <a:latin typeface="Garamond" panose="02020404030301010803" pitchFamily="18" charset="0"/>
              </a:rPr>
              <a:t>Monitor understanding:</a:t>
            </a:r>
            <a:r>
              <a:rPr lang="en-US" sz="2400" dirty="0">
                <a:latin typeface="Garamond" panose="02020404030301010803" pitchFamily="18" charset="0"/>
              </a:rPr>
              <a:t> Assessing your grasp of new information and adjusting as needed</a:t>
            </a:r>
          </a:p>
          <a:p>
            <a:endParaRPr lang="en-US" sz="2400" dirty="0">
              <a:latin typeface="Garamond" panose="02020404030301010803" pitchFamily="18" charset="0"/>
            </a:endParaRPr>
          </a:p>
        </p:txBody>
      </p:sp>
    </p:spTree>
    <p:extLst>
      <p:ext uri="{BB962C8B-B14F-4D97-AF65-F5344CB8AC3E}">
        <p14:creationId xmlns:p14="http://schemas.microsoft.com/office/powerpoint/2010/main" val="2985508378"/>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983432" y="1546226"/>
            <a:ext cx="9865096" cy="4608512"/>
          </a:xfrm>
        </p:spPr>
        <p:txBody>
          <a:bodyPr>
            <a:normAutofit/>
          </a:bodyPr>
          <a:lstStyle/>
          <a:p>
            <a:r>
              <a:rPr lang="en-US" sz="2800" kern="1200" dirty="0">
                <a:solidFill>
                  <a:schemeClr val="dk1"/>
                </a:solidFill>
                <a:latin typeface="Garamond" panose="02020404030301010803" pitchFamily="18" charset="0"/>
              </a:rPr>
              <a:t>An authentic assessment is one that requires application of what students have learned to a new situation, and that demands judgment to determine what information and skills are relevant and how they should be used.</a:t>
            </a:r>
            <a:endParaRPr lang="en-US" sz="2800" dirty="0">
              <a:latin typeface="Garamond" panose="02020404030301010803"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latin typeface="Garamond" panose="02020404030301010803" pitchFamily="18" charset="0"/>
              </a:rPr>
              <a:t>Authentic Assessment</a:t>
            </a:r>
            <a:endParaRPr lang="en-US" dirty="0">
              <a:solidFill>
                <a:srgbClr val="333333"/>
              </a:solidFill>
              <a:effectLst/>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7C9CF7F5-674F-6AC1-D02A-510FE239A95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039282824"/>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14F9C-1C87-39C2-62E2-188289B18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4CF46-B906-30EA-FB9E-E9C2227EB7F7}"/>
              </a:ext>
            </a:extLst>
          </p:cNvPr>
          <p:cNvSpPr>
            <a:spLocks noGrp="1"/>
          </p:cNvSpPr>
          <p:nvPr>
            <p:ph type="title" idx="4294967295"/>
          </p:nvPr>
        </p:nvSpPr>
        <p:spPr>
          <a:xfrm>
            <a:off x="1119586" y="4797152"/>
            <a:ext cx="10369152" cy="1106488"/>
          </a:xfrm>
          <a:prstGeom prst="rect">
            <a:avLst/>
          </a:prstGeom>
        </p:spPr>
        <p:txBody>
          <a:bodyPr>
            <a:normAutofit/>
          </a:bodyPr>
          <a:lstStyle/>
          <a:p>
            <a:r>
              <a:rPr lang="en-US" dirty="0">
                <a:solidFill>
                  <a:srgbClr val="333333"/>
                </a:solidFill>
                <a:latin typeface="Garamond" panose="02020404030301010803" pitchFamily="18" charset="0"/>
              </a:rPr>
              <a:t>Review of revision notes</a:t>
            </a:r>
            <a:endParaRPr lang="en-US" dirty="0">
              <a:solidFill>
                <a:srgbClr val="333333"/>
              </a:solidFill>
              <a:effectLst/>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EA5BF87C-F52F-5ED1-A91B-616AA598053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753586538"/>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42BC9-40E3-942D-8DA9-33208F174D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81380F-2016-C1EE-46B0-74FE60065354}"/>
              </a:ext>
            </a:extLst>
          </p:cNvPr>
          <p:cNvSpPr>
            <a:spLocks noGrp="1"/>
          </p:cNvSpPr>
          <p:nvPr>
            <p:ph type="body" sz="quarter" idx="10"/>
          </p:nvPr>
        </p:nvSpPr>
        <p:spPr>
          <a:xfrm>
            <a:off x="983432" y="1546226"/>
            <a:ext cx="9865096" cy="4608512"/>
          </a:xfrm>
        </p:spPr>
        <p:txBody>
          <a:bodyPr>
            <a:normAutofit/>
          </a:bodyPr>
          <a:lstStyle/>
          <a:p>
            <a:r>
              <a:rPr lang="en-US" sz="2800" kern="1200" dirty="0">
                <a:solidFill>
                  <a:schemeClr val="dk1"/>
                </a:solidFill>
                <a:latin typeface="Garamond" panose="02020404030301010803" pitchFamily="18" charset="0"/>
              </a:rPr>
              <a:t>Please download the revision notes on the Moodle page</a:t>
            </a:r>
          </a:p>
          <a:p>
            <a:endParaRPr lang="en-US" sz="2800" kern="1200" dirty="0">
              <a:solidFill>
                <a:schemeClr val="dk1"/>
              </a:solidFill>
              <a:latin typeface="Garamond" panose="02020404030301010803" pitchFamily="18" charset="0"/>
            </a:endParaRPr>
          </a:p>
          <a:p>
            <a:r>
              <a:rPr lang="en-US" sz="2800" dirty="0">
                <a:latin typeface="Garamond" panose="02020404030301010803" pitchFamily="18" charset="0"/>
              </a:rPr>
              <a:t>*Tips</a:t>
            </a:r>
          </a:p>
          <a:p>
            <a:pPr marL="514350" indent="-514350">
              <a:buAutoNum type="arabicPeriod"/>
            </a:pPr>
            <a:r>
              <a:rPr lang="en-US" dirty="0">
                <a:latin typeface="Garamond" panose="02020404030301010803" pitchFamily="18" charset="0"/>
              </a:rPr>
              <a:t>Ensure you know how to utilize the table of contents effectively.</a:t>
            </a:r>
          </a:p>
          <a:p>
            <a:pPr marL="1200150" lvl="1" indent="-457200"/>
            <a:r>
              <a:rPr lang="en-US" sz="2400" dirty="0">
                <a:latin typeface="Garamond" panose="02020404030301010803" pitchFamily="18" charset="0"/>
              </a:rPr>
              <a:t>Click on the topic to go straight to it, instead of scrolling through the document</a:t>
            </a:r>
          </a:p>
          <a:p>
            <a:pPr marL="1200150" lvl="1" indent="-457200"/>
            <a:r>
              <a:rPr lang="en-US" sz="2400" dirty="0">
                <a:latin typeface="Garamond" panose="02020404030301010803" pitchFamily="18" charset="0"/>
              </a:rPr>
              <a:t>Notes summarize key points of concepts, techniques</a:t>
            </a:r>
          </a:p>
          <a:p>
            <a:pPr marL="1200150" lvl="1" indent="-457200"/>
            <a:r>
              <a:rPr lang="en-US" sz="2400" dirty="0">
                <a:latin typeface="Garamond" panose="02020404030301010803" pitchFamily="18" charset="0"/>
              </a:rPr>
              <a:t>Authentic assessment is about applying that to scenarios given</a:t>
            </a:r>
          </a:p>
        </p:txBody>
      </p:sp>
      <p:sp>
        <p:nvSpPr>
          <p:cNvPr id="2" name="Title 1">
            <a:extLst>
              <a:ext uri="{FF2B5EF4-FFF2-40B4-BE49-F238E27FC236}">
                <a16:creationId xmlns:a16="http://schemas.microsoft.com/office/drawing/2014/main" id="{29ABF607-2984-3E3A-1F65-5A26F7DB52FB}"/>
              </a:ext>
            </a:extLst>
          </p:cNvPr>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latin typeface="Garamond" panose="02020404030301010803" pitchFamily="18" charset="0"/>
              </a:rPr>
              <a:t>Revision notes</a:t>
            </a:r>
            <a:endParaRPr lang="en-US" dirty="0">
              <a:solidFill>
                <a:srgbClr val="333333"/>
              </a:solidFill>
              <a:effectLst/>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053CF3D3-2F36-1673-9BFC-1B993199772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687151964"/>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983432" y="1546226"/>
            <a:ext cx="9865096" cy="4608512"/>
          </a:xfrm>
        </p:spPr>
        <p:txBody>
          <a:bodyPr>
            <a:normAutofit/>
          </a:bodyPr>
          <a:lstStyle/>
          <a:p>
            <a:r>
              <a:rPr lang="en-US" sz="2600" dirty="0">
                <a:latin typeface="Garamond" panose="02020404030301010803" pitchFamily="18" charset="0"/>
              </a:rPr>
              <a:t>Attempt the trial quiz on Moodle page, since this is a trial, it does </a:t>
            </a:r>
            <a:r>
              <a:rPr lang="en-US" sz="2600">
                <a:latin typeface="Garamond" panose="02020404030301010803" pitchFamily="18" charset="0"/>
              </a:rPr>
              <a:t>not contribute to final grades.</a:t>
            </a:r>
          </a:p>
          <a:p>
            <a:endParaRPr lang="en-US" sz="2600" dirty="0">
              <a:latin typeface="Garamond" panose="02020404030301010803" pitchFamily="18" charset="0"/>
            </a:endParaRPr>
          </a:p>
          <a:p>
            <a:r>
              <a:rPr lang="en-US" sz="2600" dirty="0">
                <a:latin typeface="Garamond" panose="02020404030301010803" pitchFamily="18" charset="0"/>
              </a:rPr>
              <a:t>MQA, 40 minutes</a:t>
            </a:r>
          </a:p>
          <a:p>
            <a:endParaRPr lang="en-US" sz="2600" dirty="0">
              <a:latin typeface="Garamond" panose="02020404030301010803"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latin typeface="Garamond" panose="02020404030301010803" pitchFamily="18" charset="0"/>
              </a:rPr>
              <a:t>Trial Quiz</a:t>
            </a:r>
            <a:endParaRPr lang="en-US" dirty="0">
              <a:solidFill>
                <a:srgbClr val="333333"/>
              </a:solidFill>
              <a:effectLst/>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7C9CF7F5-674F-6AC1-D02A-510FE239A95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988111627"/>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410DE-A186-F3F1-F7AB-CBD6D868F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4DAE1-4332-6837-98FB-4786BC0FDCA7}"/>
              </a:ext>
            </a:extLst>
          </p:cNvPr>
          <p:cNvSpPr>
            <a:spLocks noGrp="1"/>
          </p:cNvSpPr>
          <p:nvPr>
            <p:ph type="title" idx="4294967295"/>
          </p:nvPr>
        </p:nvSpPr>
        <p:spPr>
          <a:xfrm>
            <a:off x="1119586" y="4797152"/>
            <a:ext cx="10369152" cy="1106488"/>
          </a:xfrm>
          <a:prstGeom prst="rect">
            <a:avLst/>
          </a:prstGeom>
        </p:spPr>
        <p:txBody>
          <a:bodyPr>
            <a:normAutofit/>
          </a:bodyPr>
          <a:lstStyle/>
          <a:p>
            <a:r>
              <a:rPr lang="en-US" dirty="0">
                <a:solidFill>
                  <a:srgbClr val="333333"/>
                </a:solidFill>
                <a:latin typeface="Garamond" panose="02020404030301010803" pitchFamily="18" charset="0"/>
              </a:rPr>
              <a:t>Q&amp;A</a:t>
            </a:r>
            <a:endParaRPr lang="en-US" dirty="0">
              <a:solidFill>
                <a:srgbClr val="333333"/>
              </a:solidFill>
              <a:effectLst/>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FDCFFFB3-4C11-D6A5-0FDC-FD3197B10B4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423854639"/>
      </p:ext>
    </p:extLst>
  </p:cSld>
  <p:clrMapOvr>
    <a:masterClrMapping/>
  </p:clrMapOvr>
  <mc:AlternateContent xmlns:mc="http://schemas.openxmlformats.org/markup-compatibility/2006" xmlns:p14="http://schemas.microsoft.com/office/powerpoint/2010/main">
    <mc:Choice Requires="p14">
      <p:transition spd="slow" p14:dur="2000" advTm="34727"/>
    </mc:Choice>
    <mc:Fallback xmlns="">
      <p:transition spd="slow" advTm="34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WASPOLLED" val="A79145AC99644806834DDC90CF40D409"/>
  <p:tag name="TPVERSION" val="5"/>
  <p:tag name="TPFULLVERSION" val="5.4.1.2"/>
  <p:tag name="PPTVERSION" val="15"/>
  <p:tag name="TPOS" val="2"/>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T1049FIT2003 Examp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1049FIT2003 Example.potx" id="{0959B5B8-E8A5-4555-AA4D-C08290C7CF2D}" vid="{ABCF4FDE-D506-4A71-A46B-6B46E85196E4}"/>
    </a:ext>
  </a:extLst>
</a:theme>
</file>

<file path=ppt/theme/theme3.xml><?xml version="1.0" encoding="utf-8"?>
<a:theme xmlns:a="http://schemas.openxmlformats.org/drawingml/2006/main" name="Title slide_1">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CAF005F-FBF3-4B11-82C1-1C7DCB010D35}"/>
    </a:ext>
  </a:extLst>
</a:theme>
</file>

<file path=ppt/theme/theme4.xml><?xml version="1.0" encoding="utf-8"?>
<a:theme xmlns:a="http://schemas.openxmlformats.org/drawingml/2006/main" name="Title slide_2">
  <a:themeElements>
    <a:clrScheme name="Monash Black">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F24A3D9-D0FF-4975-8D16-82ED1789C46B}"/>
    </a:ext>
  </a:extLst>
</a:theme>
</file>

<file path=ppt/theme/theme5.xml><?xml version="1.0" encoding="utf-8"?>
<a:theme xmlns:a="http://schemas.openxmlformats.org/drawingml/2006/main" name="1_Standard slide">
  <a:themeElements>
    <a:clrScheme name="Monash University">
      <a:dk1>
        <a:srgbClr val="000000"/>
      </a:dk1>
      <a:lt1>
        <a:srgbClr val="FFFFFF"/>
      </a:lt1>
      <a:dk2>
        <a:srgbClr val="006DAE"/>
      </a:dk2>
      <a:lt2>
        <a:srgbClr val="CCCCCC"/>
      </a:lt2>
      <a:accent1>
        <a:srgbClr val="FF002B"/>
      </a:accent1>
      <a:accent2>
        <a:srgbClr val="FC622E"/>
      </a:accent2>
      <a:accent3>
        <a:srgbClr val="829356"/>
      </a:accent3>
      <a:accent4>
        <a:srgbClr val="00AC3E"/>
      </a:accent4>
      <a:accent5>
        <a:srgbClr val="009FDA"/>
      </a:accent5>
      <a:accent6>
        <a:srgbClr val="8177E7"/>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65D099FF-7EEB-48D5-A654-27F6622821DB}"/>
    </a:ext>
  </a:extLst>
</a:theme>
</file>

<file path=ppt/theme/theme6.xml><?xml version="1.0" encoding="utf-8"?>
<a:theme xmlns:a="http://schemas.openxmlformats.org/drawingml/2006/main" name="Section break 2">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EB9E0C9F-7EAB-44D9-93D2-F31469C55EF3}"/>
    </a:ext>
  </a:extLst>
</a:theme>
</file>

<file path=ppt/theme/theme7.xml><?xml version="1.0" encoding="utf-8"?>
<a:theme xmlns:a="http://schemas.openxmlformats.org/drawingml/2006/main" name="Section break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7DC990B3-0A3A-4A87-A7ED-8800B7104099}"/>
    </a:ext>
  </a:extLst>
</a:theme>
</file>

<file path=ppt/theme/theme8.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238EFAC0-BA05-4C15-A281-1AA3E7690AD0}"/>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48745</TotalTime>
  <Words>5670</Words>
  <Application>Microsoft Office PowerPoint</Application>
  <PresentationFormat>Widescreen</PresentationFormat>
  <Paragraphs>327</Paragraphs>
  <Slides>27</Slides>
  <Notes>27</Notes>
  <HiddenSlides>0</HiddenSlides>
  <MMClips>8</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27</vt:i4>
      </vt:variant>
    </vt:vector>
  </HeadingPairs>
  <TitlesOfParts>
    <vt:vector size="42" baseType="lpstr">
      <vt:lpstr>Calibri Light</vt:lpstr>
      <vt:lpstr>Garamond</vt:lpstr>
      <vt:lpstr>Arial Narrow</vt:lpstr>
      <vt:lpstr>Calibri</vt:lpstr>
      <vt:lpstr>Times New Roman</vt:lpstr>
      <vt:lpstr>Wingdings</vt:lpstr>
      <vt:lpstr>Arial</vt:lpstr>
      <vt:lpstr>Custom Design</vt:lpstr>
      <vt:lpstr>FIT1049FIT2003 Example</vt:lpstr>
      <vt:lpstr>Title slide_1</vt:lpstr>
      <vt:lpstr>Title slide_2</vt:lpstr>
      <vt:lpstr>1_Standard slide</vt:lpstr>
      <vt:lpstr>Section break 2</vt:lpstr>
      <vt:lpstr>Section break 1</vt:lpstr>
      <vt:lpstr>4_Custom Design</vt:lpstr>
      <vt:lpstr>FIT1055: IT professional practice and Ethics</vt:lpstr>
      <vt:lpstr>Things you will learn by the end of lesson</vt:lpstr>
      <vt:lpstr>Learning outcomes, Program Outcomes, Assignments and Authentic assessment </vt:lpstr>
      <vt:lpstr>Assignments and Authentic Assessments are created and assessed based on Learning Outcomes</vt:lpstr>
      <vt:lpstr>Monash BSC program outcomes, Bloom’s domain mapping to FIT1055 learning outcomes</vt:lpstr>
      <vt:lpstr>Monash BSC program outcomes, Bloom’s domain mapping to FIT1055 learning outcomes</vt:lpstr>
      <vt:lpstr>Monash BSC program outcomes, Bloom’s domain mapping to FIT1055 learning outcomes</vt:lpstr>
      <vt:lpstr>Monash BSC program outcomes, Bloom’s domain mapping to FIT1055 learning outcomes</vt:lpstr>
      <vt:lpstr>Monash BSC program outcomes, Bloom’s domain mapping to FIT1055 learning outcomes</vt:lpstr>
      <vt:lpstr>Monash BSC program outcomes, Bloom’s domain mapping to FIT1055 learning outcomes</vt:lpstr>
      <vt:lpstr>Class result on Assignment 1</vt:lpstr>
      <vt:lpstr>Class result on Assignment 1</vt:lpstr>
      <vt:lpstr>Class result on Assignment 1</vt:lpstr>
      <vt:lpstr>Class result on Assignment 1</vt:lpstr>
      <vt:lpstr>Feedback Assignment 1:</vt:lpstr>
      <vt:lpstr>Feedback Assignment 1:</vt:lpstr>
      <vt:lpstr>Feedback Assignment 1:</vt:lpstr>
      <vt:lpstr>Feedback Assignment 1:</vt:lpstr>
      <vt:lpstr>Feedback Assignment 1:</vt:lpstr>
      <vt:lpstr>In summary main Cognitive Skills to develop is Cognitive (Analysis)</vt:lpstr>
      <vt:lpstr>In summary main Cognitive Skills to develop is Cognitive (Analysis)</vt:lpstr>
      <vt:lpstr>In summary main Cognitive Skills to develop is Cognitive (Analysis)</vt:lpstr>
      <vt:lpstr>Authentic Assessment</vt:lpstr>
      <vt:lpstr>Review of revision notes</vt:lpstr>
      <vt:lpstr>Revision notes</vt:lpstr>
      <vt:lpstr>Trial Quiz</vt:lpstr>
      <vt:lpstr>Q&amp;A</vt:lpstr>
    </vt:vector>
  </TitlesOfParts>
  <Company>Monash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FIT1049-FIT2003 Lecture 1</dc:title>
  <dc:subject>FIT1049-FIT2003 Lecture 1</dc:subject>
  <dc:creator>annn</dc:creator>
  <cp:lastModifiedBy>Dr. Nik Nailah Abdullah</cp:lastModifiedBy>
  <cp:revision>1332</cp:revision>
  <cp:lastPrinted>2019-03-04T05:36:01Z</cp:lastPrinted>
  <dcterms:created xsi:type="dcterms:W3CDTF">2008-07-14T07:08:14Z</dcterms:created>
  <dcterms:modified xsi:type="dcterms:W3CDTF">2026-05-12T02:14:28Z</dcterms:modified>
</cp:coreProperties>
</file>