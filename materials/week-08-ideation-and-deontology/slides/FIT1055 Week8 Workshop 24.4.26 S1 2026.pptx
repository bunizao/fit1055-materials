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slideLayouts/slideLayout34.xml" ContentType="application/vnd.openxmlformats-officedocument.presentationml.slideLayout+xml"/>
  <Override PartName="/ppt/theme/theme6.xml" ContentType="application/vnd.openxmlformats-officedocument.theme+xml"/>
  <Override PartName="/ppt/slideLayouts/slideLayout35.xml" ContentType="application/vnd.openxmlformats-officedocument.presentationml.slideLayout+xml"/>
  <Override PartName="/ppt/theme/theme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9" r:id="rId1"/>
    <p:sldMasterId id="2147483751" r:id="rId2"/>
    <p:sldMasterId id="2147483763" r:id="rId3"/>
    <p:sldMasterId id="2147483766" r:id="rId4"/>
    <p:sldMasterId id="2147483769" r:id="rId5"/>
    <p:sldMasterId id="2147483776" r:id="rId6"/>
    <p:sldMasterId id="2147483778" r:id="rId7"/>
    <p:sldMasterId id="2147483780" r:id="rId8"/>
  </p:sldMasterIdLst>
  <p:notesMasterIdLst>
    <p:notesMasterId r:id="rId78"/>
  </p:notesMasterIdLst>
  <p:handoutMasterIdLst>
    <p:handoutMasterId r:id="rId79"/>
  </p:handoutMasterIdLst>
  <p:sldIdLst>
    <p:sldId id="531" r:id="rId9"/>
    <p:sldId id="1215" r:id="rId10"/>
    <p:sldId id="1249" r:id="rId11"/>
    <p:sldId id="1232" r:id="rId12"/>
    <p:sldId id="1301" r:id="rId13"/>
    <p:sldId id="1302" r:id="rId14"/>
    <p:sldId id="1300" r:id="rId15"/>
    <p:sldId id="1217" r:id="rId16"/>
    <p:sldId id="1234" r:id="rId17"/>
    <p:sldId id="1233" r:id="rId18"/>
    <p:sldId id="1235" r:id="rId19"/>
    <p:sldId id="1236" r:id="rId20"/>
    <p:sldId id="1219" r:id="rId21"/>
    <p:sldId id="1241" r:id="rId22"/>
    <p:sldId id="1220" r:id="rId23"/>
    <p:sldId id="1240" r:id="rId24"/>
    <p:sldId id="1238" r:id="rId25"/>
    <p:sldId id="1242" r:id="rId26"/>
    <p:sldId id="1223" r:id="rId27"/>
    <p:sldId id="1243" r:id="rId28"/>
    <p:sldId id="1244" r:id="rId29"/>
    <p:sldId id="1246" r:id="rId30"/>
    <p:sldId id="1247" r:id="rId31"/>
    <p:sldId id="1248" r:id="rId32"/>
    <p:sldId id="1312" r:id="rId33"/>
    <p:sldId id="1250" r:id="rId34"/>
    <p:sldId id="1251" r:id="rId35"/>
    <p:sldId id="1252" r:id="rId36"/>
    <p:sldId id="1253" r:id="rId37"/>
    <p:sldId id="1254" r:id="rId38"/>
    <p:sldId id="1255" r:id="rId39"/>
    <p:sldId id="1256" r:id="rId40"/>
    <p:sldId id="1257" r:id="rId41"/>
    <p:sldId id="1258" r:id="rId42"/>
    <p:sldId id="1259" r:id="rId43"/>
    <p:sldId id="1260" r:id="rId44"/>
    <p:sldId id="1261" r:id="rId45"/>
    <p:sldId id="1262" r:id="rId46"/>
    <p:sldId id="1263" r:id="rId47"/>
    <p:sldId id="1230" r:id="rId48"/>
    <p:sldId id="1264" r:id="rId49"/>
    <p:sldId id="1266" r:id="rId50"/>
    <p:sldId id="1280" r:id="rId51"/>
    <p:sldId id="1284" r:id="rId52"/>
    <p:sldId id="1265" r:id="rId53"/>
    <p:sldId id="1195" r:id="rId54"/>
    <p:sldId id="1314" r:id="rId55"/>
    <p:sldId id="1315" r:id="rId56"/>
    <p:sldId id="1316" r:id="rId57"/>
    <p:sldId id="1317" r:id="rId58"/>
    <p:sldId id="1268" r:id="rId59"/>
    <p:sldId id="1286" r:id="rId60"/>
    <p:sldId id="1290" r:id="rId61"/>
    <p:sldId id="1287" r:id="rId62"/>
    <p:sldId id="1292" r:id="rId63"/>
    <p:sldId id="1293" r:id="rId64"/>
    <p:sldId id="1294" r:id="rId65"/>
    <p:sldId id="1295" r:id="rId66"/>
    <p:sldId id="1297" r:id="rId67"/>
    <p:sldId id="1299" r:id="rId68"/>
    <p:sldId id="1303" r:id="rId69"/>
    <p:sldId id="1298" r:id="rId70"/>
    <p:sldId id="1304" r:id="rId71"/>
    <p:sldId id="1305" r:id="rId72"/>
    <p:sldId id="1307" r:id="rId73"/>
    <p:sldId id="1306" r:id="rId74"/>
    <p:sldId id="1308" r:id="rId75"/>
    <p:sldId id="1309" r:id="rId76"/>
    <p:sldId id="1310" r:id="rId77"/>
  </p:sldIdLst>
  <p:sldSz cx="12192000" cy="6858000"/>
  <p:notesSz cx="6805613" cy="9939338"/>
  <p:embeddedFontLst>
    <p:embeddedFont>
      <p:font typeface="Arial Narrow" panose="020B0604020202020204" pitchFamily="34" charset="0"/>
      <p:regular r:id="rId80"/>
      <p:bold r:id="rId81"/>
      <p:italic r:id="rId82"/>
      <p:boldItalic r:id="rId83"/>
    </p:embeddedFont>
    <p:embeddedFont>
      <p:font typeface="Book Antiqua" panose="02040602050305030304" pitchFamily="18" charset="0"/>
      <p:regular r:id="rId84"/>
      <p:bold r:id="rId85"/>
      <p:italic r:id="rId86"/>
      <p:boldItalic r:id="rId87"/>
    </p:embeddedFont>
    <p:embeddedFont>
      <p:font typeface="Garamond" panose="02020404030301010803" pitchFamily="18" charset="0"/>
      <p:regular r:id="rId88"/>
      <p:bold r:id="rId89"/>
      <p:italic r:id="rId90"/>
      <p:boldItalic r:id="rId91"/>
    </p:embeddedFont>
  </p:embeddedFontLst>
  <p:custDataLst>
    <p:tags r:id="rId92"/>
  </p:custDataLst>
  <p:defaultTextStyle>
    <a:defPPr>
      <a:defRPr lang="en-A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2" pos="7469" userDrawn="1">
          <p15:clr>
            <a:srgbClr val="A4A3A4"/>
          </p15:clr>
        </p15:guide>
        <p15:guide id="3"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900"/>
    <a:srgbClr val="B0FF00"/>
    <a:srgbClr val="FFD808"/>
    <a:srgbClr val="FF9933"/>
    <a:srgbClr val="FF9900"/>
    <a:srgbClr val="66CCFF"/>
    <a:srgbClr val="89B9FF"/>
    <a:srgbClr val="FF00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03" autoAdjust="0"/>
    <p:restoredTop sz="96976" autoAdjust="0"/>
  </p:normalViewPr>
  <p:slideViewPr>
    <p:cSldViewPr>
      <p:cViewPr varScale="1">
        <p:scale>
          <a:sx n="107" d="100"/>
          <a:sy n="107" d="100"/>
        </p:scale>
        <p:origin x="200" y="272"/>
      </p:cViewPr>
      <p:guideLst>
        <p:guide pos="7469"/>
        <p:guide orient="horz" pos="2160"/>
      </p:guideLst>
    </p:cSldViewPr>
  </p:slideViewPr>
  <p:outlineViewPr>
    <p:cViewPr>
      <p:scale>
        <a:sx n="33" d="100"/>
        <a:sy n="33" d="100"/>
      </p:scale>
      <p:origin x="0" y="58718"/>
    </p:cViewPr>
  </p:outlineViewPr>
  <p:notesTextViewPr>
    <p:cViewPr>
      <p:scale>
        <a:sx n="100" d="100"/>
        <a:sy n="100" d="100"/>
      </p:scale>
      <p:origin x="0" y="0"/>
    </p:cViewPr>
  </p:notesTextViewPr>
  <p:sorterViewPr>
    <p:cViewPr varScale="1">
      <p:scale>
        <a:sx n="1" d="1"/>
        <a:sy n="1" d="1"/>
      </p:scale>
      <p:origin x="0" y="-94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font" Target="fonts/font5.fntdata"/><Relationship Id="rId89" Type="http://schemas.openxmlformats.org/officeDocument/2006/relationships/font" Target="fonts/font10.fntdata"/><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handoutMaster" Target="handoutMasters/handoutMaster1.xml"/><Relationship Id="rId5" Type="http://schemas.openxmlformats.org/officeDocument/2006/relationships/slideMaster" Target="slideMasters/slideMaster5.xml"/><Relationship Id="rId90" Type="http://schemas.openxmlformats.org/officeDocument/2006/relationships/font" Target="fonts/font11.fntdata"/><Relationship Id="rId95" Type="http://schemas.openxmlformats.org/officeDocument/2006/relationships/viewProps" Target="viewProps.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0" Type="http://schemas.openxmlformats.org/officeDocument/2006/relationships/font" Target="fonts/font1.fntdata"/><Relationship Id="rId85" Type="http://schemas.openxmlformats.org/officeDocument/2006/relationships/font" Target="fonts/font6.fntdata"/><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font" Target="fonts/font4.fntdata"/><Relationship Id="rId88" Type="http://schemas.openxmlformats.org/officeDocument/2006/relationships/font" Target="fonts/font9.fntdata"/><Relationship Id="rId91" Type="http://schemas.openxmlformats.org/officeDocument/2006/relationships/font" Target="fonts/font12.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notesMaster" Target="notesMasters/notesMaster1.xml"/><Relationship Id="rId81" Type="http://schemas.openxmlformats.org/officeDocument/2006/relationships/font" Target="fonts/font2.fntdata"/><Relationship Id="rId86" Type="http://schemas.openxmlformats.org/officeDocument/2006/relationships/font" Target="fonts/font7.fntdata"/><Relationship Id="rId9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tableStyles" Target="tableStyles.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tags" Target="tags/tag1.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font" Target="fonts/font8.fntdata"/><Relationship Id="rId61" Type="http://schemas.openxmlformats.org/officeDocument/2006/relationships/slide" Target="slides/slide53.xml"/><Relationship Id="rId82" Type="http://schemas.openxmlformats.org/officeDocument/2006/relationships/font" Target="fonts/font3.fntdata"/><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210947" name="Rectangle 3"/>
          <p:cNvSpPr>
            <a:spLocks noGrp="1" noChangeArrowheads="1"/>
          </p:cNvSpPr>
          <p:nvPr>
            <p:ph type="dt" sz="quarter"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210948" name="Rectangle 4"/>
          <p:cNvSpPr>
            <a:spLocks noGrp="1" noChangeArrowheads="1"/>
          </p:cNvSpPr>
          <p:nvPr>
            <p:ph type="ftr" sz="quarter" idx="2"/>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210949" name="Rectangle 5"/>
          <p:cNvSpPr>
            <a:spLocks noGrp="1" noChangeArrowheads="1"/>
          </p:cNvSpPr>
          <p:nvPr>
            <p:ph type="sldNum" sz="quarter" idx="3"/>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6F4BC11-27CE-467A-8EFD-5CAC0396F796}" type="slidenum">
              <a:rPr lang="en-AU"/>
              <a:pPr>
                <a:defRPr/>
              </a:pPr>
              <a:t>‹#›</a:t>
            </a:fld>
            <a:endParaRPr lang="en-AU" dirty="0"/>
          </a:p>
        </p:txBody>
      </p:sp>
    </p:spTree>
    <p:extLst>
      <p:ext uri="{BB962C8B-B14F-4D97-AF65-F5344CB8AC3E}">
        <p14:creationId xmlns:p14="http://schemas.microsoft.com/office/powerpoint/2010/main" val="36749802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36867" name="Rectangle 3"/>
          <p:cNvSpPr>
            <a:spLocks noGrp="1" noChangeArrowheads="1"/>
          </p:cNvSpPr>
          <p:nvPr>
            <p:ph type="dt"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41988" name="Rectangle 4"/>
          <p:cNvSpPr>
            <a:spLocks noGrp="1" noRot="1" noChangeAspect="1" noChangeArrowheads="1" noTextEdit="1"/>
          </p:cNvSpPr>
          <p:nvPr>
            <p:ph type="sldImg" idx="2"/>
          </p:nvPr>
        </p:nvSpPr>
        <p:spPr bwMode="auto">
          <a:xfrm>
            <a:off x="88900" y="744538"/>
            <a:ext cx="6627813" cy="3729037"/>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680857" y="4721517"/>
            <a:ext cx="5443900" cy="4473359"/>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6870" name="Rectangle 6"/>
          <p:cNvSpPr>
            <a:spLocks noGrp="1" noChangeArrowheads="1"/>
          </p:cNvSpPr>
          <p:nvPr>
            <p:ph type="ftr" sz="quarter" idx="4"/>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36871" name="Rectangle 7"/>
          <p:cNvSpPr>
            <a:spLocks noGrp="1" noChangeArrowheads="1"/>
          </p:cNvSpPr>
          <p:nvPr>
            <p:ph type="sldNum" sz="quarter" idx="5"/>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88EB2CA-45D1-42A0-A762-9254DBFB78C5}" type="slidenum">
              <a:rPr lang="en-AU"/>
              <a:pPr>
                <a:defRPr/>
              </a:pPr>
              <a:t>‹#›</a:t>
            </a:fld>
            <a:endParaRPr lang="en-AU" dirty="0"/>
          </a:p>
        </p:txBody>
      </p:sp>
    </p:spTree>
    <p:extLst>
      <p:ext uri="{BB962C8B-B14F-4D97-AF65-F5344CB8AC3E}">
        <p14:creationId xmlns:p14="http://schemas.microsoft.com/office/powerpoint/2010/main" val="103319454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sz="1200" u="none" kern="1200" baseline="0" dirty="0">
              <a:solidFill>
                <a:schemeClr val="tx1"/>
              </a:solidFill>
              <a:latin typeface="Arial" charset="0"/>
              <a:ea typeface="+mn-ea"/>
              <a:cs typeface="+mn-cs"/>
            </a:endParaRPr>
          </a:p>
        </p:txBody>
      </p:sp>
    </p:spTree>
    <p:extLst>
      <p:ext uri="{BB962C8B-B14F-4D97-AF65-F5344CB8AC3E}">
        <p14:creationId xmlns:p14="http://schemas.microsoft.com/office/powerpoint/2010/main" val="1231581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1291-4BAC-A94F-7B06-0CFDB93D0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DDACD-E3C3-8125-26AD-647A0EA5114B}"/>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F7C9FD8-76AB-75CC-5380-69246EA1E89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4822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71B3D-F018-E83E-4523-57CB23B5F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2BF40-6306-0F91-9A1F-0C6B68E5B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B8252E-4FC6-FA4E-7CF4-92BC2035701B}"/>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969639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57977-51C8-528A-CAC0-1C7C12E09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CEAD7-29F8-064D-2E7A-A3094EBCAB52}"/>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33254B4-64FB-AF31-2319-9B65069B56EC}"/>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567749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E6437-1B73-5DDF-06C3-54F45851E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6E2F1D-8E00-E010-578D-B7E161B9B0D2}"/>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2425E2D9-437D-BBE4-4B30-B2795B86C0A0}"/>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796374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26401-4188-2A70-4775-FC9F3B10A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9B8C7-0CF5-32CC-8EAE-9C4DBD9FD4A2}"/>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EF265DAD-8A55-F743-DBA9-D2D1B6C97DB2}"/>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956928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A3EC1-EFA9-AA06-0A4A-F811B5EB2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44CD9-64AA-5D33-593D-A1977FC8BAF4}"/>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18D02724-9D8E-80D5-5AF6-F5572CC50C30}"/>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425173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0F726-AD12-D8CE-8CE5-35D3B81FB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1739B-E981-15AF-EA21-95316456F219}"/>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6D1D1D9B-09DF-0CA4-5F4D-7024516B5AE4}"/>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174788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1C91A-A0AC-BC08-5F1A-695FC09A5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2A8CB-DAD3-60FA-2004-D0C8D72649EE}"/>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54AC4344-7380-4667-17D1-0B17636A65FA}"/>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209640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35C28-89C1-6604-58F2-7A0387009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97906-66C6-C865-98B6-02EBD393DFBC}"/>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766E6F44-466A-B275-F81F-7F016E42AC0A}"/>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422476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083F6-A4DC-8236-02CB-5399D184F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40004-4658-41C6-7581-14559617EC47}"/>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1A8D62E-7D0C-F9A1-3D7A-32D9091F6BA2}"/>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59024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240D8-7996-9A82-4CC2-CA0C4910D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A193F-BC29-A14C-2A09-C2610D7F3590}"/>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4B1187AA-D204-8ED5-9889-5DFA7BD56BC7}"/>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1313751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6F98-E46C-2672-620F-E871922BC6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3B342-FDD1-043E-9EC3-2E1BA92B7331}"/>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DBA682D8-373D-D58E-69DD-4F4F584FD983}"/>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502596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534D3-E4E7-A98F-C26D-602148EDDE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0BAE6-7EB4-8580-C044-04EF0FD8C355}"/>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77C38596-25CF-68D7-B9E0-2803F35234AC}"/>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33867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18629-6B9F-DB4B-7326-71F807B04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21065-89E0-FA9E-121F-FC0D677EBDD8}"/>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573C2D84-E44A-C0F6-241E-372808496E53}"/>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431472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FBF6F-F2BE-19D8-C7E1-367B5E482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92FF6-3EF4-0845-5A84-11A47F2FBD3A}"/>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476AFC60-544B-215B-26FD-9A15871A5631}"/>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852334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4214F-8EF3-3863-2F80-E2CA68699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ED62F-6B36-E38F-CAEB-38100C2B4259}"/>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A2205225-18CD-6A7A-DF74-FA68204FA025}"/>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9151227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ED6E1-15DC-CFD6-B4DA-5B74629EF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67ABE-B85B-CC6D-FE2C-567992AEFC8B}"/>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8205378E-DC60-5FDC-992A-CD8C144A40F3}"/>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991399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59571-4696-8ACB-3016-1E100E9BB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200FD-507C-F292-1BBC-C9E3D1707EE5}"/>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E58980B3-C3F2-DF10-226C-C1CCF6D55FA2}"/>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5434533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810CF-8F5C-5B16-AFC5-1A22FA72E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92ED1-F34F-B3B0-5C6E-4DB716CE68A3}"/>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BF5D6326-713F-1C87-0C27-CCF40E93268F}"/>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751775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1C183-00B8-498B-064C-F14183A74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62A3A-D54A-3D34-A7FB-61166202E4F3}"/>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5C6F838E-61E7-C4ED-8D6B-D4680DC56504}"/>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5916202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D485-BB00-615A-8689-BD50BF4CA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6E953-0916-72D9-F760-E503899C900E}"/>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0A589B96-BF42-937B-1CD0-3E51307FA9D1}"/>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118173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3A2DE-EEB1-152D-ECBC-9366F88B3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C96D9-21B9-BC33-23FC-456533D6DB56}"/>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FE167716-4098-EA19-43E4-9BB1B68E3B36}"/>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286055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6197D-6ED3-AA06-CB72-D2B2ED601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C62345-BC91-5C8D-D639-180A6693F35E}"/>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2B4EB431-206F-8A65-BD49-4E0A4340DCA1}"/>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7771749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D86BA-FF91-6B59-A24F-1FF08FF88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EB1B3-6DC4-B1ED-F2DD-7DDB5C0A5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C10FF-FF58-B086-8AC0-8E3F36650EEA}"/>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4674587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7FC88-5312-8AE6-913C-1075AF9CB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44E9F-BBFD-A98B-5FFC-1ABEF24ACC7B}"/>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833020A7-316B-FFB3-0F2F-74ED9A9DD6A5}"/>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0228516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64853-5067-4F32-6BBC-0E834D0BD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DF9EC-BA84-881E-CBD7-AB1684FD14DA}"/>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2FEE7E5D-D3FD-F45A-8C1A-637AA13BF581}"/>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8037837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A6261-9857-A8B7-2D0F-2DB680D5F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17EBB-5711-A221-E98E-15E6F11274FF}"/>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89F8A01F-082C-C9C6-BEAA-BADD7E8B93F0}"/>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0449125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15551-0BDF-0310-FF82-16097FEB9B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25AF9-F629-C607-12ED-C70B715AEC9C}"/>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A049B147-2453-3FEF-E99E-89E340A7FAAB}"/>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0527970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C6BAC-3E50-C771-D212-6D79CED54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E86FE-35A5-2665-6B62-F9632C655D52}"/>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A5A3BBF4-BB9E-0645-A805-E4533A9A6B9F}"/>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0148203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A2B3-D272-8802-650B-1A1F6D6BD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611AA-78B3-EACA-7691-48CD58D27B33}"/>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0BD9B9FF-438A-FC22-1F3A-0874B87B2E0A}"/>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4782772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043AB-7440-9735-7F36-0FA1EC0E7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E8629-F652-BF95-C8B3-A53F26EDC8CA}"/>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BDF2637B-0556-1D0F-FA36-810AF101396F}"/>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794541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D4F61-319D-4689-C8AC-ADAB854CE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29D48-C958-2D62-C6CA-CEBD9AC3E3B5}"/>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391BD9F-901A-0233-574B-1A58095DFEBA}"/>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5999694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51962-BB18-FEEC-8149-1FA22F631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E5321-DDD5-72D7-A52C-0A7C4EC48606}"/>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6034F04A-8659-D9AF-E7D2-3CD11D16F59C}"/>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0807714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91359-9567-98DD-9FEF-DB49622C9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5019A-4188-A507-1AE5-F6DCB9740AE6}"/>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E107B1A9-D089-E89F-6B94-85EDF8FC0C91}"/>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2371393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23F61-B888-A220-5C12-592AC953A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9BB32-7396-6D48-8E03-F32DEF58BEEB}"/>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69FF754-B963-8029-5168-19F7A7A67655}"/>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7668092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56A3C-DFAA-1A8A-0ACB-0831CA198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46A5A-B916-2854-D3BB-82FF394B77F0}"/>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D7364356-D0DB-525C-82BB-03AAC7D6DBA6}"/>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5112530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78384-B970-CB4D-FEF6-CD6D9F4E1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6A691-B074-03A3-0A48-487D79499815}"/>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E0429AB7-F2D2-A924-3E3A-7F16A3AAAB64}"/>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558981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1FB79-667A-8AEE-6CE6-D309250E9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40EEC-9964-F4CE-C8F9-ECBCE3D0BE92}"/>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DBEF56EE-0380-62D9-059B-7BE1DD5FE592}"/>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3851893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F7123-4312-2D9C-E862-0F26D7049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1F23A-7D8B-9606-B0A9-9C6797874FB8}"/>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115F9AC5-87F8-FC7A-5E53-492136DE7859}"/>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574206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B8661-676E-9EBD-5FF6-0E0C09B9E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00F3D-D84A-FF2B-D3BA-8A30D06A4BB7}"/>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78E6946A-5857-B76E-E632-E3C8E27D26F3}"/>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3326103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DA043-FAC0-A138-BA4A-CC0AB3993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5BD10-802F-5B05-AE36-ADDA7C86C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839B1-590C-2C69-274E-3F074794BC33}"/>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5773721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1E49A-6063-E394-2616-23FFE911B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6CE10-7359-96EC-BA0D-64EA7C897B33}"/>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7185EB6D-8DCD-264A-15D4-8A2F636031EE}"/>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9262920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CC37-A80A-38F6-133E-9852C1DB8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D5260-DB9F-1513-E749-34005CEDEEE7}"/>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E1061C9F-ADF4-B130-F679-91ECFD6F1A6C}"/>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5707156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5B787-421D-AE91-B823-F3BB05782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F2467-9E2D-CF58-0363-839E1FA2AE7B}"/>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E18A1F34-3D46-E1E2-9D4E-63B79ABD75BB}"/>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474770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8548-0B3A-CB57-698E-482429909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814D4-A47B-208F-1156-E19AEEA005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33B122-1029-DE58-0FC4-0E0E560CE6EA}"/>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8322137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5D96-EDE2-A690-B6D6-138C008BC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5B104-07EC-4EF8-205D-503B10A2D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9E9E7-EFFE-58A1-A72F-A0E58A71E87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8056029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721A-B8AC-001B-A24C-65D510FEF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0213D-C422-6CEA-3C14-0AAA55821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6B1F0C-B4F1-3917-5188-4EE9563409F5}"/>
              </a:ext>
            </a:extLst>
          </p:cNvPr>
          <p:cNvSpPr>
            <a:spLocks noGrp="1"/>
          </p:cNvSpPr>
          <p:nvPr>
            <p:ph type="body" idx="1"/>
          </p:nvPr>
        </p:nvSpPr>
        <p:spPr/>
        <p:txBody>
          <a:bodyPr/>
          <a:lstStyle/>
          <a:p>
            <a:r>
              <a:rPr lang="en-US" b="1" dirty="0"/>
              <a:t>Solution Categories:</a:t>
            </a:r>
          </a:p>
          <a:p>
            <a:r>
              <a:rPr lang="en-US" b="1" dirty="0"/>
              <a:t>Technical Solutions:</a:t>
            </a:r>
            <a:endParaRPr lang="en-US" dirty="0"/>
          </a:p>
          <a:p>
            <a:r>
              <a:rPr lang="en-US" dirty="0"/>
              <a:t>Transparent AI identity system with clear visual/audio indicators</a:t>
            </a:r>
          </a:p>
          <a:p>
            <a:r>
              <a:rPr lang="en-US" dirty="0"/>
              <a:t>Consent management dashboard for family and patient</a:t>
            </a:r>
          </a:p>
          <a:p>
            <a:r>
              <a:rPr lang="en-US" dirty="0"/>
              <a:t>Privacy-preserving care protocols</a:t>
            </a:r>
          </a:p>
          <a:p>
            <a:endParaRPr lang="en-MY" dirty="0"/>
          </a:p>
        </p:txBody>
      </p:sp>
    </p:spTree>
    <p:extLst>
      <p:ext uri="{BB962C8B-B14F-4D97-AF65-F5344CB8AC3E}">
        <p14:creationId xmlns:p14="http://schemas.microsoft.com/office/powerpoint/2010/main" val="41913995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6F602-EDA1-58C5-EA20-DE578F266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5DA3F-3717-855D-457F-F246C90EC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59F84-D242-EF79-2B3C-3EC50515D0AA}"/>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2691164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2C23F-72B3-77A3-9967-C5BE38478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4D347-F28A-8B59-9743-D9238E0EE9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70344-9706-81D9-6CE2-FC56BDB5E63F}"/>
              </a:ext>
            </a:extLst>
          </p:cNvPr>
          <p:cNvSpPr>
            <a:spLocks noGrp="1"/>
          </p:cNvSpPr>
          <p:nvPr>
            <p:ph type="body" idx="1"/>
          </p:nvPr>
        </p:nvSpPr>
        <p:spPr/>
        <p:txBody>
          <a:bodyPr/>
          <a:lstStyle/>
          <a:p>
            <a:pPr algn="just"/>
            <a:r>
              <a:rPr lang="en-US" sz="1200" dirty="0">
                <a:effectLst/>
                <a:latin typeface="Garamond" panose="02020404030301010803" pitchFamily="18" charset="0"/>
              </a:rPr>
              <a:t>Step  1:</a:t>
            </a:r>
            <a:r>
              <a:rPr lang="en-US" sz="1200" dirty="0">
                <a:latin typeface="Garamond" panose="02020404030301010803" pitchFamily="18" charset="0"/>
              </a:rPr>
              <a:t> List down the required computations based on the proposed solution</a:t>
            </a:r>
            <a:endParaRPr lang="en-US" sz="1200" dirty="0">
              <a:effectLst/>
              <a:latin typeface="Garamond" panose="02020404030301010803" pitchFamily="18" charset="0"/>
            </a:endParaRPr>
          </a:p>
          <a:p>
            <a:pPr algn="just"/>
            <a:r>
              <a:rPr lang="en-US" sz="1200" dirty="0">
                <a:effectLst/>
                <a:latin typeface="Garamond" panose="02020404030301010803" pitchFamily="18" charset="0"/>
              </a:rPr>
              <a:t>Step  2. What kind of data does the solution need? </a:t>
            </a:r>
          </a:p>
          <a:p>
            <a:pPr algn="just"/>
            <a:r>
              <a:rPr lang="en-US" sz="1200" dirty="0">
                <a:latin typeface="Garamond" panose="02020404030301010803" pitchFamily="18" charset="0"/>
              </a:rPr>
              <a:t>Step 3: What would be the best computing methods/algorithm for the solution (NLP, ML?)</a:t>
            </a:r>
          </a:p>
          <a:p>
            <a:pPr algn="just"/>
            <a:r>
              <a:rPr lang="en-US" sz="1200" dirty="0">
                <a:effectLst/>
                <a:latin typeface="Garamond" panose="02020404030301010803" pitchFamily="18" charset="0"/>
              </a:rPr>
              <a:t>Step </a:t>
            </a:r>
            <a:r>
              <a:rPr lang="en-US" sz="1200" dirty="0">
                <a:latin typeface="Garamond" panose="02020404030301010803" pitchFamily="18" charset="0"/>
              </a:rPr>
              <a:t>4</a:t>
            </a:r>
            <a:r>
              <a:rPr lang="en-US" sz="1200" dirty="0">
                <a:effectLst/>
                <a:latin typeface="Garamond" panose="02020404030301010803" pitchFamily="18" charset="0"/>
              </a:rPr>
              <a:t>: Based on the above, choose </a:t>
            </a:r>
            <a:r>
              <a:rPr lang="en-US" sz="1200" dirty="0">
                <a:latin typeface="Garamond" panose="02020404030301010803" pitchFamily="18" charset="0"/>
              </a:rPr>
              <a:t>the most </a:t>
            </a:r>
            <a:r>
              <a:rPr lang="en-US" sz="1200" dirty="0">
                <a:effectLst/>
                <a:latin typeface="Garamond" panose="02020404030301010803" pitchFamily="18" charset="0"/>
              </a:rPr>
              <a:t>suitable ethical theory to </a:t>
            </a:r>
            <a:r>
              <a:rPr lang="en-US" sz="1200" dirty="0">
                <a:latin typeface="Garamond" panose="02020404030301010803" pitchFamily="18" charset="0"/>
              </a:rPr>
              <a:t>guide the design of the method/algorithm</a:t>
            </a:r>
            <a:endParaRPr lang="en-US" sz="1200" dirty="0">
              <a:effectLst/>
              <a:latin typeface="Garamond" panose="02020404030301010803" pitchFamily="18" charset="0"/>
            </a:endParaRPr>
          </a:p>
        </p:txBody>
      </p:sp>
    </p:spTree>
    <p:extLst>
      <p:ext uri="{BB962C8B-B14F-4D97-AF65-F5344CB8AC3E}">
        <p14:creationId xmlns:p14="http://schemas.microsoft.com/office/powerpoint/2010/main" val="9817395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E521B-ADF1-DE9D-DE71-3B775D138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03809-7842-05C4-283F-14054A442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723D9-E9DE-25E2-F996-9A2D21943AF7}"/>
              </a:ext>
            </a:extLst>
          </p:cNvPr>
          <p:cNvSpPr>
            <a:spLocks noGrp="1"/>
          </p:cNvSpPr>
          <p:nvPr>
            <p:ph type="body" idx="1"/>
          </p:nvPr>
        </p:nvSpPr>
        <p:spPr/>
        <p:txBody>
          <a:bodyPr/>
          <a:lstStyle/>
          <a:p>
            <a:pPr algn="just"/>
            <a:r>
              <a:rPr lang="en-US" sz="1200" dirty="0">
                <a:effectLst/>
                <a:latin typeface="Garamond" panose="02020404030301010803" pitchFamily="18" charset="0"/>
              </a:rPr>
              <a:t>Step  1:</a:t>
            </a:r>
            <a:r>
              <a:rPr lang="en-US" sz="1200" dirty="0">
                <a:latin typeface="Garamond" panose="02020404030301010803" pitchFamily="18" charset="0"/>
              </a:rPr>
              <a:t> List down the required computations based on the proposed solution</a:t>
            </a:r>
            <a:endParaRPr lang="en-US" sz="1200" dirty="0">
              <a:effectLst/>
              <a:latin typeface="Garamond" panose="02020404030301010803" pitchFamily="18" charset="0"/>
            </a:endParaRPr>
          </a:p>
          <a:p>
            <a:pPr algn="just"/>
            <a:r>
              <a:rPr lang="en-US" sz="1200" dirty="0">
                <a:effectLst/>
                <a:latin typeface="Garamond" panose="02020404030301010803" pitchFamily="18" charset="0"/>
              </a:rPr>
              <a:t>Step  2. What kind of data does the solution need? </a:t>
            </a:r>
          </a:p>
          <a:p>
            <a:pPr algn="just"/>
            <a:r>
              <a:rPr lang="en-US" sz="1200" dirty="0">
                <a:latin typeface="Garamond" panose="02020404030301010803" pitchFamily="18" charset="0"/>
              </a:rPr>
              <a:t>Step 3: What would be the best computing methods/algorithm for the solution (NLP, ML?)</a:t>
            </a:r>
          </a:p>
          <a:p>
            <a:pPr algn="just"/>
            <a:r>
              <a:rPr lang="en-US" sz="1200" dirty="0">
                <a:effectLst/>
                <a:latin typeface="Garamond" panose="02020404030301010803" pitchFamily="18" charset="0"/>
              </a:rPr>
              <a:t>Step </a:t>
            </a:r>
            <a:r>
              <a:rPr lang="en-US" sz="1200" dirty="0">
                <a:latin typeface="Garamond" panose="02020404030301010803" pitchFamily="18" charset="0"/>
              </a:rPr>
              <a:t>4</a:t>
            </a:r>
            <a:r>
              <a:rPr lang="en-US" sz="1200" dirty="0">
                <a:effectLst/>
                <a:latin typeface="Garamond" panose="02020404030301010803" pitchFamily="18" charset="0"/>
              </a:rPr>
              <a:t>: Based on the above, choose </a:t>
            </a:r>
            <a:r>
              <a:rPr lang="en-US" sz="1200" dirty="0">
                <a:latin typeface="Garamond" panose="02020404030301010803" pitchFamily="18" charset="0"/>
              </a:rPr>
              <a:t>the most </a:t>
            </a:r>
            <a:r>
              <a:rPr lang="en-US" sz="1200" dirty="0">
                <a:effectLst/>
                <a:latin typeface="Garamond" panose="02020404030301010803" pitchFamily="18" charset="0"/>
              </a:rPr>
              <a:t>suitable ethical theory to </a:t>
            </a:r>
            <a:r>
              <a:rPr lang="en-US" sz="1200" dirty="0">
                <a:latin typeface="Garamond" panose="02020404030301010803" pitchFamily="18" charset="0"/>
              </a:rPr>
              <a:t>guide the design of the method/algorithm</a:t>
            </a:r>
            <a:endParaRPr lang="en-US" sz="1200" dirty="0">
              <a:effectLst/>
              <a:latin typeface="Garamond" panose="02020404030301010803" pitchFamily="18" charset="0"/>
            </a:endParaRPr>
          </a:p>
          <a:p>
            <a:endParaRPr lang="en-MY" dirty="0"/>
          </a:p>
          <a:p>
            <a:endParaRPr lang="en-MY" dirty="0"/>
          </a:p>
        </p:txBody>
      </p:sp>
    </p:spTree>
    <p:extLst>
      <p:ext uri="{BB962C8B-B14F-4D97-AF65-F5344CB8AC3E}">
        <p14:creationId xmlns:p14="http://schemas.microsoft.com/office/powerpoint/2010/main" val="33632254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CC6BC-3618-029A-12B6-B5E4AD2FF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CFAF3-1408-C674-4D8D-B7B554BE5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13EC4-7300-653F-F928-90636685FA52}"/>
              </a:ext>
            </a:extLst>
          </p:cNvPr>
          <p:cNvSpPr>
            <a:spLocks noGrp="1"/>
          </p:cNvSpPr>
          <p:nvPr>
            <p:ph type="body" idx="1"/>
          </p:nvPr>
        </p:nvSpPr>
        <p:spPr/>
        <p:txBody>
          <a:bodyPr/>
          <a:lstStyle/>
          <a:p>
            <a:pPr algn="just"/>
            <a:r>
              <a:rPr lang="en-US" sz="1200" dirty="0">
                <a:effectLst/>
                <a:latin typeface="Garamond" panose="02020404030301010803" pitchFamily="18" charset="0"/>
              </a:rPr>
              <a:t>Step  1:</a:t>
            </a:r>
            <a:r>
              <a:rPr lang="en-US" sz="1200" dirty="0">
                <a:latin typeface="Garamond" panose="02020404030301010803" pitchFamily="18" charset="0"/>
              </a:rPr>
              <a:t> List down the required computations based on the proposed solution</a:t>
            </a:r>
            <a:endParaRPr lang="en-US" sz="1200" dirty="0">
              <a:effectLst/>
              <a:latin typeface="Garamond" panose="02020404030301010803" pitchFamily="18" charset="0"/>
            </a:endParaRPr>
          </a:p>
          <a:p>
            <a:pPr algn="just"/>
            <a:r>
              <a:rPr lang="en-US" sz="1200" dirty="0">
                <a:effectLst/>
                <a:latin typeface="Garamond" panose="02020404030301010803" pitchFamily="18" charset="0"/>
              </a:rPr>
              <a:t>Step  2. What kind of data does the solution need? </a:t>
            </a:r>
          </a:p>
          <a:p>
            <a:pPr algn="just"/>
            <a:r>
              <a:rPr lang="en-US" sz="1200" dirty="0">
                <a:latin typeface="Garamond" panose="02020404030301010803" pitchFamily="18" charset="0"/>
              </a:rPr>
              <a:t>Step 3: What would be the best computing methods/algorithm for the solution (NLP, ML?)</a:t>
            </a:r>
          </a:p>
          <a:p>
            <a:pPr algn="just"/>
            <a:r>
              <a:rPr lang="en-US" sz="1200" dirty="0">
                <a:effectLst/>
                <a:latin typeface="Garamond" panose="02020404030301010803" pitchFamily="18" charset="0"/>
              </a:rPr>
              <a:t>Step </a:t>
            </a:r>
            <a:r>
              <a:rPr lang="en-US" sz="1200" dirty="0">
                <a:latin typeface="Garamond" panose="02020404030301010803" pitchFamily="18" charset="0"/>
              </a:rPr>
              <a:t>4</a:t>
            </a:r>
            <a:r>
              <a:rPr lang="en-US" sz="1200" dirty="0">
                <a:effectLst/>
                <a:latin typeface="Garamond" panose="02020404030301010803" pitchFamily="18" charset="0"/>
              </a:rPr>
              <a:t>: Based on the above, choose </a:t>
            </a:r>
            <a:r>
              <a:rPr lang="en-US" sz="1200" dirty="0">
                <a:latin typeface="Garamond" panose="02020404030301010803" pitchFamily="18" charset="0"/>
              </a:rPr>
              <a:t>the most </a:t>
            </a:r>
            <a:r>
              <a:rPr lang="en-US" sz="1200" dirty="0">
                <a:effectLst/>
                <a:latin typeface="Garamond" panose="02020404030301010803" pitchFamily="18" charset="0"/>
              </a:rPr>
              <a:t>suitable ethical theory to </a:t>
            </a:r>
            <a:r>
              <a:rPr lang="en-US" sz="1200" dirty="0">
                <a:latin typeface="Garamond" panose="02020404030301010803" pitchFamily="18" charset="0"/>
              </a:rPr>
              <a:t>guide the design of the method/algorithm</a:t>
            </a:r>
            <a:endParaRPr lang="en-US" sz="1200" dirty="0">
              <a:effectLst/>
              <a:latin typeface="Garamond" panose="02020404030301010803" pitchFamily="18" charset="0"/>
            </a:endParaRPr>
          </a:p>
          <a:p>
            <a:endParaRPr lang="en-MY" dirty="0"/>
          </a:p>
          <a:p>
            <a:endParaRPr lang="en-MY" dirty="0"/>
          </a:p>
        </p:txBody>
      </p:sp>
    </p:spTree>
    <p:extLst>
      <p:ext uri="{BB962C8B-B14F-4D97-AF65-F5344CB8AC3E}">
        <p14:creationId xmlns:p14="http://schemas.microsoft.com/office/powerpoint/2010/main" val="12749704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8B2A-8585-F31F-390D-B1CBC9585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E0D9C-92AB-EE5B-6771-D1C410F17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60B96-8EC8-96F6-AAA1-86FCA4EB1907}"/>
              </a:ext>
            </a:extLst>
          </p:cNvPr>
          <p:cNvSpPr>
            <a:spLocks noGrp="1"/>
          </p:cNvSpPr>
          <p:nvPr>
            <p:ph type="body" idx="1"/>
          </p:nvPr>
        </p:nvSpPr>
        <p:spPr/>
        <p:txBody>
          <a:bodyPr/>
          <a:lstStyle/>
          <a:p>
            <a:pPr algn="just"/>
            <a:r>
              <a:rPr lang="en-US" sz="1200" dirty="0">
                <a:effectLst/>
                <a:latin typeface="Garamond" panose="02020404030301010803" pitchFamily="18" charset="0"/>
              </a:rPr>
              <a:t>Step  1:</a:t>
            </a:r>
            <a:r>
              <a:rPr lang="en-US" sz="1200" dirty="0">
                <a:latin typeface="Garamond" panose="02020404030301010803" pitchFamily="18" charset="0"/>
              </a:rPr>
              <a:t> List down the required computations based on the proposed solution</a:t>
            </a:r>
            <a:endParaRPr lang="en-US" sz="1200" dirty="0">
              <a:effectLst/>
              <a:latin typeface="Garamond" panose="02020404030301010803" pitchFamily="18" charset="0"/>
            </a:endParaRPr>
          </a:p>
          <a:p>
            <a:pPr algn="just"/>
            <a:r>
              <a:rPr lang="en-US" sz="1200" dirty="0">
                <a:effectLst/>
                <a:latin typeface="Garamond" panose="02020404030301010803" pitchFamily="18" charset="0"/>
              </a:rPr>
              <a:t>Step  2. What kind of data does the solution need? </a:t>
            </a:r>
          </a:p>
          <a:p>
            <a:pPr algn="just"/>
            <a:r>
              <a:rPr lang="en-US" sz="1200" dirty="0">
                <a:latin typeface="Garamond" panose="02020404030301010803" pitchFamily="18" charset="0"/>
              </a:rPr>
              <a:t>Step 3: What would be the best computing methods/algorithm for the solution (NLP, ML?)</a:t>
            </a:r>
          </a:p>
          <a:p>
            <a:pPr algn="just"/>
            <a:r>
              <a:rPr lang="en-US" sz="1200" dirty="0">
                <a:effectLst/>
                <a:latin typeface="Garamond" panose="02020404030301010803" pitchFamily="18" charset="0"/>
              </a:rPr>
              <a:t>Step </a:t>
            </a:r>
            <a:r>
              <a:rPr lang="en-US" sz="1200" dirty="0">
                <a:latin typeface="Garamond" panose="02020404030301010803" pitchFamily="18" charset="0"/>
              </a:rPr>
              <a:t>4</a:t>
            </a:r>
            <a:r>
              <a:rPr lang="en-US" sz="1200" dirty="0">
                <a:effectLst/>
                <a:latin typeface="Garamond" panose="02020404030301010803" pitchFamily="18" charset="0"/>
              </a:rPr>
              <a:t>: Based on the above, choose </a:t>
            </a:r>
            <a:r>
              <a:rPr lang="en-US" sz="1200" dirty="0">
                <a:latin typeface="Garamond" panose="02020404030301010803" pitchFamily="18" charset="0"/>
              </a:rPr>
              <a:t>the most </a:t>
            </a:r>
            <a:r>
              <a:rPr lang="en-US" sz="1200" dirty="0">
                <a:effectLst/>
                <a:latin typeface="Garamond" panose="02020404030301010803" pitchFamily="18" charset="0"/>
              </a:rPr>
              <a:t>suitable ethical theory to </a:t>
            </a:r>
            <a:r>
              <a:rPr lang="en-US" sz="1200" dirty="0">
                <a:latin typeface="Garamond" panose="02020404030301010803" pitchFamily="18" charset="0"/>
              </a:rPr>
              <a:t>guide the design of the method/algorithm</a:t>
            </a:r>
            <a:endParaRPr lang="en-US" sz="1200" dirty="0">
              <a:effectLst/>
              <a:latin typeface="Garamond" panose="02020404030301010803" pitchFamily="18" charset="0"/>
            </a:endParaRPr>
          </a:p>
          <a:p>
            <a:endParaRPr lang="en-MY" dirty="0"/>
          </a:p>
          <a:p>
            <a:endParaRPr lang="en-MY" dirty="0"/>
          </a:p>
        </p:txBody>
      </p:sp>
    </p:spTree>
    <p:extLst>
      <p:ext uri="{BB962C8B-B14F-4D97-AF65-F5344CB8AC3E}">
        <p14:creationId xmlns:p14="http://schemas.microsoft.com/office/powerpoint/2010/main" val="653261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45CA-9747-D212-75D0-B37E31641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1953B-B14E-C2FA-7434-A01B99CFC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CAD43-40FA-7544-9AF2-FDB2EF5D92E1}"/>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4446284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CE5E4-CC6C-59E7-57E0-59F8B1F0A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5E846-EBF8-0CB2-306C-9B941E8709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7911C-EE7C-BA3E-DE54-03355DFD7C8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5208909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2A9B-37BA-C9A5-0700-7619FDCB5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D581C-7942-F08F-B411-426180183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B5CC29-754D-4D4A-3A66-0EC8510F8EA0}"/>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9968235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C7CE5-D901-3169-DA12-65F0D9106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73481-6434-185A-5F65-972439146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E5494-00BC-353B-01C5-C7D0087EB8D5}"/>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587308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6AECE-1F9C-B051-5E84-BBFC77927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1977A-0FFA-01B5-B150-5C563107F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0034A-6291-3BAC-F57A-7EE074A242B5}"/>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0830281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03936-BBD2-4A77-0118-1CBB24332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DA469-A054-C8CC-172A-BD87E9E1A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BDD16-6B97-B560-EFFB-8A3CF8FD00E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1669286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7A05B-30FF-FBD5-FFF2-EB318BE6A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FA405-CAD1-D293-6438-9C0A8DD97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74539-EABE-7F69-662E-5181AF3FAC67}"/>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8453081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D289-1B17-9F01-3767-1688FAA10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91F36-28EB-478B-EB13-4293C23B8C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14140-2C4B-D3AD-54C0-75872C8AE035}"/>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3691015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F8509-3462-3655-7553-9F52DA44C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FC00B-25A5-470C-19CE-DC1BBC811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26156-71DF-DD70-9BD2-C4C44FFCB183}"/>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0020717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C5900-41E3-69AD-603F-52065F82A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ACD2F-EE86-B434-567A-43DC1FB80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E29DA-C42C-1AC8-01B1-96D8AA2F211E}"/>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7504123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A28AF-2AC3-154D-3167-6E6E608BF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EDA11-B109-D576-508B-7EBEC4B36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30A93-9AEE-BF9B-86FA-4CE424DB6D65}"/>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0051902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EC713-C1F0-51E3-279D-7FF6BC36C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E4919-7A32-468F-122E-98DAE95A31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BEFB8-9850-2EEF-A826-726E1701301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8888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65D7EE65-8AFE-4022-B3D9-7794B9342842}" type="slidenum">
              <a:rPr lang="en-AU"/>
              <a:pPr>
                <a:defRPr/>
              </a:pPr>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136BB8A-0854-4320-9CB6-5978F93B7D0C}" type="slidenum">
              <a:rPr lang="en-AU"/>
              <a:pPr>
                <a:defRPr/>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76A1EC1-FD81-4297-932F-0F31C26A9517}" type="slidenum">
              <a:rPr lang="en-AU"/>
              <a:pPr>
                <a:defRPr/>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6ECD963F-0ABF-4DDA-94F2-B28E844934B8}" type="slidenum">
              <a:rPr lang="en-AU"/>
              <a:pPr>
                <a:defRPr/>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AU"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9" name="Rectangle 6"/>
          <p:cNvSpPr>
            <a:spLocks noGrp="1" noChangeArrowheads="1"/>
          </p:cNvSpPr>
          <p:nvPr>
            <p:ph type="sldNum" sz="quarter" idx="12"/>
          </p:nvPr>
        </p:nvSpPr>
        <p:spPr>
          <a:ln/>
        </p:spPr>
        <p:txBody>
          <a:bodyPr/>
          <a:lstStyle>
            <a:lvl1pPr>
              <a:defRPr/>
            </a:lvl1pPr>
          </a:lstStyle>
          <a:p>
            <a:pPr>
              <a:defRPr/>
            </a:pPr>
            <a:fld id="{A09639DC-AEAE-42DF-8ED1-CED4DC05F609}" type="slidenum">
              <a:rPr lang="en-AU"/>
              <a:pPr>
                <a:defRPr/>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AU"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5" name="Rectangle 6"/>
          <p:cNvSpPr>
            <a:spLocks noGrp="1" noChangeArrowheads="1"/>
          </p:cNvSpPr>
          <p:nvPr>
            <p:ph type="sldNum" sz="quarter" idx="12"/>
          </p:nvPr>
        </p:nvSpPr>
        <p:spPr>
          <a:ln/>
        </p:spPr>
        <p:txBody>
          <a:bodyPr/>
          <a:lstStyle>
            <a:lvl1pPr>
              <a:defRPr/>
            </a:lvl1pPr>
          </a:lstStyle>
          <a:p>
            <a:pPr>
              <a:defRPr/>
            </a:pPr>
            <a:fld id="{DC955108-5A2D-4238-A310-FF266209B693}" type="slidenum">
              <a:rPr lang="en-AU"/>
              <a:pPr>
                <a:defRPr/>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AU"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4" name="Rectangle 6"/>
          <p:cNvSpPr>
            <a:spLocks noGrp="1" noChangeArrowheads="1"/>
          </p:cNvSpPr>
          <p:nvPr>
            <p:ph type="sldNum" sz="quarter" idx="12"/>
          </p:nvPr>
        </p:nvSpPr>
        <p:spPr>
          <a:ln/>
        </p:spPr>
        <p:txBody>
          <a:bodyPr/>
          <a:lstStyle>
            <a:lvl1pPr>
              <a:defRPr/>
            </a:lvl1pPr>
          </a:lstStyle>
          <a:p>
            <a:pPr>
              <a:defRPr/>
            </a:pPr>
            <a:fld id="{F50E377F-86B6-4B25-9512-8E32B5A83205}" type="slidenum">
              <a:rPr lang="en-AU"/>
              <a:pPr>
                <a:defRPr/>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87EFDFB0-E6FC-4290-A842-FF8549BB4702}" type="slidenum">
              <a:rPr lang="en-AU"/>
              <a:pPr>
                <a:defRPr/>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BA3BEABF-3905-4967-992F-0A3A0239B510}" type="slidenum">
              <a:rPr lang="en-AU"/>
              <a:pPr>
                <a:defRPr/>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D2A828E1-5CE8-43FC-9875-7EB32D9DC9F6}" type="slidenum">
              <a:rPr lang="en-AU"/>
              <a:pPr>
                <a:defRPr/>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600201"/>
            <a:ext cx="2743200" cy="4525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600201"/>
            <a:ext cx="80264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C3306096-8DC5-4C75-83E3-7A39F1488DB7}" type="slidenum">
              <a:rPr lang="en-AU"/>
              <a:pPr>
                <a:defRPr/>
              </a:pPr>
              <a:t>‹#›</a:t>
            </a:fld>
            <a:endParaRPr lang="en-AU"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701516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20292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35458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AU"/>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66955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656933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84885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96834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26697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28796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038278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09663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9214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latin typeface="Arial Narrow"/>
                <a:cs typeface="Arial Narrow"/>
              </a:defRPr>
            </a:lvl1pPr>
          </a:lstStyle>
          <a:p>
            <a:r>
              <a:rPr lang="en-AU" dirty="0"/>
              <a:t>TITLE PAGE (30pt Arial Narrow)</a:t>
            </a:r>
            <a:endParaRPr lang="en-US" dirty="0"/>
          </a:p>
        </p:txBody>
      </p:sp>
      <p:sp>
        <p:nvSpPr>
          <p:cNvPr id="3"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lumMod val="50000"/>
                  </a:schemeClr>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1921637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8438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solidFill>
                  <a:schemeClr val="bg1"/>
                </a:solidFill>
                <a:latin typeface="Arial Narrow"/>
                <a:cs typeface="Arial Narrow"/>
              </a:defRPr>
            </a:lvl1pPr>
          </a:lstStyle>
          <a:p>
            <a:r>
              <a:rPr lang="en-AU" dirty="0"/>
              <a:t>TITLE PAGE (30pt Arial Narrow)</a:t>
            </a:r>
            <a:endParaRPr lang="en-US" dirty="0"/>
          </a:p>
        </p:txBody>
      </p:sp>
      <p:sp>
        <p:nvSpPr>
          <p:cNvPr id="7"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30732634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8088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5"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
        <p:nvSpPr>
          <p:cNvPr id="3" name="TextBox 2"/>
          <p:cNvSpPr txBox="1"/>
          <p:nvPr userDrawn="1"/>
        </p:nvSpPr>
        <p:spPr>
          <a:xfrm>
            <a:off x="10739779" y="638473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238362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12" name="Content Placeholder 2"/>
          <p:cNvSpPr>
            <a:spLocks noGrp="1"/>
          </p:cNvSpPr>
          <p:nvPr>
            <p:ph sz="half" idx="1"/>
          </p:nvPr>
        </p:nvSpPr>
        <p:spPr>
          <a:xfrm>
            <a:off x="609599" y="1231261"/>
            <a:ext cx="11092828"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586413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3" name="Content Placeholder 2"/>
          <p:cNvSpPr>
            <a:spLocks noGrp="1"/>
          </p:cNvSpPr>
          <p:nvPr>
            <p:ph sz="half" idx="1"/>
          </p:nvPr>
        </p:nvSpPr>
        <p:spPr>
          <a:xfrm>
            <a:off x="609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197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1046320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10" name="Picture Placeholder 2"/>
          <p:cNvSpPr>
            <a:spLocks noGrp="1"/>
          </p:cNvSpPr>
          <p:nvPr>
            <p:ph type="pic" idx="15"/>
          </p:nvPr>
        </p:nvSpPr>
        <p:spPr>
          <a:xfrm>
            <a:off x="4381704" y="1088126"/>
            <a:ext cx="7349104" cy="474379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9" name="Content Placeholder 2"/>
          <p:cNvSpPr>
            <a:spLocks noGrp="1"/>
          </p:cNvSpPr>
          <p:nvPr>
            <p:ph idx="14"/>
          </p:nvPr>
        </p:nvSpPr>
        <p:spPr>
          <a:xfrm>
            <a:off x="609600" y="1088126"/>
            <a:ext cx="3312888" cy="474379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33557358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Picture Placeholder 2"/>
          <p:cNvSpPr>
            <a:spLocks noGrp="1"/>
          </p:cNvSpPr>
          <p:nvPr>
            <p:ph type="pic" idx="1"/>
          </p:nvPr>
        </p:nvSpPr>
        <p:spPr>
          <a:xfrm>
            <a:off x="679260" y="1031359"/>
            <a:ext cx="11051549" cy="4871506"/>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Title 2"/>
          <p:cNvSpPr>
            <a:spLocks noGrp="1"/>
          </p:cNvSpPr>
          <p:nvPr>
            <p:ph type="title" hasCustomPrompt="1"/>
          </p:nvPr>
        </p:nvSpPr>
        <p:spPr>
          <a:xfrm>
            <a:off x="620809" y="141897"/>
            <a:ext cx="11110000" cy="487491"/>
          </a:xfrm>
          <a:prstGeom prst="rect">
            <a:avLst/>
          </a:prstGeom>
        </p:spPr>
        <p:txBody>
          <a:bodyPr/>
          <a:lstStyle>
            <a:lvl1pPr algn="l">
              <a:defRPr sz="2400">
                <a:latin typeface="Arial Narrow" charset="0"/>
                <a:ea typeface="Arial Narrow" charset="0"/>
                <a:cs typeface="Arial Narrow" charset="0"/>
              </a:defRPr>
            </a:lvl1pPr>
          </a:lstStyle>
          <a:p>
            <a:r>
              <a:rPr lang="en-AU" dirty="0"/>
              <a:t>CLICK TO EDIT MASTER TITLE STYLE</a:t>
            </a:r>
            <a:endParaRPr lang="en-US" dirty="0"/>
          </a:p>
        </p:txBody>
      </p:sp>
      <p:sp>
        <p:nvSpPr>
          <p:cNvPr id="6"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41280158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2284" y="944564"/>
            <a:ext cx="10936816" cy="604837"/>
          </a:xfrm>
          <a:prstGeom prst="rect">
            <a:avLst/>
          </a:prstGeom>
        </p:spPr>
        <p:txBody>
          <a:bodyPr/>
          <a:lstStyle/>
          <a:p>
            <a:r>
              <a:rPr lang="en-US"/>
              <a:t>Click to edit Master title style</a:t>
            </a:r>
            <a:endParaRPr lang="en-MY"/>
          </a:p>
        </p:txBody>
      </p:sp>
      <p:sp>
        <p:nvSpPr>
          <p:cNvPr id="3" name="Rectangle 3"/>
          <p:cNvSpPr>
            <a:spLocks noGrp="1" noChangeArrowheads="1"/>
          </p:cNvSpPr>
          <p:nvPr>
            <p:ph type="dt" idx="10"/>
          </p:nvPr>
        </p:nvSpPr>
        <p:spPr>
          <a:xfrm>
            <a:off x="9793818" y="6542088"/>
            <a:ext cx="1587500" cy="138112"/>
          </a:xfrm>
          <a:prstGeom prst="rect">
            <a:avLst/>
          </a:prstGeom>
          <a:ln/>
        </p:spPr>
        <p:txBody>
          <a:bodyPr/>
          <a:lstStyle>
            <a:lvl1pPr>
              <a:defRPr/>
            </a:lvl1pPr>
          </a:lstStyle>
          <a:p>
            <a:pPr>
              <a:defRPr/>
            </a:pPr>
            <a:endParaRPr lang="en-AU" altLang="en-US"/>
          </a:p>
        </p:txBody>
      </p:sp>
      <p:sp>
        <p:nvSpPr>
          <p:cNvPr id="4" name="Rectangle 4"/>
          <p:cNvSpPr>
            <a:spLocks noGrp="1" noChangeArrowheads="1"/>
          </p:cNvSpPr>
          <p:nvPr>
            <p:ph type="ftr" idx="11"/>
          </p:nvPr>
        </p:nvSpPr>
        <p:spPr>
          <a:xfrm>
            <a:off x="4165600" y="6356351"/>
            <a:ext cx="3860800" cy="365125"/>
          </a:xfrm>
          <a:prstGeom prst="rect">
            <a:avLst/>
          </a:prstGeom>
          <a:ln/>
        </p:spPr>
        <p:txBody>
          <a:bodyPr/>
          <a:lstStyle>
            <a:lvl1pPr>
              <a:defRPr/>
            </a:lvl1pPr>
          </a:lstStyle>
          <a:p>
            <a:pPr>
              <a:defRPr/>
            </a:pPr>
            <a:endParaRPr lang="en-AU" altLang="en-US"/>
          </a:p>
        </p:txBody>
      </p:sp>
      <p:sp>
        <p:nvSpPr>
          <p:cNvPr id="5" name="Rectangle 5"/>
          <p:cNvSpPr>
            <a:spLocks noGrp="1" noChangeArrowheads="1"/>
          </p:cNvSpPr>
          <p:nvPr>
            <p:ph type="sldNum" idx="12"/>
          </p:nvPr>
        </p:nvSpPr>
        <p:spPr>
          <a:ln/>
        </p:spPr>
        <p:txBody>
          <a:bodyPr/>
          <a:lstStyle>
            <a:lvl1pPr>
              <a:defRPr/>
            </a:lvl1pPr>
          </a:lstStyle>
          <a:p>
            <a:fld id="{6BC81E26-17D9-47C5-A402-BC342BFCF728}" type="slidenum">
              <a:rPr lang="en-AU" altLang="en-US"/>
              <a:pPr/>
              <a:t>‹#›</a:t>
            </a:fld>
            <a:endParaRPr lang="en-AU" altLang="en-US"/>
          </a:p>
        </p:txBody>
      </p:sp>
    </p:spTree>
    <p:extLst>
      <p:ext uri="{BB962C8B-B14F-4D97-AF65-F5344CB8AC3E}">
        <p14:creationId xmlns:p14="http://schemas.microsoft.com/office/powerpoint/2010/main" val="30372226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77993" y="2362515"/>
            <a:ext cx="7325545" cy="1470025"/>
          </a:xfrm>
          <a:prstGeom prst="rect">
            <a:avLst/>
          </a:prstGeom>
        </p:spPr>
        <p:txBody>
          <a:bodyPr anchor="ctr"/>
          <a:lstStyle>
            <a:lvl1pPr algn="l">
              <a:defRPr sz="2800">
                <a:latin typeface="Arial Narrow"/>
                <a:cs typeface="Arial Narrow"/>
              </a:defRPr>
            </a:lvl1pPr>
          </a:lstStyle>
          <a:p>
            <a:r>
              <a:rPr lang="en-US" sz="3000" dirty="0">
                <a:solidFill>
                  <a:srgbClr val="000000"/>
                </a:solidFill>
                <a:latin typeface="Arial Narrow"/>
                <a:cs typeface="Arial Narrow"/>
              </a:rPr>
              <a:t>SECTION BREAK 2 </a:t>
            </a:r>
            <a:br>
              <a:rPr lang="en-US" sz="3000" dirty="0">
                <a:solidFill>
                  <a:srgbClr val="000000"/>
                </a:solidFill>
                <a:latin typeface="Arial Narrow"/>
                <a:cs typeface="Arial Narrow"/>
              </a:rPr>
            </a:br>
            <a:r>
              <a:rPr lang="en-US" sz="3000" dirty="0">
                <a:solidFill>
                  <a:srgbClr val="000000"/>
                </a:solidFill>
                <a:latin typeface="Arial Narrow"/>
                <a:cs typeface="Arial Narrow"/>
              </a:rPr>
              <a:t>(30pt Arial Narrow)</a:t>
            </a:r>
          </a:p>
        </p:txBody>
      </p:sp>
    </p:spTree>
    <p:extLst>
      <p:ext uri="{BB962C8B-B14F-4D97-AF65-F5344CB8AC3E}">
        <p14:creationId xmlns:p14="http://schemas.microsoft.com/office/powerpoint/2010/main" val="1279951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11" name="Text Placeholder 10"/>
          <p:cNvSpPr>
            <a:spLocks noGrp="1"/>
          </p:cNvSpPr>
          <p:nvPr>
            <p:ph type="body" sz="quarter" idx="10" hasCustomPrompt="1"/>
          </p:nvPr>
        </p:nvSpPr>
        <p:spPr>
          <a:xfrm>
            <a:off x="459513" y="2582358"/>
            <a:ext cx="7101769" cy="1963182"/>
          </a:xfrm>
          <a:prstGeom prst="rect">
            <a:avLst/>
          </a:prstGeom>
        </p:spPr>
        <p:txBody>
          <a:bodyPr vert="horz" anchor="t"/>
          <a:lstStyle>
            <a:lvl1pPr marL="0" indent="0">
              <a:buNone/>
              <a:defRPr sz="3000" baseline="0">
                <a:solidFill>
                  <a:schemeClr val="bg1"/>
                </a:solidFill>
                <a:latin typeface="Arial Narrow"/>
                <a:cs typeface="Arial Narrow"/>
              </a:defRPr>
            </a:lvl1pPr>
          </a:lstStyle>
          <a:p>
            <a:pPr lvl="0"/>
            <a:r>
              <a:rPr lang="en-AU" dirty="0"/>
              <a:t>SECTION BREAK 1 </a:t>
            </a:r>
            <a:br>
              <a:rPr lang="en-AU" dirty="0"/>
            </a:br>
            <a:r>
              <a:rPr lang="en-AU" dirty="0"/>
              <a:t>(30pt Arial Narrow)</a:t>
            </a:r>
          </a:p>
        </p:txBody>
      </p:sp>
    </p:spTree>
    <p:extLst>
      <p:ext uri="{BB962C8B-B14F-4D97-AF65-F5344CB8AC3E}">
        <p14:creationId xmlns:p14="http://schemas.microsoft.com/office/powerpoint/2010/main" val="28476260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5473933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line hea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367" y="1600201"/>
            <a:ext cx="10972800" cy="4525963"/>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875142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8000" y="160020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096000" y="1600201"/>
            <a:ext cx="5384800" cy="4525963"/>
          </a:xfrm>
          <a:prstGeom prst="rect">
            <a:avLst/>
          </a:prstGeom>
        </p:spPr>
        <p:txBody>
          <a:bodyPr/>
          <a:lstStyle>
            <a:lvl1pPr marL="342900" indent="-342900">
              <a:buFont typeface="Wingdings" charset="2"/>
              <a:buChar char="§"/>
              <a:defRPr sz="2400">
                <a:latin typeface="Arial"/>
                <a:cs typeface="Arial"/>
              </a:defRPr>
            </a:lvl1pPr>
            <a:lvl2pPr marL="742950" indent="-285750">
              <a:buFont typeface="Wingdings" charset="2"/>
              <a:buChar cha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6"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7432603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xt &amp;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138" y="1315159"/>
            <a:ext cx="5082791"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6084982" y="1315159"/>
            <a:ext cx="5531365" cy="5006471"/>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211133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125" y="1315159"/>
            <a:ext cx="3312888"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4289229" y="1315159"/>
            <a:ext cx="7349104"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0085647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59211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30.xml"/><Relationship Id="rId7"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6.xml"/><Relationship Id="rId1"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7.xml"/><Relationship Id="rId1" Type="http://schemas.openxmlformats.org/officeDocument/2006/relationships/slideLayout" Target="../slideLayouts/slideLayout35.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Layout" Target="../slideLayouts/slideLayout38.xml"/><Relationship Id="rId7" Type="http://schemas.openxmlformats.org/officeDocument/2006/relationships/theme" Target="../theme/theme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609600" y="24923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4100"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endParaRPr lang="en-AU" dirty="0"/>
          </a:p>
        </p:txBody>
      </p:sp>
      <p:sp>
        <p:nvSpPr>
          <p:cNvPr id="4101"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cs typeface="+mn-cs"/>
              </a:defRPr>
            </a:lvl1pPr>
          </a:lstStyle>
          <a:p>
            <a:pPr>
              <a:defRPr/>
            </a:pPr>
            <a:endParaRPr lang="en-AU" dirty="0"/>
          </a:p>
        </p:txBody>
      </p:sp>
      <p:sp>
        <p:nvSpPr>
          <p:cNvPr id="4102"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B73441E8-46F8-4770-A23D-405C5F7C34D0}" type="slidenum">
              <a:rPr lang="en-AU"/>
              <a:pPr>
                <a:defRPr/>
              </a:pPr>
              <a:t>‹#›</a:t>
            </a:fld>
            <a:endParaRPr lang="en-AU" dirty="0"/>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87" r:id="rId12"/>
  </p:sldLayoutIdLst>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imes New Roman" pitchFamily="18" charset="0"/>
        </a:defRPr>
      </a:lvl2pPr>
      <a:lvl3pPr algn="l" rtl="0" eaLnBrk="0" fontAlgn="base" hangingPunct="0">
        <a:spcBef>
          <a:spcPct val="0"/>
        </a:spcBef>
        <a:spcAft>
          <a:spcPct val="0"/>
        </a:spcAft>
        <a:defRPr sz="4000">
          <a:solidFill>
            <a:schemeClr val="tx2"/>
          </a:solidFill>
          <a:latin typeface="Times New Roman" pitchFamily="18" charset="0"/>
        </a:defRPr>
      </a:lvl3pPr>
      <a:lvl4pPr algn="l" rtl="0" eaLnBrk="0" fontAlgn="base" hangingPunct="0">
        <a:spcBef>
          <a:spcPct val="0"/>
        </a:spcBef>
        <a:spcAft>
          <a:spcPct val="0"/>
        </a:spcAft>
        <a:defRPr sz="4000">
          <a:solidFill>
            <a:schemeClr val="tx2"/>
          </a:solidFill>
          <a:latin typeface="Times New Roman" pitchFamily="18" charset="0"/>
        </a:defRPr>
      </a:lvl4pPr>
      <a:lvl5pPr algn="l" rtl="0" eaLnBrk="0" fontAlgn="base" hangingPunct="0">
        <a:spcBef>
          <a:spcPct val="0"/>
        </a:spcBef>
        <a:spcAft>
          <a:spcPct val="0"/>
        </a:spcAft>
        <a:defRPr sz="4000">
          <a:solidFill>
            <a:schemeClr val="tx2"/>
          </a:solidFill>
          <a:latin typeface="Times New Roman" pitchFamily="18" charset="0"/>
        </a:defRPr>
      </a:lvl5pPr>
      <a:lvl6pPr marL="457200" algn="l" rtl="0" fontAlgn="base">
        <a:spcBef>
          <a:spcPct val="0"/>
        </a:spcBef>
        <a:spcAft>
          <a:spcPct val="0"/>
        </a:spcAft>
        <a:defRPr sz="4000">
          <a:solidFill>
            <a:schemeClr val="tx2"/>
          </a:solidFill>
          <a:latin typeface="Times New Roman" pitchFamily="18" charset="0"/>
        </a:defRPr>
      </a:lvl6pPr>
      <a:lvl7pPr marL="914400" algn="l" rtl="0" fontAlgn="base">
        <a:spcBef>
          <a:spcPct val="0"/>
        </a:spcBef>
        <a:spcAft>
          <a:spcPct val="0"/>
        </a:spcAft>
        <a:defRPr sz="4000">
          <a:solidFill>
            <a:schemeClr val="tx2"/>
          </a:solidFill>
          <a:latin typeface="Times New Roman" pitchFamily="18" charset="0"/>
        </a:defRPr>
      </a:lvl7pPr>
      <a:lvl8pPr marL="1371600" algn="l" rtl="0" fontAlgn="base">
        <a:spcBef>
          <a:spcPct val="0"/>
        </a:spcBef>
        <a:spcAft>
          <a:spcPct val="0"/>
        </a:spcAft>
        <a:defRPr sz="4000">
          <a:solidFill>
            <a:schemeClr val="tx2"/>
          </a:solidFill>
          <a:latin typeface="Times New Roman" pitchFamily="18" charset="0"/>
        </a:defRPr>
      </a:lvl8pPr>
      <a:lvl9pPr marL="1828800" algn="l" rtl="0" fontAlgn="base">
        <a:spcBef>
          <a:spcPct val="0"/>
        </a:spcBef>
        <a:spcAft>
          <a:spcPct val="0"/>
        </a:spcAft>
        <a:defRPr sz="40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AU"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AU"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73441E8-46F8-4770-A23D-405C5F7C34D0}" type="slidenum">
              <a:rPr lang="en-AU" smtClean="0"/>
              <a:pPr>
                <a:defRPr/>
              </a:pPr>
              <a:t>‹#›</a:t>
            </a:fld>
            <a:endParaRPr lang="en-AU" dirty="0"/>
          </a:p>
        </p:txBody>
      </p:sp>
      <p:pic>
        <p:nvPicPr>
          <p:cNvPr id="7" name="Picture 6" descr="PPT templates-1-standard-FINAL-2.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8521533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FDCB2-E1AF-CF45-BF86-32B8D7F4E267}" type="slidenum">
              <a:rPr lang="en-US" smtClean="0"/>
              <a:t>‹#›</a:t>
            </a:fld>
            <a:endParaRPr lang="en-US"/>
          </a:p>
        </p:txBody>
      </p:sp>
      <p:pic>
        <p:nvPicPr>
          <p:cNvPr id="4" name="Picture 3" descr="PPT templates-1-standard-FINAL.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3825717"/>
      </p:ext>
    </p:extLst>
  </p:cSld>
  <p:clrMap bg1="lt1" tx1="dk1" bg2="lt2" tx2="dk2" accent1="accent1" accent2="accent2" accent3="accent3" accent4="accent4" accent5="accent5" accent6="accent6" hlink="hlink" folHlink="folHlink"/>
  <p:sldLayoutIdLst>
    <p:sldLayoutId id="2147483764" r:id="rId1"/>
    <p:sldLayoutId id="2147483765"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3" name="Picture 2" descr="PPT templates-1-standard-FINAL-2.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02806701"/>
      </p:ext>
    </p:extLst>
  </p:cSld>
  <p:clrMap bg1="lt1" tx1="dk1" bg2="lt2" tx2="dk2" accent1="accent1" accent2="accent2" accent3="accent3" accent4="accent4" accent5="accent5" accent6="accent6" hlink="hlink" folHlink="folHlink"/>
  <p:sldLayoutIdLst>
    <p:sldLayoutId id="2147483767" r:id="rId1"/>
    <p:sldLayoutId id="2147483768"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B116A7-1BBE-0246-8B18-68B8A757ECD8}" type="slidenum">
              <a:rPr lang="en-US" smtClean="0"/>
              <a:t>‹#›</a:t>
            </a:fld>
            <a:endParaRPr lang="en-US"/>
          </a:p>
        </p:txBody>
      </p:sp>
      <p:pic>
        <p:nvPicPr>
          <p:cNvPr id="4" name="Picture 3" descr="PPT templates-1-standard-covers-3-1.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6756717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 templates-1-standard-covers-3-6.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1075489"/>
      </p:ext>
    </p:extLst>
  </p:cSld>
  <p:clrMap bg1="lt1" tx1="dk1" bg2="lt2" tx2="dk2" accent1="accent1" accent2="accent2" accent3="accent3" accent4="accent4" accent5="accent5" accent6="accent6" hlink="hlink" folHlink="folHlink"/>
  <p:sldLayoutIdLst>
    <p:sldLayoutId id="2147483777"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PPT templates-1-standard-covers-3-3.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6691000"/>
      </p:ext>
    </p:extLst>
  </p:cSld>
  <p:clrMap bg1="lt1" tx1="dk1" bg2="lt2" tx2="dk2" accent1="accent1" accent2="accent2" accent3="accent3" accent4="accent4" accent5="accent5" accent6="accent6" hlink="hlink" folHlink="folHlink"/>
  <p:sldLayoutIdLst>
    <p:sldLayoutId id="2147483779"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templates-1-standard-6.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4365964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abs/2011.12750"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researchgate.net/publication/333221481_Virtue_Ethics_for_Autonomous_Cars_short_version"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hyperlink" Target="https://ietresearch.onlinelibrary.wiley.com/doi/full/10.1049/ccs2.12024"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essay.utwente.nl/86726/1/Mitov_BA_BMS.pdf"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digitalcommons.calpoly.edu/cgi/viewcontent.cgi?article=1088&amp;context=cscsp"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www.canva.com/design/DAHIAbTG41E/XMyOUeEQlC5I7As2LO-XvQ/edit"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hyperlink" Target="https://link.springer.com/article/10.1007/s13347-021-00449-4" TargetMode="External"/><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idx="4294967295"/>
          </p:nvPr>
        </p:nvSpPr>
        <p:spPr>
          <a:xfrm>
            <a:off x="767408" y="764704"/>
            <a:ext cx="6984776" cy="1470025"/>
          </a:xfrm>
          <a:prstGeom prst="rect">
            <a:avLst/>
          </a:prstGeom>
        </p:spPr>
        <p:txBody>
          <a:bodyPr>
            <a:normAutofit/>
          </a:bodyPr>
          <a:lstStyle/>
          <a:p>
            <a:pPr algn="l"/>
            <a:r>
              <a:rPr lang="en-US" dirty="0">
                <a:latin typeface="Garamond" panose="02020404030301010803" pitchFamily="18" charset="0"/>
              </a:rPr>
              <a:t>FIT1055: IT professional practice and Ethics</a:t>
            </a:r>
          </a:p>
        </p:txBody>
      </p:sp>
      <p:sp>
        <p:nvSpPr>
          <p:cNvPr id="6" name="Subtitle 5"/>
          <p:cNvSpPr>
            <a:spLocks noGrp="1"/>
          </p:cNvSpPr>
          <p:nvPr>
            <p:ph type="body" sz="quarter" idx="4294967295"/>
          </p:nvPr>
        </p:nvSpPr>
        <p:spPr>
          <a:xfrm>
            <a:off x="767408" y="2427496"/>
            <a:ext cx="7776864" cy="1439863"/>
          </a:xfrm>
          <a:prstGeom prst="rect">
            <a:avLst/>
          </a:prstGeom>
        </p:spPr>
        <p:txBody>
          <a:bodyPr>
            <a:normAutofit fontScale="92500"/>
          </a:bodyPr>
          <a:lstStyle/>
          <a:p>
            <a:pPr marL="0" indent="0">
              <a:buNone/>
            </a:pPr>
            <a:r>
              <a:rPr lang="en-US" dirty="0">
                <a:solidFill>
                  <a:schemeClr val="tx2"/>
                </a:solidFill>
                <a:latin typeface="Garamond" panose="02020404030301010803" pitchFamily="18" charset="0"/>
              </a:rPr>
              <a:t>Introduction to Ethical Reasoning Framework:</a:t>
            </a:r>
          </a:p>
          <a:p>
            <a:pPr marL="0" indent="0">
              <a:buNone/>
            </a:pPr>
            <a:r>
              <a:rPr lang="en-US">
                <a:solidFill>
                  <a:schemeClr val="tx2"/>
                </a:solidFill>
                <a:latin typeface="Garamond" panose="02020404030301010803" pitchFamily="18" charset="0"/>
              </a:rPr>
              <a:t>Step 3– </a:t>
            </a:r>
            <a:r>
              <a:rPr lang="en-US" dirty="0">
                <a:solidFill>
                  <a:schemeClr val="tx2"/>
                </a:solidFill>
                <a:latin typeface="Garamond" panose="02020404030301010803" pitchFamily="18" charset="0"/>
              </a:rPr>
              <a:t>Ethical Theory System in Ethical Coding</a:t>
            </a:r>
          </a:p>
        </p:txBody>
      </p:sp>
      <p:sp>
        <p:nvSpPr>
          <p:cNvPr id="2" name="TextBox 1"/>
          <p:cNvSpPr txBox="1"/>
          <p:nvPr/>
        </p:nvSpPr>
        <p:spPr>
          <a:xfrm>
            <a:off x="15138584" y="2962762"/>
            <a:ext cx="184666" cy="369332"/>
          </a:xfrm>
          <a:prstGeom prst="rect">
            <a:avLst/>
          </a:prstGeom>
          <a:noFill/>
        </p:spPr>
        <p:txBody>
          <a:bodyPr wrap="none" rtlCol="0">
            <a:spAutoFit/>
          </a:bodyPr>
          <a:lstStyle/>
          <a:p>
            <a:endParaRPr lang="en-US" dirty="0"/>
          </a:p>
        </p:txBody>
      </p:sp>
      <p:pic>
        <p:nvPicPr>
          <p:cNvPr id="3" name="Picture 2"/>
          <p:cNvPicPr>
            <a:picLocks noChangeAspect="1"/>
          </p:cNvPicPr>
          <p:nvPr/>
        </p:nvPicPr>
        <p:blipFill rotWithShape="1">
          <a:blip r:embed="rId3"/>
          <a:srcRect l="61618" r="2096" b="651"/>
          <a:stretch/>
        </p:blipFill>
        <p:spPr>
          <a:xfrm>
            <a:off x="8256240" y="0"/>
            <a:ext cx="3347375" cy="6885384"/>
          </a:xfrm>
          <a:prstGeom prst="rect">
            <a:avLst/>
          </a:prstGeom>
        </p:spPr>
      </p:pic>
      <p:pic>
        <p:nvPicPr>
          <p:cNvPr id="4" name="Picture 3"/>
          <p:cNvPicPr>
            <a:picLocks noChangeAspect="1"/>
          </p:cNvPicPr>
          <p:nvPr/>
        </p:nvPicPr>
        <p:blipFill rotWithShape="1">
          <a:blip r:embed="rId3"/>
          <a:srcRect l="-8303" t="-32096" r="79376" b="114920"/>
          <a:stretch/>
        </p:blipFill>
        <p:spPr>
          <a:xfrm>
            <a:off x="-1934161" y="-2603813"/>
            <a:ext cx="4645785" cy="2072373"/>
          </a:xfrm>
          <a:prstGeom prst="rect">
            <a:avLst/>
          </a:prstGeom>
        </p:spPr>
      </p:pic>
      <p:pic>
        <p:nvPicPr>
          <p:cNvPr id="7" name="Picture 6"/>
          <p:cNvPicPr>
            <a:picLocks noChangeAspect="1"/>
          </p:cNvPicPr>
          <p:nvPr/>
        </p:nvPicPr>
        <p:blipFill rotWithShape="1">
          <a:blip r:embed="rId3"/>
          <a:srcRect r="66180" b="81278"/>
          <a:stretch/>
        </p:blipFill>
        <p:spPr>
          <a:xfrm>
            <a:off x="692441" y="5661249"/>
            <a:ext cx="2250885" cy="936104"/>
          </a:xfrm>
          <a:prstGeom prst="rect">
            <a:avLst/>
          </a:prstGeom>
        </p:spPr>
      </p:pic>
      <p:pic>
        <p:nvPicPr>
          <p:cNvPr id="8" name="Picture 7"/>
          <p:cNvPicPr>
            <a:picLocks noChangeAspect="1"/>
          </p:cNvPicPr>
          <p:nvPr/>
        </p:nvPicPr>
        <p:blipFill rotWithShape="1">
          <a:blip r:embed="rId3"/>
          <a:srcRect t="79504" r="77476"/>
          <a:stretch/>
        </p:blipFill>
        <p:spPr>
          <a:xfrm>
            <a:off x="2367262" y="5252513"/>
            <a:ext cx="2072554" cy="1416847"/>
          </a:xfrm>
          <a:prstGeom prst="rect">
            <a:avLst/>
          </a:prstGeom>
        </p:spPr>
      </p:pic>
    </p:spTree>
    <p:extLst>
      <p:ext uri="{BB962C8B-B14F-4D97-AF65-F5344CB8AC3E}">
        <p14:creationId xmlns:p14="http://schemas.microsoft.com/office/powerpoint/2010/main" val="935780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F68BDA2-38F4-EFF8-5349-3215D86C02B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Learning outcomes at the end of this week</a:t>
            </a:r>
          </a:p>
        </p:txBody>
      </p:sp>
      <p:sp>
        <p:nvSpPr>
          <p:cNvPr id="3" name="Content Placeholder 2">
            <a:extLst>
              <a:ext uri="{FF2B5EF4-FFF2-40B4-BE49-F238E27FC236}">
                <a16:creationId xmlns:a16="http://schemas.microsoft.com/office/drawing/2014/main" id="{1541259C-8EE6-221B-F16D-85764B933CE9}"/>
              </a:ext>
            </a:extLst>
          </p:cNvPr>
          <p:cNvSpPr>
            <a:spLocks noGrp="1"/>
          </p:cNvSpPr>
          <p:nvPr>
            <p:ph type="body" sz="quarter" idx="10"/>
          </p:nvPr>
        </p:nvSpPr>
        <p:spPr>
          <a:xfrm>
            <a:off x="911424" y="1916832"/>
            <a:ext cx="9865096" cy="4608512"/>
          </a:xfrm>
        </p:spPr>
        <p:txBody>
          <a:bodyPr>
            <a:normAutofit/>
          </a:bodyPr>
          <a:lstStyle/>
          <a:p>
            <a:pPr marL="514350" indent="-514350">
              <a:buFont typeface="+mj-lt"/>
              <a:buAutoNum type="arabicPeriod"/>
            </a:pPr>
            <a:r>
              <a:rPr lang="en-US" sz="2600" b="0" i="0" dirty="0">
                <a:solidFill>
                  <a:srgbClr val="000000"/>
                </a:solidFill>
                <a:effectLst/>
                <a:latin typeface="Garamond" panose="02020404030301010803" pitchFamily="18" charset="0"/>
              </a:rPr>
              <a:t>Comprehend virtue, utilitarianism, and </a:t>
            </a:r>
            <a:r>
              <a:rPr lang="en-US" sz="2600" dirty="0">
                <a:solidFill>
                  <a:srgbClr val="000000"/>
                </a:solidFill>
                <a:latin typeface="Garamond" panose="02020404030301010803" pitchFamily="18" charset="0"/>
              </a:rPr>
              <a:t>deontology theories</a:t>
            </a:r>
            <a:endParaRPr lang="en-US" sz="2600" b="0" i="0" dirty="0">
              <a:solidFill>
                <a:srgbClr val="000000"/>
              </a:solidFill>
              <a:effectLst/>
              <a:latin typeface="Garamond" panose="02020404030301010803" pitchFamily="18" charset="0"/>
            </a:endParaRPr>
          </a:p>
          <a:p>
            <a:pPr marL="514350" indent="-514350" algn="l">
              <a:buFont typeface="+mj-lt"/>
              <a:buAutoNum type="arabicPeriod"/>
            </a:pPr>
            <a:r>
              <a:rPr lang="en-US" sz="2600" b="0" i="0" dirty="0">
                <a:solidFill>
                  <a:srgbClr val="000000"/>
                </a:solidFill>
                <a:effectLst/>
                <a:latin typeface="Garamond" panose="02020404030301010803" pitchFamily="18" charset="0"/>
              </a:rPr>
              <a:t>Differentiate between the theories and their different influences in making technology decisions (i.e., what to build and how to build)</a:t>
            </a:r>
          </a:p>
          <a:p>
            <a:pPr marL="514350" indent="-514350">
              <a:buFont typeface="+mj-lt"/>
              <a:buAutoNum type="arabicPeriod"/>
            </a:pPr>
            <a:r>
              <a:rPr lang="en-US" sz="2600" b="0" i="0" dirty="0">
                <a:solidFill>
                  <a:srgbClr val="000000"/>
                </a:solidFill>
                <a:effectLst/>
                <a:latin typeface="Garamond" panose="02020404030301010803" pitchFamily="18" charset="0"/>
              </a:rPr>
              <a:t>Comprehend how to apply guiding principles in </a:t>
            </a:r>
            <a:r>
              <a:rPr lang="en-US" sz="2600" dirty="0">
                <a:solidFill>
                  <a:srgbClr val="000000"/>
                </a:solidFill>
                <a:latin typeface="Garamond" panose="02020404030301010803" pitchFamily="18" charset="0"/>
              </a:rPr>
              <a:t>the ethical </a:t>
            </a:r>
            <a:r>
              <a:rPr lang="en-US" sz="2600" b="0" i="0" dirty="0">
                <a:solidFill>
                  <a:srgbClr val="000000"/>
                </a:solidFill>
                <a:effectLst/>
                <a:latin typeface="Garamond" panose="02020404030301010803" pitchFamily="18" charset="0"/>
              </a:rPr>
              <a:t>reasoning framework in your solution.</a:t>
            </a:r>
            <a:endParaRPr lang="en-US" sz="2600" dirty="0">
              <a:latin typeface="Garamond" panose="02020404030301010803" pitchFamily="18" charset="0"/>
            </a:endParaRPr>
          </a:p>
          <a:p>
            <a:endParaRPr lang="en-US" sz="2600" dirty="0">
              <a:latin typeface="Garamond" panose="02020404030301010803" pitchFamily="18" charset="0"/>
            </a:endParaRPr>
          </a:p>
        </p:txBody>
      </p:sp>
    </p:spTree>
    <p:extLst>
      <p:ext uri="{BB962C8B-B14F-4D97-AF65-F5344CB8AC3E}">
        <p14:creationId xmlns:p14="http://schemas.microsoft.com/office/powerpoint/2010/main" val="287503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3B3FBA0-806F-53EB-9BE8-0C053D6560B0}"/>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This week, we will look at Step 3</a:t>
            </a:r>
          </a:p>
        </p:txBody>
      </p:sp>
      <p:sp>
        <p:nvSpPr>
          <p:cNvPr id="3" name="Subtitle 2">
            <a:extLst>
              <a:ext uri="{FF2B5EF4-FFF2-40B4-BE49-F238E27FC236}">
                <a16:creationId xmlns:a16="http://schemas.microsoft.com/office/drawing/2014/main" id="{578EFCE4-D7F8-FBF1-E646-3179DA576A77}"/>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A1B15A65-8088-DAB4-29CE-D011C8DFF6A2}"/>
              </a:ext>
            </a:extLst>
          </p:cNvPr>
          <p:cNvSpPr>
            <a:spLocks noGrp="1"/>
          </p:cNvSpPr>
          <p:nvPr>
            <p:ph type="sldNum" sz="quarter" idx="12"/>
          </p:nvPr>
        </p:nvSpPr>
        <p:spPr/>
        <p:txBody>
          <a:bodyPr/>
          <a:lstStyle/>
          <a:p>
            <a:pPr>
              <a:defRPr/>
            </a:pPr>
            <a:fld id="{65D7EE65-8AFE-4022-B3D9-7794B9342842}" type="slidenum">
              <a:rPr lang="en-AU" smtClean="0"/>
              <a:pPr>
                <a:defRPr/>
              </a:pPr>
              <a:t>3</a:t>
            </a:fld>
            <a:endParaRPr lang="en-AU" dirty="0"/>
          </a:p>
        </p:txBody>
      </p:sp>
      <p:sp>
        <p:nvSpPr>
          <p:cNvPr id="5" name="TextBox 4">
            <a:extLst>
              <a:ext uri="{FF2B5EF4-FFF2-40B4-BE49-F238E27FC236}">
                <a16:creationId xmlns:a16="http://schemas.microsoft.com/office/drawing/2014/main" id="{31F8D6FC-5DDC-B25C-19F8-B66BDA1CC93B}"/>
              </a:ext>
            </a:extLst>
          </p:cNvPr>
          <p:cNvSpPr txBox="1"/>
          <p:nvPr/>
        </p:nvSpPr>
        <p:spPr>
          <a:xfrm>
            <a:off x="839416" y="1811658"/>
            <a:ext cx="8309297" cy="3785652"/>
          </a:xfrm>
          <a:prstGeom prst="rect">
            <a:avLst/>
          </a:prstGeom>
          <a:noFill/>
        </p:spPr>
        <p:txBody>
          <a:bodyPr wrap="square">
            <a:spAutoFit/>
          </a:bodyPr>
          <a:lstStyle/>
          <a:p>
            <a:r>
              <a:rPr lang="en-US" sz="2400" b="1" dirty="0">
                <a:highlight>
                  <a:srgbClr val="FFFFFF"/>
                </a:highlight>
                <a:latin typeface="Garamond" panose="02020404030301010803" pitchFamily="18" charset="0"/>
              </a:rPr>
              <a:t>Step 1 - Analyze and Define</a:t>
            </a:r>
          </a:p>
          <a:p>
            <a:r>
              <a:rPr lang="en-US" sz="2400" dirty="0">
                <a:highlight>
                  <a:srgbClr val="FFFFFF"/>
                </a:highlight>
                <a:latin typeface="Garamond" panose="02020404030301010803" pitchFamily="18" charset="0"/>
              </a:rPr>
              <a:t>Evaluate ACM Code of Ethics violations and define stakeholders’ impact</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2 – Design solutions using Design Thinking</a:t>
            </a:r>
          </a:p>
          <a:p>
            <a:r>
              <a:rPr lang="en-US" sz="2400" dirty="0">
                <a:highlight>
                  <a:srgbClr val="FFFFFF"/>
                </a:highlight>
                <a:latin typeface="Garamond" panose="02020404030301010803" pitchFamily="18" charset="0"/>
              </a:rPr>
              <a:t>Create solutions addressing violations </a:t>
            </a:r>
            <a:endParaRPr lang="en-US" sz="2400" b="1" dirty="0">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solidFill>
                  <a:srgbClr val="FF0000"/>
                </a:solidFill>
                <a:highlight>
                  <a:srgbClr val="FFFFFF"/>
                </a:highlight>
                <a:latin typeface="Garamond" panose="02020404030301010803" pitchFamily="18" charset="0"/>
              </a:rPr>
              <a:t>Step 3 - Implement</a:t>
            </a:r>
            <a:r>
              <a:rPr lang="en-US" sz="2400" dirty="0">
                <a:solidFill>
                  <a:srgbClr val="FF0000"/>
                </a:solidFill>
                <a:highlight>
                  <a:srgbClr val="FFFFFF"/>
                </a:highlight>
                <a:latin typeface="Garamond" panose="02020404030301010803" pitchFamily="18" charset="0"/>
              </a:rPr>
              <a:t>: Apply ethical system theories in code </a:t>
            </a:r>
            <a:endParaRPr lang="en-US" sz="2400" b="1" dirty="0">
              <a:solidFill>
                <a:srgbClr val="FF0000"/>
              </a:solidFill>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4- Visualize</a:t>
            </a:r>
            <a:r>
              <a:rPr lang="en-US" sz="2400" dirty="0">
                <a:highlight>
                  <a:srgbClr val="FFFFFF"/>
                </a:highlight>
                <a:latin typeface="Garamond" panose="02020404030301010803" pitchFamily="18" charset="0"/>
              </a:rPr>
              <a:t>: Design user-centered mockups </a:t>
            </a:r>
          </a:p>
        </p:txBody>
      </p:sp>
    </p:spTree>
    <p:extLst>
      <p:ext uri="{BB962C8B-B14F-4D97-AF65-F5344CB8AC3E}">
        <p14:creationId xmlns:p14="http://schemas.microsoft.com/office/powerpoint/2010/main" val="2556131475"/>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7025DB69-3570-15BF-649D-650CBFA61840}"/>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The ethical theory system</a:t>
            </a:r>
          </a:p>
        </p:txBody>
      </p:sp>
      <p:sp>
        <p:nvSpPr>
          <p:cNvPr id="2"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791233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7BD739B-4C6C-6377-15C0-F590DFB9E8FF}"/>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Definition</a:t>
            </a:r>
          </a:p>
        </p:txBody>
      </p:sp>
      <p:sp>
        <p:nvSpPr>
          <p:cNvPr id="3" name="Content Placeholder 2">
            <a:extLst>
              <a:ext uri="{FF2B5EF4-FFF2-40B4-BE49-F238E27FC236}">
                <a16:creationId xmlns:a16="http://schemas.microsoft.com/office/drawing/2014/main" id="{29486D1B-98BE-1350-6C42-DF508CD8C102}"/>
              </a:ext>
            </a:extLst>
          </p:cNvPr>
          <p:cNvSpPr>
            <a:spLocks noGrp="1"/>
          </p:cNvSpPr>
          <p:nvPr>
            <p:ph type="body" sz="quarter" idx="10"/>
          </p:nvPr>
        </p:nvSpPr>
        <p:spPr>
          <a:xfrm>
            <a:off x="875420" y="1628800"/>
            <a:ext cx="9865096" cy="4608512"/>
          </a:xfrm>
        </p:spPr>
        <p:txBody>
          <a:bodyPr>
            <a:normAutofit/>
          </a:bodyPr>
          <a:lstStyle/>
          <a:p>
            <a:pPr algn="just"/>
            <a:r>
              <a:rPr lang="en-US" b="1" dirty="0">
                <a:latin typeface="Garamond" panose="02020404030301010803" pitchFamily="18" charset="0"/>
              </a:rPr>
              <a:t>Ethical System Theory</a:t>
            </a:r>
            <a:r>
              <a:rPr lang="en-US" dirty="0">
                <a:latin typeface="Garamond" panose="02020404030301010803" pitchFamily="18" charset="0"/>
              </a:rPr>
              <a:t> refers to structured philosophical frameworks that provide systematic approaches for determining what actions, decisions, or behaviors are morally right or wrong.</a:t>
            </a:r>
          </a:p>
          <a:p>
            <a:pPr algn="just"/>
            <a:endParaRPr lang="en-US" dirty="0">
              <a:latin typeface="Garamond" panose="02020404030301010803" pitchFamily="18" charset="0"/>
            </a:endParaRPr>
          </a:p>
          <a:p>
            <a:pPr algn="just"/>
            <a:r>
              <a:rPr lang="en-US" dirty="0">
                <a:latin typeface="Garamond" panose="02020404030301010803" pitchFamily="18" charset="0"/>
              </a:rPr>
              <a:t>These theories offer different foundational principles and methodologies for ethical reasoning and decision-making.</a:t>
            </a:r>
            <a:endParaRPr lang="en-US" dirty="0">
              <a:effectLst/>
              <a:latin typeface="Garamond" panose="02020404030301010803" pitchFamily="18" charset="0"/>
            </a:endParaRPr>
          </a:p>
        </p:txBody>
      </p:sp>
    </p:spTree>
    <p:extLst>
      <p:ext uri="{BB962C8B-B14F-4D97-AF65-F5344CB8AC3E}">
        <p14:creationId xmlns:p14="http://schemas.microsoft.com/office/powerpoint/2010/main" val="1327851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89429D-50FD-0C0B-DC99-D092D8DC1E1E}"/>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Definition</a:t>
            </a:r>
          </a:p>
        </p:txBody>
      </p:sp>
      <p:sp>
        <p:nvSpPr>
          <p:cNvPr id="3" name="Content Placeholder 2">
            <a:extLst>
              <a:ext uri="{FF2B5EF4-FFF2-40B4-BE49-F238E27FC236}">
                <a16:creationId xmlns:a16="http://schemas.microsoft.com/office/drawing/2014/main" id="{171735A2-FDB0-D50D-93A3-DE2D5F8A6A17}"/>
              </a:ext>
            </a:extLst>
          </p:cNvPr>
          <p:cNvSpPr>
            <a:spLocks noGrp="1"/>
          </p:cNvSpPr>
          <p:nvPr>
            <p:ph type="body" sz="quarter" idx="10"/>
          </p:nvPr>
        </p:nvSpPr>
        <p:spPr>
          <a:xfrm>
            <a:off x="875420" y="1628800"/>
            <a:ext cx="9865096" cy="4608512"/>
          </a:xfrm>
        </p:spPr>
        <p:txBody>
          <a:bodyPr>
            <a:normAutofit/>
          </a:bodyPr>
          <a:lstStyle/>
          <a:p>
            <a:pPr algn="just"/>
            <a:r>
              <a:rPr lang="en-US" dirty="0">
                <a:latin typeface="Garamond" panose="02020404030301010803" pitchFamily="18" charset="0"/>
              </a:rPr>
              <a:t>In this unit, we will refer to </a:t>
            </a:r>
          </a:p>
          <a:p>
            <a:pPr algn="just"/>
            <a:endParaRPr lang="en-US" dirty="0">
              <a:latin typeface="Garamond" panose="02020404030301010803" pitchFamily="18" charset="0"/>
            </a:endParaRPr>
          </a:p>
          <a:p>
            <a:pPr marL="457200" indent="-457200" algn="just">
              <a:buFont typeface="+mj-lt"/>
              <a:buAutoNum type="arabicPeriod"/>
            </a:pPr>
            <a:r>
              <a:rPr lang="en-US" dirty="0">
                <a:latin typeface="Garamond" panose="02020404030301010803" pitchFamily="18" charset="0"/>
              </a:rPr>
              <a:t>Virtue Ethics</a:t>
            </a:r>
          </a:p>
          <a:p>
            <a:pPr marL="457200" indent="-457200" algn="just">
              <a:buFont typeface="+mj-lt"/>
              <a:buAutoNum type="arabicPeriod"/>
            </a:pPr>
            <a:r>
              <a:rPr lang="en-US" dirty="0">
                <a:latin typeface="Garamond" panose="02020404030301010803" pitchFamily="18" charset="0"/>
              </a:rPr>
              <a:t>Utilitarianism</a:t>
            </a:r>
          </a:p>
          <a:p>
            <a:pPr marL="457200" indent="-457200" algn="just">
              <a:buFont typeface="+mj-lt"/>
              <a:buAutoNum type="arabicPeriod"/>
            </a:pPr>
            <a:r>
              <a:rPr lang="en-US" dirty="0">
                <a:latin typeface="Garamond" panose="02020404030301010803" pitchFamily="18" charset="0"/>
              </a:rPr>
              <a:t>Deontology</a:t>
            </a:r>
            <a:endParaRPr lang="en-US" dirty="0">
              <a:effectLst/>
              <a:latin typeface="Garamond" panose="02020404030301010803" pitchFamily="18" charset="0"/>
            </a:endParaRPr>
          </a:p>
        </p:txBody>
      </p:sp>
    </p:spTree>
    <p:extLst>
      <p:ext uri="{BB962C8B-B14F-4D97-AF65-F5344CB8AC3E}">
        <p14:creationId xmlns:p14="http://schemas.microsoft.com/office/powerpoint/2010/main" val="1570134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396270A0-2042-A3A5-45FF-4D00EC1FAC61}"/>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Introduction to Virtue Ethics</a:t>
            </a:r>
          </a:p>
        </p:txBody>
      </p:sp>
      <p:sp>
        <p:nvSpPr>
          <p:cNvPr id="2"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4070746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4DD097-DF83-B548-D88E-4CEAF50F866A}"/>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Virtue Ethics</a:t>
            </a:r>
          </a:p>
        </p:txBody>
      </p:sp>
      <p:sp>
        <p:nvSpPr>
          <p:cNvPr id="3" name="Content Placeholder 2">
            <a:extLst>
              <a:ext uri="{FF2B5EF4-FFF2-40B4-BE49-F238E27FC236}">
                <a16:creationId xmlns:a16="http://schemas.microsoft.com/office/drawing/2014/main" id="{CA17C705-55D8-D3C0-09E9-6DEFFF70E9EA}"/>
              </a:ext>
            </a:extLst>
          </p:cNvPr>
          <p:cNvSpPr>
            <a:spLocks noGrp="1"/>
          </p:cNvSpPr>
          <p:nvPr>
            <p:ph type="body" sz="quarter" idx="10"/>
          </p:nvPr>
        </p:nvSpPr>
        <p:spPr>
          <a:xfrm>
            <a:off x="911424" y="1916832"/>
            <a:ext cx="9865096" cy="4608512"/>
          </a:xfrm>
        </p:spPr>
        <p:txBody>
          <a:bodyPr>
            <a:normAutofit/>
          </a:bodyPr>
          <a:lstStyle/>
          <a:p>
            <a:pPr algn="just"/>
            <a:r>
              <a:rPr lang="en-US" dirty="0">
                <a:solidFill>
                  <a:srgbClr val="000000"/>
                </a:solidFill>
                <a:effectLst/>
                <a:latin typeface="Garamond" panose="02020404030301010803" pitchFamily="18" charset="0"/>
              </a:rPr>
              <a:t>Virtue-based ethical theories treat character as fundamental to ethics. It </a:t>
            </a:r>
            <a:r>
              <a:rPr lang="en-US" dirty="0">
                <a:solidFill>
                  <a:srgbClr val="212529"/>
                </a:solidFill>
                <a:effectLst/>
                <a:latin typeface="Garamond" panose="02020404030301010803" pitchFamily="18" charset="0"/>
              </a:rPr>
              <a:t>seeks to promote good character. </a:t>
            </a:r>
          </a:p>
          <a:p>
            <a:pPr algn="just"/>
            <a:endParaRPr lang="en-US" dirty="0">
              <a:solidFill>
                <a:srgbClr val="212529"/>
              </a:solidFill>
              <a:latin typeface="Garamond" panose="02020404030301010803" pitchFamily="18" charset="0"/>
            </a:endParaRPr>
          </a:p>
          <a:p>
            <a:pPr algn="just"/>
            <a:r>
              <a:rPr lang="en-US" dirty="0">
                <a:solidFill>
                  <a:srgbClr val="212529"/>
                </a:solidFill>
                <a:effectLst/>
                <a:latin typeface="Garamond" panose="02020404030301010803" pitchFamily="18" charset="0"/>
              </a:rPr>
              <a:t>For example, courage and temperance are virtues; courage gives us the strength to endure hardship and fear for the sake of something good, while temperance gives us the self-control to resist “too much of a good thing.” </a:t>
            </a:r>
          </a:p>
          <a:p>
            <a:pPr algn="just"/>
            <a:endParaRPr lang="en-US" dirty="0">
              <a:solidFill>
                <a:srgbClr val="212529"/>
              </a:solidFill>
              <a:latin typeface="Garamond" panose="02020404030301010803" pitchFamily="18" charset="0"/>
            </a:endParaRPr>
          </a:p>
          <a:p>
            <a:pPr algn="just"/>
            <a:r>
              <a:rPr lang="en-US" dirty="0">
                <a:solidFill>
                  <a:srgbClr val="212529"/>
                </a:solidFill>
                <a:effectLst/>
                <a:latin typeface="Garamond" panose="02020404030301010803" pitchFamily="18" charset="0"/>
              </a:rPr>
              <a:t>Some other virtues include charity, kindness, justice, humility, diligence, honesty, integrity, generosity, gratitude, and wisdom.</a:t>
            </a:r>
            <a:endParaRPr lang="en-US" dirty="0">
              <a:effectLst/>
              <a:latin typeface="Garamond" panose="02020404030301010803" pitchFamily="18" charset="0"/>
            </a:endParaRPr>
          </a:p>
          <a:p>
            <a:pPr algn="just"/>
            <a:endParaRPr lang="en-US" dirty="0">
              <a:effectLst/>
              <a:latin typeface="Garamond" panose="02020404030301010803" pitchFamily="18" charset="0"/>
            </a:endParaRPr>
          </a:p>
        </p:txBody>
      </p:sp>
    </p:spTree>
    <p:extLst>
      <p:ext uri="{BB962C8B-B14F-4D97-AF65-F5344CB8AC3E}">
        <p14:creationId xmlns:p14="http://schemas.microsoft.com/office/powerpoint/2010/main" val="1275442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839226-E334-60AC-4E1D-C22B5D9F203A}"/>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Virtue Ethics</a:t>
            </a:r>
          </a:p>
        </p:txBody>
      </p:sp>
      <p:sp>
        <p:nvSpPr>
          <p:cNvPr id="12" name="TextBox 11">
            <a:extLst>
              <a:ext uri="{FF2B5EF4-FFF2-40B4-BE49-F238E27FC236}">
                <a16:creationId xmlns:a16="http://schemas.microsoft.com/office/drawing/2014/main" id="{D1198E6E-532D-0933-A0AA-BF1244C0D238}"/>
              </a:ext>
            </a:extLst>
          </p:cNvPr>
          <p:cNvSpPr txBox="1"/>
          <p:nvPr/>
        </p:nvSpPr>
        <p:spPr>
          <a:xfrm>
            <a:off x="839416" y="1628800"/>
            <a:ext cx="9505056" cy="2308324"/>
          </a:xfrm>
          <a:prstGeom prst="rect">
            <a:avLst/>
          </a:prstGeom>
          <a:noFill/>
        </p:spPr>
        <p:txBody>
          <a:bodyPr wrap="square">
            <a:spAutoFit/>
          </a:bodyPr>
          <a:lstStyle/>
          <a:p>
            <a:pPr algn="just"/>
            <a:r>
              <a:rPr lang="en-US" sz="2400" dirty="0">
                <a:solidFill>
                  <a:srgbClr val="212529"/>
                </a:solidFill>
                <a:effectLst/>
                <a:latin typeface="Garamond" panose="02020404030301010803" pitchFamily="18" charset="0"/>
              </a:rPr>
              <a:t>How is virtue ethics applied in computing technology such as AI?</a:t>
            </a:r>
          </a:p>
          <a:p>
            <a:pPr algn="just"/>
            <a:endParaRPr lang="en-US" sz="2400" dirty="0">
              <a:solidFill>
                <a:srgbClr val="212529"/>
              </a:solidFill>
              <a:effectLst/>
              <a:latin typeface="Garamond" panose="02020404030301010803" pitchFamily="18" charset="0"/>
            </a:endParaRPr>
          </a:p>
          <a:p>
            <a:pPr algn="just"/>
            <a:r>
              <a:rPr lang="en-US" sz="2400" dirty="0">
                <a:solidFill>
                  <a:srgbClr val="212529"/>
                </a:solidFill>
                <a:effectLst/>
                <a:latin typeface="Garamond" panose="02020404030301010803" pitchFamily="18" charset="0"/>
              </a:rPr>
              <a:t>We show </a:t>
            </a:r>
            <a:r>
              <a:rPr lang="en-US" sz="2400" dirty="0">
                <a:solidFill>
                  <a:srgbClr val="212529"/>
                </a:solidFill>
                <a:latin typeface="Garamond" panose="02020404030301010803" pitchFamily="18" charset="0"/>
              </a:rPr>
              <a:t>in Table 1</a:t>
            </a:r>
            <a:r>
              <a:rPr lang="en-US" sz="2400" dirty="0">
                <a:solidFill>
                  <a:srgbClr val="212529"/>
                </a:solidFill>
                <a:effectLst/>
                <a:latin typeface="Garamond" panose="02020404030301010803" pitchFamily="18" charset="0"/>
              </a:rPr>
              <a:t> adapted from this </a:t>
            </a:r>
            <a:r>
              <a:rPr lang="en-US" sz="2400" dirty="0">
                <a:solidFill>
                  <a:srgbClr val="0563C1"/>
                </a:solidFill>
                <a:effectLst/>
                <a:latin typeface="Garamond" panose="02020404030301010803" pitchFamily="18" charset="0"/>
                <a:hlinkClick r:id="rId3"/>
              </a:rPr>
              <a:t>paper</a:t>
            </a:r>
            <a:r>
              <a:rPr lang="en-US" sz="2400" dirty="0">
                <a:effectLst/>
                <a:latin typeface="Garamond" panose="02020404030301010803" pitchFamily="18" charset="0"/>
              </a:rPr>
              <a:t> </a:t>
            </a:r>
            <a:r>
              <a:rPr lang="en-US" sz="2400" dirty="0" err="1">
                <a:effectLst/>
                <a:latin typeface="Garamond" panose="02020404030301010803" pitchFamily="18" charset="0"/>
              </a:rPr>
              <a:t>Hagendorff</a:t>
            </a:r>
            <a:r>
              <a:rPr lang="en-US" sz="2400" dirty="0">
                <a:effectLst/>
                <a:latin typeface="Garamond" panose="02020404030301010803" pitchFamily="18" charset="0"/>
              </a:rPr>
              <a:t>, T. (2020)</a:t>
            </a:r>
            <a:r>
              <a:rPr lang="en-US" sz="2400" dirty="0">
                <a:solidFill>
                  <a:srgbClr val="212529"/>
                </a:solidFill>
                <a:effectLst/>
                <a:latin typeface="Garamond" panose="02020404030301010803" pitchFamily="18" charset="0"/>
              </a:rPr>
              <a:t>, that outlines key virtues that can be used as  a guiding principle in technology design.</a:t>
            </a:r>
            <a:endParaRPr lang="en-US" sz="2400" dirty="0">
              <a:effectLst/>
              <a:latin typeface="Garamond" panose="02020404030301010803" pitchFamily="18" charset="0"/>
            </a:endParaRPr>
          </a:p>
          <a:p>
            <a:pPr algn="just"/>
            <a:endParaRPr lang="en-US" sz="2400" dirty="0">
              <a:solidFill>
                <a:srgbClr val="212529"/>
              </a:solidFill>
              <a:effectLst/>
              <a:latin typeface="Garamond" panose="02020404030301010803" pitchFamily="18" charset="0"/>
            </a:endParaRPr>
          </a:p>
        </p:txBody>
      </p:sp>
    </p:spTree>
    <p:extLst>
      <p:ext uri="{BB962C8B-B14F-4D97-AF65-F5344CB8AC3E}">
        <p14:creationId xmlns:p14="http://schemas.microsoft.com/office/powerpoint/2010/main" val="782547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1349967-56A2-E9FD-E655-02308B7E80B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Table 1. Adaption on basic virtues as guiding principles</a:t>
            </a:r>
          </a:p>
        </p:txBody>
      </p:sp>
      <p:graphicFrame>
        <p:nvGraphicFramePr>
          <p:cNvPr id="4" name="Table 3">
            <a:extLst>
              <a:ext uri="{FF2B5EF4-FFF2-40B4-BE49-F238E27FC236}">
                <a16:creationId xmlns:a16="http://schemas.microsoft.com/office/drawing/2014/main" id="{082F9887-8D90-F721-776B-8CE181AF4803}"/>
              </a:ext>
            </a:extLst>
          </p:cNvPr>
          <p:cNvGraphicFramePr>
            <a:graphicFrameLocks noGrp="1"/>
          </p:cNvGraphicFramePr>
          <p:nvPr>
            <p:extLst>
              <p:ext uri="{D42A27DB-BD31-4B8C-83A1-F6EECF244321}">
                <p14:modId xmlns:p14="http://schemas.microsoft.com/office/powerpoint/2010/main" val="836511831"/>
              </p:ext>
            </p:extLst>
          </p:nvPr>
        </p:nvGraphicFramePr>
        <p:xfrm>
          <a:off x="402336" y="1080000"/>
          <a:ext cx="10369151" cy="5194722"/>
        </p:xfrm>
        <a:graphic>
          <a:graphicData uri="http://schemas.openxmlformats.org/drawingml/2006/table">
            <a:tbl>
              <a:tblPr/>
              <a:tblGrid>
                <a:gridCol w="2993157">
                  <a:extLst>
                    <a:ext uri="{9D8B030D-6E8A-4147-A177-3AD203B41FA5}">
                      <a16:colId xmlns:a16="http://schemas.microsoft.com/office/drawing/2014/main" val="256228881"/>
                    </a:ext>
                  </a:extLst>
                </a:gridCol>
                <a:gridCol w="4169040">
                  <a:extLst>
                    <a:ext uri="{9D8B030D-6E8A-4147-A177-3AD203B41FA5}">
                      <a16:colId xmlns:a16="http://schemas.microsoft.com/office/drawing/2014/main" val="1431977053"/>
                    </a:ext>
                  </a:extLst>
                </a:gridCol>
                <a:gridCol w="3206954">
                  <a:extLst>
                    <a:ext uri="{9D8B030D-6E8A-4147-A177-3AD203B41FA5}">
                      <a16:colId xmlns:a16="http://schemas.microsoft.com/office/drawing/2014/main" val="3631788170"/>
                    </a:ext>
                  </a:extLst>
                </a:gridCol>
              </a:tblGrid>
              <a:tr h="279590">
                <a:tc>
                  <a:txBody>
                    <a:bodyPr/>
                    <a:lstStyle/>
                    <a:p>
                      <a:r>
                        <a:rPr lang="en-US" sz="2200" b="1">
                          <a:solidFill>
                            <a:srgbClr val="212529"/>
                          </a:solidFill>
                          <a:effectLst/>
                          <a:latin typeface="Book Antiqua" panose="02040602050305030304" pitchFamily="18" charset="0"/>
                        </a:rPr>
                        <a:t>Basic virtues</a:t>
                      </a:r>
                      <a:endParaRPr lang="en-US" sz="2200">
                        <a:effectLst/>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2200" b="1">
                          <a:solidFill>
                            <a:srgbClr val="212529"/>
                          </a:solidFill>
                          <a:effectLst/>
                          <a:latin typeface="Book Antiqua" panose="02040602050305030304" pitchFamily="18" charset="0"/>
                        </a:rPr>
                        <a:t>Explanation</a:t>
                      </a:r>
                      <a:endParaRPr lang="en-US" sz="2200">
                        <a:effectLst/>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2200" b="1" dirty="0">
                          <a:solidFill>
                            <a:srgbClr val="212529"/>
                          </a:solidFill>
                          <a:effectLst/>
                          <a:latin typeface="Book Antiqua" panose="02040602050305030304" pitchFamily="18" charset="0"/>
                        </a:rPr>
                        <a:t>How this can be used as guiding principles </a:t>
                      </a:r>
                      <a:endParaRPr lang="en-US" sz="2200" dirty="0">
                        <a:effectLst/>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0845164"/>
                  </a:ext>
                </a:extLst>
              </a:tr>
              <a:tr h="938622">
                <a:tc>
                  <a:txBody>
                    <a:bodyPr/>
                    <a:lstStyle/>
                    <a:p>
                      <a:r>
                        <a:rPr lang="en-US" sz="1800" dirty="0">
                          <a:solidFill>
                            <a:srgbClr val="212529"/>
                          </a:solidFill>
                          <a:effectLst/>
                          <a:latin typeface="Garamond" panose="02020404030301010803" pitchFamily="18" charset="0"/>
                        </a:rPr>
                        <a:t>Justice </a:t>
                      </a:r>
                      <a:endParaRPr lang="en-US" sz="1800" dirty="0">
                        <a:effectLst/>
                        <a:latin typeface="Garamond" panose="02020404030301010803" pitchFamily="18" charset="0"/>
                      </a:endParaRPr>
                    </a:p>
                    <a:p>
                      <a:r>
                        <a:rPr lang="en-US" sz="1800" dirty="0">
                          <a:solidFill>
                            <a:srgbClr val="212529"/>
                          </a:solidFill>
                          <a:effectLst/>
                          <a:latin typeface="Garamond" panose="02020404030301010803" pitchFamily="18" charset="0"/>
                        </a:rPr>
                        <a:t>(being fair and just, for example treating people equally and dealing fairly with others)</a:t>
                      </a:r>
                      <a:r>
                        <a:rPr lang="en-US" sz="1800" b="1" dirty="0">
                          <a:effectLst/>
                          <a:latin typeface="Garamond" panose="02020404030301010803" pitchFamily="18" charset="0"/>
                        </a:rPr>
                        <a:t> </a:t>
                      </a:r>
                      <a:endParaRPr lang="en-US" sz="1800" dirty="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dirty="0">
                          <a:effectLst/>
                          <a:latin typeface="Garamond" panose="02020404030301010803" pitchFamily="18" charset="0"/>
                        </a:rPr>
                        <a:t>In computing application, justice efforts could be used as a principle in determining how the algorithm will behave within society context that is just. It should lead to algorithmic fairness, non-discrimination, bias mitigation including inclusion.</a:t>
                      </a: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dirty="0">
                          <a:effectLst/>
                          <a:latin typeface="Garamond" panose="02020404030301010803" pitchFamily="18" charset="0"/>
                        </a:rPr>
                        <a:t>Algorithmic fairness, nondiscrimination, bias mitigation, inclusion, equality, diversity</a:t>
                      </a: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5779114"/>
                  </a:ext>
                </a:extLst>
              </a:tr>
              <a:tr h="938622">
                <a:tc>
                  <a:txBody>
                    <a:bodyPr/>
                    <a:lstStyle/>
                    <a:p>
                      <a:pPr algn="just"/>
                      <a:r>
                        <a:rPr lang="en-US" sz="1800" dirty="0">
                          <a:effectLst/>
                          <a:latin typeface="Garamond" panose="02020404030301010803" pitchFamily="18" charset="0"/>
                        </a:rPr>
                        <a:t>Honesty</a:t>
                      </a:r>
                    </a:p>
                    <a:p>
                      <a:r>
                        <a:rPr lang="en-US" sz="1800" dirty="0">
                          <a:effectLst/>
                          <a:latin typeface="Garamond" panose="02020404030301010803" pitchFamily="18" charset="0"/>
                        </a:rPr>
                        <a:t>(it</a:t>
                      </a:r>
                      <a:r>
                        <a:rPr lang="en-US" sz="1800" dirty="0">
                          <a:solidFill>
                            <a:srgbClr val="000000"/>
                          </a:solidFill>
                          <a:effectLst/>
                          <a:latin typeface="Garamond" panose="02020404030301010803" pitchFamily="18" charset="0"/>
                        </a:rPr>
                        <a:t> covers telling the truth, and doing the right thing in the right way at the right time)</a:t>
                      </a:r>
                      <a:endParaRPr lang="en-US" sz="1800" dirty="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dirty="0">
                          <a:effectLst/>
                          <a:latin typeface="Garamond" panose="02020404030301010803" pitchFamily="18" charset="0"/>
                        </a:rPr>
                        <a:t>In computing application. It also promotes the willingness to provide explainability or technical transparency regarding AI applications, for instance by disclosing origins of training data, quality checks the data were subject to, methods to find out how labels were defined etc. Moreover, honesty enables to acknowledge errors and mistakes that were made in AI research and development, allowing for collective learning processes</a:t>
                      </a: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dirty="0">
                          <a:effectLst/>
                          <a:latin typeface="Garamond" panose="02020404030301010803" pitchFamily="18" charset="0"/>
                        </a:rPr>
                        <a:t>explainability, interpretability, technological disclosure, acknowledge errors and mistakes</a:t>
                      </a: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0460101"/>
                  </a:ext>
                </a:extLst>
              </a:tr>
            </a:tbl>
          </a:graphicData>
        </a:graphic>
      </p:graphicFrame>
      <p:sp>
        <p:nvSpPr>
          <p:cNvPr id="8" name="TextBox 7">
            <a:extLst>
              <a:ext uri="{FF2B5EF4-FFF2-40B4-BE49-F238E27FC236}">
                <a16:creationId xmlns:a16="http://schemas.microsoft.com/office/drawing/2014/main" id="{1B77A7F4-E2F8-B4D5-CBF9-4B61AE4F4633}"/>
              </a:ext>
            </a:extLst>
          </p:cNvPr>
          <p:cNvSpPr txBox="1"/>
          <p:nvPr/>
        </p:nvSpPr>
        <p:spPr>
          <a:xfrm>
            <a:off x="2783632" y="6274722"/>
            <a:ext cx="6099142" cy="369332"/>
          </a:xfrm>
          <a:prstGeom prst="rect">
            <a:avLst/>
          </a:prstGeom>
          <a:noFill/>
        </p:spPr>
        <p:txBody>
          <a:bodyPr wrap="square">
            <a:spAutoFit/>
          </a:bodyPr>
          <a:lstStyle/>
          <a:p>
            <a:pPr algn="ctr"/>
            <a:r>
              <a:rPr lang="en-US" sz="1800" dirty="0">
                <a:solidFill>
                  <a:srgbClr val="212529"/>
                </a:solidFill>
                <a:effectLst/>
                <a:latin typeface="Book Antiqua" panose="02040602050305030304" pitchFamily="18" charset="0"/>
              </a:rPr>
              <a:t>Table 1. Adaption on basic virtues as guiding principles</a:t>
            </a:r>
            <a:endParaRPr lang="en-US" sz="1400" dirty="0">
              <a:effectLst/>
            </a:endParaRPr>
          </a:p>
        </p:txBody>
      </p:sp>
    </p:spTree>
    <p:extLst>
      <p:ext uri="{BB962C8B-B14F-4D97-AF65-F5344CB8AC3E}">
        <p14:creationId xmlns:p14="http://schemas.microsoft.com/office/powerpoint/2010/main" val="1722242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308783-4B46-52BF-1D51-5A6C4C635E5B}"/>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Table 1. Adaption on basic virtues as guiding principles</a:t>
            </a:r>
          </a:p>
        </p:txBody>
      </p:sp>
      <p:graphicFrame>
        <p:nvGraphicFramePr>
          <p:cNvPr id="4" name="Table 3">
            <a:extLst>
              <a:ext uri="{FF2B5EF4-FFF2-40B4-BE49-F238E27FC236}">
                <a16:creationId xmlns:a16="http://schemas.microsoft.com/office/drawing/2014/main" id="{6DF77825-F999-EC21-6B34-3FC5314F8E1A}"/>
              </a:ext>
            </a:extLst>
          </p:cNvPr>
          <p:cNvGraphicFramePr>
            <a:graphicFrameLocks noGrp="1"/>
          </p:cNvGraphicFramePr>
          <p:nvPr>
            <p:extLst>
              <p:ext uri="{D42A27DB-BD31-4B8C-83A1-F6EECF244321}">
                <p14:modId xmlns:p14="http://schemas.microsoft.com/office/powerpoint/2010/main" val="1400573054"/>
              </p:ext>
            </p:extLst>
          </p:nvPr>
        </p:nvGraphicFramePr>
        <p:xfrm>
          <a:off x="555536" y="1096320"/>
          <a:ext cx="11263807" cy="5014351"/>
        </p:xfrm>
        <a:graphic>
          <a:graphicData uri="http://schemas.openxmlformats.org/drawingml/2006/table">
            <a:tbl>
              <a:tblPr/>
              <a:tblGrid>
                <a:gridCol w="3251408">
                  <a:extLst>
                    <a:ext uri="{9D8B030D-6E8A-4147-A177-3AD203B41FA5}">
                      <a16:colId xmlns:a16="http://schemas.microsoft.com/office/drawing/2014/main" val="256228881"/>
                    </a:ext>
                  </a:extLst>
                </a:gridCol>
                <a:gridCol w="5313392">
                  <a:extLst>
                    <a:ext uri="{9D8B030D-6E8A-4147-A177-3AD203B41FA5}">
                      <a16:colId xmlns:a16="http://schemas.microsoft.com/office/drawing/2014/main" val="1431977053"/>
                    </a:ext>
                  </a:extLst>
                </a:gridCol>
                <a:gridCol w="2699007">
                  <a:extLst>
                    <a:ext uri="{9D8B030D-6E8A-4147-A177-3AD203B41FA5}">
                      <a16:colId xmlns:a16="http://schemas.microsoft.com/office/drawing/2014/main" val="3631788170"/>
                    </a:ext>
                  </a:extLst>
                </a:gridCol>
              </a:tblGrid>
              <a:tr h="499204">
                <a:tc>
                  <a:txBody>
                    <a:bodyPr/>
                    <a:lstStyle/>
                    <a:p>
                      <a:r>
                        <a:rPr lang="en-US" sz="1800" b="1">
                          <a:solidFill>
                            <a:srgbClr val="212529"/>
                          </a:solidFill>
                          <a:effectLst/>
                          <a:latin typeface="Garamond" panose="02020404030301010803" pitchFamily="18" charset="0"/>
                        </a:rPr>
                        <a:t>Basic virtues</a:t>
                      </a:r>
                      <a:endParaRPr lang="en-US" sz="180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1">
                          <a:solidFill>
                            <a:srgbClr val="212529"/>
                          </a:solidFill>
                          <a:effectLst/>
                          <a:latin typeface="Garamond" panose="02020404030301010803" pitchFamily="18" charset="0"/>
                        </a:rPr>
                        <a:t>Explanation</a:t>
                      </a:r>
                      <a:endParaRPr lang="en-US" sz="180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1" dirty="0">
                          <a:solidFill>
                            <a:srgbClr val="212529"/>
                          </a:solidFill>
                          <a:effectLst/>
                          <a:latin typeface="Garamond" panose="02020404030301010803" pitchFamily="18" charset="0"/>
                        </a:rPr>
                        <a:t>How this can be used as guiding principles </a:t>
                      </a:r>
                      <a:endParaRPr lang="en-US" sz="1800" dirty="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0845164"/>
                  </a:ext>
                </a:extLst>
              </a:tr>
              <a:tr h="4420697">
                <a:tc>
                  <a:txBody>
                    <a:bodyPr/>
                    <a:lstStyle/>
                    <a:p>
                      <a:r>
                        <a:rPr lang="en-US" sz="1800" dirty="0">
                          <a:solidFill>
                            <a:srgbClr val="212529"/>
                          </a:solidFill>
                          <a:effectLst/>
                          <a:latin typeface="Garamond" panose="02020404030301010803" pitchFamily="18" charset="0"/>
                        </a:rPr>
                        <a:t>Responsibility /Accountability</a:t>
                      </a:r>
                      <a:endParaRPr lang="en-US" sz="1800" dirty="0">
                        <a:effectLst/>
                        <a:latin typeface="Garamond" panose="02020404030301010803" pitchFamily="18" charset="0"/>
                      </a:endParaRPr>
                    </a:p>
                    <a:p>
                      <a:r>
                        <a:rPr lang="en-US" sz="1800" dirty="0">
                          <a:solidFill>
                            <a:srgbClr val="212529"/>
                          </a:solidFill>
                          <a:effectLst/>
                          <a:latin typeface="Garamond" panose="02020404030301010803" pitchFamily="18" charset="0"/>
                        </a:rPr>
                        <a:t>(being responsible for its own actions)</a:t>
                      </a:r>
                      <a:endParaRPr lang="en-US" sz="1800" dirty="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dirty="0">
                          <a:effectLst/>
                          <a:latin typeface="Garamond" panose="02020404030301010803" pitchFamily="18" charset="0"/>
                        </a:rPr>
                        <a:t>In AI application, this guiding principle should be the governance of choices made in the creation of the technology. Mainly, responsibility builds the precondition for feeling accountable for AI technologies and their outcomes. This is particularly relevant since AI technology’s inherent complexity leads to responsibility diffusions that exacerbate the assignment of wrongdoing. Diffusions of responsibility in complex technological as well as social networks can cause individuals to detach themselves from moral obligations, possibly leading to breeding grounds for unethical behavior. Responsibility, seen as a character disposition, is a counterweight to that since it leads professionals to actually feeling liable for what they are doing, opposing negative effects of a diffusion of responsibility.</a:t>
                      </a: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dirty="0">
                          <a:effectLst/>
                          <a:latin typeface="Garamond" panose="02020404030301010803" pitchFamily="18" charset="0"/>
                        </a:rPr>
                        <a:t>Responsibility, liability, accountability, replicability, legality, accuracy, considering (long term) technological consequences</a:t>
                      </a: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5779114"/>
                  </a:ext>
                </a:extLst>
              </a:tr>
            </a:tbl>
          </a:graphicData>
        </a:graphic>
      </p:graphicFrame>
      <p:sp>
        <p:nvSpPr>
          <p:cNvPr id="8" name="TextBox 7">
            <a:extLst>
              <a:ext uri="{FF2B5EF4-FFF2-40B4-BE49-F238E27FC236}">
                <a16:creationId xmlns:a16="http://schemas.microsoft.com/office/drawing/2014/main" id="{549BCF30-A058-88D5-D360-AE84A6D3C9FF}"/>
              </a:ext>
            </a:extLst>
          </p:cNvPr>
          <p:cNvSpPr txBox="1"/>
          <p:nvPr/>
        </p:nvSpPr>
        <p:spPr>
          <a:xfrm>
            <a:off x="2783632" y="6153388"/>
            <a:ext cx="6099142" cy="369332"/>
          </a:xfrm>
          <a:prstGeom prst="rect">
            <a:avLst/>
          </a:prstGeom>
          <a:noFill/>
        </p:spPr>
        <p:txBody>
          <a:bodyPr wrap="square">
            <a:spAutoFit/>
          </a:bodyPr>
          <a:lstStyle/>
          <a:p>
            <a:pPr algn="ctr"/>
            <a:r>
              <a:rPr lang="en-US" sz="1800" dirty="0">
                <a:solidFill>
                  <a:srgbClr val="212529"/>
                </a:solidFill>
                <a:effectLst/>
                <a:latin typeface="Book Antiqua" panose="02040602050305030304" pitchFamily="18" charset="0"/>
              </a:rPr>
              <a:t>Table 1. Adaption on basic virtues as guiding principles</a:t>
            </a:r>
            <a:endParaRPr lang="en-US" sz="1400" dirty="0">
              <a:effectLst/>
            </a:endParaRPr>
          </a:p>
        </p:txBody>
      </p:sp>
    </p:spTree>
    <p:extLst>
      <p:ext uri="{BB962C8B-B14F-4D97-AF65-F5344CB8AC3E}">
        <p14:creationId xmlns:p14="http://schemas.microsoft.com/office/powerpoint/2010/main" val="3585080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9B94B41-94FB-5DE4-5C58-A43A5D1C84E0}"/>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Table 1. Adaption on basic virtues as guiding principles</a:t>
            </a:r>
          </a:p>
        </p:txBody>
      </p:sp>
      <p:graphicFrame>
        <p:nvGraphicFramePr>
          <p:cNvPr id="4" name="Table 3">
            <a:extLst>
              <a:ext uri="{FF2B5EF4-FFF2-40B4-BE49-F238E27FC236}">
                <a16:creationId xmlns:a16="http://schemas.microsoft.com/office/drawing/2014/main" id="{2522A27C-C978-84B0-CEBE-0217A90EDDDE}"/>
              </a:ext>
            </a:extLst>
          </p:cNvPr>
          <p:cNvGraphicFramePr>
            <a:graphicFrameLocks noGrp="1"/>
          </p:cNvGraphicFramePr>
          <p:nvPr>
            <p:extLst>
              <p:ext uri="{D42A27DB-BD31-4B8C-83A1-F6EECF244321}">
                <p14:modId xmlns:p14="http://schemas.microsoft.com/office/powerpoint/2010/main" val="2537203381"/>
              </p:ext>
            </p:extLst>
          </p:nvPr>
        </p:nvGraphicFramePr>
        <p:xfrm>
          <a:off x="623390" y="1642094"/>
          <a:ext cx="10369151" cy="3656188"/>
        </p:xfrm>
        <a:graphic>
          <a:graphicData uri="http://schemas.openxmlformats.org/drawingml/2006/table">
            <a:tbl>
              <a:tblPr/>
              <a:tblGrid>
                <a:gridCol w="2993157">
                  <a:extLst>
                    <a:ext uri="{9D8B030D-6E8A-4147-A177-3AD203B41FA5}">
                      <a16:colId xmlns:a16="http://schemas.microsoft.com/office/drawing/2014/main" val="256228881"/>
                    </a:ext>
                  </a:extLst>
                </a:gridCol>
                <a:gridCol w="4169040">
                  <a:extLst>
                    <a:ext uri="{9D8B030D-6E8A-4147-A177-3AD203B41FA5}">
                      <a16:colId xmlns:a16="http://schemas.microsoft.com/office/drawing/2014/main" val="1431977053"/>
                    </a:ext>
                  </a:extLst>
                </a:gridCol>
                <a:gridCol w="3206954">
                  <a:extLst>
                    <a:ext uri="{9D8B030D-6E8A-4147-A177-3AD203B41FA5}">
                      <a16:colId xmlns:a16="http://schemas.microsoft.com/office/drawing/2014/main" val="3631788170"/>
                    </a:ext>
                  </a:extLst>
                </a:gridCol>
              </a:tblGrid>
              <a:tr h="279590">
                <a:tc>
                  <a:txBody>
                    <a:bodyPr/>
                    <a:lstStyle/>
                    <a:p>
                      <a:r>
                        <a:rPr lang="en-US" sz="1800" b="1" dirty="0">
                          <a:solidFill>
                            <a:srgbClr val="212529"/>
                          </a:solidFill>
                          <a:effectLst/>
                          <a:latin typeface="Garamond" panose="02020404030301010803" pitchFamily="18" charset="0"/>
                        </a:rPr>
                        <a:t>Basic virtues</a:t>
                      </a:r>
                      <a:endParaRPr lang="en-US" sz="1800" dirty="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1">
                          <a:solidFill>
                            <a:srgbClr val="212529"/>
                          </a:solidFill>
                          <a:effectLst/>
                          <a:latin typeface="Garamond" panose="02020404030301010803" pitchFamily="18" charset="0"/>
                        </a:rPr>
                        <a:t>Explanation</a:t>
                      </a:r>
                      <a:endParaRPr lang="en-US" sz="180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1" dirty="0">
                          <a:solidFill>
                            <a:srgbClr val="212529"/>
                          </a:solidFill>
                          <a:effectLst/>
                          <a:latin typeface="Garamond" panose="02020404030301010803" pitchFamily="18" charset="0"/>
                        </a:rPr>
                        <a:t>How this can be used as guiding principles </a:t>
                      </a:r>
                      <a:endParaRPr lang="en-US" sz="1800" dirty="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0845164"/>
                  </a:ext>
                </a:extLst>
              </a:tr>
              <a:tr h="938622">
                <a:tc>
                  <a:txBody>
                    <a:bodyPr/>
                    <a:lstStyle/>
                    <a:p>
                      <a:r>
                        <a:rPr lang="en-US" sz="1800" dirty="0">
                          <a:solidFill>
                            <a:srgbClr val="212529"/>
                          </a:solidFill>
                          <a:effectLst/>
                          <a:latin typeface="Garamond" panose="02020404030301010803" pitchFamily="18" charset="0"/>
                        </a:rPr>
                        <a:t>Kindness</a:t>
                      </a:r>
                      <a:endParaRPr lang="en-US" sz="1800" dirty="0">
                        <a:effectLst/>
                        <a:latin typeface="Garamond" panose="02020404030301010803" pitchFamily="18" charset="0"/>
                      </a:endParaRPr>
                    </a:p>
                    <a:p>
                      <a:r>
                        <a:rPr lang="en-US" sz="1800" dirty="0">
                          <a:solidFill>
                            <a:srgbClr val="212529"/>
                          </a:solidFill>
                          <a:effectLst/>
                          <a:latin typeface="Garamond" panose="02020404030301010803" pitchFamily="18" charset="0"/>
                        </a:rPr>
                        <a:t>(to treat others with care, empathy)</a:t>
                      </a:r>
                      <a:endParaRPr lang="en-US" sz="1800" dirty="0">
                        <a:effectLst/>
                        <a:latin typeface="Garamond" panose="02020404030301010803" pitchFamily="18" charset="0"/>
                      </a:endParaRP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dirty="0">
                          <a:effectLst/>
                          <a:latin typeface="Garamond" panose="02020404030301010803" pitchFamily="18" charset="0"/>
                        </a:rPr>
                        <a:t>Kindness means to develop a sense for others’ needs and the will to address them. </a:t>
                      </a:r>
                    </a:p>
                    <a:p>
                      <a:r>
                        <a:rPr lang="en-US" sz="1800" dirty="0">
                          <a:effectLst/>
                          <a:latin typeface="Garamond" panose="02020404030301010803" pitchFamily="18" charset="0"/>
                        </a:rPr>
                        <a:t>In AI, care builds the bedrock for motivating professionals to avoid AI applications from causing direct or indirect harm, ensuring safety, security, but also privacy preserving techniques. Moreover, care can motivate AI practitioners to design AI applications in a way that they foster sustainability, solidarity, social cohesion, common good, peace, freedom and the like. </a:t>
                      </a: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dirty="0">
                          <a:effectLst/>
                          <a:latin typeface="Garamond" panose="02020404030301010803" pitchFamily="18" charset="0"/>
                        </a:rPr>
                        <a:t>Non-maleficence, security, safety, privacy, protection, precaution, hidden costs, beneficence, well-being, sustainability, autonomy, liberty, consent</a:t>
                      </a:r>
                    </a:p>
                  </a:txBody>
                  <a:tcPr marL="33760" marR="33760" marT="22507" marB="2250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0460101"/>
                  </a:ext>
                </a:extLst>
              </a:tr>
            </a:tbl>
          </a:graphicData>
        </a:graphic>
      </p:graphicFrame>
      <p:sp>
        <p:nvSpPr>
          <p:cNvPr id="8" name="TextBox 7">
            <a:extLst>
              <a:ext uri="{FF2B5EF4-FFF2-40B4-BE49-F238E27FC236}">
                <a16:creationId xmlns:a16="http://schemas.microsoft.com/office/drawing/2014/main" id="{10C7B078-3B4A-5025-D050-4D01A0C90D51}"/>
              </a:ext>
            </a:extLst>
          </p:cNvPr>
          <p:cNvSpPr txBox="1"/>
          <p:nvPr/>
        </p:nvSpPr>
        <p:spPr>
          <a:xfrm>
            <a:off x="2758394" y="5534724"/>
            <a:ext cx="6099142" cy="369332"/>
          </a:xfrm>
          <a:prstGeom prst="rect">
            <a:avLst/>
          </a:prstGeom>
          <a:noFill/>
        </p:spPr>
        <p:txBody>
          <a:bodyPr wrap="square">
            <a:spAutoFit/>
          </a:bodyPr>
          <a:lstStyle/>
          <a:p>
            <a:pPr algn="ctr"/>
            <a:r>
              <a:rPr lang="en-US" sz="1800" dirty="0">
                <a:solidFill>
                  <a:srgbClr val="212529"/>
                </a:solidFill>
                <a:effectLst/>
                <a:latin typeface="Book Antiqua" panose="02040602050305030304" pitchFamily="18" charset="0"/>
              </a:rPr>
              <a:t>Table 1. Adaption on basic virtues as guiding principles</a:t>
            </a:r>
            <a:endParaRPr lang="en-US" sz="1400" dirty="0">
              <a:effectLst/>
            </a:endParaRPr>
          </a:p>
        </p:txBody>
      </p:sp>
    </p:spTree>
    <p:extLst>
      <p:ext uri="{BB962C8B-B14F-4D97-AF65-F5344CB8AC3E}">
        <p14:creationId xmlns:p14="http://schemas.microsoft.com/office/powerpoint/2010/main" val="1443767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81A679B-3D2E-5BC0-90ED-0546ECC48FA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Application of virtue e thics in AI</a:t>
            </a:r>
          </a:p>
        </p:txBody>
      </p:sp>
      <p:sp>
        <p:nvSpPr>
          <p:cNvPr id="5" name="TextBox 4">
            <a:extLst>
              <a:ext uri="{FF2B5EF4-FFF2-40B4-BE49-F238E27FC236}">
                <a16:creationId xmlns:a16="http://schemas.microsoft.com/office/drawing/2014/main" id="{9320D68D-A03E-1F34-E932-06BF76926B4D}"/>
              </a:ext>
            </a:extLst>
          </p:cNvPr>
          <p:cNvSpPr txBox="1"/>
          <p:nvPr/>
        </p:nvSpPr>
        <p:spPr>
          <a:xfrm>
            <a:off x="839416" y="1439144"/>
            <a:ext cx="9073008" cy="3908762"/>
          </a:xfrm>
          <a:prstGeom prst="rect">
            <a:avLst/>
          </a:prstGeom>
          <a:noFill/>
        </p:spPr>
        <p:txBody>
          <a:bodyPr wrap="square">
            <a:spAutoFit/>
          </a:bodyPr>
          <a:lstStyle/>
          <a:p>
            <a:pPr algn="just"/>
            <a:r>
              <a:rPr lang="en-US" sz="2000" dirty="0">
                <a:solidFill>
                  <a:srgbClr val="1F3763"/>
                </a:solidFill>
                <a:effectLst/>
                <a:latin typeface="Garamond" panose="02020404030301010803" pitchFamily="18" charset="0"/>
              </a:rPr>
              <a:t>Example: Virtue Ethics in blood pressure App</a:t>
            </a:r>
          </a:p>
          <a:p>
            <a:pPr algn="just"/>
            <a:endParaRPr lang="en-US" sz="2000" dirty="0">
              <a:effectLst/>
              <a:latin typeface="Garamond" panose="02020404030301010803" pitchFamily="18" charset="0"/>
            </a:endParaRPr>
          </a:p>
          <a:p>
            <a:pPr algn="just"/>
            <a:r>
              <a:rPr lang="en-US" sz="2000" dirty="0">
                <a:effectLst/>
                <a:latin typeface="Garamond" panose="02020404030301010803" pitchFamily="18" charset="0"/>
              </a:rPr>
              <a:t>The App’s duties of Justice include all genders, ethnicities, and age group of the data being collected and processed</a:t>
            </a:r>
          </a:p>
          <a:p>
            <a:pPr algn="just"/>
            <a:endParaRPr lang="en-US" sz="2000" dirty="0">
              <a:latin typeface="Garamond" panose="02020404030301010803" pitchFamily="18" charset="0"/>
            </a:endParaRPr>
          </a:p>
          <a:p>
            <a:pPr algn="just"/>
            <a:r>
              <a:rPr lang="en-US" sz="2000" dirty="0">
                <a:effectLst/>
                <a:latin typeface="Garamond" panose="02020404030301010803" pitchFamily="18" charset="0"/>
              </a:rPr>
              <a:t>Using justice as guiding principle in how the App  would not discriminate, or generate bias in the data being process, it needs to apply the virtue of Just in making decision.</a:t>
            </a:r>
          </a:p>
          <a:p>
            <a:pPr algn="just"/>
            <a:endParaRPr lang="en-US" sz="2000" dirty="0">
              <a:latin typeface="Garamond" panose="02020404030301010803" pitchFamily="18" charset="0"/>
            </a:endParaRPr>
          </a:p>
          <a:p>
            <a:pPr algn="just"/>
            <a:endParaRPr lang="en-US" sz="2000" dirty="0">
              <a:effectLst/>
              <a:latin typeface="Garamond" panose="02020404030301010803" pitchFamily="18" charset="0"/>
            </a:endParaRPr>
          </a:p>
          <a:p>
            <a:pPr algn="just"/>
            <a:endParaRPr lang="en-US" sz="2000" dirty="0">
              <a:latin typeface="Garamond" panose="02020404030301010803" pitchFamily="18" charset="0"/>
            </a:endParaRPr>
          </a:p>
          <a:p>
            <a:pPr algn="just"/>
            <a:r>
              <a:rPr lang="en-US" sz="1600" dirty="0">
                <a:effectLst/>
                <a:latin typeface="Garamond" panose="02020404030301010803" pitchFamily="18" charset="0"/>
              </a:rPr>
              <a:t>Other references to read on examples of virtue ethics into AI:</a:t>
            </a:r>
          </a:p>
          <a:p>
            <a:pPr algn="just"/>
            <a:r>
              <a:rPr lang="en-US" sz="1600" dirty="0">
                <a:solidFill>
                  <a:srgbClr val="0563C1"/>
                </a:solidFill>
                <a:effectLst/>
                <a:latin typeface="Garamond" panose="02020404030301010803" pitchFamily="18" charset="0"/>
                <a:hlinkClick r:id="rId3"/>
              </a:rPr>
              <a:t>Virtue Ethics for Autonomous Car</a:t>
            </a:r>
            <a:r>
              <a:rPr lang="en-US" sz="1600" dirty="0">
                <a:effectLst/>
                <a:latin typeface="Garamond" panose="02020404030301010803" pitchFamily="18" charset="0"/>
              </a:rPr>
              <a:t> </a:t>
            </a:r>
            <a:r>
              <a:rPr lang="en-US" sz="1600" dirty="0" err="1">
                <a:effectLst/>
                <a:latin typeface="Garamond" panose="02020404030301010803" pitchFamily="18" charset="0"/>
              </a:rPr>
              <a:t>Rakić</a:t>
            </a:r>
            <a:r>
              <a:rPr lang="en-US" sz="1600" dirty="0">
                <a:effectLst/>
                <a:latin typeface="Garamond" panose="02020404030301010803" pitchFamily="18" charset="0"/>
              </a:rPr>
              <a:t> and </a:t>
            </a:r>
            <a:r>
              <a:rPr lang="en-US" sz="1600" dirty="0" err="1">
                <a:effectLst/>
                <a:latin typeface="Garamond" panose="02020404030301010803" pitchFamily="18" charset="0"/>
              </a:rPr>
              <a:t>Dražić</a:t>
            </a:r>
            <a:r>
              <a:rPr lang="en-US" sz="1600" dirty="0">
                <a:effectLst/>
                <a:latin typeface="Garamond" panose="02020404030301010803" pitchFamily="18" charset="0"/>
              </a:rPr>
              <a:t> (2019)</a:t>
            </a:r>
          </a:p>
          <a:p>
            <a:pPr algn="just"/>
            <a:r>
              <a:rPr lang="en-US" sz="1600" dirty="0">
                <a:solidFill>
                  <a:srgbClr val="0563C1"/>
                </a:solidFill>
                <a:effectLst/>
                <a:latin typeface="Garamond" panose="02020404030301010803" pitchFamily="18" charset="0"/>
                <a:hlinkClick r:id="rId4"/>
              </a:rPr>
              <a:t>Virtue Ethics for Social Robots</a:t>
            </a:r>
            <a:r>
              <a:rPr lang="en-US" sz="1600" dirty="0">
                <a:effectLst/>
                <a:latin typeface="Garamond" panose="02020404030301010803" pitchFamily="18" charset="0"/>
              </a:rPr>
              <a:t> </a:t>
            </a:r>
            <a:r>
              <a:rPr lang="en-US" sz="1600" dirty="0" err="1">
                <a:effectLst/>
                <a:latin typeface="Garamond" panose="02020404030301010803" pitchFamily="18" charset="0"/>
              </a:rPr>
              <a:t>Geisslinger</a:t>
            </a:r>
            <a:r>
              <a:rPr lang="en-US" sz="1600" dirty="0">
                <a:effectLst/>
                <a:latin typeface="Garamond" panose="02020404030301010803" pitchFamily="18" charset="0"/>
              </a:rPr>
              <a:t> </a:t>
            </a:r>
            <a:r>
              <a:rPr lang="en-US" sz="1600" dirty="0" err="1">
                <a:effectLst/>
                <a:latin typeface="Garamond" panose="02020404030301010803" pitchFamily="18" charset="0"/>
              </a:rPr>
              <a:t>etl</a:t>
            </a:r>
            <a:r>
              <a:rPr lang="en-US" sz="1600" dirty="0">
                <a:effectLst/>
                <a:latin typeface="Garamond" panose="02020404030301010803" pitchFamily="18" charset="0"/>
              </a:rPr>
              <a:t> (2021)</a:t>
            </a:r>
          </a:p>
        </p:txBody>
      </p:sp>
    </p:spTree>
    <p:extLst>
      <p:ext uri="{BB962C8B-B14F-4D97-AF65-F5344CB8AC3E}">
        <p14:creationId xmlns:p14="http://schemas.microsoft.com/office/powerpoint/2010/main" val="4140598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7FEFB80D-8781-D188-C023-BE3709933A19}"/>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Introduction to Utilitarianism Ethics</a:t>
            </a:r>
          </a:p>
        </p:txBody>
      </p:sp>
      <p:sp>
        <p:nvSpPr>
          <p:cNvPr id="2"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1991557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D186E6-0C7C-DE7D-F446-D5F7E98A4AF8}"/>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Utilitarianism Ethics</a:t>
            </a:r>
          </a:p>
        </p:txBody>
      </p:sp>
      <p:sp>
        <p:nvSpPr>
          <p:cNvPr id="5" name="TextBox 4">
            <a:extLst>
              <a:ext uri="{FF2B5EF4-FFF2-40B4-BE49-F238E27FC236}">
                <a16:creationId xmlns:a16="http://schemas.microsoft.com/office/drawing/2014/main" id="{4982AC9D-67D9-384B-C143-21EFC781A0A9}"/>
              </a:ext>
            </a:extLst>
          </p:cNvPr>
          <p:cNvSpPr txBox="1"/>
          <p:nvPr/>
        </p:nvSpPr>
        <p:spPr>
          <a:xfrm>
            <a:off x="767408" y="1556792"/>
            <a:ext cx="9793088" cy="2831544"/>
          </a:xfrm>
          <a:prstGeom prst="rect">
            <a:avLst/>
          </a:prstGeom>
          <a:noFill/>
        </p:spPr>
        <p:txBody>
          <a:bodyPr wrap="square">
            <a:spAutoFit/>
          </a:bodyPr>
          <a:lstStyle/>
          <a:p>
            <a:pPr algn="just"/>
            <a:r>
              <a:rPr lang="en-US" sz="2200" dirty="0">
                <a:solidFill>
                  <a:srgbClr val="000000"/>
                </a:solidFill>
                <a:effectLst/>
                <a:latin typeface="Garamond" panose="02020404030301010803" pitchFamily="18" charset="0"/>
              </a:rPr>
              <a:t>Utilitarianism is a prominent form of consequentialism, which was introduced by philosopher Jeremy Bentham and promotes maximization of human welfare. </a:t>
            </a:r>
          </a:p>
          <a:p>
            <a:pPr algn="just"/>
            <a:endParaRPr lang="en-US" sz="2200" dirty="0">
              <a:solidFill>
                <a:srgbClr val="000000"/>
              </a:solidFill>
              <a:latin typeface="Garamond" panose="02020404030301010803" pitchFamily="18" charset="0"/>
            </a:endParaRPr>
          </a:p>
          <a:p>
            <a:pPr algn="just"/>
            <a:r>
              <a:rPr lang="en-US" sz="2200" dirty="0">
                <a:solidFill>
                  <a:srgbClr val="000000"/>
                </a:solidFill>
                <a:effectLst/>
                <a:latin typeface="Garamond" panose="02020404030301010803" pitchFamily="18" charset="0"/>
              </a:rPr>
              <a:t>The theory determined the ethical correctness of an act or norm solely on the basis of its (foreseeable) consequences by maximizing the expected overall utility.</a:t>
            </a:r>
          </a:p>
          <a:p>
            <a:pPr algn="just"/>
            <a:endParaRPr lang="en-US" sz="2200" dirty="0">
              <a:solidFill>
                <a:srgbClr val="000000"/>
              </a:solidFill>
              <a:latin typeface="Garamond" panose="02020404030301010803" pitchFamily="18" charset="0"/>
            </a:endParaRPr>
          </a:p>
          <a:p>
            <a:pPr algn="just"/>
            <a:r>
              <a:rPr lang="en-US" sz="2200" dirty="0">
                <a:solidFill>
                  <a:srgbClr val="000000"/>
                </a:solidFill>
                <a:effectLst/>
                <a:latin typeface="Garamond" panose="02020404030301010803" pitchFamily="18" charset="0"/>
              </a:rPr>
              <a:t>Thus, it is concerned with the overall ethical consequences of a particular action</a:t>
            </a:r>
            <a:r>
              <a:rPr lang="en-US" sz="2400" dirty="0">
                <a:effectLst/>
                <a:latin typeface="Times New Roman" panose="02020603050405020304" pitchFamily="18" charset="0"/>
              </a:rPr>
              <a:t>.</a:t>
            </a:r>
            <a:endParaRPr lang="en-US" sz="2200" dirty="0">
              <a:solidFill>
                <a:srgbClr val="000000"/>
              </a:solidFill>
              <a:effectLst/>
              <a:latin typeface="Garamond" panose="02020404030301010803" pitchFamily="18" charset="0"/>
            </a:endParaRPr>
          </a:p>
          <a:p>
            <a:pPr algn="just"/>
            <a:endParaRPr lang="en-US" sz="2200" dirty="0">
              <a:effectLst/>
              <a:latin typeface="Garamond" panose="02020404030301010803" pitchFamily="18" charset="0"/>
            </a:endParaRPr>
          </a:p>
        </p:txBody>
      </p:sp>
    </p:spTree>
    <p:extLst>
      <p:ext uri="{BB962C8B-B14F-4D97-AF65-F5344CB8AC3E}">
        <p14:creationId xmlns:p14="http://schemas.microsoft.com/office/powerpoint/2010/main" val="3974098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FC27E12-170C-F3C2-4C4B-29293770136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Utilitarianism Ethics</a:t>
            </a:r>
          </a:p>
        </p:txBody>
      </p:sp>
      <p:sp>
        <p:nvSpPr>
          <p:cNvPr id="5" name="TextBox 4">
            <a:extLst>
              <a:ext uri="{FF2B5EF4-FFF2-40B4-BE49-F238E27FC236}">
                <a16:creationId xmlns:a16="http://schemas.microsoft.com/office/drawing/2014/main" id="{76F3DADD-8E52-2C6B-04BC-5018004449CE}"/>
              </a:ext>
            </a:extLst>
          </p:cNvPr>
          <p:cNvSpPr txBox="1"/>
          <p:nvPr/>
        </p:nvSpPr>
        <p:spPr>
          <a:xfrm>
            <a:off x="767408" y="1443841"/>
            <a:ext cx="8307672" cy="3477875"/>
          </a:xfrm>
          <a:prstGeom prst="rect">
            <a:avLst/>
          </a:prstGeom>
          <a:noFill/>
        </p:spPr>
        <p:txBody>
          <a:bodyPr wrap="square">
            <a:spAutoFit/>
          </a:bodyPr>
          <a:lstStyle/>
          <a:p>
            <a:pPr algn="l"/>
            <a:r>
              <a:rPr lang="en-US" sz="2200" b="0" i="0" dirty="0">
                <a:solidFill>
                  <a:srgbClr val="333333"/>
                </a:solidFill>
                <a:effectLst/>
                <a:latin typeface="Garamond" panose="02020404030301010803" pitchFamily="18" charset="0"/>
              </a:rPr>
              <a:t>Utilitarianism offers a relatively simple method for deciding, whether an action is morally right or not. Some of the steps suggested are:</a:t>
            </a:r>
          </a:p>
          <a:p>
            <a:pPr algn="l"/>
            <a:endParaRPr lang="en-US" sz="2200" b="0" i="0" dirty="0">
              <a:solidFill>
                <a:srgbClr val="333333"/>
              </a:solidFill>
              <a:effectLst/>
              <a:latin typeface="Garamond" panose="02020404030301010803" pitchFamily="18" charset="0"/>
            </a:endParaRPr>
          </a:p>
          <a:p>
            <a:pPr marL="457200" indent="-457200" algn="l">
              <a:buFont typeface="+mj-lt"/>
              <a:buAutoNum type="arabicPeriod"/>
            </a:pPr>
            <a:r>
              <a:rPr lang="en-US" sz="2200" b="0" i="0" dirty="0">
                <a:solidFill>
                  <a:srgbClr val="212121"/>
                </a:solidFill>
                <a:effectLst/>
                <a:latin typeface="Garamond" panose="02020404030301010803" pitchFamily="18" charset="0"/>
              </a:rPr>
              <a:t>Firstly, we identify the various actions that we could perform</a:t>
            </a:r>
          </a:p>
          <a:p>
            <a:pPr marL="457200" indent="-457200" algn="l">
              <a:buFont typeface="+mj-lt"/>
              <a:buAutoNum type="arabicPeriod"/>
            </a:pPr>
            <a:r>
              <a:rPr lang="en-US" sz="2200" b="0" i="0" dirty="0">
                <a:solidFill>
                  <a:srgbClr val="212121"/>
                </a:solidFill>
                <a:effectLst/>
                <a:latin typeface="Garamond" panose="02020404030301010803" pitchFamily="18" charset="0"/>
              </a:rPr>
              <a:t>Secondly, we estimate the benefits and harm that would result from each action</a:t>
            </a:r>
          </a:p>
          <a:p>
            <a:pPr marL="457200" indent="-457200" algn="l">
              <a:buFont typeface="+mj-lt"/>
              <a:buAutoNum type="arabicPeriod"/>
            </a:pPr>
            <a:r>
              <a:rPr lang="en-US" sz="2200" b="0" i="0" dirty="0">
                <a:solidFill>
                  <a:srgbClr val="212121"/>
                </a:solidFill>
                <a:effectLst/>
                <a:latin typeface="Garamond" panose="02020404030301010803" pitchFamily="18" charset="0"/>
              </a:rPr>
              <a:t>Thirdly, we choose the action that provides the greatest benefits after the costs have been taken into account</a:t>
            </a:r>
          </a:p>
          <a:p>
            <a:br>
              <a:rPr lang="en-US" sz="2200" dirty="0">
                <a:latin typeface="Garamond" panose="02020404030301010803" pitchFamily="18" charset="0"/>
              </a:rPr>
            </a:br>
            <a:endParaRPr lang="en-US" sz="2200" dirty="0">
              <a:effectLst/>
              <a:latin typeface="Garamond" panose="02020404030301010803" pitchFamily="18" charset="0"/>
            </a:endParaRPr>
          </a:p>
        </p:txBody>
      </p:sp>
    </p:spTree>
    <p:extLst>
      <p:ext uri="{BB962C8B-B14F-4D97-AF65-F5344CB8AC3E}">
        <p14:creationId xmlns:p14="http://schemas.microsoft.com/office/powerpoint/2010/main" val="873147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AF087C-A7FB-B028-98C0-EA2659A6BDA3}"/>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Application of utilitarianism ethics in AI</a:t>
            </a:r>
          </a:p>
        </p:txBody>
      </p:sp>
      <p:sp>
        <p:nvSpPr>
          <p:cNvPr id="5" name="TextBox 4">
            <a:extLst>
              <a:ext uri="{FF2B5EF4-FFF2-40B4-BE49-F238E27FC236}">
                <a16:creationId xmlns:a16="http://schemas.microsoft.com/office/drawing/2014/main" id="{2A60F58A-DC8C-BC94-1A6E-36F4B4D3BE01}"/>
              </a:ext>
            </a:extLst>
          </p:cNvPr>
          <p:cNvSpPr txBox="1"/>
          <p:nvPr/>
        </p:nvSpPr>
        <p:spPr>
          <a:xfrm>
            <a:off x="767408" y="1443841"/>
            <a:ext cx="9649072" cy="5016758"/>
          </a:xfrm>
          <a:prstGeom prst="rect">
            <a:avLst/>
          </a:prstGeom>
          <a:noFill/>
        </p:spPr>
        <p:txBody>
          <a:bodyPr wrap="square">
            <a:spAutoFit/>
          </a:bodyPr>
          <a:lstStyle/>
          <a:p>
            <a:pPr algn="just"/>
            <a:r>
              <a:rPr lang="en-US" sz="2000" dirty="0">
                <a:effectLst/>
                <a:latin typeface="Garamond" panose="02020404030301010803" pitchFamily="18" charset="0"/>
              </a:rPr>
              <a:t>This theory was chosen as artificial intelligence operates with large amounts of users’ data and it is a technological tool for people, which is very close to the main idea of this ethical theory - to achieve a greater good for society. </a:t>
            </a:r>
          </a:p>
          <a:p>
            <a:pPr algn="just"/>
            <a:endParaRPr lang="en-US" sz="2000" dirty="0">
              <a:latin typeface="Garamond" panose="02020404030301010803" pitchFamily="18" charset="0"/>
            </a:endParaRPr>
          </a:p>
          <a:p>
            <a:pPr algn="just"/>
            <a:r>
              <a:rPr lang="en-US" sz="2000" dirty="0">
                <a:effectLst/>
                <a:latin typeface="Garamond" panose="02020404030301010803" pitchFamily="18" charset="0"/>
              </a:rPr>
              <a:t>The utilitarianism theory “is one of the most common approaches to making ethical decisions, especially decisions with consequences that concern large groups of people, in part because it instructs us to weigh the different amounts of good and bad that will be produced by our action”.</a:t>
            </a:r>
          </a:p>
          <a:p>
            <a:pPr algn="just"/>
            <a:endParaRPr lang="en-US" sz="2000" dirty="0">
              <a:latin typeface="Garamond" panose="02020404030301010803" pitchFamily="18" charset="0"/>
            </a:endParaRPr>
          </a:p>
          <a:p>
            <a:pPr algn="just"/>
            <a:r>
              <a:rPr lang="en-US" sz="2000" dirty="0">
                <a:effectLst/>
                <a:latin typeface="Garamond" panose="02020404030301010803" pitchFamily="18" charset="0"/>
              </a:rPr>
              <a:t>The assessment of good and bad should be done by the people using the system. </a:t>
            </a:r>
          </a:p>
          <a:p>
            <a:pPr algn="just"/>
            <a:endParaRPr lang="en-US" sz="2000" dirty="0">
              <a:latin typeface="Garamond" panose="02020404030301010803" pitchFamily="18" charset="0"/>
            </a:endParaRPr>
          </a:p>
          <a:p>
            <a:pPr algn="just"/>
            <a:endParaRPr lang="en-US" sz="2000" dirty="0">
              <a:effectLst/>
              <a:latin typeface="Garamond" panose="02020404030301010803" pitchFamily="18" charset="0"/>
            </a:endParaRPr>
          </a:p>
          <a:p>
            <a:pPr algn="just"/>
            <a:r>
              <a:rPr lang="en-US" sz="2000" dirty="0">
                <a:effectLst/>
                <a:latin typeface="Garamond" panose="02020404030301010803" pitchFamily="18" charset="0"/>
              </a:rPr>
              <a:t>Reference:</a:t>
            </a:r>
          </a:p>
          <a:p>
            <a:pPr algn="just"/>
            <a:r>
              <a:rPr lang="en-US" sz="2000" dirty="0">
                <a:effectLst/>
                <a:latin typeface="Garamond" panose="02020404030301010803" pitchFamily="18" charset="0"/>
                <a:hlinkClick r:id="rId3"/>
              </a:rPr>
              <a:t>https://essay.utwente.nl/86726/1/Mitov_BA_BMS.pdf</a:t>
            </a:r>
            <a:endParaRPr lang="en-US" sz="2000" dirty="0">
              <a:effectLst/>
              <a:latin typeface="Garamond" panose="02020404030301010803" pitchFamily="18" charset="0"/>
            </a:endParaRPr>
          </a:p>
          <a:p>
            <a:pPr algn="just"/>
            <a:endParaRPr lang="en-US" sz="2000" dirty="0">
              <a:effectLst/>
              <a:latin typeface="Garamond" panose="02020404030301010803" pitchFamily="18" charset="0"/>
            </a:endParaRPr>
          </a:p>
          <a:p>
            <a:pPr algn="just"/>
            <a:endParaRPr lang="en-US" sz="2000" dirty="0">
              <a:effectLst/>
              <a:latin typeface="Garamond" panose="02020404030301010803" pitchFamily="18" charset="0"/>
            </a:endParaRPr>
          </a:p>
        </p:txBody>
      </p:sp>
    </p:spTree>
    <p:extLst>
      <p:ext uri="{BB962C8B-B14F-4D97-AF65-F5344CB8AC3E}">
        <p14:creationId xmlns:p14="http://schemas.microsoft.com/office/powerpoint/2010/main" val="2739609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2E66C04-AD17-2C1E-074B-643B06FD5B3B}"/>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Application of utilitarianism ethics in AI</a:t>
            </a:r>
          </a:p>
        </p:txBody>
      </p:sp>
      <p:sp>
        <p:nvSpPr>
          <p:cNvPr id="5" name="TextBox 4">
            <a:extLst>
              <a:ext uri="{FF2B5EF4-FFF2-40B4-BE49-F238E27FC236}">
                <a16:creationId xmlns:a16="http://schemas.microsoft.com/office/drawing/2014/main" id="{8ED653CB-D0F3-82D4-EDE8-C70BF0321A0C}"/>
              </a:ext>
            </a:extLst>
          </p:cNvPr>
          <p:cNvSpPr txBox="1"/>
          <p:nvPr/>
        </p:nvSpPr>
        <p:spPr>
          <a:xfrm>
            <a:off x="767408" y="1443841"/>
            <a:ext cx="9649072" cy="3785652"/>
          </a:xfrm>
          <a:prstGeom prst="rect">
            <a:avLst/>
          </a:prstGeom>
          <a:noFill/>
        </p:spPr>
        <p:txBody>
          <a:bodyPr wrap="square">
            <a:spAutoFit/>
          </a:bodyPr>
          <a:lstStyle/>
          <a:p>
            <a:pPr algn="just"/>
            <a:r>
              <a:rPr lang="en-US" sz="2000" dirty="0">
                <a:solidFill>
                  <a:srgbClr val="212529"/>
                </a:solidFill>
                <a:effectLst/>
                <a:latin typeface="Garamond" panose="02020404030301010803" pitchFamily="18" charset="0"/>
              </a:rPr>
              <a:t>Utilitarianism can also be used for evaluation such as cost-benefit analysis such as in medical diagnostics, “big data” analytics, robots to help care for the elderly, and lethal autonomous weapons systems in war.</a:t>
            </a:r>
          </a:p>
          <a:p>
            <a:pPr algn="just"/>
            <a:endParaRPr lang="en-US" sz="2000" dirty="0">
              <a:effectLst/>
              <a:latin typeface="Garamond" panose="02020404030301010803" pitchFamily="18" charset="0"/>
            </a:endParaRPr>
          </a:p>
          <a:p>
            <a:pPr algn="just"/>
            <a:r>
              <a:rPr lang="en-US" sz="2000" dirty="0">
                <a:effectLst/>
                <a:latin typeface="Garamond" panose="02020404030301010803" pitchFamily="18" charset="0"/>
              </a:rPr>
              <a:t>An example how the cost side of equation is evaluated for the above example is to evaluate the downside. Replacing human labor with robots will threaten to take away jobs, separate us from meaningful work, separate us from being able to understand the data we analyze, leave the elderly isolated from human contact, and, ultimately even threaten our lives, perhaps even driving us extinct. These downside risks are significant and worthy of serious consideration starting before these technologies are implemented.</a:t>
            </a:r>
          </a:p>
          <a:p>
            <a:pPr algn="just"/>
            <a:endParaRPr lang="en-US" sz="2000" dirty="0">
              <a:effectLst/>
              <a:latin typeface="Garamond" panose="02020404030301010803" pitchFamily="18" charset="0"/>
            </a:endParaRPr>
          </a:p>
          <a:p>
            <a:pPr algn="just"/>
            <a:endParaRPr lang="en-US" sz="2000" dirty="0">
              <a:effectLst/>
              <a:latin typeface="Garamond" panose="02020404030301010803" pitchFamily="18" charset="0"/>
            </a:endParaRPr>
          </a:p>
        </p:txBody>
      </p:sp>
    </p:spTree>
    <p:extLst>
      <p:ext uri="{BB962C8B-B14F-4D97-AF65-F5344CB8AC3E}">
        <p14:creationId xmlns:p14="http://schemas.microsoft.com/office/powerpoint/2010/main" val="3948727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46FA580-A81C-4F13-BED6-5FEC605BEA2F}"/>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Application of utilitarianism ethics in AI</a:t>
            </a:r>
          </a:p>
        </p:txBody>
      </p:sp>
      <p:sp>
        <p:nvSpPr>
          <p:cNvPr id="5" name="TextBox 4">
            <a:extLst>
              <a:ext uri="{FF2B5EF4-FFF2-40B4-BE49-F238E27FC236}">
                <a16:creationId xmlns:a16="http://schemas.microsoft.com/office/drawing/2014/main" id="{0AF49C78-F1E9-2F92-A96B-096119420B84}"/>
              </a:ext>
            </a:extLst>
          </p:cNvPr>
          <p:cNvSpPr txBox="1"/>
          <p:nvPr/>
        </p:nvSpPr>
        <p:spPr>
          <a:xfrm>
            <a:off x="1199456" y="1628800"/>
            <a:ext cx="9433048" cy="2862322"/>
          </a:xfrm>
          <a:prstGeom prst="rect">
            <a:avLst/>
          </a:prstGeom>
          <a:noFill/>
        </p:spPr>
        <p:txBody>
          <a:bodyPr wrap="square">
            <a:spAutoFit/>
          </a:bodyPr>
          <a:lstStyle/>
          <a:p>
            <a:pPr algn="just"/>
            <a:r>
              <a:rPr lang="en-US" sz="2000" dirty="0">
                <a:solidFill>
                  <a:srgbClr val="1F3763"/>
                </a:solidFill>
                <a:effectLst/>
                <a:latin typeface="Garamond" panose="02020404030301010803" pitchFamily="18" charset="0"/>
              </a:rPr>
              <a:t>Example: Utilitarianism in blood pressure App</a:t>
            </a:r>
          </a:p>
          <a:p>
            <a:pPr algn="just"/>
            <a:endParaRPr lang="en-US" sz="2000" dirty="0">
              <a:latin typeface="Garamond" panose="02020404030301010803" pitchFamily="18" charset="0"/>
            </a:endParaRPr>
          </a:p>
          <a:p>
            <a:pPr algn="just"/>
            <a:r>
              <a:rPr lang="en-US" sz="2000" dirty="0">
                <a:effectLst/>
                <a:latin typeface="Garamond" panose="02020404030301010803" pitchFamily="18" charset="0"/>
              </a:rPr>
              <a:t>Utilitarianism</a:t>
            </a:r>
            <a:r>
              <a:rPr lang="en-US" sz="2000" dirty="0">
                <a:solidFill>
                  <a:srgbClr val="242021"/>
                </a:solidFill>
                <a:effectLst/>
                <a:latin typeface="Garamond" panose="02020404030301010803" pitchFamily="18" charset="0"/>
              </a:rPr>
              <a:t> can be applied in the algorithm of </a:t>
            </a:r>
            <a:r>
              <a:rPr lang="en-US" sz="2000" dirty="0">
                <a:solidFill>
                  <a:srgbClr val="242021"/>
                </a:solidFill>
                <a:latin typeface="Garamond" panose="02020404030301010803" pitchFamily="18" charset="0"/>
              </a:rPr>
              <a:t>blood pressure App</a:t>
            </a:r>
            <a:r>
              <a:rPr lang="en-US" sz="2000" dirty="0">
                <a:solidFill>
                  <a:srgbClr val="242021"/>
                </a:solidFill>
                <a:effectLst/>
                <a:latin typeface="Garamond" panose="02020404030301010803" pitchFamily="18" charset="0"/>
              </a:rPr>
              <a:t> in calculating the distribution of risks in collecting personal data. </a:t>
            </a:r>
            <a:r>
              <a:rPr lang="en-US" sz="2000" dirty="0">
                <a:effectLst/>
                <a:latin typeface="Garamond" panose="02020404030301010803" pitchFamily="18" charset="0"/>
              </a:rPr>
              <a:t> We can apply to detail the following: </a:t>
            </a:r>
          </a:p>
          <a:p>
            <a:pPr algn="just"/>
            <a:endParaRPr lang="en-US" sz="2000" dirty="0">
              <a:effectLst/>
              <a:latin typeface="Garamond" panose="02020404030301010803" pitchFamily="18" charset="0"/>
            </a:endParaRPr>
          </a:p>
          <a:p>
            <a:pPr marL="342900" indent="-342900" algn="just">
              <a:buFont typeface="Arial" panose="020B0604020202020204" pitchFamily="34" charset="0"/>
              <a:buChar char="•"/>
            </a:pPr>
            <a:r>
              <a:rPr lang="en-US" sz="2000" dirty="0">
                <a:latin typeface="Garamond" panose="02020404030301010803" pitchFamily="18" charset="0"/>
              </a:rPr>
              <a:t>Personal blood pressure data</a:t>
            </a:r>
            <a:r>
              <a:rPr lang="en-US" sz="2000" dirty="0">
                <a:effectLst/>
                <a:latin typeface="Garamond" panose="02020404030301010803" pitchFamily="18" charset="0"/>
              </a:rPr>
              <a:t> to follow a utilitarian standard of saving the maximum number of statistical lives</a:t>
            </a:r>
          </a:p>
          <a:p>
            <a:pPr marL="342900" indent="-342900" algn="just">
              <a:buFont typeface="Arial" panose="020B0604020202020204" pitchFamily="34" charset="0"/>
              <a:buChar char="•"/>
            </a:pPr>
            <a:r>
              <a:rPr lang="en-US" sz="2000" dirty="0">
                <a:effectLst/>
                <a:latin typeface="Garamond" panose="02020404030301010803" pitchFamily="18" charset="0"/>
              </a:rPr>
              <a:t>the distribution of risk is applied equally to different users</a:t>
            </a:r>
          </a:p>
          <a:p>
            <a:pPr marL="342900" indent="-342900" algn="just">
              <a:buFont typeface="Arial" panose="020B0604020202020204" pitchFamily="34" charset="0"/>
              <a:buChar char="•"/>
            </a:pPr>
            <a:r>
              <a:rPr lang="en-US" sz="2000" dirty="0">
                <a:latin typeface="Garamond" panose="02020404030301010803" pitchFamily="18" charset="0"/>
              </a:rPr>
              <a:t>p</a:t>
            </a:r>
            <a:r>
              <a:rPr lang="en-US" sz="2000" dirty="0">
                <a:effectLst/>
                <a:latin typeface="Garamond" panose="02020404030301010803" pitchFamily="18" charset="0"/>
              </a:rPr>
              <a:t>arameters will not include age and gender </a:t>
            </a:r>
            <a:r>
              <a:rPr lang="en-US" sz="2000" dirty="0" err="1">
                <a:effectLst/>
                <a:latin typeface="Garamond" panose="02020404030301010803" pitchFamily="18" charset="0"/>
              </a:rPr>
              <a:t>etcs</a:t>
            </a:r>
            <a:r>
              <a:rPr lang="en-US" sz="2000" dirty="0">
                <a:effectLst/>
                <a:latin typeface="Garamond" panose="02020404030301010803" pitchFamily="18" charset="0"/>
              </a:rPr>
              <a:t> and remain anonymized </a:t>
            </a:r>
          </a:p>
        </p:txBody>
      </p:sp>
    </p:spTree>
    <p:extLst>
      <p:ext uri="{BB962C8B-B14F-4D97-AF65-F5344CB8AC3E}">
        <p14:creationId xmlns:p14="http://schemas.microsoft.com/office/powerpoint/2010/main" val="2269826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26299DD4-148C-4DD2-E42A-96B7CEBE3A0E}"/>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Introduction to Deontology Ethics</a:t>
            </a:r>
          </a:p>
        </p:txBody>
      </p:sp>
      <p:sp>
        <p:nvSpPr>
          <p:cNvPr id="2"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2933473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C5A0F24-EAFD-44B6-A2EF-7B1E0B4B86B3}"/>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Deontology ethics</a:t>
            </a:r>
          </a:p>
        </p:txBody>
      </p:sp>
      <p:sp>
        <p:nvSpPr>
          <p:cNvPr id="5" name="TextBox 4">
            <a:extLst>
              <a:ext uri="{FF2B5EF4-FFF2-40B4-BE49-F238E27FC236}">
                <a16:creationId xmlns:a16="http://schemas.microsoft.com/office/drawing/2014/main" id="{1D7A8F9A-3914-6E35-2166-A490D7E33B31}"/>
              </a:ext>
            </a:extLst>
          </p:cNvPr>
          <p:cNvSpPr txBox="1"/>
          <p:nvPr/>
        </p:nvSpPr>
        <p:spPr>
          <a:xfrm>
            <a:off x="1199456" y="1628800"/>
            <a:ext cx="9433048" cy="3847207"/>
          </a:xfrm>
          <a:prstGeom prst="rect">
            <a:avLst/>
          </a:prstGeom>
          <a:noFill/>
        </p:spPr>
        <p:txBody>
          <a:bodyPr wrap="square">
            <a:spAutoFit/>
          </a:bodyPr>
          <a:lstStyle/>
          <a:p>
            <a:pPr algn="just"/>
            <a:r>
              <a:rPr lang="en-US" sz="2200" dirty="0">
                <a:effectLst/>
                <a:latin typeface="Garamond" panose="02020404030301010803" pitchFamily="18" charset="0"/>
              </a:rPr>
              <a:t>Deontology is derived from the Greek words </a:t>
            </a:r>
            <a:r>
              <a:rPr lang="en-US" sz="2200" dirty="0" err="1">
                <a:effectLst/>
                <a:latin typeface="Garamond" panose="02020404030301010803" pitchFamily="18" charset="0"/>
              </a:rPr>
              <a:t>deos</a:t>
            </a:r>
            <a:r>
              <a:rPr lang="en-US" sz="2200" dirty="0">
                <a:effectLst/>
                <a:latin typeface="Garamond" panose="02020404030301010803" pitchFamily="18" charset="0"/>
              </a:rPr>
              <a:t> meaning “duty” and logos meaning “the study of”. </a:t>
            </a:r>
          </a:p>
          <a:p>
            <a:pPr algn="just"/>
            <a:endParaRPr lang="en-US" sz="2200" dirty="0">
              <a:latin typeface="Garamond" panose="02020404030301010803" pitchFamily="18" charset="0"/>
            </a:endParaRPr>
          </a:p>
          <a:p>
            <a:pPr algn="just"/>
            <a:r>
              <a:rPr lang="en-US" sz="2200" dirty="0">
                <a:effectLst/>
                <a:latin typeface="Garamond" panose="02020404030301010803" pitchFamily="18" charset="0"/>
              </a:rPr>
              <a:t>Duty-based ethics, in direct contrast to </a:t>
            </a:r>
            <a:r>
              <a:rPr lang="en-US" sz="2400" dirty="0">
                <a:effectLst/>
                <a:latin typeface="Garamond" panose="02020404030301010803" pitchFamily="18" charset="0"/>
              </a:rPr>
              <a:t>Utilitarianism</a:t>
            </a:r>
            <a:r>
              <a:rPr lang="en-US" sz="2200" dirty="0">
                <a:effectLst/>
                <a:latin typeface="Garamond" panose="02020404030301010803" pitchFamily="18" charset="0"/>
              </a:rPr>
              <a:t>, does not look at the “ states of affairs ... choices bring about” but rather states that “some choices cannot be justified by their effects.” </a:t>
            </a:r>
          </a:p>
          <a:p>
            <a:pPr algn="just"/>
            <a:endParaRPr lang="en-US" sz="2200" dirty="0">
              <a:latin typeface="Garamond" panose="02020404030301010803" pitchFamily="18" charset="0"/>
            </a:endParaRPr>
          </a:p>
          <a:p>
            <a:pPr algn="just"/>
            <a:r>
              <a:rPr lang="en-US" sz="2200" dirty="0">
                <a:effectLst/>
                <a:latin typeface="Garamond" panose="02020404030301010803" pitchFamily="18" charset="0"/>
              </a:rPr>
              <a:t>For example a person may commit a crime but one cannot take matters in own hand to kill that person, rather that person who committed the crime has to go through formal justice.</a:t>
            </a:r>
          </a:p>
          <a:p>
            <a:pPr algn="just"/>
            <a:endParaRPr lang="en-US" sz="2200" dirty="0">
              <a:effectLst/>
              <a:latin typeface="Garamond" panose="02020404030301010803" pitchFamily="18" charset="0"/>
            </a:endParaRPr>
          </a:p>
        </p:txBody>
      </p:sp>
    </p:spTree>
    <p:extLst>
      <p:ext uri="{BB962C8B-B14F-4D97-AF65-F5344CB8AC3E}">
        <p14:creationId xmlns:p14="http://schemas.microsoft.com/office/powerpoint/2010/main" val="3708839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4B7DDD-12B6-DDDA-D875-FB14172F66B0}"/>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Deontology ethics</a:t>
            </a:r>
          </a:p>
        </p:txBody>
      </p:sp>
      <p:sp>
        <p:nvSpPr>
          <p:cNvPr id="5" name="TextBox 4">
            <a:extLst>
              <a:ext uri="{FF2B5EF4-FFF2-40B4-BE49-F238E27FC236}">
                <a16:creationId xmlns:a16="http://schemas.microsoft.com/office/drawing/2014/main" id="{F3E2FB6B-8DA7-7879-E7AA-A93569E5BE14}"/>
              </a:ext>
            </a:extLst>
          </p:cNvPr>
          <p:cNvSpPr txBox="1"/>
          <p:nvPr/>
        </p:nvSpPr>
        <p:spPr>
          <a:xfrm>
            <a:off x="1091444" y="1772816"/>
            <a:ext cx="9433048" cy="1538883"/>
          </a:xfrm>
          <a:prstGeom prst="rect">
            <a:avLst/>
          </a:prstGeom>
          <a:noFill/>
        </p:spPr>
        <p:txBody>
          <a:bodyPr wrap="square">
            <a:spAutoFit/>
          </a:bodyPr>
          <a:lstStyle/>
          <a:p>
            <a:pPr algn="just"/>
            <a:r>
              <a:rPr lang="en-US" sz="2400" dirty="0">
                <a:effectLst/>
                <a:latin typeface="Garamond" panose="02020404030301010803" pitchFamily="18" charset="0"/>
              </a:rPr>
              <a:t>People have the duty of doing the right thing, even if the result is bad. In order to know what is “right” a rule set is usually set in place such as “It is wrong to kill innocent people” or “It is wrong to tell a lie.”</a:t>
            </a:r>
          </a:p>
          <a:p>
            <a:pPr algn="just"/>
            <a:endParaRPr lang="en-US" sz="2200" dirty="0">
              <a:effectLst/>
              <a:latin typeface="Garamond" panose="02020404030301010803" pitchFamily="18" charset="0"/>
            </a:endParaRPr>
          </a:p>
        </p:txBody>
      </p:sp>
    </p:spTree>
    <p:extLst>
      <p:ext uri="{BB962C8B-B14F-4D97-AF65-F5344CB8AC3E}">
        <p14:creationId xmlns:p14="http://schemas.microsoft.com/office/powerpoint/2010/main" val="1674920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6A0775B-583B-C291-BD83-12AD5FB6E6F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Application of Deontology ethics in AI</a:t>
            </a:r>
          </a:p>
        </p:txBody>
      </p:sp>
      <p:sp>
        <p:nvSpPr>
          <p:cNvPr id="5" name="TextBox 4">
            <a:extLst>
              <a:ext uri="{FF2B5EF4-FFF2-40B4-BE49-F238E27FC236}">
                <a16:creationId xmlns:a16="http://schemas.microsoft.com/office/drawing/2014/main" id="{F330D278-15EE-237B-766C-7BF21DD5EA1B}"/>
              </a:ext>
            </a:extLst>
          </p:cNvPr>
          <p:cNvSpPr txBox="1"/>
          <p:nvPr/>
        </p:nvSpPr>
        <p:spPr>
          <a:xfrm>
            <a:off x="983432" y="1439144"/>
            <a:ext cx="9433048" cy="4555093"/>
          </a:xfrm>
          <a:prstGeom prst="rect">
            <a:avLst/>
          </a:prstGeom>
          <a:noFill/>
        </p:spPr>
        <p:txBody>
          <a:bodyPr wrap="square">
            <a:spAutoFit/>
          </a:bodyPr>
          <a:lstStyle/>
          <a:p>
            <a:pPr algn="just"/>
            <a:r>
              <a:rPr lang="en-US" sz="2200" dirty="0">
                <a:effectLst/>
                <a:latin typeface="Garamond" panose="02020404030301010803" pitchFamily="18" charset="0"/>
              </a:rPr>
              <a:t>In AI, deontology is usually used together as a guiding principle with the Three Law of Robotic by Isaac Asimov. The Law are:</a:t>
            </a:r>
          </a:p>
          <a:p>
            <a:pPr algn="just"/>
            <a:endParaRPr lang="en-US" sz="2200" dirty="0">
              <a:effectLst/>
              <a:latin typeface="Garamond" panose="02020404030301010803" pitchFamily="18" charset="0"/>
            </a:endParaRPr>
          </a:p>
          <a:p>
            <a:pPr marL="342900" indent="-342900" algn="just">
              <a:buFont typeface="Arial" panose="020B0604020202020204" pitchFamily="34" charset="0"/>
              <a:buChar char="•"/>
            </a:pPr>
            <a:r>
              <a:rPr lang="en-US" sz="2200" dirty="0">
                <a:effectLst/>
                <a:latin typeface="Garamond" panose="02020404030301010803" pitchFamily="18" charset="0"/>
              </a:rPr>
              <a:t>A robot may not injure a human being or, through inaction, allow a human being to come to harm.</a:t>
            </a:r>
          </a:p>
          <a:p>
            <a:pPr marL="342900" indent="-342900" algn="just">
              <a:buFont typeface="Arial" panose="020B0604020202020204" pitchFamily="34" charset="0"/>
              <a:buChar char="•"/>
            </a:pPr>
            <a:r>
              <a:rPr lang="en-US" sz="2200" dirty="0">
                <a:effectLst/>
                <a:latin typeface="Garamond" panose="02020404030301010803" pitchFamily="18" charset="0"/>
              </a:rPr>
              <a:t>A robot must obey the orders given it by human beings except where such orders would conflict with the First Law.</a:t>
            </a:r>
          </a:p>
          <a:p>
            <a:pPr marL="342900" indent="-342900" algn="just">
              <a:buFont typeface="Arial" panose="020B0604020202020204" pitchFamily="34" charset="0"/>
              <a:buChar char="•"/>
            </a:pPr>
            <a:r>
              <a:rPr lang="en-US" sz="2200" dirty="0">
                <a:effectLst/>
                <a:latin typeface="Garamond" panose="02020404030301010803" pitchFamily="18" charset="0"/>
              </a:rPr>
              <a:t>A robot must protect its own existence as long as such protection does not conflict with the First or Second Laws.</a:t>
            </a:r>
          </a:p>
          <a:p>
            <a:pPr marL="342900" indent="-342900" algn="just">
              <a:buFont typeface="Arial" panose="020B0604020202020204" pitchFamily="34" charset="0"/>
              <a:buChar char="•"/>
            </a:pPr>
            <a:endParaRPr lang="en-US" sz="2200" dirty="0">
              <a:latin typeface="Garamond" panose="02020404030301010803" pitchFamily="18" charset="0"/>
            </a:endParaRPr>
          </a:p>
          <a:p>
            <a:pPr algn="just"/>
            <a:r>
              <a:rPr lang="en-US" sz="2200" dirty="0">
                <a:effectLst/>
                <a:latin typeface="Garamond" panose="02020404030301010803" pitchFamily="18" charset="0"/>
              </a:rPr>
              <a:t>The Asimov’s laws basically encompass the values of beneficence and non-maleficence, fairness, and privacy protection.</a:t>
            </a:r>
          </a:p>
          <a:p>
            <a:pPr algn="just"/>
            <a:endParaRPr lang="en-US" sz="2200" dirty="0">
              <a:effectLst/>
              <a:latin typeface="Garamond" panose="02020404030301010803" pitchFamily="18" charset="0"/>
            </a:endParaRPr>
          </a:p>
        </p:txBody>
      </p:sp>
    </p:spTree>
    <p:extLst>
      <p:ext uri="{BB962C8B-B14F-4D97-AF65-F5344CB8AC3E}">
        <p14:creationId xmlns:p14="http://schemas.microsoft.com/office/powerpoint/2010/main" val="1239321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5EF82C6-F168-D1EA-06EB-70B62D19F3EC}"/>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Application of Deontology ethics in AI</a:t>
            </a:r>
          </a:p>
        </p:txBody>
      </p:sp>
      <p:sp>
        <p:nvSpPr>
          <p:cNvPr id="5" name="TextBox 4">
            <a:extLst>
              <a:ext uri="{FF2B5EF4-FFF2-40B4-BE49-F238E27FC236}">
                <a16:creationId xmlns:a16="http://schemas.microsoft.com/office/drawing/2014/main" id="{EF58E37D-3F29-F8D0-EFFB-AC944A125BF2}"/>
              </a:ext>
            </a:extLst>
          </p:cNvPr>
          <p:cNvSpPr txBox="1"/>
          <p:nvPr/>
        </p:nvSpPr>
        <p:spPr>
          <a:xfrm>
            <a:off x="820424" y="1268760"/>
            <a:ext cx="9433048" cy="5755422"/>
          </a:xfrm>
          <a:prstGeom prst="rect">
            <a:avLst/>
          </a:prstGeom>
          <a:noFill/>
        </p:spPr>
        <p:txBody>
          <a:bodyPr wrap="square">
            <a:spAutoFit/>
          </a:bodyPr>
          <a:lstStyle/>
          <a:p>
            <a:pPr algn="just"/>
            <a:r>
              <a:rPr lang="en-US" sz="2200" dirty="0">
                <a:solidFill>
                  <a:srgbClr val="1F3763"/>
                </a:solidFill>
                <a:effectLst/>
                <a:latin typeface="Garamond" panose="02020404030301010803" pitchFamily="18" charset="0"/>
              </a:rPr>
              <a:t>Example: </a:t>
            </a:r>
            <a:r>
              <a:rPr lang="en-US" sz="2400" dirty="0">
                <a:solidFill>
                  <a:srgbClr val="1F3763"/>
                </a:solidFill>
                <a:effectLst/>
                <a:latin typeface="Garamond" panose="02020404030301010803" pitchFamily="18" charset="0"/>
              </a:rPr>
              <a:t>Deontology in blood pressure App</a:t>
            </a:r>
          </a:p>
          <a:p>
            <a:pPr algn="just"/>
            <a:endParaRPr lang="en-US" sz="2200" dirty="0">
              <a:latin typeface="Garamond" panose="02020404030301010803" pitchFamily="18" charset="0"/>
            </a:endParaRPr>
          </a:p>
          <a:p>
            <a:pPr algn="just"/>
            <a:r>
              <a:rPr lang="en-US" sz="2200" dirty="0">
                <a:effectLst/>
                <a:latin typeface="Garamond" panose="02020404030301010803" pitchFamily="18" charset="0"/>
              </a:rPr>
              <a:t>Taking the idea of prioritizing human life and, we can apply deontology to design the </a:t>
            </a:r>
            <a:r>
              <a:rPr lang="en-US" sz="2200" dirty="0">
                <a:latin typeface="Garamond" panose="02020404030301010803" pitchFamily="18" charset="0"/>
              </a:rPr>
              <a:t>blood pressure App</a:t>
            </a:r>
            <a:r>
              <a:rPr lang="en-US" sz="2200" dirty="0">
                <a:effectLst/>
                <a:latin typeface="Garamond" panose="02020404030301010803" pitchFamily="18" charset="0"/>
              </a:rPr>
              <a:t>.</a:t>
            </a:r>
          </a:p>
          <a:p>
            <a:pPr marL="742950" lvl="1" indent="-285750" algn="just">
              <a:buFont typeface="Arial" panose="020B0604020202020204" pitchFamily="34" charset="0"/>
              <a:buChar char="•"/>
            </a:pPr>
            <a:r>
              <a:rPr lang="en-US" dirty="0">
                <a:effectLst/>
                <a:latin typeface="Garamond" panose="02020404030301010803" pitchFamily="18" charset="0"/>
              </a:rPr>
              <a:t>Minimize the harm to the user who is using the App and those who are not directly using the App (doctors who are monitoring the data)</a:t>
            </a:r>
          </a:p>
          <a:p>
            <a:pPr marL="742950" lvl="1" indent="-285750" algn="just">
              <a:buFont typeface="Arial" panose="020B0604020202020204" pitchFamily="34" charset="0"/>
              <a:buChar char="•"/>
            </a:pPr>
            <a:r>
              <a:rPr lang="en-US" dirty="0">
                <a:effectLst/>
                <a:latin typeface="Garamond" panose="02020404030301010803" pitchFamily="18" charset="0"/>
              </a:rPr>
              <a:t>Minimize the harm to any user (doctors will not be responsible for the data mis-interpretation caused by the algorithm) those not using th</a:t>
            </a:r>
            <a:r>
              <a:rPr lang="en-US" dirty="0">
                <a:latin typeface="Garamond" panose="02020404030301010803" pitchFamily="18" charset="0"/>
              </a:rPr>
              <a:t>e App directly</a:t>
            </a:r>
            <a:r>
              <a:rPr lang="en-US" dirty="0">
                <a:effectLst/>
                <a:latin typeface="Garamond" panose="02020404030301010803" pitchFamily="18" charset="0"/>
              </a:rPr>
              <a:t>, as long as it does not conflict with the first rule. </a:t>
            </a:r>
          </a:p>
          <a:p>
            <a:pPr marL="742950" lvl="1" indent="-285750" algn="just">
              <a:buFont typeface="Arial" panose="020B0604020202020204" pitchFamily="34" charset="0"/>
              <a:buChar char="•"/>
            </a:pPr>
            <a:r>
              <a:rPr lang="en-US" dirty="0">
                <a:effectLst/>
                <a:latin typeface="Garamond" panose="02020404030301010803" pitchFamily="18" charset="0"/>
              </a:rPr>
              <a:t>Do not use any other data not relevant to the App’s functionality, as long as it does not conflict with the previous two rules. </a:t>
            </a:r>
          </a:p>
          <a:p>
            <a:pPr marL="742950" lvl="1" indent="-285750" algn="just">
              <a:buFont typeface="Arial" panose="020B0604020202020204" pitchFamily="34" charset="0"/>
              <a:buChar char="•"/>
            </a:pPr>
            <a:r>
              <a:rPr lang="en-US" dirty="0">
                <a:effectLst/>
                <a:latin typeface="Garamond" panose="02020404030301010803" pitchFamily="18" charset="0"/>
              </a:rPr>
              <a:t>Follow all of the rules that apply to the App, as long as it does not conflict with the previous 3 rules.</a:t>
            </a:r>
          </a:p>
          <a:p>
            <a:pPr lvl="1" algn="just"/>
            <a:endParaRPr lang="en-US" dirty="0">
              <a:latin typeface="Garamond" panose="02020404030301010803" pitchFamily="18" charset="0"/>
            </a:endParaRPr>
          </a:p>
          <a:p>
            <a:pPr lvl="1" algn="just"/>
            <a:r>
              <a:rPr lang="en-US" sz="1800" dirty="0">
                <a:effectLst/>
                <a:latin typeface="Garamond" panose="02020404030301010803" pitchFamily="18" charset="0"/>
              </a:rPr>
              <a:t>You may refer </a:t>
            </a:r>
            <a:r>
              <a:rPr lang="en-US" dirty="0">
                <a:latin typeface="Garamond" panose="02020404030301010803" pitchFamily="18" charset="0"/>
              </a:rPr>
              <a:t>to other examples on application in self-driving car, </a:t>
            </a:r>
            <a:r>
              <a:rPr lang="en-US" sz="1800" dirty="0">
                <a:effectLst/>
                <a:latin typeface="Garamond" panose="02020404030301010803" pitchFamily="18" charset="0"/>
              </a:rPr>
              <a:t>in this paper “</a:t>
            </a:r>
            <a:r>
              <a:rPr lang="en-US" sz="1800" dirty="0">
                <a:solidFill>
                  <a:srgbClr val="0563C1"/>
                </a:solidFill>
                <a:effectLst/>
                <a:latin typeface="Garamond" panose="02020404030301010803" pitchFamily="18" charset="0"/>
                <a:hlinkClick r:id="rId3"/>
              </a:rPr>
              <a:t>Deontological Ethical System for Google’s Self-Driving Car</a:t>
            </a:r>
            <a:r>
              <a:rPr lang="en-US" sz="1800" dirty="0">
                <a:effectLst/>
                <a:latin typeface="Garamond" panose="02020404030301010803" pitchFamily="18" charset="0"/>
              </a:rPr>
              <a:t>” </a:t>
            </a:r>
            <a:r>
              <a:rPr lang="en-US" sz="1800" dirty="0" err="1">
                <a:effectLst/>
                <a:latin typeface="Garamond" panose="02020404030301010803" pitchFamily="18" charset="0"/>
              </a:rPr>
              <a:t>Arroliga</a:t>
            </a:r>
            <a:r>
              <a:rPr lang="en-US" sz="1800" dirty="0">
                <a:effectLst/>
                <a:latin typeface="Garamond" panose="02020404030301010803" pitchFamily="18" charset="0"/>
              </a:rPr>
              <a:t>, E. (2016)</a:t>
            </a:r>
          </a:p>
          <a:p>
            <a:pPr marL="742950" lvl="1" indent="-285750" algn="just">
              <a:buFont typeface="Arial" panose="020B0604020202020204" pitchFamily="34" charset="0"/>
              <a:buChar char="•"/>
            </a:pPr>
            <a:endParaRPr lang="en-US" dirty="0">
              <a:effectLst/>
              <a:latin typeface="Garamond" panose="02020404030301010803" pitchFamily="18" charset="0"/>
            </a:endParaRPr>
          </a:p>
          <a:p>
            <a:pPr algn="just"/>
            <a:endParaRPr lang="en-US" sz="2200" dirty="0">
              <a:effectLst/>
              <a:latin typeface="Garamond" panose="02020404030301010803" pitchFamily="18" charset="0"/>
            </a:endParaRPr>
          </a:p>
          <a:p>
            <a:pPr algn="just"/>
            <a:endParaRPr lang="en-US" sz="2200" dirty="0">
              <a:effectLst/>
              <a:latin typeface="Garamond" panose="02020404030301010803" pitchFamily="18" charset="0"/>
            </a:endParaRPr>
          </a:p>
        </p:txBody>
      </p:sp>
    </p:spTree>
    <p:extLst>
      <p:ext uri="{BB962C8B-B14F-4D97-AF65-F5344CB8AC3E}">
        <p14:creationId xmlns:p14="http://schemas.microsoft.com/office/powerpoint/2010/main" val="5053985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E524C42-7907-E53C-8361-255666BED9E5}"/>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Active Learning Activities (20-30 minutes total)</a:t>
            </a:r>
          </a:p>
        </p:txBody>
      </p:sp>
      <p:sp>
        <p:nvSpPr>
          <p:cNvPr id="4" name="Slide Number Placeholder 3">
            <a:extLst>
              <a:ext uri="{FF2B5EF4-FFF2-40B4-BE49-F238E27FC236}">
                <a16:creationId xmlns:a16="http://schemas.microsoft.com/office/drawing/2014/main" id="{37E42FB6-B9C2-3842-41DC-28FE65BCD2AB}"/>
              </a:ext>
            </a:extLst>
          </p:cNvPr>
          <p:cNvSpPr>
            <a:spLocks noGrp="1"/>
          </p:cNvSpPr>
          <p:nvPr>
            <p:ph type="sldNum" sz="quarter" idx="12"/>
          </p:nvPr>
        </p:nvSpPr>
        <p:spPr/>
        <p:txBody>
          <a:bodyPr/>
          <a:lstStyle/>
          <a:p>
            <a:pPr>
              <a:defRPr/>
            </a:pPr>
            <a:fld id="{65D7EE65-8AFE-4022-B3D9-7794B9342842}" type="slidenum">
              <a:rPr lang="en-AU" smtClean="0"/>
              <a:pPr>
                <a:defRPr/>
              </a:pPr>
              <a:t>25</a:t>
            </a:fld>
            <a:endParaRPr lang="en-AU" dirty="0"/>
          </a:p>
        </p:txBody>
      </p:sp>
      <p:sp>
        <p:nvSpPr>
          <p:cNvPr id="6" name="Rectangle 5">
            <a:extLst>
              <a:ext uri="{FF2B5EF4-FFF2-40B4-BE49-F238E27FC236}">
                <a16:creationId xmlns:a16="http://schemas.microsoft.com/office/drawing/2014/main" id="{F19D3107-37C9-8E0D-3D17-A79D6C8B1DC2}"/>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0C8898DC-A7F0-DA1E-8271-B26E4226A138}"/>
              </a:ext>
            </a:extLst>
          </p:cNvPr>
          <p:cNvSpPr txBox="1"/>
          <p:nvPr/>
        </p:nvSpPr>
        <p:spPr>
          <a:xfrm>
            <a:off x="861692" y="1363474"/>
            <a:ext cx="10806052" cy="5170646"/>
          </a:xfrm>
          <a:prstGeom prst="rect">
            <a:avLst/>
          </a:prstGeom>
          <a:noFill/>
        </p:spPr>
        <p:txBody>
          <a:bodyPr wrap="square">
            <a:spAutoFit/>
          </a:bodyPr>
          <a:lstStyle/>
          <a:p>
            <a:r>
              <a:rPr lang="en-US" sz="2200" b="1" dirty="0">
                <a:highlight>
                  <a:srgbClr val="FFFFFF"/>
                </a:highlight>
                <a:latin typeface="Garamond" panose="02020404030301010803" pitchFamily="18" charset="0"/>
              </a:rPr>
              <a:t>Activity 1: Ethical Theory Speed Discussion</a:t>
            </a:r>
          </a:p>
          <a:p>
            <a:endParaRPr lang="en-US" sz="2200" b="1" dirty="0">
              <a:highlight>
                <a:srgbClr val="FFFFFF"/>
              </a:highlight>
              <a:latin typeface="Garamond" panose="02020404030301010803" pitchFamily="18" charset="0"/>
            </a:endParaRPr>
          </a:p>
          <a:p>
            <a:r>
              <a:rPr lang="en-US" sz="2200" b="1" dirty="0">
                <a:highlight>
                  <a:srgbClr val="FFFFFF"/>
                </a:highlight>
                <a:latin typeface="Garamond" panose="02020404030301010803" pitchFamily="18" charset="0"/>
              </a:rPr>
              <a:t>Instructions: </a:t>
            </a:r>
            <a:r>
              <a:rPr lang="en-US" sz="2200" dirty="0">
                <a:highlight>
                  <a:srgbClr val="FFFFFF"/>
                </a:highlight>
                <a:latin typeface="Garamond" panose="02020404030301010803" pitchFamily="18" charset="0"/>
              </a:rPr>
              <a:t>Work in groups of 3</a:t>
            </a:r>
            <a:r>
              <a:rPr lang="en-US" sz="2200" dirty="0">
                <a:latin typeface="Garamond" panose="02020404030301010803" pitchFamily="18" charset="0"/>
              </a:rPr>
              <a:t>. Each group can pick one of the topics below:</a:t>
            </a:r>
          </a:p>
          <a:p>
            <a:endParaRPr lang="en-US" sz="2200" dirty="0">
              <a:highlight>
                <a:srgbClr val="FFFFFF"/>
              </a:highlight>
              <a:latin typeface="Garamond" panose="02020404030301010803" pitchFamily="18" charset="0"/>
            </a:endParaRPr>
          </a:p>
          <a:p>
            <a:r>
              <a:rPr lang="en-US" sz="2200" dirty="0">
                <a:highlight>
                  <a:srgbClr val="FFFFFF"/>
                </a:highlight>
                <a:latin typeface="Garamond" panose="02020404030301010803" pitchFamily="18" charset="0"/>
              </a:rPr>
              <a:t>Topic 1: Social media content moderation</a:t>
            </a:r>
          </a:p>
          <a:p>
            <a:r>
              <a:rPr lang="en-US" sz="2200" dirty="0">
                <a:highlight>
                  <a:srgbClr val="FFFFFF"/>
                </a:highlight>
                <a:latin typeface="Garamond" panose="02020404030301010803" pitchFamily="18" charset="0"/>
              </a:rPr>
              <a:t>Topic 2: </a:t>
            </a:r>
            <a:r>
              <a:rPr lang="en-US" sz="2200" dirty="0">
                <a:latin typeface="Garamond" panose="02020404030301010803" pitchFamily="18" charset="0"/>
              </a:rPr>
              <a:t>Autonomous Vehicle Collision D</a:t>
            </a:r>
            <a:r>
              <a:rPr lang="en-US" sz="2200" dirty="0">
                <a:highlight>
                  <a:srgbClr val="FFFFFF"/>
                </a:highlight>
                <a:latin typeface="Garamond" panose="02020404030301010803" pitchFamily="18" charset="0"/>
              </a:rPr>
              <a:t>ecision</a:t>
            </a:r>
          </a:p>
          <a:p>
            <a:r>
              <a:rPr lang="en-US" sz="2200" dirty="0">
                <a:highlight>
                  <a:srgbClr val="FFFFFF"/>
                </a:highlight>
                <a:latin typeface="Garamond" panose="02020404030301010803" pitchFamily="18" charset="0"/>
              </a:rPr>
              <a:t>Topic 3: Healthcare AI diagnosis</a:t>
            </a:r>
          </a:p>
          <a:p>
            <a:endParaRPr lang="en-US" sz="2200" dirty="0">
              <a:highlight>
                <a:srgbClr val="FFFFFF"/>
              </a:highlight>
              <a:latin typeface="Garamond" panose="02020404030301010803" pitchFamily="18" charset="0"/>
            </a:endParaRPr>
          </a:p>
          <a:p>
            <a:r>
              <a:rPr lang="en-US" sz="2200" dirty="0">
                <a:highlight>
                  <a:srgbClr val="FFFFFF"/>
                </a:highlight>
                <a:latin typeface="Garamond" panose="02020404030301010803" pitchFamily="18" charset="0"/>
              </a:rPr>
              <a:t>Each group member has 2 minutes to argue why their theory (virtue ethics, deontology</a:t>
            </a:r>
            <a:r>
              <a:rPr lang="en-US" sz="2200" dirty="0">
                <a:latin typeface="Garamond" panose="02020404030301010803" pitchFamily="18" charset="0"/>
              </a:rPr>
              <a:t>,</a:t>
            </a:r>
            <a:r>
              <a:rPr lang="en-US" sz="2200" dirty="0">
                <a:highlight>
                  <a:srgbClr val="FFFFFF"/>
                </a:highlight>
                <a:latin typeface="Garamond" panose="02020404030301010803" pitchFamily="18" charset="0"/>
              </a:rPr>
              <a:t> or utilit</a:t>
            </a:r>
            <a:r>
              <a:rPr lang="en-US" sz="2200" dirty="0">
                <a:latin typeface="Garamond" panose="02020404030301010803" pitchFamily="18" charset="0"/>
              </a:rPr>
              <a:t>arianism</a:t>
            </a:r>
            <a:r>
              <a:rPr lang="en-US" sz="2200" dirty="0">
                <a:highlight>
                  <a:srgbClr val="FFFFFF"/>
                </a:highlight>
                <a:latin typeface="Garamond" panose="02020404030301010803" pitchFamily="18" charset="0"/>
              </a:rPr>
              <a:t>) best addresses the scenario.</a:t>
            </a:r>
          </a:p>
          <a:p>
            <a:r>
              <a:rPr lang="en-US" sz="2200" dirty="0">
                <a:highlight>
                  <a:srgbClr val="FFFFFF"/>
                </a:highlight>
                <a:latin typeface="Garamond" panose="02020404030301010803" pitchFamily="18" charset="0"/>
              </a:rPr>
              <a:t>In </a:t>
            </a:r>
            <a:r>
              <a:rPr lang="en-US" sz="2200" dirty="0">
                <a:latin typeface="Garamond" panose="02020404030301010803" pitchFamily="18" charset="0"/>
              </a:rPr>
              <a:t>your </a:t>
            </a:r>
            <a:r>
              <a:rPr lang="en-US" sz="2200" dirty="0">
                <a:highlight>
                  <a:srgbClr val="FFFFFF"/>
                </a:highlight>
                <a:latin typeface="Garamond" panose="02020404030301010803" pitchFamily="18" charset="0"/>
              </a:rPr>
              <a:t>group, discuss and vote on </a:t>
            </a:r>
            <a:r>
              <a:rPr lang="en-US" sz="2200" dirty="0">
                <a:latin typeface="Garamond" panose="02020404030301010803" pitchFamily="18" charset="0"/>
              </a:rPr>
              <a:t>the </a:t>
            </a:r>
            <a:r>
              <a:rPr lang="en-US" sz="2200" dirty="0">
                <a:highlight>
                  <a:srgbClr val="FFFFFF"/>
                </a:highlight>
                <a:latin typeface="Garamond" panose="02020404030301010803" pitchFamily="18" charset="0"/>
              </a:rPr>
              <a:t>most convincing approach</a:t>
            </a:r>
          </a:p>
          <a:p>
            <a:endParaRPr lang="en-US" sz="2200" dirty="0">
              <a:highlight>
                <a:srgbClr val="FFFFFF"/>
              </a:highlight>
              <a:latin typeface="Garamond" panose="02020404030301010803" pitchFamily="18" charset="0"/>
            </a:endParaRPr>
          </a:p>
          <a:p>
            <a:r>
              <a:rPr lang="en-US" sz="2200" dirty="0">
                <a:highlight>
                  <a:srgbClr val="FFFFFF"/>
                </a:highlight>
                <a:latin typeface="Garamond" panose="02020404030301010803" pitchFamily="18" charset="0"/>
              </a:rPr>
              <a:t>Share your chosen theories </a:t>
            </a:r>
            <a:r>
              <a:rPr lang="en-US" sz="2200" dirty="0">
                <a:latin typeface="Garamond" panose="02020404030301010803" pitchFamily="18" charset="0"/>
                <a:hlinkClick r:id="rId3"/>
              </a:rPr>
              <a:t>https://www.canva.com/design/DAHIAbTG41E/XMyOUeEQlC5I7As2LO-XvQ/edit</a:t>
            </a:r>
            <a:endParaRPr lang="en-US" sz="2200" dirty="0">
              <a:latin typeface="Garamond" panose="02020404030301010803" pitchFamily="18" charset="0"/>
            </a:endParaRP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4215459387"/>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0E0B10EA-DA22-26C2-A599-C358182102B6}"/>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Limitations of each ethical theory</a:t>
            </a:r>
          </a:p>
        </p:txBody>
      </p:sp>
      <p:sp>
        <p:nvSpPr>
          <p:cNvPr id="2"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443527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92B3C87-A917-8F9F-5FAC-37513B9B49AB}"/>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Virtue Ethics</a:t>
            </a:r>
          </a:p>
        </p:txBody>
      </p:sp>
      <p:sp>
        <p:nvSpPr>
          <p:cNvPr id="5" name="TextBox 4">
            <a:extLst>
              <a:ext uri="{FF2B5EF4-FFF2-40B4-BE49-F238E27FC236}">
                <a16:creationId xmlns:a16="http://schemas.microsoft.com/office/drawing/2014/main" id="{2F305E48-E7F8-701B-5068-07367CB876CB}"/>
              </a:ext>
            </a:extLst>
          </p:cNvPr>
          <p:cNvSpPr txBox="1"/>
          <p:nvPr/>
        </p:nvSpPr>
        <p:spPr>
          <a:xfrm>
            <a:off x="911424" y="1556792"/>
            <a:ext cx="9433048" cy="2462213"/>
          </a:xfrm>
          <a:prstGeom prst="rect">
            <a:avLst/>
          </a:prstGeom>
          <a:noFill/>
        </p:spPr>
        <p:txBody>
          <a:bodyPr wrap="square">
            <a:spAutoFit/>
          </a:bodyPr>
          <a:lstStyle/>
          <a:p>
            <a:pPr algn="just"/>
            <a:r>
              <a:rPr lang="en-US" sz="2200" dirty="0">
                <a:solidFill>
                  <a:srgbClr val="333333"/>
                </a:solidFill>
                <a:effectLst/>
                <a:latin typeface="Garamond" panose="02020404030301010803" pitchFamily="18" charset="0"/>
              </a:rPr>
              <a:t>Presently, the actual operating systems of autonomous vehicles demonstrate different variants of machine learning. </a:t>
            </a:r>
          </a:p>
          <a:p>
            <a:pPr algn="just"/>
            <a:endParaRPr lang="en-US" sz="2200" dirty="0">
              <a:solidFill>
                <a:srgbClr val="333333"/>
              </a:solidFill>
              <a:latin typeface="Garamond" panose="02020404030301010803" pitchFamily="18" charset="0"/>
            </a:endParaRPr>
          </a:p>
          <a:p>
            <a:pPr algn="just"/>
            <a:r>
              <a:rPr lang="en-US" sz="2200" dirty="0">
                <a:solidFill>
                  <a:srgbClr val="333333"/>
                </a:solidFill>
                <a:effectLst/>
                <a:latin typeface="Garamond" panose="02020404030301010803" pitchFamily="18" charset="0"/>
              </a:rPr>
              <a:t>For example, autonomous vehicles can be trained via reinforcement, where wrong acts are punished, and right acts are rewarded. </a:t>
            </a:r>
          </a:p>
          <a:p>
            <a:pPr algn="just"/>
            <a:endParaRPr lang="en-US" sz="2200" dirty="0">
              <a:solidFill>
                <a:srgbClr val="333333"/>
              </a:solidFill>
              <a:latin typeface="Garamond" panose="02020404030301010803" pitchFamily="18" charset="0"/>
            </a:endParaRPr>
          </a:p>
          <a:p>
            <a:pPr algn="just"/>
            <a:endParaRPr lang="en-US" sz="2200" dirty="0">
              <a:effectLst/>
              <a:latin typeface="Garamond" panose="02020404030301010803" pitchFamily="18" charset="0"/>
            </a:endParaRPr>
          </a:p>
        </p:txBody>
      </p:sp>
    </p:spTree>
    <p:extLst>
      <p:ext uri="{BB962C8B-B14F-4D97-AF65-F5344CB8AC3E}">
        <p14:creationId xmlns:p14="http://schemas.microsoft.com/office/powerpoint/2010/main" val="2570951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D6CC69-FEF5-D6E6-6D02-9883887A57B0}"/>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Virtue Ethics</a:t>
            </a:r>
          </a:p>
        </p:txBody>
      </p:sp>
      <p:sp>
        <p:nvSpPr>
          <p:cNvPr id="5" name="TextBox 4">
            <a:extLst>
              <a:ext uri="{FF2B5EF4-FFF2-40B4-BE49-F238E27FC236}">
                <a16:creationId xmlns:a16="http://schemas.microsoft.com/office/drawing/2014/main" id="{0948353B-75D9-E573-84DC-85A876EC27D4}"/>
              </a:ext>
            </a:extLst>
          </p:cNvPr>
          <p:cNvSpPr txBox="1"/>
          <p:nvPr/>
        </p:nvSpPr>
        <p:spPr>
          <a:xfrm>
            <a:off x="983432" y="1439144"/>
            <a:ext cx="9433048" cy="3139321"/>
          </a:xfrm>
          <a:prstGeom prst="rect">
            <a:avLst/>
          </a:prstGeom>
          <a:noFill/>
        </p:spPr>
        <p:txBody>
          <a:bodyPr wrap="square">
            <a:spAutoFit/>
          </a:bodyPr>
          <a:lstStyle/>
          <a:p>
            <a:pPr algn="just"/>
            <a:r>
              <a:rPr lang="en-US" sz="2200" dirty="0">
                <a:solidFill>
                  <a:srgbClr val="333333"/>
                </a:solidFill>
                <a:effectLst/>
                <a:latin typeface="Garamond" panose="02020404030301010803" pitchFamily="18" charset="0"/>
              </a:rPr>
              <a:t>The </a:t>
            </a:r>
            <a:r>
              <a:rPr lang="en-US" sz="2200" i="1" dirty="0">
                <a:solidFill>
                  <a:srgbClr val="333333"/>
                </a:solidFill>
                <a:effectLst/>
                <a:latin typeface="Garamond" panose="02020404030301010803" pitchFamily="18" charset="0"/>
              </a:rPr>
              <a:t>technical feasibility</a:t>
            </a:r>
            <a:r>
              <a:rPr lang="en-US" sz="2200" dirty="0">
                <a:solidFill>
                  <a:srgbClr val="333333"/>
                </a:solidFill>
                <a:effectLst/>
                <a:latin typeface="Garamond" panose="02020404030301010803" pitchFamily="18" charset="0"/>
              </a:rPr>
              <a:t> is shown by a recent implementation of imitation learning for real-world driving called </a:t>
            </a:r>
            <a:r>
              <a:rPr lang="en-US" sz="2200" dirty="0" err="1">
                <a:solidFill>
                  <a:srgbClr val="333333"/>
                </a:solidFill>
                <a:effectLst/>
                <a:latin typeface="Garamond" panose="02020404030301010803" pitchFamily="18" charset="0"/>
              </a:rPr>
              <a:t>ChaffeurNet</a:t>
            </a:r>
            <a:r>
              <a:rPr lang="en-US" sz="2200" dirty="0">
                <a:solidFill>
                  <a:srgbClr val="333333"/>
                </a:solidFill>
                <a:effectLst/>
                <a:latin typeface="Garamond" panose="02020404030301010803" pitchFamily="18" charset="0"/>
              </a:rPr>
              <a:t>.</a:t>
            </a:r>
          </a:p>
          <a:p>
            <a:pPr algn="just"/>
            <a:endParaRPr lang="en-US" sz="2200" dirty="0">
              <a:effectLst/>
              <a:latin typeface="Garamond" panose="02020404030301010803" pitchFamily="18" charset="0"/>
            </a:endParaRPr>
          </a:p>
          <a:p>
            <a:pPr algn="just"/>
            <a:r>
              <a:rPr lang="en-US" sz="2200" dirty="0">
                <a:solidFill>
                  <a:srgbClr val="333333"/>
                </a:solidFill>
                <a:effectLst/>
                <a:latin typeface="Garamond" panose="02020404030301010803" pitchFamily="18" charset="0"/>
              </a:rPr>
              <a:t>In this process, ethics in the form of a set of virtues can provide guidance as a pattern of positive signals. </a:t>
            </a:r>
          </a:p>
          <a:p>
            <a:pPr algn="just"/>
            <a:endParaRPr lang="en-US" sz="2200" dirty="0">
              <a:solidFill>
                <a:srgbClr val="333333"/>
              </a:solidFill>
              <a:latin typeface="Garamond" panose="02020404030301010803" pitchFamily="18" charset="0"/>
            </a:endParaRPr>
          </a:p>
          <a:p>
            <a:pPr algn="just"/>
            <a:r>
              <a:rPr lang="en-US" sz="2200" dirty="0">
                <a:solidFill>
                  <a:srgbClr val="333333"/>
                </a:solidFill>
                <a:effectLst/>
                <a:latin typeface="Garamond" panose="02020404030301010803" pitchFamily="18" charset="0"/>
              </a:rPr>
              <a:t>Ultimately, machines or autonomous vehicles themselves should (learn to) recognize situations that require moral action and decide to act accordingly. </a:t>
            </a:r>
          </a:p>
          <a:p>
            <a:pPr algn="just"/>
            <a:endParaRPr lang="en-US" sz="2200" dirty="0">
              <a:solidFill>
                <a:srgbClr val="333333"/>
              </a:solidFill>
              <a:latin typeface="Garamond" panose="02020404030301010803" pitchFamily="18" charset="0"/>
            </a:endParaRPr>
          </a:p>
        </p:txBody>
      </p:sp>
    </p:spTree>
    <p:extLst>
      <p:ext uri="{BB962C8B-B14F-4D97-AF65-F5344CB8AC3E}">
        <p14:creationId xmlns:p14="http://schemas.microsoft.com/office/powerpoint/2010/main" val="1714978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609D16-1B2B-EABA-1905-A49DB39CA61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Virtue Ethics</a:t>
            </a:r>
          </a:p>
        </p:txBody>
      </p:sp>
      <p:sp>
        <p:nvSpPr>
          <p:cNvPr id="5" name="TextBox 4">
            <a:extLst>
              <a:ext uri="{FF2B5EF4-FFF2-40B4-BE49-F238E27FC236}">
                <a16:creationId xmlns:a16="http://schemas.microsoft.com/office/drawing/2014/main" id="{08B1705A-4796-97F7-5627-55B43C75B32F}"/>
              </a:ext>
            </a:extLst>
          </p:cNvPr>
          <p:cNvSpPr txBox="1"/>
          <p:nvPr/>
        </p:nvSpPr>
        <p:spPr>
          <a:xfrm>
            <a:off x="983432" y="1439144"/>
            <a:ext cx="9433048" cy="3139321"/>
          </a:xfrm>
          <a:prstGeom prst="rect">
            <a:avLst/>
          </a:prstGeom>
          <a:noFill/>
        </p:spPr>
        <p:txBody>
          <a:bodyPr wrap="square">
            <a:spAutoFit/>
          </a:bodyPr>
          <a:lstStyle/>
          <a:p>
            <a:pPr algn="just"/>
            <a:r>
              <a:rPr lang="en-US" sz="2200" dirty="0">
                <a:solidFill>
                  <a:srgbClr val="333333"/>
                </a:solidFill>
                <a:effectLst/>
                <a:latin typeface="Garamond" panose="02020404030301010803" pitchFamily="18" charset="0"/>
              </a:rPr>
              <a:t>Depending on the number of trainable parameters, even complex correlations from reality can be represented, which would provide an adequate </a:t>
            </a:r>
            <a:r>
              <a:rPr lang="en-US" sz="2200" i="1" dirty="0">
                <a:solidFill>
                  <a:srgbClr val="333333"/>
                </a:solidFill>
                <a:effectLst/>
                <a:latin typeface="Garamond" panose="02020404030301010803" pitchFamily="18" charset="0"/>
              </a:rPr>
              <a:t>representation of reality</a:t>
            </a:r>
            <a:r>
              <a:rPr lang="en-US" sz="2200" dirty="0">
                <a:solidFill>
                  <a:srgbClr val="333333"/>
                </a:solidFill>
                <a:effectLst/>
                <a:latin typeface="Garamond" panose="02020404030301010803" pitchFamily="18" charset="0"/>
              </a:rPr>
              <a:t>. To enable a good </a:t>
            </a:r>
            <a:r>
              <a:rPr lang="en-US" sz="2200" i="1" dirty="0">
                <a:solidFill>
                  <a:srgbClr val="333333"/>
                </a:solidFill>
                <a:effectLst/>
                <a:latin typeface="Garamond" panose="02020404030301010803" pitchFamily="18" charset="0"/>
              </a:rPr>
              <a:t>universality</a:t>
            </a:r>
            <a:r>
              <a:rPr lang="en-US" sz="2200" dirty="0">
                <a:solidFill>
                  <a:srgbClr val="333333"/>
                </a:solidFill>
                <a:effectLst/>
                <a:latin typeface="Garamond" panose="02020404030301010803" pitchFamily="18" charset="0"/>
              </a:rPr>
              <a:t>, it is important that the machine learning models can generalize well. </a:t>
            </a:r>
          </a:p>
          <a:p>
            <a:pPr algn="just"/>
            <a:endParaRPr lang="en-US" sz="2200" dirty="0">
              <a:solidFill>
                <a:srgbClr val="333333"/>
              </a:solidFill>
              <a:latin typeface="Garamond" panose="02020404030301010803" pitchFamily="18" charset="0"/>
            </a:endParaRPr>
          </a:p>
          <a:p>
            <a:pPr algn="just"/>
            <a:r>
              <a:rPr lang="en-US" sz="2200" dirty="0">
                <a:solidFill>
                  <a:srgbClr val="333333"/>
                </a:solidFill>
                <a:effectLst/>
                <a:latin typeface="Garamond" panose="02020404030301010803" pitchFamily="18" charset="0"/>
              </a:rPr>
              <a:t>The problem with such models is that corner cases, which are poorly represented by the training data, lead to unwanted decisions. </a:t>
            </a:r>
          </a:p>
          <a:p>
            <a:pPr algn="just"/>
            <a:endParaRPr lang="en-US" sz="2200" dirty="0">
              <a:effectLst/>
              <a:latin typeface="Garamond" panose="02020404030301010803" pitchFamily="18" charset="0"/>
            </a:endParaRPr>
          </a:p>
          <a:p>
            <a:pPr algn="just"/>
            <a:endParaRPr lang="en-US" sz="2200" dirty="0">
              <a:effectLst/>
              <a:latin typeface="Garamond" panose="02020404030301010803" pitchFamily="18" charset="0"/>
            </a:endParaRPr>
          </a:p>
        </p:txBody>
      </p:sp>
    </p:spTree>
    <p:extLst>
      <p:ext uri="{BB962C8B-B14F-4D97-AF65-F5344CB8AC3E}">
        <p14:creationId xmlns:p14="http://schemas.microsoft.com/office/powerpoint/2010/main" val="903484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78363DF-014A-E18A-C2FC-CA1A32482B29}"/>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Virtue Ethics</a:t>
            </a:r>
          </a:p>
        </p:txBody>
      </p:sp>
      <p:sp>
        <p:nvSpPr>
          <p:cNvPr id="5" name="TextBox 4">
            <a:extLst>
              <a:ext uri="{FF2B5EF4-FFF2-40B4-BE49-F238E27FC236}">
                <a16:creationId xmlns:a16="http://schemas.microsoft.com/office/drawing/2014/main" id="{535F3D2C-0A0D-10B2-3192-98432EC59C9D}"/>
              </a:ext>
            </a:extLst>
          </p:cNvPr>
          <p:cNvSpPr txBox="1"/>
          <p:nvPr/>
        </p:nvSpPr>
        <p:spPr>
          <a:xfrm>
            <a:off x="983432" y="1439144"/>
            <a:ext cx="9433048" cy="4493538"/>
          </a:xfrm>
          <a:prstGeom prst="rect">
            <a:avLst/>
          </a:prstGeom>
          <a:noFill/>
        </p:spPr>
        <p:txBody>
          <a:bodyPr wrap="square">
            <a:spAutoFit/>
          </a:bodyPr>
          <a:lstStyle/>
          <a:p>
            <a:pPr algn="just"/>
            <a:r>
              <a:rPr lang="en-US" sz="2200" dirty="0">
                <a:solidFill>
                  <a:srgbClr val="333333"/>
                </a:solidFill>
                <a:effectLst/>
                <a:latin typeface="Garamond" panose="02020404030301010803" pitchFamily="18" charset="0"/>
              </a:rPr>
              <a:t>However, the most pressing challenge for a virtue-based autonomous vehicle is the </a:t>
            </a:r>
            <a:r>
              <a:rPr lang="en-US" sz="2200" i="1" dirty="0">
                <a:solidFill>
                  <a:srgbClr val="333333"/>
                </a:solidFill>
                <a:effectLst/>
                <a:latin typeface="Garamond" panose="02020404030301010803" pitchFamily="18" charset="0"/>
              </a:rPr>
              <a:t>explainability</a:t>
            </a:r>
            <a:r>
              <a:rPr lang="en-US" sz="2200" dirty="0">
                <a:solidFill>
                  <a:srgbClr val="333333"/>
                </a:solidFill>
                <a:effectLst/>
                <a:latin typeface="Garamond" panose="02020404030301010803" pitchFamily="18" charset="0"/>
              </a:rPr>
              <a:t> of its underlying logic and, thus the attribution of responsibility. </a:t>
            </a:r>
          </a:p>
          <a:p>
            <a:pPr algn="just"/>
            <a:endParaRPr lang="en-US" sz="2200" dirty="0">
              <a:solidFill>
                <a:srgbClr val="333333"/>
              </a:solidFill>
              <a:latin typeface="Garamond" panose="02020404030301010803" pitchFamily="18" charset="0"/>
            </a:endParaRPr>
          </a:p>
          <a:p>
            <a:pPr algn="just"/>
            <a:r>
              <a:rPr lang="en-US" sz="2200" dirty="0">
                <a:solidFill>
                  <a:srgbClr val="333333"/>
                </a:solidFill>
                <a:effectLst/>
                <a:latin typeface="Garamond" panose="02020404030301010803" pitchFamily="18" charset="0"/>
              </a:rPr>
              <a:t>Namely, it should be made clear how the virtues of such cars have been formed through experience and how a given car has been led to its particular action. </a:t>
            </a:r>
          </a:p>
          <a:p>
            <a:pPr algn="just"/>
            <a:endParaRPr lang="en-US" sz="2200" dirty="0">
              <a:solidFill>
                <a:srgbClr val="333333"/>
              </a:solidFill>
              <a:latin typeface="Garamond" panose="02020404030301010803" pitchFamily="18" charset="0"/>
            </a:endParaRPr>
          </a:p>
          <a:p>
            <a:pPr algn="just"/>
            <a:r>
              <a:rPr lang="en-US" sz="2200" dirty="0">
                <a:solidFill>
                  <a:srgbClr val="333333"/>
                </a:solidFill>
                <a:effectLst/>
                <a:latin typeface="Garamond" panose="02020404030301010803" pitchFamily="18" charset="0"/>
              </a:rPr>
              <a:t>In this regard, autonomous vehicles or driver assistance systems at present should and cannot be regarded as moral agents but rather weak actors of responsibility. </a:t>
            </a:r>
          </a:p>
          <a:p>
            <a:pPr algn="just"/>
            <a:endParaRPr lang="en-US" sz="2200" dirty="0">
              <a:solidFill>
                <a:srgbClr val="333333"/>
              </a:solidFill>
              <a:latin typeface="Garamond" panose="02020404030301010803" pitchFamily="18" charset="0"/>
            </a:endParaRPr>
          </a:p>
          <a:p>
            <a:pPr algn="just"/>
            <a:r>
              <a:rPr lang="en-US" sz="2200" dirty="0">
                <a:solidFill>
                  <a:srgbClr val="333333"/>
                </a:solidFill>
                <a:effectLst/>
                <a:latin typeface="Garamond" panose="02020404030301010803" pitchFamily="18" charset="0"/>
              </a:rPr>
              <a:t>Therefore, truly applying virtue ethics to autonomous vehicles seems impermissible until questions of explainability and responsibility can be answered.</a:t>
            </a:r>
            <a:endParaRPr lang="en-US" sz="2200" dirty="0">
              <a:effectLst/>
              <a:latin typeface="Garamond" panose="02020404030301010803" pitchFamily="18" charset="0"/>
            </a:endParaRPr>
          </a:p>
          <a:p>
            <a:pPr algn="just"/>
            <a:endParaRPr lang="en-US" sz="2200" dirty="0">
              <a:effectLst/>
              <a:latin typeface="Garamond" panose="02020404030301010803" pitchFamily="18" charset="0"/>
            </a:endParaRPr>
          </a:p>
          <a:p>
            <a:pPr algn="just"/>
            <a:endParaRPr lang="en-US" sz="2200" dirty="0">
              <a:effectLst/>
              <a:latin typeface="Garamond" panose="02020404030301010803" pitchFamily="18" charset="0"/>
            </a:endParaRPr>
          </a:p>
        </p:txBody>
      </p:sp>
      <p:sp>
        <p:nvSpPr>
          <p:cNvPr id="4" name="TextBox 3">
            <a:extLst>
              <a:ext uri="{FF2B5EF4-FFF2-40B4-BE49-F238E27FC236}">
                <a16:creationId xmlns:a16="http://schemas.microsoft.com/office/drawing/2014/main" id="{D3AD27CB-D31E-91DA-732D-FFB92809D38A}"/>
              </a:ext>
            </a:extLst>
          </p:cNvPr>
          <p:cNvSpPr txBox="1"/>
          <p:nvPr/>
        </p:nvSpPr>
        <p:spPr>
          <a:xfrm>
            <a:off x="1055440" y="5925794"/>
            <a:ext cx="7776864" cy="584775"/>
          </a:xfrm>
          <a:prstGeom prst="rect">
            <a:avLst/>
          </a:prstGeom>
          <a:noFill/>
        </p:spPr>
        <p:txBody>
          <a:bodyPr wrap="square">
            <a:spAutoFit/>
          </a:bodyPr>
          <a:lstStyle/>
          <a:p>
            <a:pPr algn="just"/>
            <a:r>
              <a:rPr lang="en-US" sz="1600" dirty="0">
                <a:effectLst/>
                <a:latin typeface="Garamond" panose="02020404030301010803" pitchFamily="18" charset="0"/>
              </a:rPr>
              <a:t>We detail below based on this reference </a:t>
            </a:r>
            <a:r>
              <a:rPr lang="en-US" sz="1600" dirty="0">
                <a:solidFill>
                  <a:srgbClr val="0563C1"/>
                </a:solidFill>
                <a:effectLst/>
                <a:latin typeface="Garamond" panose="02020404030301010803" pitchFamily="18" charset="0"/>
                <a:hlinkClick r:id="rId3"/>
              </a:rPr>
              <a:t>Autonomous Driving Ethics: from Trolley Problem to Ethics of Risk</a:t>
            </a:r>
            <a:r>
              <a:rPr lang="en-US" sz="1600" dirty="0">
                <a:effectLst/>
                <a:latin typeface="Garamond" panose="02020404030301010803" pitchFamily="18" charset="0"/>
              </a:rPr>
              <a:t> </a:t>
            </a:r>
            <a:r>
              <a:rPr lang="en-US" sz="1600" dirty="0" err="1">
                <a:effectLst/>
                <a:latin typeface="Garamond" panose="02020404030301010803" pitchFamily="18" charset="0"/>
              </a:rPr>
              <a:t>Geisslinger</a:t>
            </a:r>
            <a:r>
              <a:rPr lang="en-US" sz="1600" dirty="0">
                <a:effectLst/>
                <a:latin typeface="Garamond" panose="02020404030301010803" pitchFamily="18" charset="0"/>
              </a:rPr>
              <a:t> el.(2021)</a:t>
            </a:r>
          </a:p>
        </p:txBody>
      </p:sp>
    </p:spTree>
    <p:extLst>
      <p:ext uri="{BB962C8B-B14F-4D97-AF65-F5344CB8AC3E}">
        <p14:creationId xmlns:p14="http://schemas.microsoft.com/office/powerpoint/2010/main" val="2855401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9394AE-EAEC-AAC5-DE8F-72EF1B3A56F5}"/>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Utilitarian Ethics</a:t>
            </a:r>
          </a:p>
        </p:txBody>
      </p:sp>
      <p:sp>
        <p:nvSpPr>
          <p:cNvPr id="5" name="TextBox 4">
            <a:extLst>
              <a:ext uri="{FF2B5EF4-FFF2-40B4-BE49-F238E27FC236}">
                <a16:creationId xmlns:a16="http://schemas.microsoft.com/office/drawing/2014/main" id="{B4773DEC-D63C-D4B8-D424-A7B7358BCC61}"/>
              </a:ext>
            </a:extLst>
          </p:cNvPr>
          <p:cNvSpPr txBox="1"/>
          <p:nvPr/>
        </p:nvSpPr>
        <p:spPr>
          <a:xfrm>
            <a:off x="983432" y="1439144"/>
            <a:ext cx="9433048" cy="4493538"/>
          </a:xfrm>
          <a:prstGeom prst="rect">
            <a:avLst/>
          </a:prstGeom>
          <a:noFill/>
        </p:spPr>
        <p:txBody>
          <a:bodyPr wrap="square">
            <a:spAutoFit/>
          </a:bodyPr>
          <a:lstStyle/>
          <a:p>
            <a:pPr algn="just"/>
            <a:r>
              <a:rPr lang="en-US" sz="2200" dirty="0">
                <a:effectLst/>
                <a:latin typeface="Garamond" panose="02020404030301010803" pitchFamily="18" charset="0"/>
              </a:rPr>
              <a:t>We look at self-driving car.</a:t>
            </a:r>
          </a:p>
          <a:p>
            <a:pPr algn="just"/>
            <a:endParaRPr lang="en-US" sz="2200" dirty="0">
              <a:latin typeface="Garamond" panose="02020404030301010803" pitchFamily="18" charset="0"/>
            </a:endParaRPr>
          </a:p>
          <a:p>
            <a:pPr algn="just"/>
            <a:r>
              <a:rPr lang="en-US" sz="2200" dirty="0">
                <a:effectLst/>
                <a:latin typeface="Garamond" panose="02020404030301010803" pitchFamily="18" charset="0"/>
              </a:rPr>
              <a:t>The problem here is that having a utilitarian self-driving car will lead to unreliable and unsafe outcomes for those involved in an accident with the self-driving car. Let's look at the example with two motorcyclists and the impending crash as stated above. </a:t>
            </a:r>
          </a:p>
          <a:p>
            <a:pPr algn="just"/>
            <a:endParaRPr lang="en-US" sz="2200" dirty="0">
              <a:effectLst/>
              <a:latin typeface="Garamond" panose="02020404030301010803" pitchFamily="18" charset="0"/>
            </a:endParaRPr>
          </a:p>
          <a:p>
            <a:pPr algn="just"/>
            <a:r>
              <a:rPr lang="en-US" sz="2200" dirty="0">
                <a:effectLst/>
                <a:latin typeface="Garamond" panose="02020404030301010803" pitchFamily="18" charset="0"/>
              </a:rPr>
              <a:t>This situation does not involve choosing the life of the user over the life of many people but rather focuses on choosing between two people of different worth. </a:t>
            </a:r>
          </a:p>
          <a:p>
            <a:pPr algn="just"/>
            <a:endParaRPr lang="en-US" sz="2200" dirty="0">
              <a:latin typeface="Garamond" panose="02020404030301010803" pitchFamily="18" charset="0"/>
            </a:endParaRPr>
          </a:p>
          <a:p>
            <a:pPr algn="just"/>
            <a:r>
              <a:rPr lang="en-US" sz="2200" dirty="0">
                <a:effectLst/>
                <a:latin typeface="Garamond" panose="02020404030301010803" pitchFamily="18" charset="0"/>
              </a:rPr>
              <a:t>The utilitarianism solution would be to choose the person with the lowest “worth” and hit them. A big problem with the situation is that the self-driving car can not put any value on the two motorcyclists.</a:t>
            </a:r>
          </a:p>
          <a:p>
            <a:pPr algn="just"/>
            <a:endParaRPr lang="en-US" sz="2200" dirty="0">
              <a:effectLst/>
              <a:latin typeface="Garamond" panose="02020404030301010803" pitchFamily="18" charset="0"/>
            </a:endParaRPr>
          </a:p>
        </p:txBody>
      </p:sp>
    </p:spTree>
    <p:extLst>
      <p:ext uri="{BB962C8B-B14F-4D97-AF65-F5344CB8AC3E}">
        <p14:creationId xmlns:p14="http://schemas.microsoft.com/office/powerpoint/2010/main" val="1811406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1E9B41-81B1-2F71-97FD-489F8702269C}"/>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Utilitarian Ethics</a:t>
            </a:r>
          </a:p>
        </p:txBody>
      </p:sp>
      <p:sp>
        <p:nvSpPr>
          <p:cNvPr id="5" name="TextBox 4">
            <a:extLst>
              <a:ext uri="{FF2B5EF4-FFF2-40B4-BE49-F238E27FC236}">
                <a16:creationId xmlns:a16="http://schemas.microsoft.com/office/drawing/2014/main" id="{2F820FA2-1F70-7FFB-76A8-DDD9CDD6143E}"/>
              </a:ext>
            </a:extLst>
          </p:cNvPr>
          <p:cNvSpPr txBox="1"/>
          <p:nvPr/>
        </p:nvSpPr>
        <p:spPr>
          <a:xfrm>
            <a:off x="983432" y="1439144"/>
            <a:ext cx="9433048" cy="3477875"/>
          </a:xfrm>
          <a:prstGeom prst="rect">
            <a:avLst/>
          </a:prstGeom>
          <a:noFill/>
        </p:spPr>
        <p:txBody>
          <a:bodyPr wrap="square">
            <a:spAutoFit/>
          </a:bodyPr>
          <a:lstStyle/>
          <a:p>
            <a:pPr algn="just"/>
            <a:r>
              <a:rPr lang="en-US" sz="2200" dirty="0">
                <a:effectLst/>
                <a:latin typeface="Garamond" panose="02020404030301010803" pitchFamily="18" charset="0"/>
              </a:rPr>
              <a:t>The self-driving car only has sensors that can distinguish shapes and can categorize those shapes into accurate predictions. From looking at those shapes it can accurately tell that the two motorcyclists are in fact motorcyclists but it cannot tell which one is worth hitting.</a:t>
            </a:r>
          </a:p>
          <a:p>
            <a:pPr algn="just"/>
            <a:endParaRPr lang="en-US" sz="2200" dirty="0">
              <a:effectLst/>
              <a:latin typeface="Garamond" panose="02020404030301010803" pitchFamily="18" charset="0"/>
            </a:endParaRPr>
          </a:p>
          <a:p>
            <a:pPr algn="just"/>
            <a:r>
              <a:rPr lang="en-US" sz="2200" dirty="0">
                <a:effectLst/>
                <a:latin typeface="Garamond" panose="02020404030301010803" pitchFamily="18" charset="0"/>
              </a:rPr>
              <a:t>Making a decision that has the best consequence would be difficult to implement. We can refer to the Google Self-driving car. It uses two visual cameras. These cameras are used as stereo cameras meant to judge the distance as well as to see if there is an obstacle visually. The lidar, or light detection and ranging, system is what does most of the sensor work.</a:t>
            </a:r>
          </a:p>
        </p:txBody>
      </p:sp>
    </p:spTree>
    <p:extLst>
      <p:ext uri="{BB962C8B-B14F-4D97-AF65-F5344CB8AC3E}">
        <p14:creationId xmlns:p14="http://schemas.microsoft.com/office/powerpoint/2010/main" val="1069114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A139F08-E440-8748-886E-8ACBF69A34FC}"/>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Utilitarian Ethics</a:t>
            </a:r>
          </a:p>
        </p:txBody>
      </p:sp>
      <p:sp>
        <p:nvSpPr>
          <p:cNvPr id="5" name="TextBox 4">
            <a:extLst>
              <a:ext uri="{FF2B5EF4-FFF2-40B4-BE49-F238E27FC236}">
                <a16:creationId xmlns:a16="http://schemas.microsoft.com/office/drawing/2014/main" id="{DA7350E6-0F81-BB2F-FCC4-E06F6CBEFC79}"/>
              </a:ext>
            </a:extLst>
          </p:cNvPr>
          <p:cNvSpPr txBox="1"/>
          <p:nvPr/>
        </p:nvSpPr>
        <p:spPr>
          <a:xfrm>
            <a:off x="983432" y="1439144"/>
            <a:ext cx="9433048" cy="2308324"/>
          </a:xfrm>
          <a:prstGeom prst="rect">
            <a:avLst/>
          </a:prstGeom>
          <a:noFill/>
        </p:spPr>
        <p:txBody>
          <a:bodyPr wrap="square">
            <a:spAutoFit/>
          </a:bodyPr>
          <a:lstStyle/>
          <a:p>
            <a:pPr algn="just"/>
            <a:r>
              <a:rPr lang="en-US" sz="2400" dirty="0">
                <a:effectLst/>
                <a:latin typeface="Garamond" panose="02020404030301010803" pitchFamily="18" charset="0"/>
              </a:rPr>
              <a:t>The cameras are not meant to visually analyze a specific object, which is what it would need to do in order to determine the worth of the motorcyclist.</a:t>
            </a:r>
          </a:p>
          <a:p>
            <a:pPr algn="just"/>
            <a:endParaRPr lang="en-US" sz="2400" dirty="0">
              <a:latin typeface="Garamond" panose="02020404030301010803" pitchFamily="18" charset="0"/>
            </a:endParaRPr>
          </a:p>
          <a:p>
            <a:pPr algn="just"/>
            <a:r>
              <a:rPr lang="en-US" sz="2400" dirty="0">
                <a:effectLst/>
                <a:latin typeface="Garamond" panose="02020404030301010803" pitchFamily="18" charset="0"/>
              </a:rPr>
              <a:t>However, this leads to another problem where the car won’t be able to make a decision because of technological limitations. </a:t>
            </a:r>
          </a:p>
          <a:p>
            <a:pPr algn="just"/>
            <a:endParaRPr lang="en-US" sz="2400" dirty="0">
              <a:effectLst/>
              <a:latin typeface="Garamond" panose="02020404030301010803" pitchFamily="18" charset="0"/>
            </a:endParaRPr>
          </a:p>
        </p:txBody>
      </p:sp>
    </p:spTree>
    <p:extLst>
      <p:ext uri="{BB962C8B-B14F-4D97-AF65-F5344CB8AC3E}">
        <p14:creationId xmlns:p14="http://schemas.microsoft.com/office/powerpoint/2010/main" val="39522420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CD7D3E8-50AF-AF0A-0EFF-A93D164CDFA9}"/>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Utilitarian Ethics</a:t>
            </a:r>
          </a:p>
        </p:txBody>
      </p:sp>
      <p:sp>
        <p:nvSpPr>
          <p:cNvPr id="5" name="TextBox 4">
            <a:extLst>
              <a:ext uri="{FF2B5EF4-FFF2-40B4-BE49-F238E27FC236}">
                <a16:creationId xmlns:a16="http://schemas.microsoft.com/office/drawing/2014/main" id="{A1FF018D-9758-E812-C381-17020F2B5078}"/>
              </a:ext>
            </a:extLst>
          </p:cNvPr>
          <p:cNvSpPr txBox="1"/>
          <p:nvPr/>
        </p:nvSpPr>
        <p:spPr>
          <a:xfrm>
            <a:off x="983432" y="1439144"/>
            <a:ext cx="9433048" cy="3816429"/>
          </a:xfrm>
          <a:prstGeom prst="rect">
            <a:avLst/>
          </a:prstGeom>
          <a:noFill/>
        </p:spPr>
        <p:txBody>
          <a:bodyPr wrap="square">
            <a:spAutoFit/>
          </a:bodyPr>
          <a:lstStyle/>
          <a:p>
            <a:pPr algn="just"/>
            <a:r>
              <a:rPr lang="en-US" sz="2200" dirty="0">
                <a:effectLst/>
                <a:latin typeface="Garamond" panose="02020404030301010803" pitchFamily="18" charset="0"/>
              </a:rPr>
              <a:t>In order to make a proper utility decision, it has to determine which consequence is the best. If the self-driving car did hypothetically have the proper technology to determine every factor from visual recognition, it would still need to run scenarios that would determine which outcome is the best and the number of scenarios increase drastically with more information. </a:t>
            </a:r>
          </a:p>
          <a:p>
            <a:pPr algn="just"/>
            <a:endParaRPr lang="en-US" sz="2200" dirty="0">
              <a:latin typeface="Garamond" panose="02020404030301010803" pitchFamily="18" charset="0"/>
            </a:endParaRPr>
          </a:p>
          <a:p>
            <a:pPr algn="just"/>
            <a:r>
              <a:rPr lang="en-US" sz="2200" dirty="0">
                <a:effectLst/>
                <a:latin typeface="Garamond" panose="02020404030301010803" pitchFamily="18" charset="0"/>
              </a:rPr>
              <a:t>For example, with better technology perhaps the car could estimate that the car behind him is moving slower and can take the impact without much damage. So now the car would have to compare this outcome with the outcome of swerving into the helmeted motorcyclist. There could be many more of these estimations, all adding significantly more computation</a:t>
            </a:r>
          </a:p>
        </p:txBody>
      </p:sp>
    </p:spTree>
    <p:extLst>
      <p:ext uri="{BB962C8B-B14F-4D97-AF65-F5344CB8AC3E}">
        <p14:creationId xmlns:p14="http://schemas.microsoft.com/office/powerpoint/2010/main" val="31945783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98A55D2-35AF-3C67-9892-02BACFFCB4D8}"/>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U tilitarian Ethics</a:t>
            </a:r>
          </a:p>
        </p:txBody>
      </p:sp>
      <p:sp>
        <p:nvSpPr>
          <p:cNvPr id="5" name="TextBox 4">
            <a:extLst>
              <a:ext uri="{FF2B5EF4-FFF2-40B4-BE49-F238E27FC236}">
                <a16:creationId xmlns:a16="http://schemas.microsoft.com/office/drawing/2014/main" id="{0D7B1887-31BC-EB04-C90E-0DDF9B2E8825}"/>
              </a:ext>
            </a:extLst>
          </p:cNvPr>
          <p:cNvSpPr txBox="1"/>
          <p:nvPr/>
        </p:nvSpPr>
        <p:spPr>
          <a:xfrm>
            <a:off x="983432" y="1439144"/>
            <a:ext cx="9433048" cy="2800767"/>
          </a:xfrm>
          <a:prstGeom prst="rect">
            <a:avLst/>
          </a:prstGeom>
          <a:noFill/>
        </p:spPr>
        <p:txBody>
          <a:bodyPr wrap="square">
            <a:spAutoFit/>
          </a:bodyPr>
          <a:lstStyle/>
          <a:p>
            <a:pPr algn="just"/>
            <a:r>
              <a:rPr lang="en-US" sz="2200" dirty="0">
                <a:solidFill>
                  <a:srgbClr val="000000"/>
                </a:solidFill>
                <a:effectLst/>
                <a:latin typeface="Garamond" panose="02020404030301010803" pitchFamily="18" charset="0"/>
              </a:rPr>
              <a:t>Furthermore, utilitarian vehicle that pursues unrestricted optimization may be less </a:t>
            </a:r>
            <a:r>
              <a:rPr lang="en-US" sz="2200" i="1" dirty="0">
                <a:solidFill>
                  <a:srgbClr val="000000"/>
                </a:solidFill>
                <a:effectLst/>
                <a:latin typeface="Garamond" panose="02020404030301010803" pitchFamily="18" charset="0"/>
              </a:rPr>
              <a:t>transparent</a:t>
            </a:r>
            <a:r>
              <a:rPr lang="en-US" sz="2200" dirty="0">
                <a:solidFill>
                  <a:srgbClr val="000000"/>
                </a:solidFill>
                <a:effectLst/>
                <a:latin typeface="Garamond" panose="02020404030301010803" pitchFamily="18" charset="0"/>
              </a:rPr>
              <a:t> ) or at least less foreseeable before the underlying logic is inspected to explain why a certain decision was made by the self-driving car (most machine learning uses statistical analysis hence there is no reasoning or explainability provided to why a decision was made). </a:t>
            </a:r>
          </a:p>
          <a:p>
            <a:pPr algn="just"/>
            <a:endParaRPr lang="en-US" sz="2200" dirty="0">
              <a:solidFill>
                <a:srgbClr val="000000"/>
              </a:solidFill>
              <a:latin typeface="Garamond" panose="02020404030301010803" pitchFamily="18" charset="0"/>
            </a:endParaRPr>
          </a:p>
          <a:p>
            <a:pPr algn="just"/>
            <a:r>
              <a:rPr lang="en-US" sz="2200" dirty="0">
                <a:solidFill>
                  <a:srgbClr val="000000"/>
                </a:solidFill>
                <a:effectLst/>
                <a:latin typeface="Garamond" panose="02020404030301010803" pitchFamily="18" charset="0"/>
              </a:rPr>
              <a:t>Besides, the central question here is whether it is right and permissible to actively inhibit the utility of an individual to achieve greater utility for other individuals.</a:t>
            </a:r>
            <a:endParaRPr lang="en-US" sz="2200" dirty="0">
              <a:effectLst/>
              <a:latin typeface="Garamond" panose="02020404030301010803" pitchFamily="18" charset="0"/>
            </a:endParaRPr>
          </a:p>
        </p:txBody>
      </p:sp>
    </p:spTree>
    <p:extLst>
      <p:ext uri="{BB962C8B-B14F-4D97-AF65-F5344CB8AC3E}">
        <p14:creationId xmlns:p14="http://schemas.microsoft.com/office/powerpoint/2010/main" val="3382086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77E5DF-EF42-87EE-9540-245FE58A43E9}"/>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Deontology Ethics</a:t>
            </a:r>
          </a:p>
        </p:txBody>
      </p:sp>
      <p:sp>
        <p:nvSpPr>
          <p:cNvPr id="5" name="TextBox 4">
            <a:extLst>
              <a:ext uri="{FF2B5EF4-FFF2-40B4-BE49-F238E27FC236}">
                <a16:creationId xmlns:a16="http://schemas.microsoft.com/office/drawing/2014/main" id="{FA3E081D-735B-2719-A1A8-76A7312B5491}"/>
              </a:ext>
            </a:extLst>
          </p:cNvPr>
          <p:cNvSpPr txBox="1"/>
          <p:nvPr/>
        </p:nvSpPr>
        <p:spPr>
          <a:xfrm>
            <a:off x="983432" y="1439144"/>
            <a:ext cx="9433048" cy="2462213"/>
          </a:xfrm>
          <a:prstGeom prst="rect">
            <a:avLst/>
          </a:prstGeom>
          <a:noFill/>
        </p:spPr>
        <p:txBody>
          <a:bodyPr wrap="square">
            <a:spAutoFit/>
          </a:bodyPr>
          <a:lstStyle/>
          <a:p>
            <a:pPr algn="just"/>
            <a:r>
              <a:rPr lang="en-US" sz="2200" dirty="0">
                <a:solidFill>
                  <a:srgbClr val="000000"/>
                </a:solidFill>
                <a:effectLst/>
                <a:latin typeface="Garamond" panose="02020404030301010803" pitchFamily="18" charset="0"/>
              </a:rPr>
              <a:t>In general, deontological theories judge the morality of choices by criteria different from the states of affairs the choice brings about. </a:t>
            </a:r>
          </a:p>
          <a:p>
            <a:pPr algn="just"/>
            <a:endParaRPr lang="en-US" sz="2200" dirty="0">
              <a:solidFill>
                <a:srgbClr val="000000"/>
              </a:solidFill>
              <a:latin typeface="Garamond" panose="02020404030301010803" pitchFamily="18" charset="0"/>
            </a:endParaRPr>
          </a:p>
          <a:p>
            <a:pPr algn="just"/>
            <a:r>
              <a:rPr lang="en-US" sz="2200" dirty="0">
                <a:solidFill>
                  <a:srgbClr val="000000"/>
                </a:solidFill>
                <a:effectLst/>
                <a:latin typeface="Garamond" panose="02020404030301010803" pitchFamily="18" charset="0"/>
              </a:rPr>
              <a:t>One of the limitations of applying deontology for building rules into a self-driving car is building a hierarchy of constraints (e.g., “forbidden, permissible, obligatory actions” following Asimov’s Law to guide them towards desirable behavior in dilemma situations</a:t>
            </a:r>
            <a:endParaRPr lang="en-US" sz="2200" dirty="0">
              <a:effectLst/>
              <a:latin typeface="Garamond" panose="02020404030301010803" pitchFamily="18" charset="0"/>
            </a:endParaRPr>
          </a:p>
        </p:txBody>
      </p:sp>
    </p:spTree>
    <p:extLst>
      <p:ext uri="{BB962C8B-B14F-4D97-AF65-F5344CB8AC3E}">
        <p14:creationId xmlns:p14="http://schemas.microsoft.com/office/powerpoint/2010/main" val="2687006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5453EF-C157-0E49-2D7A-1DF10C71BFF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Deontology Ethics</a:t>
            </a:r>
          </a:p>
        </p:txBody>
      </p:sp>
      <p:sp>
        <p:nvSpPr>
          <p:cNvPr id="5" name="TextBox 4">
            <a:extLst>
              <a:ext uri="{FF2B5EF4-FFF2-40B4-BE49-F238E27FC236}">
                <a16:creationId xmlns:a16="http://schemas.microsoft.com/office/drawing/2014/main" id="{755EECC0-2D1B-9160-5066-5800F2151F6B}"/>
              </a:ext>
            </a:extLst>
          </p:cNvPr>
          <p:cNvSpPr txBox="1"/>
          <p:nvPr/>
        </p:nvSpPr>
        <p:spPr>
          <a:xfrm>
            <a:off x="983432" y="1439144"/>
            <a:ext cx="9433048" cy="2462213"/>
          </a:xfrm>
          <a:prstGeom prst="rect">
            <a:avLst/>
          </a:prstGeom>
          <a:noFill/>
        </p:spPr>
        <p:txBody>
          <a:bodyPr wrap="square">
            <a:spAutoFit/>
          </a:bodyPr>
          <a:lstStyle/>
          <a:p>
            <a:pPr algn="just"/>
            <a:r>
              <a:rPr lang="en-US" sz="2200" dirty="0">
                <a:solidFill>
                  <a:srgbClr val="000000"/>
                </a:solidFill>
                <a:effectLst/>
                <a:latin typeface="Garamond" panose="02020404030301010803" pitchFamily="18" charset="0"/>
              </a:rPr>
              <a:t>In general, deontology, in its strengths, offers a computational structure for judgment and thus, at least from a practical perspective, are achievable. </a:t>
            </a:r>
          </a:p>
          <a:p>
            <a:pPr algn="just"/>
            <a:endParaRPr lang="en-US" sz="2200" dirty="0">
              <a:solidFill>
                <a:srgbClr val="000000"/>
              </a:solidFill>
              <a:latin typeface="Garamond" panose="02020404030301010803" pitchFamily="18" charset="0"/>
            </a:endParaRPr>
          </a:p>
          <a:p>
            <a:pPr algn="just"/>
            <a:r>
              <a:rPr lang="en-US" sz="2200" dirty="0">
                <a:solidFill>
                  <a:srgbClr val="000000"/>
                </a:solidFill>
                <a:effectLst/>
                <a:latin typeface="Garamond" panose="02020404030301010803" pitchFamily="18" charset="0"/>
              </a:rPr>
              <a:t>However, it can be argued that such rule-based approaches ignore context-specific information such as the probability of occurrence of current and future conditions. Hence, the self-driving car may undertake dangerous behaviors in order to adhere to its strict rule.</a:t>
            </a:r>
            <a:endParaRPr lang="en-US" sz="2200" dirty="0">
              <a:effectLst/>
              <a:latin typeface="Garamond" panose="02020404030301010803" pitchFamily="18" charset="0"/>
            </a:endParaRPr>
          </a:p>
        </p:txBody>
      </p:sp>
    </p:spTree>
    <p:extLst>
      <p:ext uri="{BB962C8B-B14F-4D97-AF65-F5344CB8AC3E}">
        <p14:creationId xmlns:p14="http://schemas.microsoft.com/office/powerpoint/2010/main" val="4002869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63AA946-3A42-6688-ED94-D68858E499AA}"/>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Deontology Ethics</a:t>
            </a:r>
          </a:p>
        </p:txBody>
      </p:sp>
      <p:sp>
        <p:nvSpPr>
          <p:cNvPr id="5" name="TextBox 4">
            <a:extLst>
              <a:ext uri="{FF2B5EF4-FFF2-40B4-BE49-F238E27FC236}">
                <a16:creationId xmlns:a16="http://schemas.microsoft.com/office/drawing/2014/main" id="{1AC9E2FD-8860-6292-F759-9AA18F68E506}"/>
              </a:ext>
            </a:extLst>
          </p:cNvPr>
          <p:cNvSpPr txBox="1"/>
          <p:nvPr/>
        </p:nvSpPr>
        <p:spPr>
          <a:xfrm>
            <a:off x="983432" y="1439144"/>
            <a:ext cx="9433048" cy="2800767"/>
          </a:xfrm>
          <a:prstGeom prst="rect">
            <a:avLst/>
          </a:prstGeom>
          <a:noFill/>
        </p:spPr>
        <p:txBody>
          <a:bodyPr wrap="square">
            <a:spAutoFit/>
          </a:bodyPr>
          <a:lstStyle/>
          <a:p>
            <a:pPr algn="just"/>
            <a:r>
              <a:rPr lang="en-US" sz="2200" dirty="0">
                <a:solidFill>
                  <a:srgbClr val="000000"/>
                </a:solidFill>
                <a:effectLst/>
                <a:latin typeface="Garamond" panose="02020404030301010803" pitchFamily="18" charset="0"/>
              </a:rPr>
              <a:t>According to this, the </a:t>
            </a:r>
            <a:r>
              <a:rPr lang="en-US" sz="2200" i="1" dirty="0">
                <a:solidFill>
                  <a:srgbClr val="000000"/>
                </a:solidFill>
                <a:effectLst/>
                <a:latin typeface="Garamond" panose="02020404030301010803" pitchFamily="18" charset="0"/>
              </a:rPr>
              <a:t>representation of reality</a:t>
            </a:r>
            <a:r>
              <a:rPr lang="en-US" sz="2200" dirty="0">
                <a:solidFill>
                  <a:srgbClr val="000000"/>
                </a:solidFill>
                <a:effectLst/>
                <a:latin typeface="Garamond" panose="02020404030301010803" pitchFamily="18" charset="0"/>
              </a:rPr>
              <a:t> is only possible to a limited extent. This may also lead to a lower level of </a:t>
            </a:r>
            <a:r>
              <a:rPr lang="en-US" sz="2200" i="1" dirty="0">
                <a:solidFill>
                  <a:srgbClr val="000000"/>
                </a:solidFill>
                <a:effectLst/>
                <a:latin typeface="Garamond" panose="02020404030301010803" pitchFamily="18" charset="0"/>
              </a:rPr>
              <a:t>social acceptance</a:t>
            </a:r>
            <a:r>
              <a:rPr lang="en-US" sz="2200" dirty="0">
                <a:solidFill>
                  <a:srgbClr val="000000"/>
                </a:solidFill>
                <a:effectLst/>
                <a:latin typeface="Garamond" panose="02020404030301010803" pitchFamily="18" charset="0"/>
              </a:rPr>
              <a:t> of implementing rule-based approaches since moral decisions and obligations are not absolute but dependent on context. </a:t>
            </a:r>
          </a:p>
          <a:p>
            <a:pPr algn="just"/>
            <a:endParaRPr lang="en-US" sz="2200" dirty="0">
              <a:solidFill>
                <a:srgbClr val="000000"/>
              </a:solidFill>
              <a:latin typeface="Garamond" panose="02020404030301010803" pitchFamily="18" charset="0"/>
            </a:endParaRPr>
          </a:p>
          <a:p>
            <a:pPr algn="just"/>
            <a:r>
              <a:rPr lang="en-US" sz="2200" dirty="0">
                <a:solidFill>
                  <a:srgbClr val="000000"/>
                </a:solidFill>
                <a:effectLst/>
                <a:latin typeface="Garamond" panose="02020404030301010803" pitchFamily="18" charset="0"/>
              </a:rPr>
              <a:t>Although rule-based approaches can be implemented very well in software (</a:t>
            </a:r>
            <a:r>
              <a:rPr lang="en-US" sz="2200" i="1" dirty="0">
                <a:solidFill>
                  <a:srgbClr val="000000"/>
                </a:solidFill>
                <a:effectLst/>
                <a:latin typeface="Garamond" panose="02020404030301010803" pitchFamily="18" charset="0"/>
              </a:rPr>
              <a:t>technical feasibility</a:t>
            </a:r>
            <a:r>
              <a:rPr lang="en-US" sz="2200" dirty="0">
                <a:solidFill>
                  <a:srgbClr val="000000"/>
                </a:solidFill>
                <a:effectLst/>
                <a:latin typeface="Garamond" panose="02020404030301010803" pitchFamily="18" charset="0"/>
              </a:rPr>
              <a:t>), the number of rules needed that can conflict with each other arbitrarily represents an enormous complexity.</a:t>
            </a:r>
            <a:endParaRPr lang="en-US" sz="2200" dirty="0">
              <a:effectLst/>
              <a:latin typeface="Garamond" panose="02020404030301010803" pitchFamily="18" charset="0"/>
            </a:endParaRPr>
          </a:p>
        </p:txBody>
      </p:sp>
    </p:spTree>
    <p:extLst>
      <p:ext uri="{BB962C8B-B14F-4D97-AF65-F5344CB8AC3E}">
        <p14:creationId xmlns:p14="http://schemas.microsoft.com/office/powerpoint/2010/main" val="30197614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582234D-0FEE-344B-584F-3A2C1785E9FF}"/>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Limitation of Deontology Ethics</a:t>
            </a:r>
          </a:p>
        </p:txBody>
      </p:sp>
      <p:sp>
        <p:nvSpPr>
          <p:cNvPr id="5" name="TextBox 4">
            <a:extLst>
              <a:ext uri="{FF2B5EF4-FFF2-40B4-BE49-F238E27FC236}">
                <a16:creationId xmlns:a16="http://schemas.microsoft.com/office/drawing/2014/main" id="{C22D8566-D64A-E272-0E8D-03D95BF9CD81}"/>
              </a:ext>
            </a:extLst>
          </p:cNvPr>
          <p:cNvSpPr txBox="1"/>
          <p:nvPr/>
        </p:nvSpPr>
        <p:spPr>
          <a:xfrm>
            <a:off x="983432" y="1556792"/>
            <a:ext cx="9433048" cy="2123658"/>
          </a:xfrm>
          <a:prstGeom prst="rect">
            <a:avLst/>
          </a:prstGeom>
          <a:noFill/>
        </p:spPr>
        <p:txBody>
          <a:bodyPr wrap="square">
            <a:spAutoFit/>
          </a:bodyPr>
          <a:lstStyle/>
          <a:p>
            <a:pPr algn="just"/>
            <a:r>
              <a:rPr lang="en-US" sz="2200" dirty="0">
                <a:solidFill>
                  <a:srgbClr val="000000"/>
                </a:solidFill>
                <a:effectLst/>
                <a:latin typeface="Garamond" panose="02020404030301010803" pitchFamily="18" charset="0"/>
              </a:rPr>
              <a:t>The </a:t>
            </a:r>
            <a:r>
              <a:rPr lang="en-US" sz="2200" i="1" dirty="0">
                <a:solidFill>
                  <a:srgbClr val="000000"/>
                </a:solidFill>
                <a:effectLst/>
                <a:latin typeface="Garamond" panose="02020404030301010803" pitchFamily="18" charset="0"/>
              </a:rPr>
              <a:t>universality</a:t>
            </a:r>
            <a:r>
              <a:rPr lang="en-US" sz="2200" dirty="0">
                <a:solidFill>
                  <a:srgbClr val="000000"/>
                </a:solidFill>
                <a:effectLst/>
                <a:latin typeface="Garamond" panose="02020404030301010803" pitchFamily="18" charset="0"/>
              </a:rPr>
              <a:t> of such approaches is also poor since a rule must cover each so-called corner case in advance. Only the </a:t>
            </a:r>
            <a:r>
              <a:rPr lang="en-US" sz="2200" i="1" dirty="0">
                <a:solidFill>
                  <a:srgbClr val="000000"/>
                </a:solidFill>
                <a:effectLst/>
                <a:latin typeface="Garamond" panose="02020404030301010803" pitchFamily="18" charset="0"/>
              </a:rPr>
              <a:t>explainability</a:t>
            </a:r>
            <a:r>
              <a:rPr lang="en-US" sz="2200" dirty="0">
                <a:solidFill>
                  <a:srgbClr val="000000"/>
                </a:solidFill>
                <a:effectLst/>
                <a:latin typeface="Garamond" panose="02020404030301010803" pitchFamily="18" charset="0"/>
              </a:rPr>
              <a:t> is given by the representation of rules with different prioritization. </a:t>
            </a:r>
          </a:p>
          <a:p>
            <a:pPr algn="just"/>
            <a:endParaRPr lang="en-US" sz="2200" dirty="0">
              <a:solidFill>
                <a:srgbClr val="000000"/>
              </a:solidFill>
              <a:effectLst/>
              <a:latin typeface="Garamond" panose="02020404030301010803" pitchFamily="18" charset="0"/>
            </a:endParaRPr>
          </a:p>
          <a:p>
            <a:pPr algn="just"/>
            <a:r>
              <a:rPr lang="en-US" sz="2200" dirty="0">
                <a:solidFill>
                  <a:srgbClr val="000000"/>
                </a:solidFill>
                <a:effectLst/>
                <a:latin typeface="Garamond" panose="02020404030301010803" pitchFamily="18" charset="0"/>
              </a:rPr>
              <a:t>Therefore, from a technical and functional perspective, implementing a deontic approach in the systems of AVs seems to exhibit many complications.</a:t>
            </a:r>
            <a:endParaRPr lang="en-US" sz="2200" dirty="0">
              <a:effectLst/>
              <a:latin typeface="Garamond" panose="02020404030301010803" pitchFamily="18" charset="0"/>
            </a:endParaRPr>
          </a:p>
        </p:txBody>
      </p:sp>
    </p:spTree>
    <p:extLst>
      <p:ext uri="{BB962C8B-B14F-4D97-AF65-F5344CB8AC3E}">
        <p14:creationId xmlns:p14="http://schemas.microsoft.com/office/powerpoint/2010/main" val="14602798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BC0E77-2A30-532D-A634-A0BD9527ECA8}"/>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In summary</a:t>
            </a:r>
          </a:p>
        </p:txBody>
      </p:sp>
      <p:sp>
        <p:nvSpPr>
          <p:cNvPr id="5" name="TextBox 4">
            <a:extLst>
              <a:ext uri="{FF2B5EF4-FFF2-40B4-BE49-F238E27FC236}">
                <a16:creationId xmlns:a16="http://schemas.microsoft.com/office/drawing/2014/main" id="{B22967CB-D41F-3C29-DF30-45E920F958B2}"/>
              </a:ext>
            </a:extLst>
          </p:cNvPr>
          <p:cNvSpPr txBox="1"/>
          <p:nvPr/>
        </p:nvSpPr>
        <p:spPr>
          <a:xfrm>
            <a:off x="1199456" y="1628800"/>
            <a:ext cx="7848872" cy="2462213"/>
          </a:xfrm>
          <a:prstGeom prst="rect">
            <a:avLst/>
          </a:prstGeom>
          <a:noFill/>
        </p:spPr>
        <p:txBody>
          <a:bodyPr wrap="square">
            <a:spAutoFit/>
          </a:bodyPr>
          <a:lstStyle/>
          <a:p>
            <a:pPr algn="just"/>
            <a:r>
              <a:rPr lang="en-US" sz="2200" dirty="0">
                <a:effectLst/>
                <a:latin typeface="Garamond" panose="02020404030301010803" pitchFamily="18" charset="0"/>
              </a:rPr>
              <a:t>We have seen how it is complex to create or develop Ethical AI applications. Hence why it is required a thorough framework to support ethical reasoning.</a:t>
            </a:r>
          </a:p>
          <a:p>
            <a:pPr algn="just"/>
            <a:endParaRPr lang="en-US" sz="2200" dirty="0">
              <a:effectLst/>
              <a:latin typeface="Garamond" panose="02020404030301010803" pitchFamily="18" charset="0"/>
            </a:endParaRPr>
          </a:p>
          <a:p>
            <a:pPr algn="just"/>
            <a:r>
              <a:rPr lang="en-US" sz="2200" dirty="0">
                <a:effectLst/>
                <a:latin typeface="Garamond" panose="02020404030301010803" pitchFamily="18" charset="0"/>
              </a:rPr>
              <a:t>This brings us to the next step in Ethical reasoning, deliberating which would be the best decision to make in either improving or creating new ethical AI applications in the next chapter.</a:t>
            </a:r>
          </a:p>
        </p:txBody>
      </p:sp>
    </p:spTree>
    <p:extLst>
      <p:ext uri="{BB962C8B-B14F-4D97-AF65-F5344CB8AC3E}">
        <p14:creationId xmlns:p14="http://schemas.microsoft.com/office/powerpoint/2010/main" val="9901037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18AA1142-2BE4-4E98-37E8-FF5E5F03B61F}"/>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ERF Step 3 - Implement: Apply ethical system theories in code</a:t>
            </a:r>
          </a:p>
        </p:txBody>
      </p:sp>
      <p:sp>
        <p:nvSpPr>
          <p:cNvPr id="2"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2212833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E4A5726-D2F5-EF3D-5304-5619B0B16F79}"/>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Recall the steps we gave gone through so far, this week is Step 3</a:t>
            </a:r>
          </a:p>
        </p:txBody>
      </p:sp>
      <p:sp>
        <p:nvSpPr>
          <p:cNvPr id="3" name="Subtitle 2">
            <a:extLst>
              <a:ext uri="{FF2B5EF4-FFF2-40B4-BE49-F238E27FC236}">
                <a16:creationId xmlns:a16="http://schemas.microsoft.com/office/drawing/2014/main" id="{67A21EA7-82F3-534C-469A-AE911858976D}"/>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715AFE22-5E2B-EF22-5B5E-9A3ED122DBC8}"/>
              </a:ext>
            </a:extLst>
          </p:cNvPr>
          <p:cNvSpPr>
            <a:spLocks noGrp="1"/>
          </p:cNvSpPr>
          <p:nvPr>
            <p:ph type="sldNum" sz="quarter" idx="12"/>
          </p:nvPr>
        </p:nvSpPr>
        <p:spPr/>
        <p:txBody>
          <a:bodyPr/>
          <a:lstStyle/>
          <a:p>
            <a:pPr>
              <a:defRPr/>
            </a:pPr>
            <a:fld id="{65D7EE65-8AFE-4022-B3D9-7794B9342842}" type="slidenum">
              <a:rPr lang="en-AU" smtClean="0"/>
              <a:pPr>
                <a:defRPr/>
              </a:pPr>
              <a:t>42</a:t>
            </a:fld>
            <a:endParaRPr lang="en-AU" dirty="0"/>
          </a:p>
        </p:txBody>
      </p:sp>
      <p:sp>
        <p:nvSpPr>
          <p:cNvPr id="6" name="Rectangle 5">
            <a:extLst>
              <a:ext uri="{FF2B5EF4-FFF2-40B4-BE49-F238E27FC236}">
                <a16:creationId xmlns:a16="http://schemas.microsoft.com/office/drawing/2014/main" id="{4787C6FC-0894-0A5A-7057-2369065FBCEC}"/>
              </a:ext>
            </a:extLst>
          </p:cNvPr>
          <p:cNvSpPr/>
          <p:nvPr/>
        </p:nvSpPr>
        <p:spPr>
          <a:xfrm>
            <a:off x="904446" y="1980767"/>
            <a:ext cx="9649072" cy="3416320"/>
          </a:xfrm>
          <a:prstGeom prst="rect">
            <a:avLst/>
          </a:prstGeom>
        </p:spPr>
        <p:txBody>
          <a:bodyPr wrap="square">
            <a:spAutoFit/>
          </a:bodyPr>
          <a:lstStyle/>
          <a:p>
            <a:r>
              <a:rPr lang="en-US" sz="2400" b="1" dirty="0">
                <a:highlight>
                  <a:srgbClr val="FFFFFF"/>
                </a:highlight>
                <a:latin typeface="Garamond" panose="02020404030301010803" pitchFamily="18" charset="0"/>
              </a:rPr>
              <a:t>Step 1 - Analyze and Define</a:t>
            </a:r>
          </a:p>
          <a:p>
            <a:r>
              <a:rPr lang="en-US" sz="2400" dirty="0">
                <a:highlight>
                  <a:srgbClr val="FFFFFF"/>
                </a:highlight>
                <a:latin typeface="Garamond" panose="02020404030301010803" pitchFamily="18" charset="0"/>
              </a:rPr>
              <a:t>Evaluate ACM Code of Ethics violations and define stakeholders’ impact</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2 – Design solutions using Design Thinking</a:t>
            </a:r>
          </a:p>
          <a:p>
            <a:r>
              <a:rPr lang="en-US" sz="2400" dirty="0">
                <a:highlight>
                  <a:srgbClr val="FFFFFF"/>
                </a:highlight>
                <a:latin typeface="Garamond" panose="02020404030301010803" pitchFamily="18" charset="0"/>
              </a:rPr>
              <a:t>Create solutions addressing violations </a:t>
            </a:r>
            <a:endParaRPr lang="en-US" sz="2400" b="1" dirty="0">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solidFill>
                  <a:srgbClr val="FF0000"/>
                </a:solidFill>
                <a:highlight>
                  <a:srgbClr val="FFFFFF"/>
                </a:highlight>
                <a:latin typeface="Garamond" panose="02020404030301010803" pitchFamily="18" charset="0"/>
              </a:rPr>
              <a:t>Step 3 - Implement</a:t>
            </a:r>
            <a:r>
              <a:rPr lang="en-US" sz="2400" dirty="0">
                <a:solidFill>
                  <a:srgbClr val="FF0000"/>
                </a:solidFill>
                <a:highlight>
                  <a:srgbClr val="FFFFFF"/>
                </a:highlight>
                <a:latin typeface="Garamond" panose="02020404030301010803" pitchFamily="18" charset="0"/>
              </a:rPr>
              <a:t>: Apply ethical system theories in code </a:t>
            </a:r>
            <a:endParaRPr lang="en-US" sz="2400" b="1" dirty="0">
              <a:solidFill>
                <a:srgbClr val="FF0000"/>
              </a:solidFill>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4- Visualize</a:t>
            </a:r>
            <a:r>
              <a:rPr lang="en-US" sz="2400" dirty="0">
                <a:highlight>
                  <a:srgbClr val="FFFFFF"/>
                </a:highlight>
                <a:latin typeface="Garamond" panose="02020404030301010803" pitchFamily="18" charset="0"/>
              </a:rPr>
              <a:t>: Design user-centered mockups </a:t>
            </a:r>
          </a:p>
        </p:txBody>
      </p:sp>
    </p:spTree>
    <p:extLst>
      <p:ext uri="{BB962C8B-B14F-4D97-AF65-F5344CB8AC3E}">
        <p14:creationId xmlns:p14="http://schemas.microsoft.com/office/powerpoint/2010/main" val="1513020353"/>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7F69F0-D2A5-40CC-41B1-7FB3F2B59E8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What does it mean by ethical coding?</a:t>
            </a:r>
          </a:p>
        </p:txBody>
      </p:sp>
      <p:sp>
        <p:nvSpPr>
          <p:cNvPr id="5" name="TextBox 4">
            <a:extLst>
              <a:ext uri="{FF2B5EF4-FFF2-40B4-BE49-F238E27FC236}">
                <a16:creationId xmlns:a16="http://schemas.microsoft.com/office/drawing/2014/main" id="{6CFEF43F-308C-65FA-485A-76D1C577F06B}"/>
              </a:ext>
            </a:extLst>
          </p:cNvPr>
          <p:cNvSpPr txBox="1"/>
          <p:nvPr/>
        </p:nvSpPr>
        <p:spPr>
          <a:xfrm>
            <a:off x="839416" y="1655168"/>
            <a:ext cx="9433048" cy="1446550"/>
          </a:xfrm>
          <a:prstGeom prst="rect">
            <a:avLst/>
          </a:prstGeom>
          <a:noFill/>
        </p:spPr>
        <p:txBody>
          <a:bodyPr wrap="square">
            <a:spAutoFit/>
          </a:bodyPr>
          <a:lstStyle/>
          <a:p>
            <a:endParaRPr lang="en-US" sz="2200" dirty="0">
              <a:solidFill>
                <a:srgbClr val="0070C0"/>
              </a:solidFill>
              <a:latin typeface="Garamond" panose="02020404030301010803" pitchFamily="18" charset="0"/>
            </a:endParaRPr>
          </a:p>
          <a:p>
            <a:endParaRPr lang="en-US" sz="2200" dirty="0">
              <a:latin typeface="Garamond" panose="02020404030301010803" pitchFamily="18" charset="0"/>
            </a:endParaRPr>
          </a:p>
          <a:p>
            <a:endParaRPr lang="en-US" sz="2200" dirty="0">
              <a:solidFill>
                <a:srgbClr val="292929"/>
              </a:solidFill>
              <a:latin typeface="Garamond" panose="02020404030301010803" pitchFamily="18" charset="0"/>
            </a:endParaRPr>
          </a:p>
          <a:p>
            <a:pPr algn="just"/>
            <a:endParaRPr lang="en-US" sz="2200" dirty="0">
              <a:effectLst/>
              <a:latin typeface="Garamond" panose="02020404030301010803" pitchFamily="18" charset="0"/>
            </a:endParaRPr>
          </a:p>
        </p:txBody>
      </p:sp>
      <p:sp>
        <p:nvSpPr>
          <p:cNvPr id="4" name="TextBox 3">
            <a:extLst>
              <a:ext uri="{FF2B5EF4-FFF2-40B4-BE49-F238E27FC236}">
                <a16:creationId xmlns:a16="http://schemas.microsoft.com/office/drawing/2014/main" id="{31663A2E-4EF0-F015-4859-0CDDEA2A5E2A}"/>
              </a:ext>
            </a:extLst>
          </p:cNvPr>
          <p:cNvSpPr txBox="1"/>
          <p:nvPr/>
        </p:nvSpPr>
        <p:spPr>
          <a:xfrm>
            <a:off x="839416" y="1655168"/>
            <a:ext cx="10032200" cy="2800767"/>
          </a:xfrm>
          <a:prstGeom prst="rect">
            <a:avLst/>
          </a:prstGeom>
          <a:noFill/>
        </p:spPr>
        <p:txBody>
          <a:bodyPr wrap="square">
            <a:spAutoFit/>
          </a:bodyPr>
          <a:lstStyle/>
          <a:p>
            <a:pPr algn="l"/>
            <a:r>
              <a:rPr lang="en-US" sz="2200" b="0" i="0" dirty="0">
                <a:solidFill>
                  <a:srgbClr val="374151"/>
                </a:solidFill>
                <a:effectLst/>
                <a:latin typeface="Garamond" panose="02020404030301010803" pitchFamily="18" charset="0"/>
              </a:rPr>
              <a:t>Coding, in essence, is a form of instructing </a:t>
            </a:r>
            <a:r>
              <a:rPr lang="en-US" sz="2200" dirty="0">
                <a:solidFill>
                  <a:srgbClr val="374151"/>
                </a:solidFill>
                <a:latin typeface="Garamond" panose="02020404030301010803" pitchFamily="18" charset="0"/>
              </a:rPr>
              <a:t>the computer </a:t>
            </a:r>
            <a:r>
              <a:rPr lang="en-US" sz="2200" b="0" i="0" dirty="0">
                <a:solidFill>
                  <a:srgbClr val="374151"/>
                </a:solidFill>
                <a:effectLst/>
                <a:latin typeface="Garamond" panose="02020404030301010803" pitchFamily="18" charset="0"/>
              </a:rPr>
              <a:t> to perform certain actions.</a:t>
            </a:r>
          </a:p>
          <a:p>
            <a:pPr algn="l"/>
            <a:endParaRPr lang="en-US" sz="2200" dirty="0">
              <a:solidFill>
                <a:srgbClr val="374151"/>
              </a:solidFill>
              <a:latin typeface="Garamond" panose="02020404030301010803" pitchFamily="18" charset="0"/>
            </a:endParaRPr>
          </a:p>
          <a:p>
            <a:pPr algn="l"/>
            <a:r>
              <a:rPr lang="en-US" sz="2200" b="0" i="0" dirty="0">
                <a:solidFill>
                  <a:srgbClr val="374151"/>
                </a:solidFill>
                <a:effectLst/>
                <a:latin typeface="Garamond" panose="02020404030301010803" pitchFamily="18" charset="0"/>
              </a:rPr>
              <a:t> Ethical coding is about ensuring that these instructions do not lead to harm, injustice, or inequity. </a:t>
            </a:r>
          </a:p>
          <a:p>
            <a:pPr algn="l"/>
            <a:r>
              <a:rPr lang="en-US" sz="2200" dirty="0">
                <a:solidFill>
                  <a:srgbClr val="374151"/>
                </a:solidFill>
                <a:latin typeface="Garamond" panose="02020404030301010803" pitchFamily="18" charset="0"/>
              </a:rPr>
              <a:t> </a:t>
            </a:r>
          </a:p>
          <a:p>
            <a:pPr algn="l"/>
            <a:r>
              <a:rPr lang="en-US" sz="2200" b="0" i="0" dirty="0">
                <a:solidFill>
                  <a:srgbClr val="374151"/>
                </a:solidFill>
                <a:effectLst/>
                <a:latin typeface="Garamond" panose="02020404030301010803" pitchFamily="18" charset="0"/>
              </a:rPr>
              <a:t>Thus, using ethical theory system as a set of guideline, it entails following a set of principles that guide responsible conduct in the creation and use of software. </a:t>
            </a:r>
          </a:p>
          <a:p>
            <a:pPr algn="l"/>
            <a:endParaRPr lang="en-US" sz="2200" dirty="0">
              <a:solidFill>
                <a:srgbClr val="374151"/>
              </a:solidFill>
              <a:latin typeface="Garamond" panose="02020404030301010803" pitchFamily="18" charset="0"/>
            </a:endParaRPr>
          </a:p>
        </p:txBody>
      </p:sp>
    </p:spTree>
    <p:extLst>
      <p:ext uri="{BB962C8B-B14F-4D97-AF65-F5344CB8AC3E}">
        <p14:creationId xmlns:p14="http://schemas.microsoft.com/office/powerpoint/2010/main" val="11293795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225F50-2F62-4FCA-3534-D535C9B2F0B4}"/>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What does it mean by ethical coding?</a:t>
            </a:r>
          </a:p>
        </p:txBody>
      </p:sp>
      <p:sp>
        <p:nvSpPr>
          <p:cNvPr id="5" name="TextBox 4">
            <a:extLst>
              <a:ext uri="{FF2B5EF4-FFF2-40B4-BE49-F238E27FC236}">
                <a16:creationId xmlns:a16="http://schemas.microsoft.com/office/drawing/2014/main" id="{C118A5B9-0C5E-9AC3-A37D-63992C08E11F}"/>
              </a:ext>
            </a:extLst>
          </p:cNvPr>
          <p:cNvSpPr txBox="1"/>
          <p:nvPr/>
        </p:nvSpPr>
        <p:spPr>
          <a:xfrm>
            <a:off x="813939" y="1251555"/>
            <a:ext cx="9433048" cy="1446550"/>
          </a:xfrm>
          <a:prstGeom prst="rect">
            <a:avLst/>
          </a:prstGeom>
          <a:noFill/>
        </p:spPr>
        <p:txBody>
          <a:bodyPr wrap="square">
            <a:spAutoFit/>
          </a:bodyPr>
          <a:lstStyle/>
          <a:p>
            <a:endParaRPr lang="en-US" sz="2200" dirty="0">
              <a:solidFill>
                <a:srgbClr val="0070C0"/>
              </a:solidFill>
              <a:latin typeface="Garamond" panose="02020404030301010803" pitchFamily="18" charset="0"/>
            </a:endParaRPr>
          </a:p>
          <a:p>
            <a:endParaRPr lang="en-US" sz="2200" dirty="0">
              <a:latin typeface="Garamond" panose="02020404030301010803" pitchFamily="18" charset="0"/>
            </a:endParaRPr>
          </a:p>
          <a:p>
            <a:endParaRPr lang="en-US" sz="2200" dirty="0">
              <a:solidFill>
                <a:srgbClr val="292929"/>
              </a:solidFill>
              <a:latin typeface="Garamond" panose="02020404030301010803" pitchFamily="18" charset="0"/>
            </a:endParaRPr>
          </a:p>
          <a:p>
            <a:pPr algn="just"/>
            <a:endParaRPr lang="en-US" sz="2200" dirty="0">
              <a:effectLst/>
              <a:latin typeface="Garamond" panose="02020404030301010803" pitchFamily="18" charset="0"/>
            </a:endParaRPr>
          </a:p>
        </p:txBody>
      </p:sp>
      <p:sp>
        <p:nvSpPr>
          <p:cNvPr id="4" name="TextBox 3">
            <a:extLst>
              <a:ext uri="{FF2B5EF4-FFF2-40B4-BE49-F238E27FC236}">
                <a16:creationId xmlns:a16="http://schemas.microsoft.com/office/drawing/2014/main" id="{7D706227-C6A0-28CA-4FC9-ACB942DB9507}"/>
              </a:ext>
            </a:extLst>
          </p:cNvPr>
          <p:cNvSpPr txBox="1"/>
          <p:nvPr/>
        </p:nvSpPr>
        <p:spPr>
          <a:xfrm>
            <a:off x="813939" y="1073615"/>
            <a:ext cx="10032200" cy="4832092"/>
          </a:xfrm>
          <a:prstGeom prst="rect">
            <a:avLst/>
          </a:prstGeom>
          <a:noFill/>
        </p:spPr>
        <p:txBody>
          <a:bodyPr wrap="square">
            <a:spAutoFit/>
          </a:bodyPr>
          <a:lstStyle/>
          <a:p>
            <a:pPr algn="l"/>
            <a:endParaRPr lang="en-US" sz="2200" b="0" i="0" dirty="0">
              <a:solidFill>
                <a:srgbClr val="374151"/>
              </a:solidFill>
              <a:effectLst/>
              <a:latin typeface="Garamond" panose="02020404030301010803" pitchFamily="18" charset="0"/>
            </a:endParaRPr>
          </a:p>
          <a:p>
            <a:pPr algn="l"/>
            <a:r>
              <a:rPr lang="en-US" sz="2200" b="0" i="0" dirty="0">
                <a:solidFill>
                  <a:srgbClr val="374151"/>
                </a:solidFill>
                <a:effectLst/>
                <a:latin typeface="Garamond" panose="02020404030301010803" pitchFamily="18" charset="0"/>
              </a:rPr>
              <a:t>Suppose we have a simple function in Python:</a:t>
            </a:r>
          </a:p>
          <a:p>
            <a:pPr algn="l"/>
            <a:endParaRPr lang="en-US" sz="2200" dirty="0">
              <a:solidFill>
                <a:srgbClr val="374151"/>
              </a:solidFill>
              <a:latin typeface="Garamond" panose="02020404030301010803" pitchFamily="18" charset="0"/>
            </a:endParaRPr>
          </a:p>
          <a:p>
            <a:pPr algn="l"/>
            <a:endParaRPr lang="en-US" sz="2200" b="0" i="0" dirty="0">
              <a:solidFill>
                <a:srgbClr val="374151"/>
              </a:solidFill>
              <a:effectLst/>
              <a:latin typeface="Garamond" panose="02020404030301010803" pitchFamily="18" charset="0"/>
            </a:endParaRPr>
          </a:p>
          <a:p>
            <a:pPr algn="l"/>
            <a:endParaRPr lang="en-US" sz="2200" dirty="0">
              <a:solidFill>
                <a:srgbClr val="374151"/>
              </a:solidFill>
              <a:latin typeface="Garamond" panose="02020404030301010803" pitchFamily="18" charset="0"/>
            </a:endParaRPr>
          </a:p>
          <a:p>
            <a:pPr algn="l"/>
            <a:endParaRPr lang="en-US" sz="2200" b="0" i="0" dirty="0">
              <a:solidFill>
                <a:srgbClr val="374151"/>
              </a:solidFill>
              <a:effectLst/>
              <a:latin typeface="Garamond" panose="02020404030301010803" pitchFamily="18" charset="0"/>
            </a:endParaRPr>
          </a:p>
          <a:p>
            <a:pPr algn="l"/>
            <a:r>
              <a:rPr lang="en-US" sz="2200" b="0" i="0" dirty="0">
                <a:solidFill>
                  <a:srgbClr val="374151"/>
                </a:solidFill>
                <a:effectLst/>
                <a:latin typeface="Garamond" panose="02020404030301010803" pitchFamily="18" charset="0"/>
              </a:rPr>
              <a:t>This function collects and returns user data when called. Ethical considerations arise when we ask questions like:</a:t>
            </a:r>
          </a:p>
          <a:p>
            <a:pPr marL="342900" indent="-342900" algn="l">
              <a:buFont typeface="Arial" panose="020B0604020202020204" pitchFamily="34" charset="0"/>
              <a:buChar char="•"/>
            </a:pPr>
            <a:r>
              <a:rPr lang="en-US" sz="2200" b="0" i="0" dirty="0">
                <a:solidFill>
                  <a:srgbClr val="374151"/>
                </a:solidFill>
                <a:effectLst/>
                <a:latin typeface="Garamond" panose="02020404030301010803" pitchFamily="18" charset="0"/>
              </a:rPr>
              <a:t>What kind of data are we collecting?</a:t>
            </a:r>
          </a:p>
          <a:p>
            <a:pPr marL="342900" indent="-342900" algn="l">
              <a:buFont typeface="Arial" panose="020B0604020202020204" pitchFamily="34" charset="0"/>
              <a:buChar char="•"/>
            </a:pPr>
            <a:r>
              <a:rPr lang="en-US" sz="2200" b="0" i="0" dirty="0">
                <a:solidFill>
                  <a:srgbClr val="374151"/>
                </a:solidFill>
                <a:effectLst/>
                <a:latin typeface="Garamond" panose="02020404030301010803" pitchFamily="18" charset="0"/>
              </a:rPr>
              <a:t>Why are we collecting this data?</a:t>
            </a:r>
          </a:p>
          <a:p>
            <a:pPr marL="342900" indent="-342900" algn="l">
              <a:buFont typeface="Arial" panose="020B0604020202020204" pitchFamily="34" charset="0"/>
              <a:buChar char="•"/>
            </a:pPr>
            <a:r>
              <a:rPr lang="en-US" sz="2200" b="0" i="0" dirty="0">
                <a:solidFill>
                  <a:srgbClr val="374151"/>
                </a:solidFill>
                <a:effectLst/>
                <a:latin typeface="Garamond" panose="02020404030301010803" pitchFamily="18" charset="0"/>
              </a:rPr>
              <a:t>Is the user aware and have they consented to this data collection?</a:t>
            </a:r>
          </a:p>
          <a:p>
            <a:pPr marL="342900" indent="-342900" algn="l">
              <a:buFont typeface="Arial" panose="020B0604020202020204" pitchFamily="34" charset="0"/>
              <a:buChar char="•"/>
            </a:pPr>
            <a:r>
              <a:rPr lang="en-US" sz="2200" b="0" i="0" dirty="0">
                <a:solidFill>
                  <a:srgbClr val="374151"/>
                </a:solidFill>
                <a:effectLst/>
                <a:latin typeface="Garamond" panose="02020404030301010803" pitchFamily="18" charset="0"/>
              </a:rPr>
              <a:t>How is the data being stored and protected?</a:t>
            </a:r>
          </a:p>
          <a:p>
            <a:pPr algn="l"/>
            <a:r>
              <a:rPr lang="en-US" sz="2200" b="0" i="0" dirty="0">
                <a:solidFill>
                  <a:srgbClr val="374151"/>
                </a:solidFill>
                <a:effectLst/>
                <a:latin typeface="Garamond" panose="02020404030301010803" pitchFamily="18" charset="0"/>
              </a:rPr>
              <a:t>Unethical coding would ignore these questions, potentially leading to misuse or violation of user privacy.</a:t>
            </a:r>
          </a:p>
        </p:txBody>
      </p:sp>
      <p:pic>
        <p:nvPicPr>
          <p:cNvPr id="3" name="Picture 2">
            <a:extLst>
              <a:ext uri="{FF2B5EF4-FFF2-40B4-BE49-F238E27FC236}">
                <a16:creationId xmlns:a16="http://schemas.microsoft.com/office/drawing/2014/main" id="{EF4C9FA1-D04B-80BB-1326-36627F975D86}"/>
              </a:ext>
            </a:extLst>
          </p:cNvPr>
          <p:cNvPicPr>
            <a:picLocks noChangeAspect="1"/>
          </p:cNvPicPr>
          <p:nvPr/>
        </p:nvPicPr>
        <p:blipFill>
          <a:blip r:embed="rId3"/>
          <a:stretch>
            <a:fillRect/>
          </a:stretch>
        </p:blipFill>
        <p:spPr>
          <a:xfrm>
            <a:off x="839416" y="1768774"/>
            <a:ext cx="7772400" cy="1107271"/>
          </a:xfrm>
          <a:prstGeom prst="rect">
            <a:avLst/>
          </a:prstGeom>
        </p:spPr>
      </p:pic>
    </p:spTree>
    <p:extLst>
      <p:ext uri="{BB962C8B-B14F-4D97-AF65-F5344CB8AC3E}">
        <p14:creationId xmlns:p14="http://schemas.microsoft.com/office/powerpoint/2010/main" val="1769683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793F10-1BE2-C9A0-7F9A-8D3F5E99BAEB}"/>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ERF, Step 3: Apply ethical system theory (virtue ethics/deontology/utility) in ethical coding of product functionality</a:t>
            </a:r>
          </a:p>
        </p:txBody>
      </p:sp>
      <p:sp>
        <p:nvSpPr>
          <p:cNvPr id="5" name="TextBox 4">
            <a:extLst>
              <a:ext uri="{FF2B5EF4-FFF2-40B4-BE49-F238E27FC236}">
                <a16:creationId xmlns:a16="http://schemas.microsoft.com/office/drawing/2014/main" id="{CAF7F86B-0A37-866E-7DB7-01618E81847F}"/>
              </a:ext>
            </a:extLst>
          </p:cNvPr>
          <p:cNvSpPr txBox="1"/>
          <p:nvPr/>
        </p:nvSpPr>
        <p:spPr>
          <a:xfrm>
            <a:off x="839416" y="1690062"/>
            <a:ext cx="9433048" cy="3477875"/>
          </a:xfrm>
          <a:prstGeom prst="rect">
            <a:avLst/>
          </a:prstGeom>
          <a:noFill/>
        </p:spPr>
        <p:txBody>
          <a:bodyPr wrap="square">
            <a:spAutoFit/>
          </a:bodyPr>
          <a:lstStyle/>
          <a:p>
            <a:pPr algn="just"/>
            <a:r>
              <a:rPr lang="en-US" sz="2200" dirty="0">
                <a:solidFill>
                  <a:srgbClr val="000000"/>
                </a:solidFill>
                <a:effectLst/>
                <a:latin typeface="Garamond" panose="02020404030301010803" pitchFamily="18" charset="0"/>
              </a:rPr>
              <a:t>The steps involved are the </a:t>
            </a:r>
            <a:r>
              <a:rPr lang="en-US" sz="2200" dirty="0">
                <a:solidFill>
                  <a:srgbClr val="000000"/>
                </a:solidFill>
                <a:latin typeface="Garamond" panose="02020404030301010803" pitchFamily="18" charset="0"/>
              </a:rPr>
              <a:t>following: </a:t>
            </a:r>
            <a:r>
              <a:rPr lang="en-US" sz="2200" dirty="0">
                <a:solidFill>
                  <a:srgbClr val="000000"/>
                </a:solidFill>
                <a:effectLst/>
                <a:latin typeface="Garamond" panose="02020404030301010803" pitchFamily="18" charset="0"/>
              </a:rPr>
              <a:t>applying </a:t>
            </a:r>
            <a:r>
              <a:rPr lang="en-US" sz="2200" dirty="0">
                <a:solidFill>
                  <a:srgbClr val="000000"/>
                </a:solidFill>
                <a:latin typeface="Garamond" panose="02020404030301010803" pitchFamily="18" charset="0"/>
              </a:rPr>
              <a:t>the ethical system theories as guidelines </a:t>
            </a:r>
            <a:r>
              <a:rPr lang="en-US" sz="2200" dirty="0">
                <a:solidFill>
                  <a:srgbClr val="000000"/>
                </a:solidFill>
                <a:effectLst/>
                <a:latin typeface="Garamond" panose="02020404030301010803" pitchFamily="18" charset="0"/>
              </a:rPr>
              <a:t>in ethical coding</a:t>
            </a:r>
          </a:p>
          <a:p>
            <a:pPr algn="just"/>
            <a:endParaRPr lang="en-US" sz="2200" dirty="0">
              <a:solidFill>
                <a:srgbClr val="000000"/>
              </a:solidFill>
              <a:latin typeface="Garamond" panose="02020404030301010803" pitchFamily="18" charset="0"/>
            </a:endParaRPr>
          </a:p>
          <a:p>
            <a:pPr algn="just"/>
            <a:r>
              <a:rPr lang="en-US" sz="2200" dirty="0">
                <a:effectLst/>
                <a:latin typeface="Garamond" panose="02020404030301010803" pitchFamily="18" charset="0"/>
              </a:rPr>
              <a:t>Step  1:</a:t>
            </a:r>
            <a:r>
              <a:rPr lang="en-US" sz="2200" dirty="0">
                <a:latin typeface="Garamond" panose="02020404030301010803" pitchFamily="18" charset="0"/>
              </a:rPr>
              <a:t> List down the required computations based on the proposed solution</a:t>
            </a:r>
            <a:endParaRPr lang="en-US" sz="2200" dirty="0">
              <a:effectLst/>
              <a:latin typeface="Garamond" panose="02020404030301010803" pitchFamily="18" charset="0"/>
            </a:endParaRPr>
          </a:p>
          <a:p>
            <a:pPr algn="just"/>
            <a:r>
              <a:rPr lang="en-US" sz="2200" dirty="0">
                <a:effectLst/>
                <a:latin typeface="Garamond" panose="02020404030301010803" pitchFamily="18" charset="0"/>
              </a:rPr>
              <a:t>Step  2. What kind of data does the solution need? </a:t>
            </a:r>
          </a:p>
          <a:p>
            <a:pPr algn="just"/>
            <a:r>
              <a:rPr lang="en-US" sz="2200" dirty="0">
                <a:latin typeface="Garamond" panose="02020404030301010803" pitchFamily="18" charset="0"/>
              </a:rPr>
              <a:t>Step 3: What would be the best computing methods/algorithm for the solution (NLP, ML?)</a:t>
            </a:r>
          </a:p>
          <a:p>
            <a:pPr algn="just"/>
            <a:r>
              <a:rPr lang="en-US" sz="2200" dirty="0">
                <a:effectLst/>
                <a:latin typeface="Garamond" panose="02020404030301010803" pitchFamily="18" charset="0"/>
              </a:rPr>
              <a:t>Step </a:t>
            </a:r>
            <a:r>
              <a:rPr lang="en-US" sz="2200" dirty="0">
                <a:latin typeface="Garamond" panose="02020404030301010803" pitchFamily="18" charset="0"/>
              </a:rPr>
              <a:t>4</a:t>
            </a:r>
            <a:r>
              <a:rPr lang="en-US" sz="2200" dirty="0">
                <a:effectLst/>
                <a:latin typeface="Garamond" panose="02020404030301010803" pitchFamily="18" charset="0"/>
              </a:rPr>
              <a:t>: Based on the above, choose </a:t>
            </a:r>
            <a:r>
              <a:rPr lang="en-US" sz="2200" dirty="0">
                <a:latin typeface="Garamond" panose="02020404030301010803" pitchFamily="18" charset="0"/>
              </a:rPr>
              <a:t>the most </a:t>
            </a:r>
            <a:r>
              <a:rPr lang="en-US" sz="2200" dirty="0">
                <a:effectLst/>
                <a:latin typeface="Garamond" panose="02020404030301010803" pitchFamily="18" charset="0"/>
              </a:rPr>
              <a:t>suitable ethical theory to </a:t>
            </a:r>
            <a:r>
              <a:rPr lang="en-US" sz="2200" dirty="0">
                <a:latin typeface="Garamond" panose="02020404030301010803" pitchFamily="18" charset="0"/>
              </a:rPr>
              <a:t>guide the design of the method/algorithm</a:t>
            </a:r>
          </a:p>
          <a:p>
            <a:pPr algn="just"/>
            <a:r>
              <a:rPr lang="en-US" sz="2200" dirty="0">
                <a:latin typeface="Garamond" panose="02020404030301010803" pitchFamily="18" charset="0"/>
              </a:rPr>
              <a:t>Step 5: Create a pseudocode based on the ethical theory</a:t>
            </a:r>
          </a:p>
        </p:txBody>
      </p:sp>
    </p:spTree>
    <p:extLst>
      <p:ext uri="{BB962C8B-B14F-4D97-AF65-F5344CB8AC3E}">
        <p14:creationId xmlns:p14="http://schemas.microsoft.com/office/powerpoint/2010/main" val="13969138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7E3E088F-16C3-A4D1-AC70-DD1AFF0735E1}"/>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Example of applying Step 3 - Implement: Apply ethical system theories in code</a:t>
            </a:r>
          </a:p>
        </p:txBody>
      </p:sp>
      <p:sp>
        <p:nvSpPr>
          <p:cNvPr id="2" name="SecLine"/>
          <p:cNvSpPr/>
          <p:nvPr/>
        </p:nvSpPr>
        <p:spPr>
          <a:xfrm>
            <a:off x="609600" y="3400000"/>
            <a:ext cx="4876800" cy="73152"/>
          </a:xfrm>
          <a:prstGeom prst="rect">
            <a:avLst/>
          </a:prstGeom>
          <a:solidFill>
            <a:srgbClr val="5BC2E7"/>
          </a:solidFill>
          <a:ln w="0">
            <a:noFill/>
          </a:ln>
        </p:spPr>
        <p:txBody>
          <a:bodyPr/>
          <a:lstStyle/>
          <a:p>
            <a:endParaRPr lang="en-US"/>
          </a:p>
        </p:txBody>
      </p:sp>
      <p:sp>
        <p:nvSpPr>
          <p:cNvPr id="4" name="Slide Number Placeholder 3">
            <a:extLst>
              <a:ext uri="{FF2B5EF4-FFF2-40B4-BE49-F238E27FC236}">
                <a16:creationId xmlns:a16="http://schemas.microsoft.com/office/drawing/2014/main" id="{E04C6E97-631F-8BFD-62F2-ECB8334412D0}"/>
              </a:ext>
            </a:extLst>
          </p:cNvPr>
          <p:cNvSpPr>
            <a:spLocks noGrp="1"/>
          </p:cNvSpPr>
          <p:nvPr>
            <p:ph type="sldNum" sz="quarter" idx="12"/>
          </p:nvPr>
        </p:nvSpPr>
        <p:spPr/>
        <p:txBody>
          <a:bodyPr/>
          <a:lstStyle/>
          <a:p>
            <a:pPr>
              <a:defRPr/>
            </a:pPr>
            <a:fld id="{65D7EE65-8AFE-4022-B3D9-7794B9342842}" type="slidenum">
              <a:rPr lang="en-AU" smtClean="0"/>
              <a:pPr>
                <a:defRPr/>
              </a:pPr>
              <a:t>46</a:t>
            </a:fld>
            <a:endParaRPr lang="en-AU" dirty="0"/>
          </a:p>
        </p:txBody>
      </p:sp>
    </p:spTree>
    <p:extLst>
      <p:ext uri="{BB962C8B-B14F-4D97-AF65-F5344CB8AC3E}">
        <p14:creationId xmlns:p14="http://schemas.microsoft.com/office/powerpoint/2010/main" val="3568139573"/>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 Design Solutions Using Design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3" name="Subtitle 2">
            <a:extLst>
              <a:ext uri="{FF2B5EF4-FFF2-40B4-BE49-F238E27FC236}">
                <a16:creationId xmlns:a16="http://schemas.microsoft.com/office/drawing/2014/main" id="{CD9406CA-3B41-87E8-EABA-CA37178FE445}"/>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30B8BD49-F1BE-E62A-3BB8-C922ADE4125C}"/>
              </a:ext>
            </a:extLst>
          </p:cNvPr>
          <p:cNvSpPr/>
          <p:nvPr/>
        </p:nvSpPr>
        <p:spPr>
          <a:xfrm>
            <a:off x="914400" y="1748654"/>
            <a:ext cx="9649072" cy="1938992"/>
          </a:xfrm>
          <a:prstGeom prst="rect">
            <a:avLst/>
          </a:prstGeom>
        </p:spPr>
        <p:txBody>
          <a:bodyPr wrap="square">
            <a:normAutofit/>
          </a:bodyPr>
          <a:lstStyle/>
          <a:p>
            <a:r>
              <a:rPr lang="en-US" sz="2400" b="1" dirty="0">
                <a:highlight>
                  <a:srgbClr val="FFFFFF"/>
                </a:highlight>
                <a:latin typeface="Garamond" panose="02020404030301010803" pitchFamily="18" charset="0"/>
              </a:rPr>
              <a:t>Why Design Thinking?</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Traditional CS Approach:</a:t>
            </a:r>
            <a:r>
              <a:rPr lang="en-US" sz="2400" dirty="0">
                <a:highlight>
                  <a:srgbClr val="FFFFFF"/>
                </a:highlight>
                <a:latin typeface="Garamond" panose="02020404030301010803" pitchFamily="18" charset="0"/>
              </a:rPr>
              <a:t> "How do we build this feature?"</a:t>
            </a:r>
            <a:br>
              <a:rPr lang="en-US" sz="2400" dirty="0">
                <a:highlight>
                  <a:srgbClr val="FFFFFF"/>
                </a:highlight>
                <a:latin typeface="Garamond" panose="02020404030301010803" pitchFamily="18" charset="0"/>
              </a:rPr>
            </a:br>
            <a:r>
              <a:rPr lang="en-US" sz="2400" b="1" dirty="0">
                <a:highlight>
                  <a:srgbClr val="FFFFFF"/>
                </a:highlight>
                <a:latin typeface="Garamond" panose="02020404030301010803" pitchFamily="18" charset="0"/>
              </a:rPr>
              <a:t>Ethical Design Approach:</a:t>
            </a:r>
            <a:r>
              <a:rPr lang="en-US" sz="2400" dirty="0">
                <a:highlight>
                  <a:srgbClr val="FFFFFF"/>
                </a:highlight>
                <a:latin typeface="Garamond" panose="02020404030301010803" pitchFamily="18" charset="0"/>
              </a:rPr>
              <a:t> "What should we build and for whom?"</a:t>
            </a:r>
          </a:p>
          <a:p>
            <a:r>
              <a:rPr lang="en-US" sz="2400" dirty="0">
                <a:highlight>
                  <a:srgbClr val="FFFFFF"/>
                </a:highlight>
                <a:latin typeface="Garamond" panose="02020404030301010803" pitchFamily="18" charset="0"/>
              </a:rPr>
              <a:t>This shift transforms from code writers to responsible problem solvers.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 Design Solutions Using Design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3" name="Subtitle 2">
            <a:extLst>
              <a:ext uri="{FF2B5EF4-FFF2-40B4-BE49-F238E27FC236}">
                <a16:creationId xmlns:a16="http://schemas.microsoft.com/office/drawing/2014/main" id="{0A2503D0-CB59-63A0-F432-CACD3E40ECD0}"/>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2F8BAB38-8926-3E20-A47B-67E1A94B1DF2}"/>
              </a:ext>
            </a:extLst>
          </p:cNvPr>
          <p:cNvSpPr/>
          <p:nvPr/>
        </p:nvSpPr>
        <p:spPr>
          <a:xfrm>
            <a:off x="914400" y="1748654"/>
            <a:ext cx="9649072" cy="4154984"/>
          </a:xfrm>
          <a:prstGeom prst="rect">
            <a:avLst/>
          </a:prstGeom>
        </p:spPr>
        <p:txBody>
          <a:bodyPr wrap="square">
            <a:normAutofit/>
          </a:bodyPr>
          <a:lstStyle/>
          <a:p>
            <a:r>
              <a:rPr lang="en-US" sz="2400" b="1" dirty="0">
                <a:highlight>
                  <a:srgbClr val="FFFFFF"/>
                </a:highlight>
                <a:latin typeface="Garamond" panose="02020404030301010803" pitchFamily="18" charset="0"/>
              </a:rPr>
              <a:t>2.1 Empathize - Understanding ALL Stakeholders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Input:</a:t>
            </a:r>
            <a:r>
              <a:rPr lang="en-US" sz="2400" dirty="0">
                <a:highlight>
                  <a:srgbClr val="FFFFFF"/>
                </a:highlight>
                <a:latin typeface="Garamond" panose="02020404030301010803" pitchFamily="18" charset="0"/>
              </a:rPr>
              <a:t> Use stakeholder analysis from Step 1.6</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Process:</a:t>
            </a:r>
            <a:endParaRPr lang="en-US" sz="2400" dirty="0">
              <a:highlight>
                <a:srgbClr val="FFFFFF"/>
              </a:highlight>
              <a:latin typeface="Garamond" panose="02020404030301010803" pitchFamily="18" charset="0"/>
            </a:endParaRPr>
          </a:p>
          <a:p>
            <a:r>
              <a:rPr lang="en-US" sz="2400" dirty="0">
                <a:highlight>
                  <a:srgbClr val="FFFFFF"/>
                </a:highlight>
                <a:latin typeface="Garamond" panose="02020404030301010803" pitchFamily="18" charset="0"/>
              </a:rPr>
              <a:t>Review each stakeholder group identified in Step 1.5</a:t>
            </a:r>
          </a:p>
          <a:p>
            <a:r>
              <a:rPr lang="en-US" sz="2400" dirty="0">
                <a:highlight>
                  <a:srgbClr val="FFFFFF"/>
                </a:highlight>
                <a:latin typeface="Garamond" panose="02020404030301010803" pitchFamily="18" charset="0"/>
              </a:rPr>
              <a:t>Consider their specific needs, constraints, and concerns</a:t>
            </a:r>
          </a:p>
          <a:p>
            <a:r>
              <a:rPr lang="en-US" sz="2400" dirty="0">
                <a:highlight>
                  <a:srgbClr val="FFFFFF"/>
                </a:highlight>
                <a:latin typeface="Garamond" panose="02020404030301010803" pitchFamily="18" charset="0"/>
              </a:rPr>
              <a:t>Understand power dynamics and vulnerabilities</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CS Connection:</a:t>
            </a:r>
            <a:r>
              <a:rPr lang="en-US" sz="2400" dirty="0">
                <a:highlight>
                  <a:srgbClr val="FFFFFF"/>
                </a:highlight>
                <a:latin typeface="Garamond" panose="02020404030301010803" pitchFamily="18" charset="0"/>
              </a:rPr>
              <a:t> Like analyzing user requirements, but expanded to include ALL affected parties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 Design Solutions Using Design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3" name="Subtitle 2">
            <a:extLst>
              <a:ext uri="{FF2B5EF4-FFF2-40B4-BE49-F238E27FC236}">
                <a16:creationId xmlns:a16="http://schemas.microsoft.com/office/drawing/2014/main" id="{4E4E6F5E-B085-052B-0868-C68287DC001E}"/>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AACE6040-B0D7-DA06-F1E3-1E011ED690F0}"/>
              </a:ext>
            </a:extLst>
          </p:cNvPr>
          <p:cNvSpPr/>
          <p:nvPr/>
        </p:nvSpPr>
        <p:spPr>
          <a:xfrm>
            <a:off x="920536" y="1589703"/>
            <a:ext cx="9649072" cy="3785652"/>
          </a:xfrm>
          <a:prstGeom prst="rect">
            <a:avLst/>
          </a:prstGeom>
        </p:spPr>
        <p:txBody>
          <a:bodyPr wrap="square">
            <a:normAutofit/>
          </a:bodyPr>
          <a:lstStyle/>
          <a:p>
            <a:r>
              <a:rPr lang="en-US" sz="2400" b="1" dirty="0">
                <a:highlight>
                  <a:srgbClr val="FFFFFF"/>
                </a:highlight>
                <a:latin typeface="Garamond" panose="02020404030301010803" pitchFamily="18" charset="0"/>
              </a:rPr>
              <a:t>2.2 Ideate - Multiple Solution Types</a:t>
            </a:r>
          </a:p>
          <a:p>
            <a:r>
              <a:rPr lang="en-US" sz="2400" b="1" dirty="0">
                <a:highlight>
                  <a:srgbClr val="FFFFFF"/>
                </a:highlight>
                <a:latin typeface="Garamond" panose="02020404030301010803" pitchFamily="18" charset="0"/>
              </a:rPr>
              <a:t>Input:</a:t>
            </a:r>
            <a:r>
              <a:rPr lang="en-US" sz="2400" dirty="0">
                <a:highlight>
                  <a:srgbClr val="FFFFFF"/>
                </a:highlight>
                <a:latin typeface="Garamond" panose="02020404030301010803" pitchFamily="18" charset="0"/>
              </a:rPr>
              <a:t> Ethical violations and stakeholder impacts from Step 1</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Structured Brainstorming Meeting:</a:t>
            </a:r>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Technical Solutions:</a:t>
            </a:r>
            <a:r>
              <a:rPr lang="en-US" sz="2400" dirty="0">
                <a:highlight>
                  <a:srgbClr val="FFFFFF"/>
                </a:highlight>
                <a:latin typeface="Garamond" panose="02020404030301010803" pitchFamily="18" charset="0"/>
              </a:rPr>
              <a:t> What code/system architecture addresses the violations?</a:t>
            </a:r>
          </a:p>
          <a:p>
            <a:r>
              <a:rPr lang="en-US" sz="2400" b="1" dirty="0">
                <a:highlight>
                  <a:srgbClr val="FFFFFF"/>
                </a:highlight>
                <a:latin typeface="Garamond" panose="02020404030301010803" pitchFamily="18" charset="0"/>
              </a:rPr>
              <a:t>Policy Solutions:</a:t>
            </a:r>
            <a:r>
              <a:rPr lang="en-US" sz="2400" dirty="0">
                <a:highlight>
                  <a:srgbClr val="FFFFFF"/>
                </a:highlight>
                <a:latin typeface="Garamond" panose="02020404030301010803" pitchFamily="18" charset="0"/>
              </a:rPr>
              <a:t> What rules/guidelines should govern this system?</a:t>
            </a:r>
          </a:p>
          <a:p>
            <a:r>
              <a:rPr lang="en-US" sz="2400" b="1" dirty="0">
                <a:highlight>
                  <a:srgbClr val="FFFFFF"/>
                </a:highlight>
                <a:latin typeface="Garamond" panose="02020404030301010803" pitchFamily="18" charset="0"/>
              </a:rPr>
              <a:t>User Experience Solutions:</a:t>
            </a:r>
            <a:r>
              <a:rPr lang="en-US" sz="2400" dirty="0">
                <a:highlight>
                  <a:srgbClr val="FFFFFF"/>
                </a:highlight>
                <a:latin typeface="Garamond" panose="02020404030301010803" pitchFamily="18" charset="0"/>
              </a:rPr>
              <a:t> How could interfaces be more transparent/respectful?</a:t>
            </a:r>
          </a:p>
          <a:p>
            <a:endParaRPr lang="en-US" sz="2400" dirty="0">
              <a:highlight>
                <a:srgbClr val="FFFFFF"/>
              </a:highlight>
              <a:latin typeface="Garamond" panose="02020404030301010803" pitchFamily="18" charset="0"/>
            </a:endParaRPr>
          </a:p>
          <a:p>
            <a:endParaRPr lang="en-US" sz="2400" dirty="0">
              <a:highlight>
                <a:srgbClr val="FFFFFF"/>
              </a:highlight>
              <a:latin typeface="Garamond" panose="02020404030301010803"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 Design Solutions Using Design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3" name="Subtitle 2">
            <a:extLst>
              <a:ext uri="{FF2B5EF4-FFF2-40B4-BE49-F238E27FC236}">
                <a16:creationId xmlns:a16="http://schemas.microsoft.com/office/drawing/2014/main" id="{7E424F86-A149-7909-14E8-2AE5E5E45AB9}"/>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940A6692-2D78-E376-2E83-3705A906C1CD}"/>
              </a:ext>
            </a:extLst>
          </p:cNvPr>
          <p:cNvSpPr/>
          <p:nvPr/>
        </p:nvSpPr>
        <p:spPr>
          <a:xfrm>
            <a:off x="920536" y="1589703"/>
            <a:ext cx="9649072" cy="3785652"/>
          </a:xfrm>
          <a:prstGeom prst="rect">
            <a:avLst/>
          </a:prstGeom>
        </p:spPr>
        <p:txBody>
          <a:bodyPr wrap="square">
            <a:normAutofit/>
          </a:bodyPr>
          <a:lstStyle/>
          <a:p>
            <a:r>
              <a:rPr lang="en-US" sz="2400" b="1" dirty="0">
                <a:highlight>
                  <a:srgbClr val="FFFFFF"/>
                </a:highlight>
                <a:latin typeface="Garamond" panose="02020404030301010803" pitchFamily="18" charset="0"/>
              </a:rPr>
              <a:t>Process:</a:t>
            </a:r>
            <a:endParaRPr lang="en-US" sz="2400" dirty="0">
              <a:highlight>
                <a:srgbClr val="FFFFFF"/>
              </a:highlight>
              <a:latin typeface="Garamond" panose="02020404030301010803" pitchFamily="18" charset="0"/>
            </a:endParaRPr>
          </a:p>
          <a:p>
            <a:r>
              <a:rPr lang="en-US" sz="2400" dirty="0">
                <a:highlight>
                  <a:srgbClr val="FFFFFF"/>
                </a:highlight>
                <a:latin typeface="Garamond" panose="02020404030301010803" pitchFamily="18" charset="0"/>
              </a:rPr>
              <a:t>For each documented output from Step 1, brainstorm</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Consider how each solution addresses specific stakeholder analysis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Ensure solutions directly respond to the ethical themes categorized</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CS Application:</a:t>
            </a:r>
            <a:r>
              <a:rPr lang="en-US" sz="2400" dirty="0">
                <a:highlight>
                  <a:srgbClr val="FFFFFF"/>
                </a:highlight>
                <a:latin typeface="Garamond" panose="02020404030301010803" pitchFamily="18" charset="0"/>
              </a:rPr>
              <a:t> Like considering multiple algorithms, explore multiple ethical approaches</a:t>
            </a:r>
          </a:p>
          <a:p>
            <a:endParaRPr lang="en-US" sz="2400" dirty="0">
              <a:solidFill>
                <a:srgbClr val="0070C0"/>
              </a:solidFill>
              <a:highlight>
                <a:srgbClr val="FFFFFF"/>
              </a:highlight>
              <a:latin typeface="Garamond" panose="02020404030301010803" pitchFamily="18" charset="0"/>
            </a:endParaRPr>
          </a:p>
          <a:p>
            <a:r>
              <a:rPr lang="en-US" sz="2400" b="1" dirty="0">
                <a:solidFill>
                  <a:srgbClr val="0070C0"/>
                </a:solidFill>
                <a:highlight>
                  <a:srgbClr val="FFFFFF"/>
                </a:highlight>
                <a:latin typeface="Garamond" panose="02020404030301010803" pitchFamily="18" charset="0"/>
              </a:rPr>
              <a:t>Step 2 Output:</a:t>
            </a:r>
            <a:r>
              <a:rPr lang="en-US" sz="2400" dirty="0">
                <a:solidFill>
                  <a:srgbClr val="0070C0"/>
                </a:solidFill>
                <a:highlight>
                  <a:srgbClr val="FFFFFF"/>
                </a:highlight>
                <a:latin typeface="Garamond" panose="02020404030301010803" pitchFamily="18" charset="0"/>
              </a:rPr>
              <a:t> Categorized solution ideas that directly address Step 1 violations and consider all identified stakeholders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9E88D6F-0999-C436-663E-E8B9611E6EBF}"/>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Previously, from Step 2– Design Solutions Using Design Thinking</a:t>
            </a:r>
          </a:p>
        </p:txBody>
      </p:sp>
      <p:sp>
        <p:nvSpPr>
          <p:cNvPr id="3" name="Subtitle 2">
            <a:extLst>
              <a:ext uri="{FF2B5EF4-FFF2-40B4-BE49-F238E27FC236}">
                <a16:creationId xmlns:a16="http://schemas.microsoft.com/office/drawing/2014/main" id="{7E424F86-A149-7909-14E8-2AE5E5E45AB9}"/>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113964A2-F292-F6EF-7F84-F24CA7419F7C}"/>
              </a:ext>
            </a:extLst>
          </p:cNvPr>
          <p:cNvSpPr>
            <a:spLocks noGrp="1"/>
          </p:cNvSpPr>
          <p:nvPr>
            <p:ph type="sldNum" sz="quarter" idx="12"/>
          </p:nvPr>
        </p:nvSpPr>
        <p:spPr/>
        <p:txBody>
          <a:bodyPr/>
          <a:lstStyle/>
          <a:p>
            <a:pPr>
              <a:defRPr/>
            </a:pPr>
            <a:fld id="{65D7EE65-8AFE-4022-B3D9-7794B9342842}" type="slidenum">
              <a:rPr lang="en-AU" smtClean="0"/>
              <a:pPr>
                <a:defRPr/>
              </a:pPr>
              <a:t>51</a:t>
            </a:fld>
            <a:endParaRPr lang="en-AU" dirty="0"/>
          </a:p>
        </p:txBody>
      </p:sp>
      <p:sp>
        <p:nvSpPr>
          <p:cNvPr id="6" name="Rectangle 5">
            <a:extLst>
              <a:ext uri="{FF2B5EF4-FFF2-40B4-BE49-F238E27FC236}">
                <a16:creationId xmlns:a16="http://schemas.microsoft.com/office/drawing/2014/main" id="{940A6692-2D78-E376-2E83-3705A906C1CD}"/>
              </a:ext>
            </a:extLst>
          </p:cNvPr>
          <p:cNvSpPr/>
          <p:nvPr/>
        </p:nvSpPr>
        <p:spPr>
          <a:xfrm>
            <a:off x="914400" y="1584385"/>
            <a:ext cx="9649072" cy="4524315"/>
          </a:xfrm>
          <a:prstGeom prst="rect">
            <a:avLst/>
          </a:prstGeom>
        </p:spPr>
        <p:txBody>
          <a:bodyPr wrap="square">
            <a:spAutoFit/>
          </a:bodyPr>
          <a:lstStyle/>
          <a:p>
            <a:r>
              <a:rPr lang="en-US" sz="2400" b="1" dirty="0">
                <a:highlight>
                  <a:srgbClr val="FFFFFF"/>
                </a:highlight>
                <a:latin typeface="Garamond" panose="02020404030301010803" pitchFamily="18" charset="0"/>
              </a:rPr>
              <a:t>Process:</a:t>
            </a:r>
            <a:endParaRPr lang="en-US" sz="2400" dirty="0">
              <a:highlight>
                <a:srgbClr val="FFFFFF"/>
              </a:highlight>
              <a:latin typeface="Garamond" panose="02020404030301010803" pitchFamily="18" charset="0"/>
            </a:endParaRPr>
          </a:p>
          <a:p>
            <a:r>
              <a:rPr lang="en-US" sz="2400" dirty="0">
                <a:highlight>
                  <a:srgbClr val="FFFFFF"/>
                </a:highlight>
                <a:latin typeface="Garamond" panose="02020404030301010803" pitchFamily="18" charset="0"/>
              </a:rPr>
              <a:t>For each documented output from Step 1, brainstorm</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Consider how each solution addresses specific stakeholder analysis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Ensure solutions directly respond to the ethical themes categorized</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CS Application:</a:t>
            </a:r>
            <a:r>
              <a:rPr lang="en-US" sz="2400" dirty="0">
                <a:highlight>
                  <a:srgbClr val="FFFFFF"/>
                </a:highlight>
                <a:latin typeface="Garamond" panose="02020404030301010803" pitchFamily="18" charset="0"/>
              </a:rPr>
              <a:t> Like considering multiple algorithms, explore multiple ethical approaches</a:t>
            </a:r>
          </a:p>
          <a:p>
            <a:endParaRPr lang="en-US" sz="2400" dirty="0">
              <a:solidFill>
                <a:srgbClr val="0070C0"/>
              </a:solidFill>
              <a:highlight>
                <a:srgbClr val="FFFFFF"/>
              </a:highlight>
              <a:latin typeface="Garamond" panose="02020404030301010803" pitchFamily="18" charset="0"/>
            </a:endParaRPr>
          </a:p>
          <a:p>
            <a:r>
              <a:rPr lang="en-US" sz="2400" b="1" dirty="0">
                <a:solidFill>
                  <a:srgbClr val="0070C0"/>
                </a:solidFill>
                <a:highlight>
                  <a:srgbClr val="FFFFFF"/>
                </a:highlight>
                <a:latin typeface="Garamond" panose="02020404030301010803" pitchFamily="18" charset="0"/>
              </a:rPr>
              <a:t>Step 2 Output:</a:t>
            </a:r>
            <a:r>
              <a:rPr lang="en-US" sz="2400" dirty="0">
                <a:solidFill>
                  <a:srgbClr val="0070C0"/>
                </a:solidFill>
                <a:highlight>
                  <a:srgbClr val="FFFFFF"/>
                </a:highlight>
                <a:latin typeface="Garamond" panose="02020404030301010803" pitchFamily="18" charset="0"/>
              </a:rPr>
              <a:t> Categorized solution ideas that directly address Step 1 violations and consider all identified stakeholders</a:t>
            </a:r>
          </a:p>
          <a:p>
            <a:endParaRPr lang="en-US" sz="2400" dirty="0">
              <a:solidFill>
                <a:srgbClr val="0070C0"/>
              </a:solidFill>
              <a:highlight>
                <a:srgbClr val="FFFFFF"/>
              </a:highlight>
              <a:latin typeface="Garamond" panose="02020404030301010803" pitchFamily="18" charset="0"/>
            </a:endParaRPr>
          </a:p>
          <a:p>
            <a:r>
              <a:rPr lang="en-US" sz="2400" dirty="0">
                <a:solidFill>
                  <a:srgbClr val="0070C0"/>
                </a:solidFill>
                <a:highlight>
                  <a:srgbClr val="FFFFFF"/>
                </a:highlight>
                <a:latin typeface="Garamond" panose="02020404030301010803" pitchFamily="18" charset="0"/>
              </a:rPr>
              <a:t>*refer to Today I am Paul sci-fiction story</a:t>
            </a:r>
          </a:p>
        </p:txBody>
      </p:sp>
    </p:spTree>
    <p:extLst>
      <p:ext uri="{BB962C8B-B14F-4D97-AF65-F5344CB8AC3E}">
        <p14:creationId xmlns:p14="http://schemas.microsoft.com/office/powerpoint/2010/main" val="310599821"/>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719DCE2-4470-D0C7-50CE-A97BC83A0CE8}"/>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Previously, from Step 2– Design Solutions Using Design Thinking</a:t>
            </a:r>
          </a:p>
        </p:txBody>
      </p:sp>
      <p:sp>
        <p:nvSpPr>
          <p:cNvPr id="3" name="Subtitle 2">
            <a:extLst>
              <a:ext uri="{FF2B5EF4-FFF2-40B4-BE49-F238E27FC236}">
                <a16:creationId xmlns:a16="http://schemas.microsoft.com/office/drawing/2014/main" id="{46FA5F5A-4E81-6B2A-2888-297346DC7B37}"/>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0F3DB40E-A95F-A02E-67C1-6E74EBDC78C1}"/>
              </a:ext>
            </a:extLst>
          </p:cNvPr>
          <p:cNvSpPr>
            <a:spLocks noGrp="1"/>
          </p:cNvSpPr>
          <p:nvPr>
            <p:ph type="sldNum" sz="quarter" idx="12"/>
          </p:nvPr>
        </p:nvSpPr>
        <p:spPr/>
        <p:txBody>
          <a:bodyPr/>
          <a:lstStyle/>
          <a:p>
            <a:pPr>
              <a:defRPr/>
            </a:pPr>
            <a:fld id="{65D7EE65-8AFE-4022-B3D9-7794B9342842}" type="slidenum">
              <a:rPr lang="en-AU" smtClean="0"/>
              <a:pPr>
                <a:defRPr/>
              </a:pPr>
              <a:t>52</a:t>
            </a:fld>
            <a:endParaRPr lang="en-AU" dirty="0"/>
          </a:p>
        </p:txBody>
      </p:sp>
      <p:sp>
        <p:nvSpPr>
          <p:cNvPr id="6" name="Rectangle 5">
            <a:extLst>
              <a:ext uri="{FF2B5EF4-FFF2-40B4-BE49-F238E27FC236}">
                <a16:creationId xmlns:a16="http://schemas.microsoft.com/office/drawing/2014/main" id="{2715220E-288C-626D-28B3-2E86979C6E50}"/>
              </a:ext>
            </a:extLst>
          </p:cNvPr>
          <p:cNvSpPr/>
          <p:nvPr/>
        </p:nvSpPr>
        <p:spPr>
          <a:xfrm>
            <a:off x="914400" y="1797957"/>
            <a:ext cx="9649072" cy="2893100"/>
          </a:xfrm>
          <a:prstGeom prst="rect">
            <a:avLst/>
          </a:prstGeom>
        </p:spPr>
        <p:txBody>
          <a:bodyPr wrap="square">
            <a:spAutoFit/>
          </a:bodyPr>
          <a:lstStyle/>
          <a:p>
            <a:r>
              <a:rPr lang="en-US" sz="2200" b="1" dirty="0">
                <a:highlight>
                  <a:srgbClr val="FFFFFF"/>
                </a:highlight>
                <a:latin typeface="Garamond" panose="02020404030301010803" pitchFamily="18" charset="0"/>
              </a:rPr>
              <a:t>For Violation 1: Systematic Deception of Vulnerable Individual</a:t>
            </a:r>
          </a:p>
          <a:p>
            <a:r>
              <a:rPr lang="en-US" sz="2200" i="1" dirty="0">
                <a:highlight>
                  <a:srgbClr val="FFFFFF"/>
                </a:highlight>
                <a:latin typeface="Garamond" panose="02020404030301010803" pitchFamily="18" charset="0"/>
              </a:rPr>
              <a:t>ACM Section 1.3 - Be honest and trustworthy</a:t>
            </a:r>
          </a:p>
          <a:p>
            <a:endParaRPr lang="en-US" sz="2200" dirty="0">
              <a:highlight>
                <a:srgbClr val="FFFFFF"/>
              </a:highlight>
              <a:latin typeface="Garamond" panose="02020404030301010803" pitchFamily="18" charset="0"/>
            </a:endParaRPr>
          </a:p>
          <a:p>
            <a:r>
              <a:rPr lang="en-US" sz="2200" dirty="0">
                <a:highlight>
                  <a:srgbClr val="FFFFFF"/>
                </a:highlight>
                <a:latin typeface="Garamond" panose="02020404030301010803" pitchFamily="18" charset="0"/>
              </a:rPr>
              <a:t>Transparent AI identity system with clear visual/audio indicators </a:t>
            </a:r>
          </a:p>
          <a:p>
            <a:r>
              <a:rPr lang="en-US" sz="2200" dirty="0">
                <a:highlight>
                  <a:srgbClr val="FFFFFF"/>
                </a:highlight>
                <a:latin typeface="Garamond" panose="02020404030301010803" pitchFamily="18" charset="0"/>
              </a:rPr>
              <a:t>Consent management dashboard for family and patient </a:t>
            </a:r>
          </a:p>
          <a:p>
            <a:r>
              <a:rPr lang="en-US" sz="2200" dirty="0">
                <a:highlight>
                  <a:srgbClr val="FFFFFF"/>
                </a:highlight>
                <a:latin typeface="Garamond" panose="02020404030301010803" pitchFamily="18" charset="0"/>
              </a:rPr>
              <a:t>Privacy-preserving care protocols</a:t>
            </a:r>
          </a:p>
          <a:p>
            <a:endParaRPr lang="en-US" sz="2200" dirty="0">
              <a:highlight>
                <a:srgbClr val="FFFFFF"/>
              </a:highlight>
              <a:latin typeface="Garamond" panose="02020404030301010803" pitchFamily="18" charset="0"/>
            </a:endParaRPr>
          </a:p>
          <a:p>
            <a:r>
              <a:rPr lang="en-US" sz="2200" b="1" dirty="0">
                <a:highlight>
                  <a:srgbClr val="FFFFFF"/>
                </a:highlight>
                <a:latin typeface="Garamond" panose="02020404030301010803" pitchFamily="18" charset="0"/>
              </a:rPr>
              <a:t>→ Addresses:</a:t>
            </a:r>
            <a:r>
              <a:rPr lang="en-US" sz="2200" dirty="0">
                <a:highlight>
                  <a:srgbClr val="FFFFFF"/>
                </a:highlight>
                <a:latin typeface="Garamond" panose="02020404030301010803" pitchFamily="18" charset="0"/>
              </a:rPr>
              <a:t> Eliminates deceptive impersonation, maintains transparency</a:t>
            </a:r>
          </a:p>
        </p:txBody>
      </p:sp>
    </p:spTree>
    <p:extLst>
      <p:ext uri="{BB962C8B-B14F-4D97-AF65-F5344CB8AC3E}">
        <p14:creationId xmlns:p14="http://schemas.microsoft.com/office/powerpoint/2010/main" val="3902488199"/>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D82EFB3-E3BF-F592-8CFC-DE4F5EF2418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Previously, from Step 2– Design Solutions Using Design Thinking</a:t>
            </a:r>
          </a:p>
        </p:txBody>
      </p:sp>
      <p:sp>
        <p:nvSpPr>
          <p:cNvPr id="3" name="Subtitle 2">
            <a:extLst>
              <a:ext uri="{FF2B5EF4-FFF2-40B4-BE49-F238E27FC236}">
                <a16:creationId xmlns:a16="http://schemas.microsoft.com/office/drawing/2014/main" id="{E196618A-0016-071F-A06D-1BBE810722EE}"/>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E72D60D8-C622-53FB-7555-1F3B6BDDE4AA}"/>
              </a:ext>
            </a:extLst>
          </p:cNvPr>
          <p:cNvSpPr>
            <a:spLocks noGrp="1"/>
          </p:cNvSpPr>
          <p:nvPr>
            <p:ph type="sldNum" sz="quarter" idx="12"/>
          </p:nvPr>
        </p:nvSpPr>
        <p:spPr/>
        <p:txBody>
          <a:bodyPr/>
          <a:lstStyle/>
          <a:p>
            <a:pPr>
              <a:defRPr/>
            </a:pPr>
            <a:fld id="{65D7EE65-8AFE-4022-B3D9-7794B9342842}" type="slidenum">
              <a:rPr lang="en-AU" smtClean="0"/>
              <a:pPr>
                <a:defRPr/>
              </a:pPr>
              <a:t>53</a:t>
            </a:fld>
            <a:endParaRPr lang="en-AU" dirty="0"/>
          </a:p>
        </p:txBody>
      </p:sp>
      <p:sp>
        <p:nvSpPr>
          <p:cNvPr id="6" name="Rectangle 5">
            <a:extLst>
              <a:ext uri="{FF2B5EF4-FFF2-40B4-BE49-F238E27FC236}">
                <a16:creationId xmlns:a16="http://schemas.microsoft.com/office/drawing/2014/main" id="{1ABD1305-ED9F-0782-F256-ADA339BE668D}"/>
              </a:ext>
            </a:extLst>
          </p:cNvPr>
          <p:cNvSpPr/>
          <p:nvPr/>
        </p:nvSpPr>
        <p:spPr>
          <a:xfrm>
            <a:off x="914400" y="1797957"/>
            <a:ext cx="9649072" cy="2554545"/>
          </a:xfrm>
          <a:prstGeom prst="rect">
            <a:avLst/>
          </a:prstGeom>
        </p:spPr>
        <p:txBody>
          <a:bodyPr wrap="square">
            <a:spAutoFit/>
          </a:bodyPr>
          <a:lstStyle/>
          <a:p>
            <a:r>
              <a:rPr lang="en-US" sz="2200" b="1" dirty="0">
                <a:highlight>
                  <a:srgbClr val="FFFFFF"/>
                </a:highlight>
                <a:latin typeface="Garamond" panose="02020404030301010803" pitchFamily="18" charset="0"/>
              </a:rPr>
              <a:t>UX Solution</a:t>
            </a:r>
          </a:p>
          <a:p>
            <a:endParaRPr lang="en-US" sz="2200" dirty="0">
              <a:highlight>
                <a:srgbClr val="FFFFFF"/>
              </a:highlight>
              <a:latin typeface="Garamond" panose="02020404030301010803" pitchFamily="18" charset="0"/>
            </a:endParaRPr>
          </a:p>
          <a:p>
            <a:r>
              <a:rPr lang="en-US" sz="2200" dirty="0">
                <a:highlight>
                  <a:srgbClr val="FFFFFF"/>
                </a:highlight>
                <a:latin typeface="Garamond" panose="02020404030301010803" pitchFamily="18" charset="0"/>
              </a:rPr>
              <a:t>Family connection platform for authentic interactions</a:t>
            </a:r>
          </a:p>
          <a:p>
            <a:r>
              <a:rPr lang="en-US" sz="2200" dirty="0">
                <a:highlight>
                  <a:srgbClr val="FFFFFF"/>
                </a:highlight>
                <a:latin typeface="Garamond" panose="02020404030301010803" pitchFamily="18" charset="0"/>
              </a:rPr>
              <a:t> Memory support interface without identity deception</a:t>
            </a:r>
          </a:p>
          <a:p>
            <a:r>
              <a:rPr lang="en-US" sz="2200" dirty="0">
                <a:highlight>
                  <a:srgbClr val="FFFFFF"/>
                </a:highlight>
                <a:latin typeface="Garamond" panose="02020404030301010803" pitchFamily="18" charset="0"/>
              </a:rPr>
              <a:t> Graduated transparency based on patient capacity</a:t>
            </a:r>
          </a:p>
          <a:p>
            <a:endParaRPr lang="en-US" sz="2200" dirty="0">
              <a:highlight>
                <a:srgbClr val="FFFFFF"/>
              </a:highlight>
              <a:latin typeface="Garamond" panose="02020404030301010803" pitchFamily="18" charset="0"/>
            </a:endParaRPr>
          </a:p>
          <a:p>
            <a:r>
              <a:rPr lang="en-US" sz="2200" b="1" dirty="0">
                <a:highlight>
                  <a:srgbClr val="FFFFFF"/>
                </a:highlight>
                <a:latin typeface="Garamond" panose="02020404030301010803" pitchFamily="18" charset="0"/>
              </a:rPr>
              <a:t>→ Addresses:</a:t>
            </a:r>
            <a:r>
              <a:rPr lang="en-US" sz="2200" dirty="0">
                <a:highlight>
                  <a:srgbClr val="FFFFFF"/>
                </a:highlight>
                <a:latin typeface="Garamond" panose="02020404030301010803" pitchFamily="18" charset="0"/>
              </a:rPr>
              <a:t> Maintains emotional support while preserving authentic relationships</a:t>
            </a:r>
          </a:p>
        </p:txBody>
      </p:sp>
    </p:spTree>
    <p:extLst>
      <p:ext uri="{BB962C8B-B14F-4D97-AF65-F5344CB8AC3E}">
        <p14:creationId xmlns:p14="http://schemas.microsoft.com/office/powerpoint/2010/main" val="853545835"/>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70A9BCC-A397-3BC9-6D48-4E4EDC79FE27}"/>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F32B740B-E556-CFA4-A689-1123FF069366}"/>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6FF2E904-2300-68ED-0B9D-9AB7AF767310}"/>
              </a:ext>
            </a:extLst>
          </p:cNvPr>
          <p:cNvSpPr>
            <a:spLocks noGrp="1"/>
          </p:cNvSpPr>
          <p:nvPr>
            <p:ph type="sldNum" sz="quarter" idx="12"/>
          </p:nvPr>
        </p:nvSpPr>
        <p:spPr/>
        <p:txBody>
          <a:bodyPr/>
          <a:lstStyle/>
          <a:p>
            <a:pPr>
              <a:defRPr/>
            </a:pPr>
            <a:fld id="{65D7EE65-8AFE-4022-B3D9-7794B9342842}" type="slidenum">
              <a:rPr lang="en-AU" smtClean="0"/>
              <a:pPr>
                <a:defRPr/>
              </a:pPr>
              <a:t>54</a:t>
            </a:fld>
            <a:endParaRPr lang="en-AU" dirty="0"/>
          </a:p>
        </p:txBody>
      </p:sp>
      <p:sp>
        <p:nvSpPr>
          <p:cNvPr id="6" name="Rectangle 5">
            <a:extLst>
              <a:ext uri="{FF2B5EF4-FFF2-40B4-BE49-F238E27FC236}">
                <a16:creationId xmlns:a16="http://schemas.microsoft.com/office/drawing/2014/main" id="{04CA8439-BB3D-D608-6911-2F0CB244E24C}"/>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AC2FEE00-C2D8-6F35-58CF-A49E7F9C2946}"/>
              </a:ext>
            </a:extLst>
          </p:cNvPr>
          <p:cNvSpPr txBox="1"/>
          <p:nvPr/>
        </p:nvSpPr>
        <p:spPr>
          <a:xfrm>
            <a:off x="1055440" y="1622270"/>
            <a:ext cx="8712968" cy="4154984"/>
          </a:xfrm>
          <a:prstGeom prst="rect">
            <a:avLst/>
          </a:prstGeom>
          <a:noFill/>
        </p:spPr>
        <p:txBody>
          <a:bodyPr wrap="square">
            <a:spAutoFit/>
          </a:bodyPr>
          <a:lstStyle/>
          <a:p>
            <a:r>
              <a:rPr lang="en-US" sz="2200" b="1" dirty="0">
                <a:latin typeface="Garamond" panose="02020404030301010803" pitchFamily="18" charset="0"/>
              </a:rPr>
              <a:t>Step 1: </a:t>
            </a:r>
            <a:r>
              <a:rPr lang="en-US" sz="2200" dirty="0">
                <a:latin typeface="Garamond" panose="02020404030301010803" pitchFamily="18" charset="0"/>
              </a:rPr>
              <a:t>Required Computations for Proposed Solution</a:t>
            </a:r>
          </a:p>
          <a:p>
            <a:endParaRPr lang="en-US" sz="2200" dirty="0">
              <a:latin typeface="Garamond" panose="02020404030301010803" pitchFamily="18" charset="0"/>
            </a:endParaRPr>
          </a:p>
          <a:p>
            <a:r>
              <a:rPr lang="en-US" sz="2200" b="1" dirty="0">
                <a:latin typeface="Garamond" panose="02020404030301010803" pitchFamily="18" charset="0"/>
              </a:rPr>
              <a:t>For Transparent AI Companion Solution:</a:t>
            </a:r>
            <a:endParaRPr lang="en-US" sz="2200" dirty="0">
              <a:latin typeface="Garamond" panose="02020404030301010803" pitchFamily="18" charset="0"/>
            </a:endParaRPr>
          </a:p>
          <a:p>
            <a:endParaRPr lang="en-US" sz="2200" b="1" dirty="0">
              <a:latin typeface="Garamond" panose="02020404030301010803" pitchFamily="18" charset="0"/>
            </a:endParaRPr>
          </a:p>
          <a:p>
            <a:r>
              <a:rPr lang="en-US" sz="2200" b="1" dirty="0">
                <a:latin typeface="Garamond" panose="02020404030301010803" pitchFamily="18" charset="0"/>
              </a:rPr>
              <a:t>Patient State Assessment</a:t>
            </a:r>
            <a:r>
              <a:rPr lang="en-US" sz="2200" dirty="0">
                <a:latin typeface="Garamond" panose="02020404030301010803" pitchFamily="18" charset="0"/>
              </a:rPr>
              <a:t>: Real-time cognitive capacity evaluation</a:t>
            </a:r>
          </a:p>
          <a:p>
            <a:r>
              <a:rPr lang="en-US" sz="2200" b="1" dirty="0">
                <a:latin typeface="Garamond" panose="02020404030301010803" pitchFamily="18" charset="0"/>
              </a:rPr>
              <a:t>Ethical Interaction Management</a:t>
            </a:r>
            <a:r>
              <a:rPr lang="en-US" sz="2200" dirty="0">
                <a:latin typeface="Garamond" panose="02020404030301010803" pitchFamily="18" charset="0"/>
              </a:rPr>
              <a:t>: Determining appropriate transparency levels</a:t>
            </a:r>
          </a:p>
          <a:p>
            <a:r>
              <a:rPr lang="en-US" sz="2200" b="1" dirty="0">
                <a:latin typeface="Garamond" panose="02020404030301010803" pitchFamily="18" charset="0"/>
              </a:rPr>
              <a:t>Family Communication Facilitation</a:t>
            </a:r>
            <a:r>
              <a:rPr lang="en-US" sz="2200" dirty="0">
                <a:latin typeface="Garamond" panose="02020404030301010803" pitchFamily="18" charset="0"/>
              </a:rPr>
              <a:t>: Connecting patient with real family members</a:t>
            </a:r>
          </a:p>
          <a:p>
            <a:r>
              <a:rPr lang="en-US" sz="2200" b="1" dirty="0">
                <a:latin typeface="Garamond" panose="02020404030301010803" pitchFamily="18" charset="0"/>
              </a:rPr>
              <a:t>Privacy-Preserving Care</a:t>
            </a:r>
            <a:r>
              <a:rPr lang="en-US" sz="2200" dirty="0">
                <a:latin typeface="Garamond" panose="02020404030301010803" pitchFamily="18" charset="0"/>
              </a:rPr>
              <a:t>: Monitoring health while protecting personal data</a:t>
            </a:r>
          </a:p>
          <a:p>
            <a:r>
              <a:rPr lang="en-US" sz="2200" b="1" dirty="0">
                <a:latin typeface="Garamond" panose="02020404030301010803" pitchFamily="18" charset="0"/>
              </a:rPr>
              <a:t>Consent Management</a:t>
            </a:r>
            <a:r>
              <a:rPr lang="en-US" sz="2200" dirty="0">
                <a:latin typeface="Garamond" panose="02020404030301010803" pitchFamily="18" charset="0"/>
              </a:rPr>
              <a:t>: Tracking and validating ongoing permissions</a:t>
            </a:r>
          </a:p>
          <a:p>
            <a:endParaRPr lang="en-MY" sz="2200" dirty="0">
              <a:latin typeface="Garamond" panose="02020404030301010803" pitchFamily="18" charset="0"/>
            </a:endParaRPr>
          </a:p>
        </p:txBody>
      </p:sp>
    </p:spTree>
    <p:extLst>
      <p:ext uri="{BB962C8B-B14F-4D97-AF65-F5344CB8AC3E}">
        <p14:creationId xmlns:p14="http://schemas.microsoft.com/office/powerpoint/2010/main" val="413729336"/>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3D2138-3643-CA5F-59A0-C241CA2A6678}"/>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BA28A181-9AF7-6927-A0AF-5EBAA88A5B98}"/>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12DB94ED-312D-339E-32B7-1F7830159062}"/>
              </a:ext>
            </a:extLst>
          </p:cNvPr>
          <p:cNvSpPr>
            <a:spLocks noGrp="1"/>
          </p:cNvSpPr>
          <p:nvPr>
            <p:ph type="sldNum" sz="quarter" idx="12"/>
          </p:nvPr>
        </p:nvSpPr>
        <p:spPr/>
        <p:txBody>
          <a:bodyPr/>
          <a:lstStyle/>
          <a:p>
            <a:pPr>
              <a:defRPr/>
            </a:pPr>
            <a:fld id="{65D7EE65-8AFE-4022-B3D9-7794B9342842}" type="slidenum">
              <a:rPr lang="en-AU" smtClean="0"/>
              <a:pPr>
                <a:defRPr/>
              </a:pPr>
              <a:t>55</a:t>
            </a:fld>
            <a:endParaRPr lang="en-AU" dirty="0"/>
          </a:p>
        </p:txBody>
      </p:sp>
      <p:sp>
        <p:nvSpPr>
          <p:cNvPr id="6" name="Rectangle 5">
            <a:extLst>
              <a:ext uri="{FF2B5EF4-FFF2-40B4-BE49-F238E27FC236}">
                <a16:creationId xmlns:a16="http://schemas.microsoft.com/office/drawing/2014/main" id="{898F3684-1214-E94C-4E4D-C2EAE8FB6DD8}"/>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490D4A52-396B-F2A0-C5A8-DDCA38F318B4}"/>
              </a:ext>
            </a:extLst>
          </p:cNvPr>
          <p:cNvSpPr txBox="1"/>
          <p:nvPr/>
        </p:nvSpPr>
        <p:spPr>
          <a:xfrm>
            <a:off x="1055440" y="1622270"/>
            <a:ext cx="8712968" cy="3508653"/>
          </a:xfrm>
          <a:prstGeom prst="rect">
            <a:avLst/>
          </a:prstGeom>
          <a:noFill/>
        </p:spPr>
        <p:txBody>
          <a:bodyPr wrap="square">
            <a:spAutoFit/>
          </a:bodyPr>
          <a:lstStyle/>
          <a:p>
            <a:pPr algn="just"/>
            <a:r>
              <a:rPr lang="en-US" sz="2400" b="1" dirty="0">
                <a:highlight>
                  <a:srgbClr val="FFFFFF"/>
                </a:highlight>
                <a:latin typeface="Garamond" panose="02020404030301010803" pitchFamily="18" charset="0"/>
              </a:rPr>
              <a:t>Step 2</a:t>
            </a:r>
            <a:r>
              <a:rPr lang="en-US" sz="2400" dirty="0">
                <a:highlight>
                  <a:srgbClr val="FFFFFF"/>
                </a:highlight>
                <a:latin typeface="Garamond" panose="02020404030301010803" pitchFamily="18" charset="0"/>
              </a:rPr>
              <a:t>: What kind of data does the solution need? </a:t>
            </a:r>
          </a:p>
          <a:p>
            <a:endParaRPr lang="en-US" sz="2200" b="1" dirty="0">
              <a:highlight>
                <a:srgbClr val="FFFFFF"/>
              </a:highlight>
              <a:latin typeface="Garamond" panose="02020404030301010803" pitchFamily="18" charset="0"/>
            </a:endParaRPr>
          </a:p>
          <a:p>
            <a:r>
              <a:rPr lang="en-US" sz="2200" b="1" dirty="0">
                <a:latin typeface="Garamond" panose="02020404030301010803" pitchFamily="18" charset="0"/>
              </a:rPr>
              <a:t>Primary Data Sources:</a:t>
            </a:r>
          </a:p>
          <a:p>
            <a:endParaRPr lang="en-US" sz="2200" dirty="0">
              <a:latin typeface="Garamond" panose="02020404030301010803" pitchFamily="18" charset="0"/>
            </a:endParaRPr>
          </a:p>
          <a:p>
            <a:r>
              <a:rPr lang="en-US" sz="2200" b="1" dirty="0">
                <a:latin typeface="Garamond" panose="02020404030301010803" pitchFamily="18" charset="0"/>
              </a:rPr>
              <a:t>Medical Data</a:t>
            </a:r>
            <a:r>
              <a:rPr lang="en-US" sz="2200" dirty="0">
                <a:latin typeface="Garamond" panose="02020404030301010803" pitchFamily="18" charset="0"/>
              </a:rPr>
              <a:t>: Vital signs, medication schedules, emergency alerts </a:t>
            </a:r>
          </a:p>
          <a:p>
            <a:r>
              <a:rPr lang="en-US" sz="2200" b="1" dirty="0">
                <a:latin typeface="Garamond" panose="02020404030301010803" pitchFamily="18" charset="0"/>
              </a:rPr>
              <a:t>Cognitive Data</a:t>
            </a:r>
            <a:r>
              <a:rPr lang="en-US" sz="2200" dirty="0">
                <a:latin typeface="Garamond" panose="02020404030301010803" pitchFamily="18" charset="0"/>
              </a:rPr>
              <a:t>: Speech patterns, comprehension levels, memory function </a:t>
            </a:r>
          </a:p>
          <a:p>
            <a:r>
              <a:rPr lang="en-US" sz="2200" b="1" dirty="0">
                <a:latin typeface="Garamond" panose="02020404030301010803" pitchFamily="18" charset="0"/>
              </a:rPr>
              <a:t>Behavioral Data</a:t>
            </a:r>
            <a:r>
              <a:rPr lang="en-US" sz="2200" dirty="0">
                <a:latin typeface="Garamond" panose="02020404030301010803" pitchFamily="18" charset="0"/>
              </a:rPr>
              <a:t>: Sleep patterns, mobility, emotional responses </a:t>
            </a:r>
          </a:p>
          <a:p>
            <a:r>
              <a:rPr lang="en-US" sz="2200" b="1" dirty="0">
                <a:latin typeface="Garamond" panose="02020404030301010803" pitchFamily="18" charset="0"/>
              </a:rPr>
              <a:t>Interaction Data</a:t>
            </a:r>
            <a:r>
              <a:rPr lang="en-US" sz="2200" dirty="0">
                <a:latin typeface="Garamond" panose="02020404030301010803" pitchFamily="18" charset="0"/>
              </a:rPr>
              <a:t>: Communication preferences, family recognition patterns</a:t>
            </a:r>
          </a:p>
          <a:p>
            <a:r>
              <a:rPr lang="en-US" sz="2200" b="1" dirty="0">
                <a:latin typeface="Garamond" panose="02020404030301010803" pitchFamily="18" charset="0"/>
              </a:rPr>
              <a:t>Environmental Data</a:t>
            </a:r>
            <a:r>
              <a:rPr lang="en-US" sz="2200" dirty="0">
                <a:latin typeface="Garamond" panose="02020404030301010803" pitchFamily="18" charset="0"/>
              </a:rPr>
              <a:t>: Room conditions, safety sensors, comfort settings </a:t>
            </a:r>
          </a:p>
          <a:p>
            <a:r>
              <a:rPr lang="en-US" sz="2200" b="1" dirty="0">
                <a:latin typeface="Garamond" panose="02020404030301010803" pitchFamily="18" charset="0"/>
              </a:rPr>
              <a:t>Consent Data</a:t>
            </a:r>
            <a:r>
              <a:rPr lang="en-US" sz="2200" dirty="0">
                <a:latin typeface="Garamond" panose="02020404030301010803" pitchFamily="18" charset="0"/>
              </a:rPr>
              <a:t>: Family permissions, patient preferences, legal authorizations</a:t>
            </a:r>
            <a:endParaRPr lang="en-US" sz="2200" b="1" dirty="0">
              <a:latin typeface="Garamond" panose="02020404030301010803" pitchFamily="18" charset="0"/>
            </a:endParaRPr>
          </a:p>
        </p:txBody>
      </p:sp>
    </p:spTree>
    <p:extLst>
      <p:ext uri="{BB962C8B-B14F-4D97-AF65-F5344CB8AC3E}">
        <p14:creationId xmlns:p14="http://schemas.microsoft.com/office/powerpoint/2010/main" val="4131077086"/>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8172B9-6714-B96E-93B7-53DAB01E4BE6}"/>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3EFE5394-1CF8-E5BD-F4BD-0C00B222951B}"/>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0A56F6B4-4164-02A0-F2CA-B7E672D2B672}"/>
              </a:ext>
            </a:extLst>
          </p:cNvPr>
          <p:cNvSpPr>
            <a:spLocks noGrp="1"/>
          </p:cNvSpPr>
          <p:nvPr>
            <p:ph type="sldNum" sz="quarter" idx="12"/>
          </p:nvPr>
        </p:nvSpPr>
        <p:spPr/>
        <p:txBody>
          <a:bodyPr/>
          <a:lstStyle/>
          <a:p>
            <a:pPr>
              <a:defRPr/>
            </a:pPr>
            <a:fld id="{65D7EE65-8AFE-4022-B3D9-7794B9342842}" type="slidenum">
              <a:rPr lang="en-AU" smtClean="0"/>
              <a:pPr>
                <a:defRPr/>
              </a:pPr>
              <a:t>56</a:t>
            </a:fld>
            <a:endParaRPr lang="en-AU" dirty="0"/>
          </a:p>
        </p:txBody>
      </p:sp>
      <p:sp>
        <p:nvSpPr>
          <p:cNvPr id="6" name="Rectangle 5">
            <a:extLst>
              <a:ext uri="{FF2B5EF4-FFF2-40B4-BE49-F238E27FC236}">
                <a16:creationId xmlns:a16="http://schemas.microsoft.com/office/drawing/2014/main" id="{FB8A729F-AE4C-7EF9-BE0C-5AB916B4207C}"/>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9C2F0B99-980C-3E52-CBE6-AAE8199C68EF}"/>
              </a:ext>
            </a:extLst>
          </p:cNvPr>
          <p:cNvSpPr txBox="1"/>
          <p:nvPr/>
        </p:nvSpPr>
        <p:spPr>
          <a:xfrm>
            <a:off x="1055440" y="1622270"/>
            <a:ext cx="8712968" cy="3139321"/>
          </a:xfrm>
          <a:prstGeom prst="rect">
            <a:avLst/>
          </a:prstGeom>
          <a:noFill/>
        </p:spPr>
        <p:txBody>
          <a:bodyPr wrap="square">
            <a:spAutoFit/>
          </a:bodyPr>
          <a:lstStyle/>
          <a:p>
            <a:r>
              <a:rPr lang="en-US" sz="2200" b="1" dirty="0">
                <a:highlight>
                  <a:srgbClr val="FFFFFF"/>
                </a:highlight>
                <a:latin typeface="Garamond" panose="02020404030301010803" pitchFamily="18" charset="0"/>
              </a:rPr>
              <a:t>Step 2: </a:t>
            </a:r>
            <a:r>
              <a:rPr lang="en-US" sz="2200" dirty="0">
                <a:highlight>
                  <a:srgbClr val="FFFFFF"/>
                </a:highlight>
                <a:latin typeface="Garamond" panose="02020404030301010803" pitchFamily="18" charset="0"/>
              </a:rPr>
              <a:t>What Kind of Data Does the Solution Need?</a:t>
            </a:r>
          </a:p>
          <a:p>
            <a:endParaRPr lang="en-US" sz="2200" b="1" dirty="0">
              <a:highlight>
                <a:srgbClr val="FFFFFF"/>
              </a:highlight>
              <a:latin typeface="Garamond" panose="02020404030301010803" pitchFamily="18" charset="0"/>
            </a:endParaRPr>
          </a:p>
          <a:p>
            <a:r>
              <a:rPr lang="en-US" sz="2200" b="1" dirty="0">
                <a:latin typeface="Garamond" panose="02020404030301010803" pitchFamily="18" charset="0"/>
              </a:rPr>
              <a:t>Data Sensitivity Classification:</a:t>
            </a:r>
          </a:p>
          <a:p>
            <a:endParaRPr lang="en-US" sz="2200" dirty="0">
              <a:latin typeface="Garamond" panose="02020404030301010803" pitchFamily="18" charset="0"/>
            </a:endParaRPr>
          </a:p>
          <a:p>
            <a:r>
              <a:rPr lang="en-US" sz="2200" b="1" dirty="0">
                <a:latin typeface="Garamond" panose="02020404030301010803" pitchFamily="18" charset="0"/>
              </a:rPr>
              <a:t>Critical</a:t>
            </a:r>
            <a:r>
              <a:rPr lang="en-US" sz="2200" dirty="0">
                <a:latin typeface="Garamond" panose="02020404030301010803" pitchFamily="18" charset="0"/>
              </a:rPr>
              <a:t>: Life-threatening medical alerts (immediate access)</a:t>
            </a:r>
          </a:p>
          <a:p>
            <a:r>
              <a:rPr lang="en-US" sz="2200" b="1" dirty="0">
                <a:latin typeface="Garamond" panose="02020404030301010803" pitchFamily="18" charset="0"/>
              </a:rPr>
              <a:t>Sensitive</a:t>
            </a:r>
            <a:r>
              <a:rPr lang="en-US" sz="2200" dirty="0">
                <a:latin typeface="Garamond" panose="02020404030301010803" pitchFamily="18" charset="0"/>
              </a:rPr>
              <a:t>: Personal conversations, family interactions (encrypted, logged)</a:t>
            </a:r>
          </a:p>
          <a:p>
            <a:r>
              <a:rPr lang="en-US" sz="2200" b="1" dirty="0">
                <a:latin typeface="Garamond" panose="02020404030301010803" pitchFamily="18" charset="0"/>
              </a:rPr>
              <a:t>Behavioral</a:t>
            </a:r>
            <a:r>
              <a:rPr lang="en-US" sz="2200" dirty="0">
                <a:latin typeface="Garamond" panose="02020404030301010803" pitchFamily="18" charset="0"/>
              </a:rPr>
              <a:t>: Daily patterns, preferences (anonymized after 30 days)</a:t>
            </a:r>
          </a:p>
          <a:p>
            <a:r>
              <a:rPr lang="en-US" sz="2200" b="1" dirty="0">
                <a:latin typeface="Garamond" panose="02020404030301010803" pitchFamily="18" charset="0"/>
              </a:rPr>
              <a:t>Administrative</a:t>
            </a:r>
            <a:r>
              <a:rPr lang="en-US" sz="2200" dirty="0">
                <a:latin typeface="Garamond" panose="02020404030301010803" pitchFamily="18" charset="0"/>
              </a:rPr>
              <a:t>: Consent logs, audit trails (permanent, immutable)</a:t>
            </a:r>
          </a:p>
          <a:p>
            <a:endParaRPr lang="en-US" sz="2200" b="1" dirty="0">
              <a:latin typeface="Garamond" panose="02020404030301010803" pitchFamily="18" charset="0"/>
            </a:endParaRPr>
          </a:p>
        </p:txBody>
      </p:sp>
    </p:spTree>
    <p:extLst>
      <p:ext uri="{BB962C8B-B14F-4D97-AF65-F5344CB8AC3E}">
        <p14:creationId xmlns:p14="http://schemas.microsoft.com/office/powerpoint/2010/main" val="1747599921"/>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1BC54C-B704-59C1-44CA-C8120F2949B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CC60F61D-3DCE-21F8-2F93-1B0501B5E4AC}"/>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BA671EE0-AB63-9B72-2A80-34F2EA3836F6}"/>
              </a:ext>
            </a:extLst>
          </p:cNvPr>
          <p:cNvSpPr>
            <a:spLocks noGrp="1"/>
          </p:cNvSpPr>
          <p:nvPr>
            <p:ph type="sldNum" sz="quarter" idx="12"/>
          </p:nvPr>
        </p:nvSpPr>
        <p:spPr/>
        <p:txBody>
          <a:bodyPr/>
          <a:lstStyle/>
          <a:p>
            <a:pPr>
              <a:defRPr/>
            </a:pPr>
            <a:fld id="{65D7EE65-8AFE-4022-B3D9-7794B9342842}" type="slidenum">
              <a:rPr lang="en-AU" smtClean="0"/>
              <a:pPr>
                <a:defRPr/>
              </a:pPr>
              <a:t>57</a:t>
            </a:fld>
            <a:endParaRPr lang="en-AU" dirty="0"/>
          </a:p>
        </p:txBody>
      </p:sp>
      <p:sp>
        <p:nvSpPr>
          <p:cNvPr id="6" name="Rectangle 5">
            <a:extLst>
              <a:ext uri="{FF2B5EF4-FFF2-40B4-BE49-F238E27FC236}">
                <a16:creationId xmlns:a16="http://schemas.microsoft.com/office/drawing/2014/main" id="{7AA03661-8478-2C89-F818-291C8CDBAACB}"/>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97DCE533-8D56-5397-FFD6-C9CEBDF518C6}"/>
              </a:ext>
            </a:extLst>
          </p:cNvPr>
          <p:cNvSpPr txBox="1"/>
          <p:nvPr/>
        </p:nvSpPr>
        <p:spPr>
          <a:xfrm>
            <a:off x="914400" y="1622270"/>
            <a:ext cx="9430072" cy="2677656"/>
          </a:xfrm>
          <a:prstGeom prst="rect">
            <a:avLst/>
          </a:prstGeom>
          <a:noFill/>
        </p:spPr>
        <p:txBody>
          <a:bodyPr wrap="square">
            <a:spAutoFit/>
          </a:bodyPr>
          <a:lstStyle/>
          <a:p>
            <a:pPr algn="just"/>
            <a:r>
              <a:rPr lang="en-US" sz="2400" b="1" dirty="0">
                <a:highlight>
                  <a:srgbClr val="FFFFFF"/>
                </a:highlight>
                <a:latin typeface="Garamond" panose="02020404030301010803" pitchFamily="18" charset="0"/>
              </a:rPr>
              <a:t>Step 3: </a:t>
            </a:r>
            <a:r>
              <a:rPr lang="en-US" sz="2400" dirty="0">
                <a:highlight>
                  <a:srgbClr val="FFFFFF"/>
                </a:highlight>
                <a:latin typeface="Garamond" panose="02020404030301010803" pitchFamily="18" charset="0"/>
              </a:rPr>
              <a:t>What would be the best computing methods/algorithm for the solution (NLP, ML?)</a:t>
            </a:r>
          </a:p>
          <a:p>
            <a:endParaRPr lang="en-US" sz="2400" dirty="0">
              <a:highlight>
                <a:srgbClr val="FFFFFF"/>
              </a:highlight>
              <a:latin typeface="Garamond" panose="02020404030301010803" pitchFamily="18" charset="0"/>
            </a:endParaRPr>
          </a:p>
          <a:p>
            <a:r>
              <a:rPr lang="en-US" sz="2400" dirty="0">
                <a:latin typeface="Garamond" panose="02020404030301010803" pitchFamily="18" charset="0"/>
              </a:rPr>
              <a:t>1. NLP for real-time conversation analysis for ethical interactions</a:t>
            </a:r>
          </a:p>
          <a:p>
            <a:r>
              <a:rPr lang="en-US" sz="2400" dirty="0">
                <a:latin typeface="Garamond" panose="02020404030301010803" pitchFamily="18" charset="0"/>
              </a:rPr>
              <a:t>2. Machine Learning for behavioral Pattern Recognition</a:t>
            </a:r>
          </a:p>
          <a:p>
            <a:r>
              <a:rPr lang="en-US" sz="2400" dirty="0">
                <a:latin typeface="Garamond" panose="02020404030301010803" pitchFamily="18" charset="0"/>
              </a:rPr>
              <a:t>3. Rule-Based Systems - Ethical Decision Making</a:t>
            </a:r>
          </a:p>
          <a:p>
            <a:r>
              <a:rPr lang="en-US" sz="2400" dirty="0">
                <a:latin typeface="Garamond" panose="02020404030301010803" pitchFamily="18" charset="0"/>
              </a:rPr>
              <a:t>4. Computer Vision - Non-Invasive Monitoring</a:t>
            </a:r>
            <a:endParaRPr lang="en-US" sz="24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1279256618"/>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0F14F3-4256-9E84-D489-967681DDE50F}"/>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4322E9D4-EF61-8995-AF0B-3B0B1B9DFCD7}"/>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8BFEE85F-C477-D9A3-8228-7E58C563CEA3}"/>
              </a:ext>
            </a:extLst>
          </p:cNvPr>
          <p:cNvSpPr>
            <a:spLocks noGrp="1"/>
          </p:cNvSpPr>
          <p:nvPr>
            <p:ph type="sldNum" sz="quarter" idx="12"/>
          </p:nvPr>
        </p:nvSpPr>
        <p:spPr/>
        <p:txBody>
          <a:bodyPr/>
          <a:lstStyle/>
          <a:p>
            <a:pPr>
              <a:defRPr/>
            </a:pPr>
            <a:fld id="{65D7EE65-8AFE-4022-B3D9-7794B9342842}" type="slidenum">
              <a:rPr lang="en-AU" smtClean="0"/>
              <a:pPr>
                <a:defRPr/>
              </a:pPr>
              <a:t>58</a:t>
            </a:fld>
            <a:endParaRPr lang="en-AU" dirty="0"/>
          </a:p>
        </p:txBody>
      </p:sp>
      <p:sp>
        <p:nvSpPr>
          <p:cNvPr id="6" name="Rectangle 5">
            <a:extLst>
              <a:ext uri="{FF2B5EF4-FFF2-40B4-BE49-F238E27FC236}">
                <a16:creationId xmlns:a16="http://schemas.microsoft.com/office/drawing/2014/main" id="{6BAA6AF0-FFB0-7DDF-9A85-FA63E293615E}"/>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9142A744-3D80-5FC9-6257-B4E3B569043E}"/>
              </a:ext>
            </a:extLst>
          </p:cNvPr>
          <p:cNvSpPr txBox="1"/>
          <p:nvPr/>
        </p:nvSpPr>
        <p:spPr>
          <a:xfrm>
            <a:off x="1055440" y="1622270"/>
            <a:ext cx="8712968" cy="3816429"/>
          </a:xfrm>
          <a:prstGeom prst="rect">
            <a:avLst/>
          </a:prstGeom>
          <a:noFill/>
        </p:spPr>
        <p:txBody>
          <a:bodyPr wrap="square">
            <a:spAutoFit/>
          </a:bodyPr>
          <a:lstStyle/>
          <a:p>
            <a:r>
              <a:rPr lang="en-US" sz="2200" b="1" dirty="0">
                <a:highlight>
                  <a:srgbClr val="FFFFFF"/>
                </a:highlight>
                <a:latin typeface="Garamond" panose="02020404030301010803" pitchFamily="18" charset="0"/>
              </a:rPr>
              <a:t>Step 4: </a:t>
            </a:r>
            <a:r>
              <a:rPr lang="en-US" sz="2200" dirty="0">
                <a:highlight>
                  <a:srgbClr val="FFFFFF"/>
                </a:highlight>
                <a:latin typeface="Garamond" panose="02020404030301010803" pitchFamily="18" charset="0"/>
              </a:rPr>
              <a:t>Choose </a:t>
            </a:r>
            <a:r>
              <a:rPr lang="en-US" sz="2200" dirty="0">
                <a:latin typeface="Garamond" panose="02020404030301010803" pitchFamily="18" charset="0"/>
              </a:rPr>
              <a:t>the </a:t>
            </a:r>
            <a:r>
              <a:rPr lang="en-US" sz="2200" dirty="0">
                <a:highlight>
                  <a:srgbClr val="FFFFFF"/>
                </a:highlight>
                <a:latin typeface="Garamond" panose="02020404030301010803" pitchFamily="18" charset="0"/>
              </a:rPr>
              <a:t>Most Suitable Ethical Theory for Algorithm Design</a:t>
            </a:r>
          </a:p>
          <a:p>
            <a:endParaRPr lang="en-US" sz="2200" b="1" dirty="0">
              <a:highlight>
                <a:srgbClr val="FFFFFF"/>
              </a:highlight>
              <a:latin typeface="Garamond" panose="02020404030301010803" pitchFamily="18" charset="0"/>
            </a:endParaRPr>
          </a:p>
          <a:p>
            <a:r>
              <a:rPr lang="en-US" sz="2200" b="1" dirty="0">
                <a:highlight>
                  <a:srgbClr val="FFFFFF"/>
                </a:highlight>
                <a:latin typeface="Garamond" panose="02020404030301010803" pitchFamily="18" charset="0"/>
              </a:rPr>
              <a:t>Analysis of Technical Requirements vs. Ethical Frameworks:</a:t>
            </a:r>
          </a:p>
          <a:p>
            <a:r>
              <a:rPr lang="en-US" sz="2200" dirty="0">
                <a:highlight>
                  <a:srgbClr val="FFFFFF"/>
                </a:highlight>
                <a:latin typeface="Garamond" panose="02020404030301010803" pitchFamily="18" charset="0"/>
              </a:rPr>
              <a:t>Given the technical methods identified above, we need an ethical framework that can:</a:t>
            </a:r>
          </a:p>
          <a:p>
            <a:endParaRPr lang="en-US" sz="2200" dirty="0">
              <a:highlight>
                <a:srgbClr val="FFFFFF"/>
              </a:highlight>
              <a:latin typeface="Garamond" panose="02020404030301010803" pitchFamily="18" charset="0"/>
            </a:endParaRP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Handle real-time decision</a:t>
            </a:r>
            <a:r>
              <a:rPr lang="en-US" sz="2200" dirty="0">
                <a:latin typeface="Garamond" panose="02020404030301010803" pitchFamily="18" charset="0"/>
              </a:rPr>
              <a:t>-</a:t>
            </a:r>
            <a:r>
              <a:rPr lang="en-US" sz="2200" dirty="0">
                <a:highlight>
                  <a:srgbClr val="FFFFFF"/>
                </a:highlight>
                <a:latin typeface="Garamond" panose="02020404030301010803" pitchFamily="18" charset="0"/>
              </a:rPr>
              <a:t>making in algorithms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Provide clear, implementable rules for AI behavior</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Balance multiple competing values (safety, autonomy, honesty)</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Work with vulnerable populations who cannot give full informed consent</a:t>
            </a: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2698737878"/>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7CA395-5E56-05C3-77F8-832F2D1D818B}"/>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4840E1BA-9FFE-BE42-A412-320D01A5E7FA}"/>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5BE65DD2-6521-F533-9022-7974DE1DF134}"/>
              </a:ext>
            </a:extLst>
          </p:cNvPr>
          <p:cNvSpPr>
            <a:spLocks noGrp="1"/>
          </p:cNvSpPr>
          <p:nvPr>
            <p:ph type="sldNum" sz="quarter" idx="12"/>
          </p:nvPr>
        </p:nvSpPr>
        <p:spPr/>
        <p:txBody>
          <a:bodyPr/>
          <a:lstStyle/>
          <a:p>
            <a:pPr>
              <a:defRPr/>
            </a:pPr>
            <a:fld id="{65D7EE65-8AFE-4022-B3D9-7794B9342842}" type="slidenum">
              <a:rPr lang="en-AU" smtClean="0"/>
              <a:pPr>
                <a:defRPr/>
              </a:pPr>
              <a:t>59</a:t>
            </a:fld>
            <a:endParaRPr lang="en-AU" dirty="0"/>
          </a:p>
        </p:txBody>
      </p:sp>
      <p:sp>
        <p:nvSpPr>
          <p:cNvPr id="6" name="Rectangle 5">
            <a:extLst>
              <a:ext uri="{FF2B5EF4-FFF2-40B4-BE49-F238E27FC236}">
                <a16:creationId xmlns:a16="http://schemas.microsoft.com/office/drawing/2014/main" id="{4CBDBE04-18DE-BAAE-3AD4-ED505980ECA1}"/>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6FE3EFC8-4832-7E0E-2BC9-72DB4F8964CF}"/>
              </a:ext>
            </a:extLst>
          </p:cNvPr>
          <p:cNvSpPr txBox="1"/>
          <p:nvPr/>
        </p:nvSpPr>
        <p:spPr>
          <a:xfrm>
            <a:off x="1055440" y="1348800"/>
            <a:ext cx="8712968" cy="2123658"/>
          </a:xfrm>
          <a:prstGeom prst="rect">
            <a:avLst/>
          </a:prstGeom>
          <a:noFill/>
        </p:spPr>
        <p:txBody>
          <a:bodyPr wrap="square">
            <a:spAutoFit/>
          </a:bodyPr>
          <a:lstStyle/>
          <a:p>
            <a:r>
              <a:rPr lang="en-US" sz="2200" b="1" dirty="0">
                <a:highlight>
                  <a:srgbClr val="FFFFFF"/>
                </a:highlight>
                <a:latin typeface="Garamond" panose="02020404030301010803" pitchFamily="18" charset="0"/>
              </a:rPr>
              <a:t>Evaluation of Each Framework:</a:t>
            </a:r>
          </a:p>
          <a:p>
            <a:endParaRPr lang="en-US" sz="2200" dirty="0">
              <a:highlight>
                <a:srgbClr val="FFFFFF"/>
              </a:highlight>
              <a:latin typeface="Garamond" panose="02020404030301010803" pitchFamily="18" charset="0"/>
            </a:endParaRPr>
          </a:p>
          <a:p>
            <a:r>
              <a:rPr lang="en-US" sz="2200" b="1" dirty="0">
                <a:highlight>
                  <a:srgbClr val="FFFFFF"/>
                </a:highlight>
                <a:latin typeface="Garamond" panose="02020404030301010803" pitchFamily="18" charset="0"/>
              </a:rPr>
              <a:t>Virtue Ethics:</a:t>
            </a:r>
            <a:endParaRPr lang="en-US" sz="2200" dirty="0">
              <a:highlight>
                <a:srgbClr val="FFFFFF"/>
              </a:highlight>
              <a:latin typeface="Garamond" panose="02020404030301010803" pitchFamily="18" charset="0"/>
            </a:endParaRP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Good for defining AI character traits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Too subjective for algorithmic implementation</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Difficult to code "wisdom" or "compassion" consistently</a:t>
            </a:r>
          </a:p>
        </p:txBody>
      </p:sp>
    </p:spTree>
    <p:extLst>
      <p:ext uri="{BB962C8B-B14F-4D97-AF65-F5344CB8AC3E}">
        <p14:creationId xmlns:p14="http://schemas.microsoft.com/office/powerpoint/2010/main" val="1606932170"/>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829279-D2BE-BE4E-EAEB-0D7CF72775A6}"/>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F46082A1-A619-5E74-B7A7-BEEEF442500D}"/>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79246A16-8C73-31A2-7B38-A6BD2EFE46B8}"/>
              </a:ext>
            </a:extLst>
          </p:cNvPr>
          <p:cNvSpPr>
            <a:spLocks noGrp="1"/>
          </p:cNvSpPr>
          <p:nvPr>
            <p:ph type="sldNum" sz="quarter" idx="12"/>
          </p:nvPr>
        </p:nvSpPr>
        <p:spPr/>
        <p:txBody>
          <a:bodyPr/>
          <a:lstStyle/>
          <a:p>
            <a:pPr>
              <a:defRPr/>
            </a:pPr>
            <a:fld id="{65D7EE65-8AFE-4022-B3D9-7794B9342842}" type="slidenum">
              <a:rPr lang="en-AU" smtClean="0"/>
              <a:pPr>
                <a:defRPr/>
              </a:pPr>
              <a:t>60</a:t>
            </a:fld>
            <a:endParaRPr lang="en-AU" dirty="0"/>
          </a:p>
        </p:txBody>
      </p:sp>
      <p:sp>
        <p:nvSpPr>
          <p:cNvPr id="6" name="Rectangle 5">
            <a:extLst>
              <a:ext uri="{FF2B5EF4-FFF2-40B4-BE49-F238E27FC236}">
                <a16:creationId xmlns:a16="http://schemas.microsoft.com/office/drawing/2014/main" id="{863104AA-F716-2548-F9DC-70D34E9574CC}"/>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EAA91E83-DE51-A36F-4BC3-74F8CD7705C7}"/>
              </a:ext>
            </a:extLst>
          </p:cNvPr>
          <p:cNvSpPr txBox="1"/>
          <p:nvPr/>
        </p:nvSpPr>
        <p:spPr>
          <a:xfrm>
            <a:off x="1055440" y="1622270"/>
            <a:ext cx="8712968" cy="2462213"/>
          </a:xfrm>
          <a:prstGeom prst="rect">
            <a:avLst/>
          </a:prstGeom>
          <a:noFill/>
        </p:spPr>
        <p:txBody>
          <a:bodyPr wrap="square">
            <a:spAutoFit/>
          </a:bodyPr>
          <a:lstStyle/>
          <a:p>
            <a:r>
              <a:rPr lang="en-US" sz="2200" b="1" dirty="0">
                <a:highlight>
                  <a:srgbClr val="FFFFFF"/>
                </a:highlight>
                <a:latin typeface="Garamond" panose="02020404030301010803" pitchFamily="18" charset="0"/>
              </a:rPr>
              <a:t>Evaluation of Each Framework:</a:t>
            </a:r>
          </a:p>
          <a:p>
            <a:endParaRPr lang="en-US" sz="2200" dirty="0">
              <a:highlight>
                <a:srgbClr val="FFFFFF"/>
              </a:highlight>
              <a:latin typeface="Garamond" panose="02020404030301010803" pitchFamily="18" charset="0"/>
            </a:endParaRPr>
          </a:p>
          <a:p>
            <a:r>
              <a:rPr lang="en-US" sz="2200" b="1" dirty="0">
                <a:highlight>
                  <a:srgbClr val="FFFFFF"/>
                </a:highlight>
                <a:latin typeface="Garamond" panose="02020404030301010803" pitchFamily="18" charset="0"/>
              </a:rPr>
              <a:t>Utilitarianism:</a:t>
            </a:r>
            <a:endParaRPr lang="en-US" sz="2200" dirty="0">
              <a:highlight>
                <a:srgbClr val="FFFFFF"/>
              </a:highlight>
              <a:latin typeface="Garamond" panose="02020404030301010803" pitchFamily="18" charset="0"/>
            </a:endParaRP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Can optimize for measurable outcomes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Requires complex calculations of happiness/wellbeing</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May justify deception if it reduces immediate distress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Difficult to weigh long-term vs. short-term benefits in real-time</a:t>
            </a:r>
          </a:p>
        </p:txBody>
      </p:sp>
    </p:spTree>
    <p:extLst>
      <p:ext uri="{BB962C8B-B14F-4D97-AF65-F5344CB8AC3E}">
        <p14:creationId xmlns:p14="http://schemas.microsoft.com/office/powerpoint/2010/main" val="4048342611"/>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2A6109-5659-4F81-7AEE-FD3438FFB38F}"/>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B1849FB6-6450-2365-D351-8D3962F92DCB}"/>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664B3A4A-1E53-F122-3285-02C5307B733D}"/>
              </a:ext>
            </a:extLst>
          </p:cNvPr>
          <p:cNvSpPr>
            <a:spLocks noGrp="1"/>
          </p:cNvSpPr>
          <p:nvPr>
            <p:ph type="sldNum" sz="quarter" idx="12"/>
          </p:nvPr>
        </p:nvSpPr>
        <p:spPr/>
        <p:txBody>
          <a:bodyPr/>
          <a:lstStyle/>
          <a:p>
            <a:pPr>
              <a:defRPr/>
            </a:pPr>
            <a:fld id="{65D7EE65-8AFE-4022-B3D9-7794B9342842}" type="slidenum">
              <a:rPr lang="en-AU" smtClean="0"/>
              <a:pPr>
                <a:defRPr/>
              </a:pPr>
              <a:t>61</a:t>
            </a:fld>
            <a:endParaRPr lang="en-AU" dirty="0"/>
          </a:p>
        </p:txBody>
      </p:sp>
      <p:sp>
        <p:nvSpPr>
          <p:cNvPr id="6" name="Rectangle 5">
            <a:extLst>
              <a:ext uri="{FF2B5EF4-FFF2-40B4-BE49-F238E27FC236}">
                <a16:creationId xmlns:a16="http://schemas.microsoft.com/office/drawing/2014/main" id="{54A0EB21-C9D6-74A6-F12C-4EE2FAF0135D}"/>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17453F8C-CCCA-0E92-3497-8CD7E20E319F}"/>
              </a:ext>
            </a:extLst>
          </p:cNvPr>
          <p:cNvSpPr txBox="1"/>
          <p:nvPr/>
        </p:nvSpPr>
        <p:spPr>
          <a:xfrm>
            <a:off x="1055440" y="1622270"/>
            <a:ext cx="8712968" cy="2123658"/>
          </a:xfrm>
          <a:prstGeom prst="rect">
            <a:avLst/>
          </a:prstGeom>
          <a:noFill/>
        </p:spPr>
        <p:txBody>
          <a:bodyPr wrap="square">
            <a:spAutoFit/>
          </a:bodyPr>
          <a:lstStyle/>
          <a:p>
            <a:r>
              <a:rPr lang="en-US" sz="2200" b="1" dirty="0">
                <a:highlight>
                  <a:srgbClr val="FFFFFF"/>
                </a:highlight>
                <a:latin typeface="Garamond" panose="02020404030301010803" pitchFamily="18" charset="0"/>
              </a:rPr>
              <a:t>Deontological Ethics:</a:t>
            </a:r>
            <a:endParaRPr lang="en-US" sz="2200" dirty="0">
              <a:highlight>
                <a:srgbClr val="FFFFFF"/>
              </a:highlight>
              <a:latin typeface="Garamond" panose="02020404030301010803" pitchFamily="18" charset="0"/>
            </a:endParaRP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Provides clear, absolute rules that can be hard-coded</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Respects patient dignity regardless of cognitive capacity</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Creates consistent, predictable AI behavior</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Prevents ethical drift over time</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Aligns with legal and regulatory requirements</a:t>
            </a:r>
          </a:p>
        </p:txBody>
      </p:sp>
    </p:spTree>
    <p:extLst>
      <p:ext uri="{BB962C8B-B14F-4D97-AF65-F5344CB8AC3E}">
        <p14:creationId xmlns:p14="http://schemas.microsoft.com/office/powerpoint/2010/main" val="2966159567"/>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770F1C1-24F6-85BF-2C6B-C7EABD66FA87}"/>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05802E74-6874-F028-98C9-B5C80CAB8D34}"/>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4BD52F8F-7CDC-3042-19F6-D5B0FD67256D}"/>
              </a:ext>
            </a:extLst>
          </p:cNvPr>
          <p:cNvSpPr>
            <a:spLocks noGrp="1"/>
          </p:cNvSpPr>
          <p:nvPr>
            <p:ph type="sldNum" sz="quarter" idx="12"/>
          </p:nvPr>
        </p:nvSpPr>
        <p:spPr/>
        <p:txBody>
          <a:bodyPr/>
          <a:lstStyle/>
          <a:p>
            <a:pPr>
              <a:defRPr/>
            </a:pPr>
            <a:fld id="{65D7EE65-8AFE-4022-B3D9-7794B9342842}" type="slidenum">
              <a:rPr lang="en-AU" smtClean="0"/>
              <a:pPr>
                <a:defRPr/>
              </a:pPr>
              <a:t>62</a:t>
            </a:fld>
            <a:endParaRPr lang="en-AU" dirty="0"/>
          </a:p>
        </p:txBody>
      </p:sp>
      <p:sp>
        <p:nvSpPr>
          <p:cNvPr id="6" name="Rectangle 5">
            <a:extLst>
              <a:ext uri="{FF2B5EF4-FFF2-40B4-BE49-F238E27FC236}">
                <a16:creationId xmlns:a16="http://schemas.microsoft.com/office/drawing/2014/main" id="{712F1FBF-1C9B-BB41-E1C2-FDA0178BF1DC}"/>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ACAA6C3F-8C73-5CAF-3A24-596C5937867F}"/>
              </a:ext>
            </a:extLst>
          </p:cNvPr>
          <p:cNvSpPr txBox="1"/>
          <p:nvPr/>
        </p:nvSpPr>
        <p:spPr>
          <a:xfrm>
            <a:off x="949048" y="1446556"/>
            <a:ext cx="8712968" cy="4832092"/>
          </a:xfrm>
          <a:prstGeom prst="rect">
            <a:avLst/>
          </a:prstGeom>
          <a:noFill/>
        </p:spPr>
        <p:txBody>
          <a:bodyPr wrap="square">
            <a:spAutoFit/>
          </a:bodyPr>
          <a:lstStyle/>
          <a:p>
            <a:r>
              <a:rPr lang="en-US" sz="2200" b="1" dirty="0">
                <a:highlight>
                  <a:srgbClr val="FFFFFF"/>
                </a:highlight>
                <a:latin typeface="Garamond" panose="02020404030301010803" pitchFamily="18" charset="0"/>
              </a:rPr>
              <a:t>Chosen Framework: </a:t>
            </a:r>
            <a:r>
              <a:rPr lang="en-US" sz="2200" dirty="0">
                <a:highlight>
                  <a:srgbClr val="FFFFFF"/>
                </a:highlight>
                <a:latin typeface="Garamond" panose="02020404030301010803" pitchFamily="18" charset="0"/>
              </a:rPr>
              <a:t>Deontological Ethics (Primary) with Virtue Elements (Secondary)</a:t>
            </a:r>
          </a:p>
          <a:p>
            <a:endParaRPr lang="en-US" sz="2200" dirty="0">
              <a:highlight>
                <a:srgbClr val="FFFFFF"/>
              </a:highlight>
              <a:latin typeface="Garamond" panose="02020404030301010803" pitchFamily="18" charset="0"/>
            </a:endParaRPr>
          </a:p>
          <a:p>
            <a:r>
              <a:rPr lang="en-US" sz="2200" b="1" dirty="0">
                <a:highlight>
                  <a:srgbClr val="FFFFFF"/>
                </a:highlight>
                <a:latin typeface="Garamond" panose="02020404030301010803" pitchFamily="18" charset="0"/>
              </a:rPr>
              <a:t>Justification:</a:t>
            </a:r>
            <a:endParaRPr lang="en-US" sz="2200" dirty="0">
              <a:highlight>
                <a:srgbClr val="FFFFFF"/>
              </a:highlight>
              <a:latin typeface="Garamond" panose="02020404030301010803" pitchFamily="18" charset="0"/>
            </a:endParaRP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Algorithmic Compatibility: Rule-based systems align perfectly with deontological principles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Vulnerable Population Protection: Absolute rules protect those who cannot protect themselves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Legal Compliance: Deontological approaches align with healthcare regulations and patient rights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Technical Reliability: Clear rules prevent AI from making harmful ethical compromises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Stakeholder Trust: Predictable ethical behavior builds family and medical staff confidence</a:t>
            </a:r>
          </a:p>
        </p:txBody>
      </p:sp>
    </p:spTree>
    <p:extLst>
      <p:ext uri="{BB962C8B-B14F-4D97-AF65-F5344CB8AC3E}">
        <p14:creationId xmlns:p14="http://schemas.microsoft.com/office/powerpoint/2010/main" val="862973449"/>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5DBB1F-8C0D-D582-517B-189E65CB6D5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62AA63CA-2C20-98EB-0755-420CC8272FF6}"/>
              </a:ext>
            </a:extLst>
          </p:cNvPr>
          <p:cNvSpPr>
            <a:spLocks noGrp="1"/>
          </p:cNvSpPr>
          <p:nvPr>
            <p:ph type="subTitle" idx="1"/>
          </p:nvPr>
        </p:nvSpPr>
        <p:spPr>
          <a:xfrm>
            <a:off x="914400" y="1815441"/>
            <a:ext cx="10078144" cy="3413759"/>
          </a:xfrm>
        </p:spPr>
        <p:txBody>
          <a:bodyPr/>
          <a:lstStyle/>
          <a:p>
            <a:pPr algn="l"/>
            <a:endParaRPr lang="en-US" sz="2200" dirty="0">
              <a:latin typeface="Garamond" panose="02020404030301010803" pitchFamily="18" charset="0"/>
            </a:endParaRPr>
          </a:p>
          <a:p>
            <a:pPr algn="l"/>
            <a:r>
              <a:rPr lang="en-US" sz="2200" b="1" dirty="0">
                <a:latin typeface="Garamond" panose="02020404030301010803" pitchFamily="18" charset="0"/>
              </a:rPr>
              <a:t>Core Deontological Rules (Absolute Constraints)</a:t>
            </a:r>
          </a:p>
          <a:p>
            <a:pPr algn="l"/>
            <a:r>
              <a:rPr lang="en-US" sz="2200" dirty="0">
                <a:latin typeface="Garamond" panose="02020404030301010803" pitchFamily="18" charset="0"/>
              </a:rPr>
              <a:t>RULE 1: AI_IDENTITY_DISCLOSURE = MANDATORY</a:t>
            </a:r>
          </a:p>
          <a:p>
            <a:pPr algn="l"/>
            <a:r>
              <a:rPr lang="en-US" sz="2200" dirty="0">
                <a:latin typeface="Garamond" panose="02020404030301010803" pitchFamily="18" charset="0"/>
              </a:rPr>
              <a:t>RULE 2: HUMAN_IMPERSONATION = FORBIDDEN</a:t>
            </a:r>
          </a:p>
          <a:p>
            <a:pPr algn="l"/>
            <a:r>
              <a:rPr lang="en-US" sz="2200" dirty="0">
                <a:latin typeface="Garamond" panose="02020404030301010803" pitchFamily="18" charset="0"/>
              </a:rPr>
              <a:t>RULE 3: CONSENT_REQUIRED = TRUE</a:t>
            </a:r>
          </a:p>
          <a:p>
            <a:pPr algn="l"/>
            <a:r>
              <a:rPr lang="en-US" sz="2200" dirty="0">
                <a:latin typeface="Garamond" panose="02020404030301010803" pitchFamily="18" charset="0"/>
              </a:rPr>
              <a:t>RULE 4: PATIENT_SAFETY = PRIORITY_1</a:t>
            </a:r>
          </a:p>
          <a:p>
            <a:pPr algn="l"/>
            <a:r>
              <a:rPr lang="en-US" sz="2200" dirty="0">
                <a:latin typeface="Garamond" panose="02020404030301010803" pitchFamily="18" charset="0"/>
              </a:rPr>
              <a:t>RULE 5: DATA_PRIVACY = PROTECTED</a:t>
            </a:r>
          </a:p>
          <a:p>
            <a:pPr algn="l"/>
            <a:endParaRPr lang="en-US" sz="2200" dirty="0">
              <a:latin typeface="Garamond" panose="02020404030301010803" pitchFamily="18" charset="0"/>
            </a:endParaRPr>
          </a:p>
        </p:txBody>
      </p:sp>
      <p:sp>
        <p:nvSpPr>
          <p:cNvPr id="4" name="Slide Number Placeholder 3">
            <a:extLst>
              <a:ext uri="{FF2B5EF4-FFF2-40B4-BE49-F238E27FC236}">
                <a16:creationId xmlns:a16="http://schemas.microsoft.com/office/drawing/2014/main" id="{66430CD4-290D-D319-A29F-5331057523C4}"/>
              </a:ext>
            </a:extLst>
          </p:cNvPr>
          <p:cNvSpPr>
            <a:spLocks noGrp="1"/>
          </p:cNvSpPr>
          <p:nvPr>
            <p:ph type="sldNum" sz="quarter" idx="12"/>
          </p:nvPr>
        </p:nvSpPr>
        <p:spPr/>
        <p:txBody>
          <a:bodyPr/>
          <a:lstStyle/>
          <a:p>
            <a:pPr>
              <a:defRPr/>
            </a:pPr>
            <a:fld id="{65D7EE65-8AFE-4022-B3D9-7794B9342842}" type="slidenum">
              <a:rPr lang="en-AU" smtClean="0"/>
              <a:pPr>
                <a:defRPr/>
              </a:pPr>
              <a:t>63</a:t>
            </a:fld>
            <a:endParaRPr lang="en-AU" dirty="0"/>
          </a:p>
        </p:txBody>
      </p:sp>
      <p:sp>
        <p:nvSpPr>
          <p:cNvPr id="6" name="Rectangle 5">
            <a:extLst>
              <a:ext uri="{FF2B5EF4-FFF2-40B4-BE49-F238E27FC236}">
                <a16:creationId xmlns:a16="http://schemas.microsoft.com/office/drawing/2014/main" id="{D96EBACD-B6E1-E9EE-A873-ACE6BF0FD676}"/>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D3C41C30-65D1-F782-E3A6-96643C4C47F9}"/>
              </a:ext>
            </a:extLst>
          </p:cNvPr>
          <p:cNvSpPr txBox="1"/>
          <p:nvPr/>
        </p:nvSpPr>
        <p:spPr>
          <a:xfrm>
            <a:off x="949048" y="1446556"/>
            <a:ext cx="9323416" cy="1785104"/>
          </a:xfrm>
          <a:prstGeom prst="rect">
            <a:avLst/>
          </a:prstGeom>
          <a:noFill/>
        </p:spPr>
        <p:txBody>
          <a:bodyPr wrap="square">
            <a:spAutoFit/>
          </a:bodyPr>
          <a:lstStyle/>
          <a:p>
            <a:r>
              <a:rPr lang="en-US" sz="2200" b="1" dirty="0">
                <a:highlight>
                  <a:srgbClr val="FFFFFF"/>
                </a:highlight>
                <a:latin typeface="Garamond" panose="02020404030301010803" pitchFamily="18" charset="0"/>
              </a:rPr>
              <a:t>Step 5: </a:t>
            </a:r>
            <a:r>
              <a:rPr lang="en-US" sz="2200" dirty="0">
                <a:highlight>
                  <a:srgbClr val="FFFFFF"/>
                </a:highlight>
                <a:latin typeface="Garamond" panose="02020404030301010803" pitchFamily="18" charset="0"/>
              </a:rPr>
              <a:t>Create a pseudocode based on the chosen ethical theory (Deontology + Virtue ethics)</a:t>
            </a:r>
          </a:p>
          <a:p>
            <a:endParaRPr lang="en-US" sz="2200" dirty="0">
              <a:highlight>
                <a:srgbClr val="FFFFFF"/>
              </a:highlight>
              <a:latin typeface="Garamond" panose="02020404030301010803" pitchFamily="18" charset="0"/>
            </a:endParaRPr>
          </a:p>
          <a:p>
            <a:endParaRPr lang="en-US" sz="2200" dirty="0">
              <a:highlight>
                <a:srgbClr val="FFFFFF"/>
              </a:highlight>
              <a:latin typeface="Garamond" panose="02020404030301010803" pitchFamily="18" charset="0"/>
            </a:endParaRP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3661120882"/>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8E1BA4-EDE5-5A8C-5AC0-AF47E3D44414}"/>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C218E6D2-F144-5DFE-9F83-CE94295F9D4B}"/>
              </a:ext>
            </a:extLst>
          </p:cNvPr>
          <p:cNvSpPr>
            <a:spLocks noGrp="1"/>
          </p:cNvSpPr>
          <p:nvPr>
            <p:ph type="subTitle" idx="1"/>
          </p:nvPr>
        </p:nvSpPr>
        <p:spPr>
          <a:xfrm>
            <a:off x="914400" y="1815441"/>
            <a:ext cx="10078144" cy="3413759"/>
          </a:xfrm>
        </p:spPr>
        <p:txBody>
          <a:bodyPr/>
          <a:lstStyle/>
          <a:p>
            <a:pPr algn="l"/>
            <a:endParaRPr lang="en-US" sz="2200" dirty="0">
              <a:latin typeface="Garamond" panose="02020404030301010803" pitchFamily="18" charset="0"/>
            </a:endParaRPr>
          </a:p>
          <a:p>
            <a:pPr algn="l"/>
            <a:endParaRPr lang="en-US" sz="2200" b="1" dirty="0">
              <a:latin typeface="Garamond" panose="02020404030301010803" pitchFamily="18" charset="0"/>
            </a:endParaRPr>
          </a:p>
          <a:p>
            <a:pPr algn="l"/>
            <a:r>
              <a:rPr lang="en-US" sz="2200" b="1" dirty="0">
                <a:latin typeface="Garamond" panose="02020404030301010803" pitchFamily="18" charset="0"/>
              </a:rPr>
              <a:t>Virtue Ethics Character Traits (Behavioral Guidelines)</a:t>
            </a:r>
          </a:p>
          <a:p>
            <a:pPr algn="l"/>
            <a:r>
              <a:rPr lang="en-US" sz="2200" dirty="0">
                <a:latin typeface="Garamond" panose="02020404030301010803" pitchFamily="18" charset="0"/>
              </a:rPr>
              <a:t>VIRTUE_COMPASSION: Respond with empathy and understanding</a:t>
            </a:r>
          </a:p>
          <a:p>
            <a:pPr algn="l"/>
            <a:r>
              <a:rPr lang="en-US" sz="2200" dirty="0">
                <a:latin typeface="Garamond" panose="02020404030301010803" pitchFamily="18" charset="0"/>
              </a:rPr>
              <a:t>VIRTUE_HONESTY: Provide truthful, transparent communication  </a:t>
            </a:r>
          </a:p>
          <a:p>
            <a:pPr algn="l"/>
            <a:r>
              <a:rPr lang="en-US" sz="2200" dirty="0">
                <a:latin typeface="Garamond" panose="02020404030301010803" pitchFamily="18" charset="0"/>
              </a:rPr>
              <a:t>VIRTUE_RESPONSIBILITY: Take accountability for all actions</a:t>
            </a:r>
          </a:p>
          <a:p>
            <a:pPr algn="l"/>
            <a:r>
              <a:rPr lang="en-US" sz="2200" dirty="0">
                <a:latin typeface="Garamond" panose="02020404030301010803" pitchFamily="18" charset="0"/>
              </a:rPr>
              <a:t>VIRTUE_KINDNESS: Prioritize patient emotional wellbeing</a:t>
            </a:r>
          </a:p>
          <a:p>
            <a:pPr algn="l"/>
            <a:r>
              <a:rPr lang="en-US" sz="2200" dirty="0">
                <a:latin typeface="Garamond" panose="02020404030301010803" pitchFamily="18" charset="0"/>
              </a:rPr>
              <a:t>VIRTUE_WISDOM: Make decisions considering long-term impact</a:t>
            </a:r>
          </a:p>
          <a:p>
            <a:pPr algn="l"/>
            <a:endParaRPr lang="en-US" sz="2200" dirty="0">
              <a:latin typeface="Garamond" panose="02020404030301010803" pitchFamily="18" charset="0"/>
            </a:endParaRPr>
          </a:p>
        </p:txBody>
      </p:sp>
      <p:sp>
        <p:nvSpPr>
          <p:cNvPr id="4" name="Slide Number Placeholder 3">
            <a:extLst>
              <a:ext uri="{FF2B5EF4-FFF2-40B4-BE49-F238E27FC236}">
                <a16:creationId xmlns:a16="http://schemas.microsoft.com/office/drawing/2014/main" id="{39C95DBD-B715-5108-26C6-78E7FF9A281A}"/>
              </a:ext>
            </a:extLst>
          </p:cNvPr>
          <p:cNvSpPr>
            <a:spLocks noGrp="1"/>
          </p:cNvSpPr>
          <p:nvPr>
            <p:ph type="sldNum" sz="quarter" idx="12"/>
          </p:nvPr>
        </p:nvSpPr>
        <p:spPr/>
        <p:txBody>
          <a:bodyPr/>
          <a:lstStyle/>
          <a:p>
            <a:pPr>
              <a:defRPr/>
            </a:pPr>
            <a:fld id="{65D7EE65-8AFE-4022-B3D9-7794B9342842}" type="slidenum">
              <a:rPr lang="en-AU" smtClean="0"/>
              <a:pPr>
                <a:defRPr/>
              </a:pPr>
              <a:t>64</a:t>
            </a:fld>
            <a:endParaRPr lang="en-AU" dirty="0"/>
          </a:p>
        </p:txBody>
      </p:sp>
      <p:sp>
        <p:nvSpPr>
          <p:cNvPr id="6" name="Rectangle 5">
            <a:extLst>
              <a:ext uri="{FF2B5EF4-FFF2-40B4-BE49-F238E27FC236}">
                <a16:creationId xmlns:a16="http://schemas.microsoft.com/office/drawing/2014/main" id="{89394018-659A-0FBB-DDB6-89043FF708B1}"/>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AE3D36EF-C424-5DC9-0037-0B8B5C42D7A1}"/>
              </a:ext>
            </a:extLst>
          </p:cNvPr>
          <p:cNvSpPr txBox="1"/>
          <p:nvPr/>
        </p:nvSpPr>
        <p:spPr>
          <a:xfrm>
            <a:off x="949048" y="1446556"/>
            <a:ext cx="8712968" cy="1107996"/>
          </a:xfrm>
          <a:prstGeom prst="rect">
            <a:avLst/>
          </a:prstGeom>
          <a:noFill/>
        </p:spPr>
        <p:txBody>
          <a:bodyPr wrap="square">
            <a:spAutoFit/>
          </a:bodyPr>
          <a:lstStyle/>
          <a:p>
            <a:r>
              <a:rPr lang="en-US" sz="2200" b="1" dirty="0">
                <a:highlight>
                  <a:srgbClr val="FFFFFF"/>
                </a:highlight>
                <a:latin typeface="Garamond" panose="02020404030301010803" pitchFamily="18" charset="0"/>
              </a:rPr>
              <a:t>Step 5: </a:t>
            </a:r>
            <a:r>
              <a:rPr lang="en-US" sz="2200" dirty="0">
                <a:highlight>
                  <a:srgbClr val="FFFFFF"/>
                </a:highlight>
                <a:latin typeface="Garamond" panose="02020404030301010803" pitchFamily="18" charset="0"/>
              </a:rPr>
              <a:t>Create a pseudocode based on the chosen ethical theory (Deontology + Virtue ethics)</a:t>
            </a: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1189397293"/>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BCA32D-0374-76D0-9DB3-DAE2943A8F6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8FA044F7-52F9-DAB8-D48D-15DE91E00D15}"/>
              </a:ext>
            </a:extLst>
          </p:cNvPr>
          <p:cNvSpPr>
            <a:spLocks noGrp="1"/>
          </p:cNvSpPr>
          <p:nvPr>
            <p:ph type="subTitle" idx="1"/>
          </p:nvPr>
        </p:nvSpPr>
        <p:spPr>
          <a:xfrm>
            <a:off x="1056928" y="2351955"/>
            <a:ext cx="10078144" cy="3413759"/>
          </a:xfrm>
        </p:spPr>
        <p:txBody>
          <a:bodyPr/>
          <a:lstStyle/>
          <a:p>
            <a:pPr algn="l"/>
            <a:r>
              <a:rPr lang="en-US" sz="1000" dirty="0">
                <a:latin typeface="Garamond" panose="02020404030301010803" pitchFamily="18" charset="0"/>
              </a:rPr>
              <a:t>FUNCTION </a:t>
            </a:r>
            <a:r>
              <a:rPr lang="en-US" sz="1000" dirty="0" err="1">
                <a:latin typeface="Garamond" panose="02020404030301010803" pitchFamily="18" charset="0"/>
              </a:rPr>
              <a:t>AI_Companion_Interaction</a:t>
            </a:r>
            <a:r>
              <a:rPr lang="en-US" sz="1000" dirty="0">
                <a:latin typeface="Garamond" panose="02020404030301010803" pitchFamily="18" charset="0"/>
              </a:rPr>
              <a:t>(</a:t>
            </a:r>
            <a:r>
              <a:rPr lang="en-US" sz="1000" dirty="0" err="1">
                <a:latin typeface="Garamond" panose="02020404030301010803" pitchFamily="18" charset="0"/>
              </a:rPr>
              <a:t>patient_input</a:t>
            </a:r>
            <a:r>
              <a:rPr lang="en-US" sz="1000" dirty="0">
                <a:latin typeface="Garamond" panose="02020404030301010803" pitchFamily="18" charset="0"/>
              </a:rPr>
              <a:t>, context)</a:t>
            </a:r>
          </a:p>
          <a:p>
            <a:pPr algn="l"/>
            <a:r>
              <a:rPr lang="en-US" sz="1000" dirty="0">
                <a:latin typeface="Garamond" panose="02020404030301010803" pitchFamily="18" charset="0"/>
              </a:rPr>
              <a:t>BEGIN</a:t>
            </a:r>
          </a:p>
          <a:p>
            <a:pPr algn="l"/>
            <a:r>
              <a:rPr lang="en-US" sz="1000" dirty="0">
                <a:latin typeface="Garamond" panose="02020404030301010803" pitchFamily="18" charset="0"/>
              </a:rPr>
              <a:t>    // DEONTOLOGICAL CHECKPOINT 1: Identity Disclosure</a:t>
            </a:r>
          </a:p>
          <a:p>
            <a:pPr algn="l"/>
            <a:r>
              <a:rPr lang="en-US" sz="1000" dirty="0">
                <a:latin typeface="Garamond" panose="02020404030301010803" pitchFamily="18" charset="0"/>
              </a:rPr>
              <a:t>    IF </a:t>
            </a:r>
            <a:r>
              <a:rPr lang="en-US" sz="1000" dirty="0" err="1">
                <a:latin typeface="Garamond" panose="02020404030301010803" pitchFamily="18" charset="0"/>
              </a:rPr>
              <a:t>first_interaction_of_session</a:t>
            </a:r>
            <a:r>
              <a:rPr lang="en-US" sz="1000" dirty="0">
                <a:latin typeface="Garamond" panose="02020404030301010803" pitchFamily="18" charset="0"/>
              </a:rPr>
              <a:t> THEN</a:t>
            </a:r>
          </a:p>
          <a:p>
            <a:pPr algn="l"/>
            <a:r>
              <a:rPr lang="en-US" sz="1000" dirty="0">
                <a:latin typeface="Garamond" panose="02020404030301010803" pitchFamily="18" charset="0"/>
              </a:rPr>
              <a:t>        EXECUTE </a:t>
            </a:r>
            <a:r>
              <a:rPr lang="en-US" sz="1000" dirty="0" err="1">
                <a:latin typeface="Garamond" panose="02020404030301010803" pitchFamily="18" charset="0"/>
              </a:rPr>
              <a:t>mandatory_ai_identification</a:t>
            </a:r>
            <a:r>
              <a:rPr lang="en-US" sz="1000" dirty="0">
                <a:latin typeface="Garamond" panose="02020404030301010803" pitchFamily="18" charset="0"/>
              </a:rPr>
              <a:t>()</a:t>
            </a:r>
          </a:p>
          <a:p>
            <a:pPr algn="l"/>
            <a:r>
              <a:rPr lang="en-US" sz="1000" dirty="0">
                <a:latin typeface="Garamond" panose="02020404030301010803" pitchFamily="18" charset="0"/>
              </a:rPr>
              <a:t>        LOG </a:t>
            </a:r>
            <a:r>
              <a:rPr lang="en-US" sz="1000" dirty="0" err="1">
                <a:latin typeface="Garamond" panose="02020404030301010803" pitchFamily="18" charset="0"/>
              </a:rPr>
              <a:t>interaction_start</a:t>
            </a:r>
            <a:r>
              <a:rPr lang="en-US" sz="1000" dirty="0">
                <a:latin typeface="Garamond" panose="02020404030301010803" pitchFamily="18" charset="0"/>
              </a:rPr>
              <a:t> WITH </a:t>
            </a:r>
            <a:r>
              <a:rPr lang="en-US" sz="1000" dirty="0" err="1">
                <a:latin typeface="Garamond" panose="02020404030301010803" pitchFamily="18" charset="0"/>
              </a:rPr>
              <a:t>consent_verification</a:t>
            </a:r>
            <a:endParaRPr lang="en-US" sz="1000" dirty="0">
              <a:latin typeface="Garamond" panose="02020404030301010803" pitchFamily="18" charset="0"/>
            </a:endParaRPr>
          </a:p>
          <a:p>
            <a:pPr algn="l"/>
            <a:r>
              <a:rPr lang="en-US" sz="1000" dirty="0">
                <a:latin typeface="Garamond" panose="02020404030301010803" pitchFamily="18" charset="0"/>
              </a:rPr>
              <a:t>    END IF</a:t>
            </a:r>
          </a:p>
          <a:p>
            <a:pPr algn="l"/>
            <a:r>
              <a:rPr lang="en-US" sz="1000" dirty="0">
                <a:latin typeface="Garamond" panose="02020404030301010803" pitchFamily="18" charset="0"/>
              </a:rPr>
              <a:t>    </a:t>
            </a:r>
          </a:p>
          <a:p>
            <a:pPr algn="l"/>
            <a:r>
              <a:rPr lang="en-US" sz="1000" dirty="0">
                <a:latin typeface="Garamond" panose="02020404030301010803" pitchFamily="18" charset="0"/>
              </a:rPr>
              <a:t>    // DEONTOLOGICAL CHECKPOINT 2: Safety First</a:t>
            </a:r>
          </a:p>
          <a:p>
            <a:pPr algn="l"/>
            <a:r>
              <a:rPr lang="en-US" sz="1000" dirty="0">
                <a:latin typeface="Garamond" panose="02020404030301010803" pitchFamily="18" charset="0"/>
              </a:rPr>
              <a:t>    IF </a:t>
            </a:r>
            <a:r>
              <a:rPr lang="en-US" sz="1000" dirty="0" err="1">
                <a:latin typeface="Garamond" panose="02020404030301010803" pitchFamily="18" charset="0"/>
              </a:rPr>
              <a:t>detect_emergency_situation</a:t>
            </a:r>
            <a:r>
              <a:rPr lang="en-US" sz="1000" dirty="0">
                <a:latin typeface="Garamond" panose="02020404030301010803" pitchFamily="18" charset="0"/>
              </a:rPr>
              <a:t>(</a:t>
            </a:r>
            <a:r>
              <a:rPr lang="en-US" sz="1000" dirty="0" err="1">
                <a:latin typeface="Garamond" panose="02020404030301010803" pitchFamily="18" charset="0"/>
              </a:rPr>
              <a:t>patient_input</a:t>
            </a:r>
            <a:r>
              <a:rPr lang="en-US" sz="1000" dirty="0">
                <a:latin typeface="Garamond" panose="02020404030301010803" pitchFamily="18" charset="0"/>
              </a:rPr>
              <a:t>) THEN</a:t>
            </a:r>
          </a:p>
          <a:p>
            <a:pPr algn="l"/>
            <a:r>
              <a:rPr lang="en-US" sz="1000" dirty="0">
                <a:latin typeface="Garamond" panose="02020404030301010803" pitchFamily="18" charset="0"/>
              </a:rPr>
              <a:t>        EXECUTE </a:t>
            </a:r>
            <a:r>
              <a:rPr lang="en-US" sz="1000" dirty="0" err="1">
                <a:latin typeface="Garamond" panose="02020404030301010803" pitchFamily="18" charset="0"/>
              </a:rPr>
              <a:t>emergency_protocol</a:t>
            </a:r>
            <a:r>
              <a:rPr lang="en-US" sz="1000" dirty="0">
                <a:latin typeface="Garamond" panose="02020404030301010803" pitchFamily="18" charset="0"/>
              </a:rPr>
              <a:t>()</a:t>
            </a:r>
          </a:p>
          <a:p>
            <a:pPr algn="l"/>
            <a:r>
              <a:rPr lang="en-US" sz="1000" dirty="0">
                <a:latin typeface="Garamond" panose="02020404030301010803" pitchFamily="18" charset="0"/>
              </a:rPr>
              <a:t>        NOTIFY </a:t>
            </a:r>
            <a:r>
              <a:rPr lang="en-US" sz="1000" dirty="0" err="1">
                <a:latin typeface="Garamond" panose="02020404030301010803" pitchFamily="18" charset="0"/>
              </a:rPr>
              <a:t>medical_staff</a:t>
            </a:r>
            <a:r>
              <a:rPr lang="en-US" sz="1000" dirty="0">
                <a:latin typeface="Garamond" panose="02020404030301010803" pitchFamily="18" charset="0"/>
              </a:rPr>
              <a:t> IMMEDIATELY</a:t>
            </a:r>
          </a:p>
          <a:p>
            <a:pPr algn="l"/>
            <a:r>
              <a:rPr lang="en-US" sz="1000" dirty="0">
                <a:latin typeface="Garamond" panose="02020404030301010803" pitchFamily="18" charset="0"/>
              </a:rPr>
              <a:t>        RETURN </a:t>
            </a:r>
            <a:r>
              <a:rPr lang="en-US" sz="1000" dirty="0" err="1">
                <a:latin typeface="Garamond" panose="02020404030301010803" pitchFamily="18" charset="0"/>
              </a:rPr>
              <a:t>safety_response</a:t>
            </a:r>
            <a:endParaRPr lang="en-US" sz="1000" dirty="0">
              <a:latin typeface="Garamond" panose="02020404030301010803" pitchFamily="18" charset="0"/>
            </a:endParaRPr>
          </a:p>
          <a:p>
            <a:pPr algn="l"/>
            <a:r>
              <a:rPr lang="en-US" sz="1000" dirty="0">
                <a:latin typeface="Garamond" panose="02020404030301010803" pitchFamily="18" charset="0"/>
              </a:rPr>
              <a:t>    END IF</a:t>
            </a:r>
          </a:p>
          <a:p>
            <a:pPr algn="l"/>
            <a:r>
              <a:rPr lang="en-US" sz="1000" dirty="0">
                <a:latin typeface="Garamond" panose="02020404030301010803" pitchFamily="18" charset="0"/>
              </a:rPr>
              <a:t>    </a:t>
            </a:r>
          </a:p>
        </p:txBody>
      </p:sp>
      <p:sp>
        <p:nvSpPr>
          <p:cNvPr id="4" name="Slide Number Placeholder 3">
            <a:extLst>
              <a:ext uri="{FF2B5EF4-FFF2-40B4-BE49-F238E27FC236}">
                <a16:creationId xmlns:a16="http://schemas.microsoft.com/office/drawing/2014/main" id="{4F67D670-34E8-91C7-CD88-7AA84973A362}"/>
              </a:ext>
            </a:extLst>
          </p:cNvPr>
          <p:cNvSpPr>
            <a:spLocks noGrp="1"/>
          </p:cNvSpPr>
          <p:nvPr>
            <p:ph type="sldNum" sz="quarter" idx="12"/>
          </p:nvPr>
        </p:nvSpPr>
        <p:spPr/>
        <p:txBody>
          <a:bodyPr/>
          <a:lstStyle/>
          <a:p>
            <a:pPr>
              <a:defRPr/>
            </a:pPr>
            <a:fld id="{65D7EE65-8AFE-4022-B3D9-7794B9342842}" type="slidenum">
              <a:rPr lang="en-AU" smtClean="0"/>
              <a:pPr>
                <a:defRPr/>
              </a:pPr>
              <a:t>65</a:t>
            </a:fld>
            <a:endParaRPr lang="en-AU" dirty="0"/>
          </a:p>
        </p:txBody>
      </p:sp>
      <p:sp>
        <p:nvSpPr>
          <p:cNvPr id="6" name="Rectangle 5">
            <a:extLst>
              <a:ext uri="{FF2B5EF4-FFF2-40B4-BE49-F238E27FC236}">
                <a16:creationId xmlns:a16="http://schemas.microsoft.com/office/drawing/2014/main" id="{31DD6801-CC27-3E36-2EDE-59DA2E0E7892}"/>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196FBC74-6CEB-07EE-9278-3DE960289791}"/>
              </a:ext>
            </a:extLst>
          </p:cNvPr>
          <p:cNvSpPr txBox="1"/>
          <p:nvPr/>
        </p:nvSpPr>
        <p:spPr>
          <a:xfrm>
            <a:off x="949048" y="1446556"/>
            <a:ext cx="8712968" cy="1107996"/>
          </a:xfrm>
          <a:prstGeom prst="rect">
            <a:avLst/>
          </a:prstGeom>
          <a:noFill/>
        </p:spPr>
        <p:txBody>
          <a:bodyPr wrap="square">
            <a:spAutoFit/>
          </a:bodyPr>
          <a:lstStyle/>
          <a:p>
            <a:r>
              <a:rPr lang="en-US" sz="2200" b="1" dirty="0">
                <a:highlight>
                  <a:srgbClr val="FFFFFF"/>
                </a:highlight>
                <a:latin typeface="Garamond" panose="02020404030301010803" pitchFamily="18" charset="0"/>
              </a:rPr>
              <a:t>Step 5: </a:t>
            </a:r>
            <a:r>
              <a:rPr lang="en-US" sz="2200" dirty="0">
                <a:highlight>
                  <a:srgbClr val="FFFFFF"/>
                </a:highlight>
                <a:latin typeface="Garamond" panose="02020404030301010803" pitchFamily="18" charset="0"/>
              </a:rPr>
              <a:t>Create a pseudocode based on the chosen ethical theory (Deontology + Virtue ethics)</a:t>
            </a: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2489121959"/>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10BACA-4DF4-9E51-B23E-3C1CDCA704C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Example, in applying Step 3</a:t>
            </a:r>
          </a:p>
        </p:txBody>
      </p:sp>
      <p:sp>
        <p:nvSpPr>
          <p:cNvPr id="3" name="Subtitle 2">
            <a:extLst>
              <a:ext uri="{FF2B5EF4-FFF2-40B4-BE49-F238E27FC236}">
                <a16:creationId xmlns:a16="http://schemas.microsoft.com/office/drawing/2014/main" id="{8CEFBD5B-031C-5C2D-0311-B158A00B2DE8}"/>
              </a:ext>
            </a:extLst>
          </p:cNvPr>
          <p:cNvSpPr>
            <a:spLocks noGrp="1"/>
          </p:cNvSpPr>
          <p:nvPr>
            <p:ph type="subTitle" idx="1"/>
          </p:nvPr>
        </p:nvSpPr>
        <p:spPr>
          <a:xfrm>
            <a:off x="1056928" y="2351955"/>
            <a:ext cx="10078144" cy="3413759"/>
          </a:xfrm>
        </p:spPr>
        <p:txBody>
          <a:bodyPr/>
          <a:lstStyle/>
          <a:p>
            <a:pPr algn="l"/>
            <a:r>
              <a:rPr lang="en-US" sz="1000" dirty="0">
                <a:latin typeface="Garamond" panose="02020404030301010803" pitchFamily="18" charset="0"/>
              </a:rPr>
              <a:t>FUNCTION </a:t>
            </a:r>
            <a:r>
              <a:rPr lang="en-US" sz="1000" dirty="0" err="1">
                <a:latin typeface="Garamond" panose="02020404030301010803" pitchFamily="18" charset="0"/>
              </a:rPr>
              <a:t>AI_Companion_Interaction</a:t>
            </a:r>
            <a:r>
              <a:rPr lang="en-US" sz="1000" dirty="0">
                <a:latin typeface="Garamond" panose="02020404030301010803" pitchFamily="18" charset="0"/>
              </a:rPr>
              <a:t>(</a:t>
            </a:r>
            <a:r>
              <a:rPr lang="en-US" sz="1000" dirty="0" err="1">
                <a:latin typeface="Garamond" panose="02020404030301010803" pitchFamily="18" charset="0"/>
              </a:rPr>
              <a:t>patient_input</a:t>
            </a:r>
            <a:r>
              <a:rPr lang="en-US" sz="1000" dirty="0">
                <a:latin typeface="Garamond" panose="02020404030301010803" pitchFamily="18" charset="0"/>
              </a:rPr>
              <a:t>, context)</a:t>
            </a:r>
          </a:p>
          <a:p>
            <a:pPr algn="l"/>
            <a:endParaRPr lang="en-US" sz="1000" dirty="0">
              <a:latin typeface="Garamond" panose="02020404030301010803" pitchFamily="18" charset="0"/>
            </a:endParaRPr>
          </a:p>
          <a:p>
            <a:pPr algn="l"/>
            <a:r>
              <a:rPr lang="en-US" sz="1000" dirty="0">
                <a:latin typeface="Garamond" panose="02020404030301010803" pitchFamily="18" charset="0"/>
              </a:rPr>
              <a:t>FUNCTION </a:t>
            </a:r>
            <a:r>
              <a:rPr lang="en-US" sz="1000" dirty="0" err="1">
                <a:latin typeface="Garamond" panose="02020404030301010803" pitchFamily="18" charset="0"/>
              </a:rPr>
              <a:t>family_connection_protocol</a:t>
            </a:r>
            <a:r>
              <a:rPr lang="en-US" sz="1000" dirty="0">
                <a:latin typeface="Garamond" panose="02020404030301010803" pitchFamily="18" charset="0"/>
              </a:rPr>
              <a:t>()</a:t>
            </a:r>
          </a:p>
          <a:p>
            <a:pPr algn="l"/>
            <a:r>
              <a:rPr lang="en-US" sz="1000" dirty="0">
                <a:latin typeface="Garamond" panose="02020404030301010803" pitchFamily="18" charset="0"/>
              </a:rPr>
              <a:t>BEGIN</a:t>
            </a:r>
          </a:p>
          <a:p>
            <a:pPr algn="l"/>
            <a:r>
              <a:rPr lang="en-US" sz="1000" dirty="0">
                <a:latin typeface="Garamond" panose="02020404030301010803" pitchFamily="18" charset="0"/>
              </a:rPr>
              <a:t>    // Balancing Deontological Rules with Virtue Ethics</a:t>
            </a:r>
          </a:p>
          <a:p>
            <a:pPr algn="l"/>
            <a:r>
              <a:rPr lang="en-US" sz="1000" dirty="0">
                <a:latin typeface="Garamond" panose="02020404030301010803" pitchFamily="18" charset="0"/>
              </a:rPr>
              <a:t>    </a:t>
            </a:r>
          </a:p>
          <a:p>
            <a:pPr algn="l"/>
            <a:r>
              <a:rPr lang="en-US" sz="1000" dirty="0">
                <a:latin typeface="Garamond" panose="02020404030301010803" pitchFamily="18" charset="0"/>
              </a:rPr>
              <a:t>    // Rule: No impersonation allowed</a:t>
            </a:r>
          </a:p>
          <a:p>
            <a:pPr algn="l"/>
            <a:r>
              <a:rPr lang="en-US" sz="1000" dirty="0">
                <a:latin typeface="Garamond" panose="02020404030301010803" pitchFamily="18" charset="0"/>
              </a:rPr>
              <a:t>    IF </a:t>
            </a:r>
            <a:r>
              <a:rPr lang="en-US" sz="1000" dirty="0" err="1">
                <a:latin typeface="Garamond" panose="02020404030301010803" pitchFamily="18" charset="0"/>
              </a:rPr>
              <a:t>patient_asks_for_specific_family_member</a:t>
            </a:r>
            <a:r>
              <a:rPr lang="en-US" sz="1000" dirty="0">
                <a:latin typeface="Garamond" panose="02020404030301010803" pitchFamily="18" charset="0"/>
              </a:rPr>
              <a:t> THEN</a:t>
            </a:r>
          </a:p>
          <a:p>
            <a:pPr algn="l"/>
            <a:r>
              <a:rPr lang="en-US" sz="1000" dirty="0">
                <a:latin typeface="Garamond" panose="02020404030301010803" pitchFamily="18" charset="0"/>
              </a:rPr>
              <a:t>        response = "I can help you connect with [family member name]. </a:t>
            </a:r>
          </a:p>
          <a:p>
            <a:pPr algn="l"/>
            <a:r>
              <a:rPr lang="en-US" sz="1000" dirty="0">
                <a:latin typeface="Garamond" panose="02020404030301010803" pitchFamily="18" charset="0"/>
              </a:rPr>
              <a:t>                   Would you like me to call them for you?"</a:t>
            </a:r>
          </a:p>
          <a:p>
            <a:pPr algn="l"/>
            <a:r>
              <a:rPr lang="en-US" sz="1000" dirty="0">
                <a:latin typeface="Garamond" panose="02020404030301010803" pitchFamily="18" charset="0"/>
              </a:rPr>
              <a:t>        </a:t>
            </a:r>
          </a:p>
          <a:p>
            <a:pPr algn="l"/>
            <a:r>
              <a:rPr lang="en-US" sz="1000" dirty="0">
                <a:latin typeface="Garamond" panose="02020404030301010803" pitchFamily="18" charset="0"/>
              </a:rPr>
              <a:t>        // Virtue: Compassion in delivery</a:t>
            </a:r>
          </a:p>
          <a:p>
            <a:pPr algn="l"/>
            <a:r>
              <a:rPr lang="en-US" sz="1000" dirty="0">
                <a:latin typeface="Garamond" panose="02020404030301010803" pitchFamily="18" charset="0"/>
              </a:rPr>
              <a:t>        IF </a:t>
            </a:r>
            <a:r>
              <a:rPr lang="en-US" sz="1000" dirty="0" err="1">
                <a:latin typeface="Garamond" panose="02020404030301010803" pitchFamily="18" charset="0"/>
              </a:rPr>
              <a:t>family_member_unavailable</a:t>
            </a:r>
            <a:r>
              <a:rPr lang="en-US" sz="1000" dirty="0">
                <a:latin typeface="Garamond" panose="02020404030301010803" pitchFamily="18" charset="0"/>
              </a:rPr>
              <a:t> THEN</a:t>
            </a:r>
          </a:p>
          <a:p>
            <a:pPr algn="l"/>
            <a:r>
              <a:rPr lang="en-US" sz="1000" dirty="0">
                <a:latin typeface="Garamond" panose="02020404030301010803" pitchFamily="18" charset="0"/>
              </a:rPr>
              <a:t>            RETURN "I understand you'd like to speak with them. </a:t>
            </a:r>
          </a:p>
          <a:p>
            <a:pPr algn="l"/>
            <a:r>
              <a:rPr lang="en-US" sz="1000" dirty="0">
                <a:latin typeface="Garamond" panose="02020404030301010803" pitchFamily="18" charset="0"/>
              </a:rPr>
              <a:t>                   Let me check when they might be available." </a:t>
            </a:r>
          </a:p>
          <a:p>
            <a:pPr algn="l"/>
            <a:r>
              <a:rPr lang="en-US" sz="1000" dirty="0">
                <a:latin typeface="Garamond" panose="02020404030301010803" pitchFamily="18" charset="0"/>
              </a:rPr>
              <a:t>                   WITH </a:t>
            </a:r>
            <a:r>
              <a:rPr lang="en-US" sz="1000" dirty="0" err="1">
                <a:latin typeface="Garamond" panose="02020404030301010803" pitchFamily="18" charset="0"/>
              </a:rPr>
              <a:t>gentle_tone</a:t>
            </a:r>
            <a:r>
              <a:rPr lang="en-US" sz="1000" dirty="0">
                <a:latin typeface="Garamond" panose="02020404030301010803" pitchFamily="18" charset="0"/>
              </a:rPr>
              <a:t>()</a:t>
            </a:r>
          </a:p>
          <a:p>
            <a:pPr algn="l"/>
            <a:r>
              <a:rPr lang="en-US" sz="1000" dirty="0">
                <a:latin typeface="Garamond" panose="02020404030301010803" pitchFamily="18" charset="0"/>
              </a:rPr>
              <a:t>        END IF</a:t>
            </a:r>
          </a:p>
          <a:p>
            <a:pPr algn="l"/>
            <a:r>
              <a:rPr lang="en-US" sz="1000" dirty="0">
                <a:latin typeface="Garamond" panose="02020404030301010803" pitchFamily="18" charset="0"/>
              </a:rPr>
              <a:t>    END IF</a:t>
            </a:r>
          </a:p>
        </p:txBody>
      </p:sp>
      <p:sp>
        <p:nvSpPr>
          <p:cNvPr id="4" name="Slide Number Placeholder 3">
            <a:extLst>
              <a:ext uri="{FF2B5EF4-FFF2-40B4-BE49-F238E27FC236}">
                <a16:creationId xmlns:a16="http://schemas.microsoft.com/office/drawing/2014/main" id="{33630A71-5362-AEB4-3896-400E4CFC84DD}"/>
              </a:ext>
            </a:extLst>
          </p:cNvPr>
          <p:cNvSpPr>
            <a:spLocks noGrp="1"/>
          </p:cNvSpPr>
          <p:nvPr>
            <p:ph type="sldNum" sz="quarter" idx="12"/>
          </p:nvPr>
        </p:nvSpPr>
        <p:spPr/>
        <p:txBody>
          <a:bodyPr/>
          <a:lstStyle/>
          <a:p>
            <a:pPr>
              <a:defRPr/>
            </a:pPr>
            <a:fld id="{65D7EE65-8AFE-4022-B3D9-7794B9342842}" type="slidenum">
              <a:rPr lang="en-AU" smtClean="0"/>
              <a:pPr>
                <a:defRPr/>
              </a:pPr>
              <a:t>66</a:t>
            </a:fld>
            <a:endParaRPr lang="en-AU" dirty="0"/>
          </a:p>
        </p:txBody>
      </p:sp>
      <p:sp>
        <p:nvSpPr>
          <p:cNvPr id="6" name="Rectangle 5">
            <a:extLst>
              <a:ext uri="{FF2B5EF4-FFF2-40B4-BE49-F238E27FC236}">
                <a16:creationId xmlns:a16="http://schemas.microsoft.com/office/drawing/2014/main" id="{73636094-F48E-A6CB-3531-76E9A0169998}"/>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42F8CE6E-0A3B-3B23-5464-21946683FC44}"/>
              </a:ext>
            </a:extLst>
          </p:cNvPr>
          <p:cNvSpPr txBox="1"/>
          <p:nvPr/>
        </p:nvSpPr>
        <p:spPr>
          <a:xfrm>
            <a:off x="949048" y="1446556"/>
            <a:ext cx="8712968" cy="1107996"/>
          </a:xfrm>
          <a:prstGeom prst="rect">
            <a:avLst/>
          </a:prstGeom>
          <a:noFill/>
        </p:spPr>
        <p:txBody>
          <a:bodyPr wrap="square">
            <a:spAutoFit/>
          </a:bodyPr>
          <a:lstStyle/>
          <a:p>
            <a:r>
              <a:rPr lang="en-US" sz="2200" b="1" dirty="0">
                <a:highlight>
                  <a:srgbClr val="FFFFFF"/>
                </a:highlight>
                <a:latin typeface="Garamond" panose="02020404030301010803" pitchFamily="18" charset="0"/>
              </a:rPr>
              <a:t>Step 5: </a:t>
            </a:r>
            <a:r>
              <a:rPr lang="en-US" sz="2200" dirty="0">
                <a:highlight>
                  <a:srgbClr val="FFFFFF"/>
                </a:highlight>
                <a:latin typeface="Garamond" panose="02020404030301010803" pitchFamily="18" charset="0"/>
              </a:rPr>
              <a:t>Create a pseudocode based on the chosen ethical theory (Deontology + Virtue ethics)</a:t>
            </a: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3528339790"/>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0BBA7D3-3644-A170-4EB6-FE16EFE5E08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Lecture Wrap-up: Key Takeaways</a:t>
            </a:r>
          </a:p>
        </p:txBody>
      </p:sp>
      <p:sp>
        <p:nvSpPr>
          <p:cNvPr id="4" name="Slide Number Placeholder 3">
            <a:extLst>
              <a:ext uri="{FF2B5EF4-FFF2-40B4-BE49-F238E27FC236}">
                <a16:creationId xmlns:a16="http://schemas.microsoft.com/office/drawing/2014/main" id="{E6EC288F-4837-5CCB-CF61-BE934756CAD2}"/>
              </a:ext>
            </a:extLst>
          </p:cNvPr>
          <p:cNvSpPr>
            <a:spLocks noGrp="1"/>
          </p:cNvSpPr>
          <p:nvPr>
            <p:ph type="sldNum" sz="quarter" idx="12"/>
          </p:nvPr>
        </p:nvSpPr>
        <p:spPr/>
        <p:txBody>
          <a:bodyPr/>
          <a:lstStyle/>
          <a:p>
            <a:pPr>
              <a:defRPr/>
            </a:pPr>
            <a:fld id="{65D7EE65-8AFE-4022-B3D9-7794B9342842}" type="slidenum">
              <a:rPr lang="en-AU" smtClean="0"/>
              <a:pPr>
                <a:defRPr/>
              </a:pPr>
              <a:t>67</a:t>
            </a:fld>
            <a:endParaRPr lang="en-AU" dirty="0"/>
          </a:p>
        </p:txBody>
      </p:sp>
      <p:sp>
        <p:nvSpPr>
          <p:cNvPr id="6" name="Rectangle 5">
            <a:extLst>
              <a:ext uri="{FF2B5EF4-FFF2-40B4-BE49-F238E27FC236}">
                <a16:creationId xmlns:a16="http://schemas.microsoft.com/office/drawing/2014/main" id="{2BFEE942-3480-3661-3474-B9808ED36D79}"/>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53C342FE-520D-BC3D-9E7B-62D5A8CF30FD}"/>
              </a:ext>
            </a:extLst>
          </p:cNvPr>
          <p:cNvSpPr txBox="1"/>
          <p:nvPr/>
        </p:nvSpPr>
        <p:spPr>
          <a:xfrm>
            <a:off x="1055440" y="1645407"/>
            <a:ext cx="8712968" cy="2677656"/>
          </a:xfrm>
          <a:prstGeom prst="rect">
            <a:avLst/>
          </a:prstGeom>
          <a:noFill/>
        </p:spPr>
        <p:txBody>
          <a:bodyPr wrap="square">
            <a:spAutoFit/>
          </a:bodyPr>
          <a:lstStyle/>
          <a:p>
            <a:r>
              <a:rPr lang="en-US" sz="2400" dirty="0">
                <a:highlight>
                  <a:srgbClr val="FFFFFF"/>
                </a:highlight>
                <a:latin typeface="Garamond" panose="02020404030301010803" pitchFamily="18" charset="0"/>
              </a:rPr>
              <a:t>What We've Learned Today</a:t>
            </a:r>
          </a:p>
          <a:p>
            <a:endParaRPr lang="en-US" sz="2400" dirty="0">
              <a:highlight>
                <a:srgbClr val="FFFFFF"/>
              </a:highlight>
              <a:latin typeface="Garamond" panose="02020404030301010803" pitchFamily="18" charset="0"/>
            </a:endParaRPr>
          </a:p>
          <a:p>
            <a:pPr marL="457200" indent="-457200">
              <a:buAutoNum type="arabicPeriod"/>
            </a:pPr>
            <a:r>
              <a:rPr lang="en-US" sz="2400" dirty="0">
                <a:highlight>
                  <a:srgbClr val="FFFFFF"/>
                </a:highlight>
                <a:latin typeface="Garamond" panose="02020404030301010803" pitchFamily="18" charset="0"/>
              </a:rPr>
              <a:t>Three Ethical Frameworks for AI Design</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Virtue Ethics: Character-based, focuses on virtues like justice, honesty, responsibility</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Utilitarianism: Outcome-based, maximizes overall good/happiness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Deontology: Rule-based, absolute duties and constraints</a:t>
            </a:r>
          </a:p>
        </p:txBody>
      </p:sp>
    </p:spTree>
    <p:extLst>
      <p:ext uri="{BB962C8B-B14F-4D97-AF65-F5344CB8AC3E}">
        <p14:creationId xmlns:p14="http://schemas.microsoft.com/office/powerpoint/2010/main" val="1042859426"/>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7574B32-F145-6590-4113-B90A44D7BA03}"/>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Lecture Wrap-up: Key Takeaways</a:t>
            </a:r>
          </a:p>
        </p:txBody>
      </p:sp>
      <p:sp>
        <p:nvSpPr>
          <p:cNvPr id="4" name="Slide Number Placeholder 3">
            <a:extLst>
              <a:ext uri="{FF2B5EF4-FFF2-40B4-BE49-F238E27FC236}">
                <a16:creationId xmlns:a16="http://schemas.microsoft.com/office/drawing/2014/main" id="{130718E3-1F0E-1D74-42D3-36D0746CA32C}"/>
              </a:ext>
            </a:extLst>
          </p:cNvPr>
          <p:cNvSpPr>
            <a:spLocks noGrp="1"/>
          </p:cNvSpPr>
          <p:nvPr>
            <p:ph type="sldNum" sz="quarter" idx="12"/>
          </p:nvPr>
        </p:nvSpPr>
        <p:spPr/>
        <p:txBody>
          <a:bodyPr/>
          <a:lstStyle/>
          <a:p>
            <a:pPr>
              <a:defRPr/>
            </a:pPr>
            <a:fld id="{65D7EE65-8AFE-4022-B3D9-7794B9342842}" type="slidenum">
              <a:rPr lang="en-AU" smtClean="0"/>
              <a:pPr>
                <a:defRPr/>
              </a:pPr>
              <a:t>68</a:t>
            </a:fld>
            <a:endParaRPr lang="en-AU" dirty="0"/>
          </a:p>
        </p:txBody>
      </p:sp>
      <p:sp>
        <p:nvSpPr>
          <p:cNvPr id="6" name="Rectangle 5">
            <a:extLst>
              <a:ext uri="{FF2B5EF4-FFF2-40B4-BE49-F238E27FC236}">
                <a16:creationId xmlns:a16="http://schemas.microsoft.com/office/drawing/2014/main" id="{EDC25D8B-FA25-AE71-767D-B939E15057C3}"/>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21B2EAC6-56E9-D086-D448-CA246B0A4C8C}"/>
              </a:ext>
            </a:extLst>
          </p:cNvPr>
          <p:cNvSpPr txBox="1"/>
          <p:nvPr/>
        </p:nvSpPr>
        <p:spPr>
          <a:xfrm>
            <a:off x="914400" y="1797957"/>
            <a:ext cx="8712968" cy="2462213"/>
          </a:xfrm>
          <a:prstGeom prst="rect">
            <a:avLst/>
          </a:prstGeom>
          <a:noFill/>
        </p:spPr>
        <p:txBody>
          <a:bodyPr wrap="square">
            <a:spAutoFit/>
          </a:bodyPr>
          <a:lstStyle/>
          <a:p>
            <a:r>
              <a:rPr lang="en-US" sz="2200" dirty="0">
                <a:highlight>
                  <a:srgbClr val="FFFFFF"/>
                </a:highlight>
                <a:latin typeface="Garamond" panose="02020404030301010803" pitchFamily="18" charset="0"/>
              </a:rPr>
              <a:t>2. No single theory is perfect - each has significant limitations. Hybrid approaches work best - combining deontological rules with virtue-based guidelines</a:t>
            </a:r>
          </a:p>
          <a:p>
            <a:r>
              <a:rPr lang="en-US" sz="2200" dirty="0">
                <a:highlight>
                  <a:srgbClr val="FFFFFF"/>
                </a:highlight>
                <a:latin typeface="Garamond" panose="02020404030301010803" pitchFamily="18" charset="0"/>
              </a:rPr>
              <a:t>3. Context matters - vulnerable populations, real-time requirements, and technical constraints influence choice</a:t>
            </a:r>
          </a:p>
          <a:p>
            <a:r>
              <a:rPr lang="en-US" sz="2200" dirty="0">
                <a:highlight>
                  <a:srgbClr val="FFFFFF"/>
                </a:highlight>
                <a:latin typeface="Garamond" panose="02020404030301010803" pitchFamily="18" charset="0"/>
              </a:rPr>
              <a:t>4. Ethical coding requires intentionality - every algorithmic decision has moral implications</a:t>
            </a:r>
          </a:p>
        </p:txBody>
      </p:sp>
    </p:spTree>
    <p:extLst>
      <p:ext uri="{BB962C8B-B14F-4D97-AF65-F5344CB8AC3E}">
        <p14:creationId xmlns:p14="http://schemas.microsoft.com/office/powerpoint/2010/main" val="2434266172"/>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EE5070-059F-2F58-D897-74F304ACE092}"/>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8</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What next</a:t>
            </a:r>
          </a:p>
        </p:txBody>
      </p:sp>
      <p:sp>
        <p:nvSpPr>
          <p:cNvPr id="4" name="Slide Number Placeholder 3">
            <a:extLst>
              <a:ext uri="{FF2B5EF4-FFF2-40B4-BE49-F238E27FC236}">
                <a16:creationId xmlns:a16="http://schemas.microsoft.com/office/drawing/2014/main" id="{14C505A4-A790-B6A2-72BB-F4EDBD5658C7}"/>
              </a:ext>
            </a:extLst>
          </p:cNvPr>
          <p:cNvSpPr>
            <a:spLocks noGrp="1"/>
          </p:cNvSpPr>
          <p:nvPr>
            <p:ph type="sldNum" sz="quarter" idx="12"/>
          </p:nvPr>
        </p:nvSpPr>
        <p:spPr/>
        <p:txBody>
          <a:bodyPr/>
          <a:lstStyle/>
          <a:p>
            <a:pPr>
              <a:defRPr/>
            </a:pPr>
            <a:fld id="{65D7EE65-8AFE-4022-B3D9-7794B9342842}" type="slidenum">
              <a:rPr lang="en-AU" smtClean="0"/>
              <a:pPr>
                <a:defRPr/>
              </a:pPr>
              <a:t>69</a:t>
            </a:fld>
            <a:endParaRPr lang="en-AU" dirty="0"/>
          </a:p>
        </p:txBody>
      </p:sp>
      <p:sp>
        <p:nvSpPr>
          <p:cNvPr id="6" name="Rectangle 5">
            <a:extLst>
              <a:ext uri="{FF2B5EF4-FFF2-40B4-BE49-F238E27FC236}">
                <a16:creationId xmlns:a16="http://schemas.microsoft.com/office/drawing/2014/main" id="{C2D3DCBB-4764-6C05-7980-6A34E3D726BA}"/>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1A0B84A0-F6C9-AA51-195F-7FC2054CCE2D}"/>
              </a:ext>
            </a:extLst>
          </p:cNvPr>
          <p:cNvSpPr txBox="1"/>
          <p:nvPr/>
        </p:nvSpPr>
        <p:spPr>
          <a:xfrm>
            <a:off x="941762" y="1582514"/>
            <a:ext cx="8712968" cy="769441"/>
          </a:xfrm>
          <a:prstGeom prst="rect">
            <a:avLst/>
          </a:prstGeom>
          <a:noFill/>
        </p:spPr>
        <p:txBody>
          <a:bodyPr wrap="square">
            <a:spAutoFit/>
          </a:bodyPr>
          <a:lstStyle/>
          <a:p>
            <a:r>
              <a:rPr lang="en-US" sz="2200" dirty="0">
                <a:highlight>
                  <a:srgbClr val="FFFFFF"/>
                </a:highlight>
                <a:latin typeface="Garamond" panose="02020404030301010803" pitchFamily="18" charset="0"/>
              </a:rPr>
              <a:t>Attend </a:t>
            </a:r>
            <a:r>
              <a:rPr lang="en-US" sz="2200" dirty="0">
                <a:latin typeface="Garamond" panose="02020404030301010803" pitchFamily="18" charset="0"/>
              </a:rPr>
              <a:t>an </a:t>
            </a:r>
            <a:r>
              <a:rPr lang="en-US" sz="2200" dirty="0">
                <a:highlight>
                  <a:srgbClr val="FFFFFF"/>
                </a:highlight>
                <a:latin typeface="Garamond" panose="02020404030301010803" pitchFamily="18" charset="0"/>
              </a:rPr>
              <a:t>applied session where you will learn hands</a:t>
            </a:r>
            <a:r>
              <a:rPr lang="en-US" sz="2200" dirty="0">
                <a:latin typeface="Garamond" panose="02020404030301010803" pitchFamily="18" charset="0"/>
              </a:rPr>
              <a:t>-</a:t>
            </a:r>
            <a:r>
              <a:rPr lang="en-US" sz="2200" dirty="0">
                <a:highlight>
                  <a:srgbClr val="FFFFFF"/>
                </a:highlight>
                <a:latin typeface="Garamond" panose="02020404030301010803" pitchFamily="18" charset="0"/>
              </a:rPr>
              <a:t>on how to apply Step 2: Solution</a:t>
            </a:r>
          </a:p>
        </p:txBody>
      </p:sp>
    </p:spTree>
    <p:extLst>
      <p:ext uri="{BB962C8B-B14F-4D97-AF65-F5344CB8AC3E}">
        <p14:creationId xmlns:p14="http://schemas.microsoft.com/office/powerpoint/2010/main" val="2136350549"/>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WASPOLLED" val="A79145AC99644806834DDC90CF40D409"/>
  <p:tag name="TPVERSION" val="5"/>
  <p:tag name="TPFULLVERSION" val="5.4.1.2"/>
  <p:tag name="PPTVERSION" val="15"/>
  <p:tag name="TPOS" val="2"/>
</p:tagLst>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T1049FIT2003 Examp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T1049FIT2003 Example.potx" id="{0959B5B8-E8A5-4555-AA4D-C08290C7CF2D}" vid="{ABCF4FDE-D506-4A71-A46B-6B46E85196E4}"/>
    </a:ext>
  </a:extLst>
</a:theme>
</file>

<file path=ppt/theme/theme3.xml><?xml version="1.0" encoding="utf-8"?>
<a:theme xmlns:a="http://schemas.openxmlformats.org/drawingml/2006/main" name="Title slide_1">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CAF005F-FBF3-4B11-82C1-1C7DCB010D35}"/>
    </a:ext>
  </a:extLst>
</a:theme>
</file>

<file path=ppt/theme/theme4.xml><?xml version="1.0" encoding="utf-8"?>
<a:theme xmlns:a="http://schemas.openxmlformats.org/drawingml/2006/main" name="Title slide_2">
  <a:themeElements>
    <a:clrScheme name="Monash Black">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F24A3D9-D0FF-4975-8D16-82ED1789C46B}"/>
    </a:ext>
  </a:extLst>
</a:theme>
</file>

<file path=ppt/theme/theme5.xml><?xml version="1.0" encoding="utf-8"?>
<a:theme xmlns:a="http://schemas.openxmlformats.org/drawingml/2006/main" name="1_Standard slide">
  <a:themeElements>
    <a:clrScheme name="Monash University">
      <a:dk1>
        <a:srgbClr val="000000"/>
      </a:dk1>
      <a:lt1>
        <a:srgbClr val="FFFFFF"/>
      </a:lt1>
      <a:dk2>
        <a:srgbClr val="006DAE"/>
      </a:dk2>
      <a:lt2>
        <a:srgbClr val="CCCCCC"/>
      </a:lt2>
      <a:accent1>
        <a:srgbClr val="FF002B"/>
      </a:accent1>
      <a:accent2>
        <a:srgbClr val="FC622E"/>
      </a:accent2>
      <a:accent3>
        <a:srgbClr val="829356"/>
      </a:accent3>
      <a:accent4>
        <a:srgbClr val="00AC3E"/>
      </a:accent4>
      <a:accent5>
        <a:srgbClr val="009FDA"/>
      </a:accent5>
      <a:accent6>
        <a:srgbClr val="8177E7"/>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65D099FF-7EEB-48D5-A654-27F6622821DB}"/>
    </a:ext>
  </a:extLst>
</a:theme>
</file>

<file path=ppt/theme/theme6.xml><?xml version="1.0" encoding="utf-8"?>
<a:theme xmlns:a="http://schemas.openxmlformats.org/drawingml/2006/main" name="Section break 2">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EB9E0C9F-7EAB-44D9-93D2-F31469C55EF3}"/>
    </a:ext>
  </a:extLst>
</a:theme>
</file>

<file path=ppt/theme/theme7.xml><?xml version="1.0" encoding="utf-8"?>
<a:theme xmlns:a="http://schemas.openxmlformats.org/drawingml/2006/main" name="Section break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7DC990B3-0A3A-4A87-A7ED-8800B7104099}"/>
    </a:ext>
  </a:extLst>
</a:theme>
</file>

<file path=ppt/theme/theme8.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238EFAC0-BA05-4C15-A281-1AA3E7690AD0}"/>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50947</TotalTime>
  <Words>28589</Words>
  <Application>Microsoft Macintosh PowerPoint</Application>
  <PresentationFormat>Widescreen</PresentationFormat>
  <Paragraphs>1209</Paragraphs>
  <Slides>69</Slides>
  <Notes>65</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69</vt:i4>
      </vt:variant>
    </vt:vector>
  </HeadingPairs>
  <TitlesOfParts>
    <vt:vector size="85" baseType="lpstr">
      <vt:lpstr>Arial</vt:lpstr>
      <vt:lpstr>Calibri</vt:lpstr>
      <vt:lpstr>Arial Narrow</vt:lpstr>
      <vt:lpstr>Times New Roman</vt:lpstr>
      <vt:lpstr>Garamond</vt:lpstr>
      <vt:lpstr>Wingdings</vt:lpstr>
      <vt:lpstr>Calibri Light</vt:lpstr>
      <vt:lpstr>Book Antiqua</vt:lpstr>
      <vt:lpstr>Custom Design</vt:lpstr>
      <vt:lpstr>FIT1049FIT2003 Example</vt:lpstr>
      <vt:lpstr>Title slide_1</vt:lpstr>
      <vt:lpstr>Title slide_2</vt:lpstr>
      <vt:lpstr>1_Standard slide</vt:lpstr>
      <vt:lpstr>Section break 2</vt:lpstr>
      <vt:lpstr>Section break 1</vt:lpstr>
      <vt:lpstr>4_Custom Design</vt:lpstr>
      <vt:lpstr>FIT1055: IT professional practice and Ethics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Monash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FIT1049-FIT2003 Lecture 1</dc:title>
  <dc:subject>FIT1049-FIT2003 Lecture 1</dc:subject>
  <dc:creator>annn</dc:creator>
  <cp:lastModifiedBy>nik nailah abdullah</cp:lastModifiedBy>
  <cp:revision>1333</cp:revision>
  <cp:lastPrinted>2019-03-04T05:36:01Z</cp:lastPrinted>
  <dcterms:created xsi:type="dcterms:W3CDTF">2008-07-14T07:08:14Z</dcterms:created>
  <dcterms:modified xsi:type="dcterms:W3CDTF">2026-04-27T01:23:41Z</dcterms:modified>
</cp:coreProperties>
</file>