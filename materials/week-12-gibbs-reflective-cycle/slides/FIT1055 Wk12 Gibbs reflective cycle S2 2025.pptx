
<file path=[Content_Types].xml><?xml version="1.0" encoding="utf-8"?>
<Types xmlns="http://schemas.openxmlformats.org/package/2006/content-types">
  <Default Extension="emf" ContentType="image/x-emf"/>
  <Default Extension="fntdata" ContentType="application/x-fontdata"/>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5.xml" ContentType="application/vnd.openxmlformats-officedocument.theme+xml"/>
  <Override PartName="/ppt/slideLayouts/slideLayout34.xml" ContentType="application/vnd.openxmlformats-officedocument.presentationml.slideLayout+xml"/>
  <Override PartName="/ppt/theme/theme6.xml" ContentType="application/vnd.openxmlformats-officedocument.theme+xml"/>
  <Override PartName="/ppt/slideLayouts/slideLayout35.xml" ContentType="application/vnd.openxmlformats-officedocument.presentationml.slideLayout+xml"/>
  <Override PartName="/ppt/theme/theme7.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9" r:id="rId1"/>
    <p:sldMasterId id="2147483751" r:id="rId2"/>
    <p:sldMasterId id="2147483763" r:id="rId3"/>
    <p:sldMasterId id="2147483766" r:id="rId4"/>
    <p:sldMasterId id="2147483769" r:id="rId5"/>
    <p:sldMasterId id="2147483776" r:id="rId6"/>
    <p:sldMasterId id="2147483778" r:id="rId7"/>
    <p:sldMasterId id="2147483780" r:id="rId8"/>
  </p:sldMasterIdLst>
  <p:notesMasterIdLst>
    <p:notesMasterId r:id="rId38"/>
  </p:notesMasterIdLst>
  <p:handoutMasterIdLst>
    <p:handoutMasterId r:id="rId39"/>
  </p:handoutMasterIdLst>
  <p:sldIdLst>
    <p:sldId id="531" r:id="rId9"/>
    <p:sldId id="748" r:id="rId10"/>
    <p:sldId id="762" r:id="rId11"/>
    <p:sldId id="755" r:id="rId12"/>
    <p:sldId id="782" r:id="rId13"/>
    <p:sldId id="754" r:id="rId14"/>
    <p:sldId id="760" r:id="rId15"/>
    <p:sldId id="766" r:id="rId16"/>
    <p:sldId id="783" r:id="rId17"/>
    <p:sldId id="767" r:id="rId18"/>
    <p:sldId id="768" r:id="rId19"/>
    <p:sldId id="770" r:id="rId20"/>
    <p:sldId id="785" r:id="rId21"/>
    <p:sldId id="771" r:id="rId22"/>
    <p:sldId id="786" r:id="rId23"/>
    <p:sldId id="772" r:id="rId24"/>
    <p:sldId id="787" r:id="rId25"/>
    <p:sldId id="773" r:id="rId26"/>
    <p:sldId id="774" r:id="rId27"/>
    <p:sldId id="788" r:id="rId28"/>
    <p:sldId id="790" r:id="rId29"/>
    <p:sldId id="789" r:id="rId30"/>
    <p:sldId id="777" r:id="rId31"/>
    <p:sldId id="791" r:id="rId32"/>
    <p:sldId id="778" r:id="rId33"/>
    <p:sldId id="779" r:id="rId34"/>
    <p:sldId id="792" r:id="rId35"/>
    <p:sldId id="781" r:id="rId36"/>
    <p:sldId id="751" r:id="rId37"/>
  </p:sldIdLst>
  <p:sldSz cx="12192000" cy="6858000"/>
  <p:notesSz cx="6805613" cy="9939338"/>
  <p:embeddedFontLst>
    <p:embeddedFont>
      <p:font typeface="Arial Narrow" panose="020B0604020202020204" pitchFamily="34" charset="0"/>
      <p:regular r:id="rId40"/>
      <p:bold r:id="rId41"/>
      <p:italic r:id="rId42"/>
      <p:boldItalic r:id="rId43"/>
    </p:embeddedFont>
    <p:embeddedFont>
      <p:font typeface="Book Antiqua" panose="02040602050305030304" pitchFamily="18" charset="0"/>
      <p:regular r:id="rId44"/>
      <p:bold r:id="rId45"/>
      <p:italic r:id="rId46"/>
      <p:boldItalic r:id="rId47"/>
    </p:embeddedFont>
    <p:embeddedFont>
      <p:font typeface="Garamond" panose="02020404030301010803" pitchFamily="18" charset="0"/>
      <p:regular r:id="rId48"/>
      <p:bold r:id="rId49"/>
      <p:italic r:id="rId50"/>
      <p:boldItalic r:id="rId51"/>
    </p:embeddedFont>
  </p:embeddedFontLst>
  <p:custDataLst>
    <p:tags r:id="rId52"/>
  </p:custDataLst>
  <p:defaultTextStyle>
    <a:defPPr>
      <a:defRPr lang="en-AU"/>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2" pos="7469" userDrawn="1">
          <p15:clr>
            <a:srgbClr val="A4A3A4"/>
          </p15:clr>
        </p15:guide>
        <p15:guide id="3" orient="horz"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 "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900"/>
    <a:srgbClr val="B0FF00"/>
    <a:srgbClr val="FFD808"/>
    <a:srgbClr val="FF9933"/>
    <a:srgbClr val="FF9900"/>
    <a:srgbClr val="66CCFF"/>
    <a:srgbClr val="89B9FF"/>
    <a:srgbClr val="FF0000"/>
    <a:srgbClr val="99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007" autoAdjust="0"/>
    <p:restoredTop sz="90316" autoAdjust="0"/>
  </p:normalViewPr>
  <p:slideViewPr>
    <p:cSldViewPr>
      <p:cViewPr varScale="1">
        <p:scale>
          <a:sx n="97" d="100"/>
          <a:sy n="97" d="100"/>
        </p:scale>
        <p:origin x="584" y="504"/>
      </p:cViewPr>
      <p:guideLst>
        <p:guide pos="7469"/>
        <p:guide orient="horz" pos="2160"/>
      </p:guideLst>
    </p:cSldViewPr>
  </p:slideViewPr>
  <p:outlineViewPr>
    <p:cViewPr>
      <p:scale>
        <a:sx n="33" d="100"/>
        <a:sy n="33" d="100"/>
      </p:scale>
      <p:origin x="0" y="58718"/>
    </p:cViewPr>
  </p:outlineViewPr>
  <p:notesTextViewPr>
    <p:cViewPr>
      <p:scale>
        <a:sx n="100" d="100"/>
        <a:sy n="100" d="100"/>
      </p:scale>
      <p:origin x="0" y="0"/>
    </p:cViewPr>
  </p:notesTextViewPr>
  <p:sorterViewPr>
    <p:cViewPr varScale="1">
      <p:scale>
        <a:sx n="132" d="100"/>
        <a:sy n="132" d="100"/>
      </p:scale>
      <p:origin x="0" y="-94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handoutMaster" Target="handoutMasters/handoutMaster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commentAuthors" Target="commentAuthors.xml"/><Relationship Id="rId5" Type="http://schemas.openxmlformats.org/officeDocument/2006/relationships/slideMaster" Target="slideMasters/slideMaster5.xml"/><Relationship Id="rId19" Type="http://schemas.openxmlformats.org/officeDocument/2006/relationships/slide" Target="slides/slide1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theme" Target="theme/theme1.xml"/><Relationship Id="rId8" Type="http://schemas.openxmlformats.org/officeDocument/2006/relationships/slideMaster" Target="slideMasters/slideMaster8.xml"/><Relationship Id="rId51" Type="http://schemas.openxmlformats.org/officeDocument/2006/relationships/font" Target="fonts/font12.fntdata"/><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notesMaster" Target="notesMasters/notesMaster1.xml"/><Relationship Id="rId46" Type="http://schemas.openxmlformats.org/officeDocument/2006/relationships/font" Target="fonts/font7.fntdata"/><Relationship Id="rId20" Type="http://schemas.openxmlformats.org/officeDocument/2006/relationships/slide" Target="slides/slide12.xml"/><Relationship Id="rId41" Type="http://schemas.openxmlformats.org/officeDocument/2006/relationships/font" Target="fonts/font2.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font" Target="fonts/font10.fntdata"/><Relationship Id="rId57" Type="http://schemas.openxmlformats.org/officeDocument/2006/relationships/tableStyles" Target="tableStyles.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font" Target="fonts/font5.fntdata"/><Relationship Id="rId52"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0946" name="Rectangle 2"/>
          <p:cNvSpPr>
            <a:spLocks noGrp="1" noChangeArrowheads="1"/>
          </p:cNvSpPr>
          <p:nvPr>
            <p:ph type="hdr" sz="quarter"/>
          </p:nvPr>
        </p:nvSpPr>
        <p:spPr bwMode="auto">
          <a:xfrm>
            <a:off x="4" y="2"/>
            <a:ext cx="2949395" cy="496311"/>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lvl1pPr defTabSz="947717">
              <a:defRPr sz="1200">
                <a:cs typeface="+mn-cs"/>
              </a:defRPr>
            </a:lvl1pPr>
          </a:lstStyle>
          <a:p>
            <a:pPr>
              <a:defRPr/>
            </a:pPr>
            <a:endParaRPr lang="en-AU" dirty="0"/>
          </a:p>
        </p:txBody>
      </p:sp>
      <p:sp>
        <p:nvSpPr>
          <p:cNvPr id="210947" name="Rectangle 3"/>
          <p:cNvSpPr>
            <a:spLocks noGrp="1" noChangeArrowheads="1"/>
          </p:cNvSpPr>
          <p:nvPr>
            <p:ph type="dt" sz="quarter" idx="1"/>
          </p:nvPr>
        </p:nvSpPr>
        <p:spPr bwMode="auto">
          <a:xfrm>
            <a:off x="3854744" y="2"/>
            <a:ext cx="2949395" cy="496311"/>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lvl1pPr algn="r" defTabSz="947717">
              <a:defRPr sz="1200">
                <a:cs typeface="+mn-cs"/>
              </a:defRPr>
            </a:lvl1pPr>
          </a:lstStyle>
          <a:p>
            <a:pPr>
              <a:defRPr/>
            </a:pPr>
            <a:endParaRPr lang="en-AU" dirty="0"/>
          </a:p>
        </p:txBody>
      </p:sp>
      <p:sp>
        <p:nvSpPr>
          <p:cNvPr id="210948" name="Rectangle 4"/>
          <p:cNvSpPr>
            <a:spLocks noGrp="1" noChangeArrowheads="1"/>
          </p:cNvSpPr>
          <p:nvPr>
            <p:ph type="ftr" sz="quarter" idx="2"/>
          </p:nvPr>
        </p:nvSpPr>
        <p:spPr bwMode="auto">
          <a:xfrm>
            <a:off x="4" y="9441387"/>
            <a:ext cx="2949395" cy="496311"/>
          </a:xfrm>
          <a:prstGeom prst="rect">
            <a:avLst/>
          </a:prstGeom>
          <a:noFill/>
          <a:ln w="9525">
            <a:noFill/>
            <a:miter lim="800000"/>
            <a:headEnd/>
            <a:tailEnd/>
          </a:ln>
          <a:effectLst/>
        </p:spPr>
        <p:txBody>
          <a:bodyPr vert="horz" wrap="square" lIns="94751" tIns="47375" rIns="94751" bIns="47375" numCol="1" anchor="b" anchorCtr="0" compatLnSpc="1">
            <a:prstTxWarp prst="textNoShape">
              <a:avLst/>
            </a:prstTxWarp>
          </a:bodyPr>
          <a:lstStyle>
            <a:lvl1pPr defTabSz="947717">
              <a:defRPr sz="1200">
                <a:cs typeface="+mn-cs"/>
              </a:defRPr>
            </a:lvl1pPr>
          </a:lstStyle>
          <a:p>
            <a:pPr>
              <a:defRPr/>
            </a:pPr>
            <a:endParaRPr lang="en-AU" dirty="0"/>
          </a:p>
        </p:txBody>
      </p:sp>
      <p:sp>
        <p:nvSpPr>
          <p:cNvPr id="210949" name="Rectangle 5"/>
          <p:cNvSpPr>
            <a:spLocks noGrp="1" noChangeArrowheads="1"/>
          </p:cNvSpPr>
          <p:nvPr>
            <p:ph type="sldNum" sz="quarter" idx="3"/>
          </p:nvPr>
        </p:nvSpPr>
        <p:spPr bwMode="auto">
          <a:xfrm>
            <a:off x="3854744" y="9441387"/>
            <a:ext cx="2949395" cy="496311"/>
          </a:xfrm>
          <a:prstGeom prst="rect">
            <a:avLst/>
          </a:prstGeom>
          <a:noFill/>
          <a:ln w="9525">
            <a:noFill/>
            <a:miter lim="800000"/>
            <a:headEnd/>
            <a:tailEnd/>
          </a:ln>
          <a:effectLst/>
        </p:spPr>
        <p:txBody>
          <a:bodyPr vert="horz" wrap="square" lIns="94751" tIns="47375" rIns="94751" bIns="47375" numCol="1" anchor="b" anchorCtr="0" compatLnSpc="1">
            <a:prstTxWarp prst="textNoShape">
              <a:avLst/>
            </a:prstTxWarp>
          </a:bodyPr>
          <a:lstStyle>
            <a:lvl1pPr algn="r" defTabSz="947717">
              <a:defRPr sz="1200">
                <a:cs typeface="+mn-cs"/>
              </a:defRPr>
            </a:lvl1pPr>
          </a:lstStyle>
          <a:p>
            <a:pPr>
              <a:defRPr/>
            </a:pPr>
            <a:fld id="{D6F4BC11-27CE-467A-8EFD-5CAC0396F796}" type="slidenum">
              <a:rPr lang="en-AU"/>
              <a:pPr>
                <a:defRPr/>
              </a:pPr>
              <a:t>‹#›</a:t>
            </a:fld>
            <a:endParaRPr lang="en-AU" dirty="0"/>
          </a:p>
        </p:txBody>
      </p:sp>
    </p:spTree>
    <p:extLst>
      <p:ext uri="{BB962C8B-B14F-4D97-AF65-F5344CB8AC3E}">
        <p14:creationId xmlns:p14="http://schemas.microsoft.com/office/powerpoint/2010/main" val="367498027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4" y="2"/>
            <a:ext cx="2949395" cy="496311"/>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lvl1pPr defTabSz="947717">
              <a:defRPr sz="1200">
                <a:cs typeface="+mn-cs"/>
              </a:defRPr>
            </a:lvl1pPr>
          </a:lstStyle>
          <a:p>
            <a:pPr>
              <a:defRPr/>
            </a:pPr>
            <a:endParaRPr lang="en-AU" dirty="0"/>
          </a:p>
        </p:txBody>
      </p:sp>
      <p:sp>
        <p:nvSpPr>
          <p:cNvPr id="36867" name="Rectangle 3"/>
          <p:cNvSpPr>
            <a:spLocks noGrp="1" noChangeArrowheads="1"/>
          </p:cNvSpPr>
          <p:nvPr>
            <p:ph type="dt" idx="1"/>
          </p:nvPr>
        </p:nvSpPr>
        <p:spPr bwMode="auto">
          <a:xfrm>
            <a:off x="3854744" y="2"/>
            <a:ext cx="2949395" cy="496311"/>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lvl1pPr algn="r" defTabSz="947717">
              <a:defRPr sz="1200">
                <a:cs typeface="+mn-cs"/>
              </a:defRPr>
            </a:lvl1pPr>
          </a:lstStyle>
          <a:p>
            <a:pPr>
              <a:defRPr/>
            </a:pPr>
            <a:endParaRPr lang="en-AU" dirty="0"/>
          </a:p>
        </p:txBody>
      </p:sp>
      <p:sp>
        <p:nvSpPr>
          <p:cNvPr id="41988" name="Rectangle 4"/>
          <p:cNvSpPr>
            <a:spLocks noGrp="1" noRot="1" noChangeAspect="1" noChangeArrowheads="1" noTextEdit="1"/>
          </p:cNvSpPr>
          <p:nvPr>
            <p:ph type="sldImg" idx="2"/>
          </p:nvPr>
        </p:nvSpPr>
        <p:spPr bwMode="auto">
          <a:xfrm>
            <a:off x="88900" y="744538"/>
            <a:ext cx="6627813" cy="3729037"/>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680857" y="4721517"/>
            <a:ext cx="5443900" cy="4473359"/>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36870" name="Rectangle 6"/>
          <p:cNvSpPr>
            <a:spLocks noGrp="1" noChangeArrowheads="1"/>
          </p:cNvSpPr>
          <p:nvPr>
            <p:ph type="ftr" sz="quarter" idx="4"/>
          </p:nvPr>
        </p:nvSpPr>
        <p:spPr bwMode="auto">
          <a:xfrm>
            <a:off x="4" y="9441387"/>
            <a:ext cx="2949395" cy="496311"/>
          </a:xfrm>
          <a:prstGeom prst="rect">
            <a:avLst/>
          </a:prstGeom>
          <a:noFill/>
          <a:ln w="9525">
            <a:noFill/>
            <a:miter lim="800000"/>
            <a:headEnd/>
            <a:tailEnd/>
          </a:ln>
          <a:effectLst/>
        </p:spPr>
        <p:txBody>
          <a:bodyPr vert="horz" wrap="square" lIns="94751" tIns="47375" rIns="94751" bIns="47375" numCol="1" anchor="b" anchorCtr="0" compatLnSpc="1">
            <a:prstTxWarp prst="textNoShape">
              <a:avLst/>
            </a:prstTxWarp>
          </a:bodyPr>
          <a:lstStyle>
            <a:lvl1pPr defTabSz="947717">
              <a:defRPr sz="1200">
                <a:cs typeface="+mn-cs"/>
              </a:defRPr>
            </a:lvl1pPr>
          </a:lstStyle>
          <a:p>
            <a:pPr>
              <a:defRPr/>
            </a:pPr>
            <a:endParaRPr lang="en-AU" dirty="0"/>
          </a:p>
        </p:txBody>
      </p:sp>
      <p:sp>
        <p:nvSpPr>
          <p:cNvPr id="36871" name="Rectangle 7"/>
          <p:cNvSpPr>
            <a:spLocks noGrp="1" noChangeArrowheads="1"/>
          </p:cNvSpPr>
          <p:nvPr>
            <p:ph type="sldNum" sz="quarter" idx="5"/>
          </p:nvPr>
        </p:nvSpPr>
        <p:spPr bwMode="auto">
          <a:xfrm>
            <a:off x="3854744" y="9441387"/>
            <a:ext cx="2949395" cy="496311"/>
          </a:xfrm>
          <a:prstGeom prst="rect">
            <a:avLst/>
          </a:prstGeom>
          <a:noFill/>
          <a:ln w="9525">
            <a:noFill/>
            <a:miter lim="800000"/>
            <a:headEnd/>
            <a:tailEnd/>
          </a:ln>
          <a:effectLst/>
        </p:spPr>
        <p:txBody>
          <a:bodyPr vert="horz" wrap="square" lIns="94751" tIns="47375" rIns="94751" bIns="47375" numCol="1" anchor="b" anchorCtr="0" compatLnSpc="1">
            <a:prstTxWarp prst="textNoShape">
              <a:avLst/>
            </a:prstTxWarp>
          </a:bodyPr>
          <a:lstStyle>
            <a:lvl1pPr algn="r" defTabSz="947717">
              <a:defRPr sz="1200">
                <a:cs typeface="+mn-cs"/>
              </a:defRPr>
            </a:lvl1pPr>
          </a:lstStyle>
          <a:p>
            <a:pPr>
              <a:defRPr/>
            </a:pPr>
            <a:fld id="{D88EB2CA-45D1-42A0-A762-9254DBFB78C5}" type="slidenum">
              <a:rPr lang="en-AU"/>
              <a:pPr>
                <a:defRPr/>
              </a:pPr>
              <a:t>‹#›</a:t>
            </a:fld>
            <a:endParaRPr lang="en-AU" dirty="0"/>
          </a:p>
        </p:txBody>
      </p:sp>
    </p:spTree>
    <p:extLst>
      <p:ext uri="{BB962C8B-B14F-4D97-AF65-F5344CB8AC3E}">
        <p14:creationId xmlns:p14="http://schemas.microsoft.com/office/powerpoint/2010/main" val="1033194545"/>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endParaRPr lang="en-US" sz="1200" u="none" kern="1200" baseline="0" dirty="0">
              <a:solidFill>
                <a:schemeClr val="tx1"/>
              </a:solidFill>
              <a:latin typeface="Arial" charset="0"/>
              <a:ea typeface="+mn-ea"/>
              <a:cs typeface="+mn-cs"/>
            </a:endParaRPr>
          </a:p>
        </p:txBody>
      </p:sp>
    </p:spTree>
    <p:extLst>
      <p:ext uri="{BB962C8B-B14F-4D97-AF65-F5344CB8AC3E}">
        <p14:creationId xmlns:p14="http://schemas.microsoft.com/office/powerpoint/2010/main" val="1231581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069129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4171628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0156041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1630715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16436798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4827871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5688957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5504351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5547375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3796616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17119435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41118796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5883236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6635165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5837032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16129395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6179503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9646812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15469072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4799518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7326388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14715010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9585706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3861949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2413563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6618207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1846051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63335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65D7EE65-8AFE-4022-B3D9-7794B9342842}" type="slidenum">
              <a:rPr lang="en-AU"/>
              <a:pPr>
                <a:defRPr/>
              </a:pPr>
              <a:t>‹#›</a:t>
            </a:fld>
            <a:endParaRPr lang="en-AU"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600201"/>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5136BB8A-0854-4320-9CB6-5978F93B7D0C}" type="slidenum">
              <a:rPr lang="en-AU"/>
              <a:pPr>
                <a:defRPr/>
              </a:pPr>
              <a:t>‹#›</a:t>
            </a:fld>
            <a:endParaRPr lang="en-A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576A1EC1-FD81-4297-932F-0F31C26A9517}" type="slidenum">
              <a:rPr lang="en-AU"/>
              <a:pPr>
                <a:defRPr/>
              </a:pPr>
              <a:t>‹#›</a:t>
            </a:fld>
            <a:endParaRPr lang="en-AU"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AU"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7" name="Rectangle 6"/>
          <p:cNvSpPr>
            <a:spLocks noGrp="1" noChangeArrowheads="1"/>
          </p:cNvSpPr>
          <p:nvPr>
            <p:ph type="sldNum" sz="quarter" idx="12"/>
          </p:nvPr>
        </p:nvSpPr>
        <p:spPr>
          <a:ln/>
        </p:spPr>
        <p:txBody>
          <a:bodyPr/>
          <a:lstStyle>
            <a:lvl1pPr>
              <a:defRPr/>
            </a:lvl1pPr>
          </a:lstStyle>
          <a:p>
            <a:pPr>
              <a:defRPr/>
            </a:pPr>
            <a:fld id="{6ECD963F-0ABF-4DDA-94F2-B28E844934B8}" type="slidenum">
              <a:rPr lang="en-AU"/>
              <a:pPr>
                <a:defRPr/>
              </a:pPr>
              <a:t>‹#›</a:t>
            </a:fld>
            <a:endParaRPr lang="en-A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AU" dirty="0"/>
          </a:p>
        </p:txBody>
      </p:sp>
      <p:sp>
        <p:nvSpPr>
          <p:cNvPr id="8"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9" name="Rectangle 6"/>
          <p:cNvSpPr>
            <a:spLocks noGrp="1" noChangeArrowheads="1"/>
          </p:cNvSpPr>
          <p:nvPr>
            <p:ph type="sldNum" sz="quarter" idx="12"/>
          </p:nvPr>
        </p:nvSpPr>
        <p:spPr>
          <a:ln/>
        </p:spPr>
        <p:txBody>
          <a:bodyPr/>
          <a:lstStyle>
            <a:lvl1pPr>
              <a:defRPr/>
            </a:lvl1pPr>
          </a:lstStyle>
          <a:p>
            <a:pPr>
              <a:defRPr/>
            </a:pPr>
            <a:fld id="{A09639DC-AEAE-42DF-8ED1-CED4DC05F609}" type="slidenum">
              <a:rPr lang="en-AU"/>
              <a:pPr>
                <a:defRPr/>
              </a:pPr>
              <a:t>‹#›</a:t>
            </a:fld>
            <a:endParaRPr lang="en-A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AU" dirty="0"/>
          </a:p>
        </p:txBody>
      </p:sp>
      <p:sp>
        <p:nvSpPr>
          <p:cNvPr id="4"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5" name="Rectangle 6"/>
          <p:cNvSpPr>
            <a:spLocks noGrp="1" noChangeArrowheads="1"/>
          </p:cNvSpPr>
          <p:nvPr>
            <p:ph type="sldNum" sz="quarter" idx="12"/>
          </p:nvPr>
        </p:nvSpPr>
        <p:spPr>
          <a:ln/>
        </p:spPr>
        <p:txBody>
          <a:bodyPr/>
          <a:lstStyle>
            <a:lvl1pPr>
              <a:defRPr/>
            </a:lvl1pPr>
          </a:lstStyle>
          <a:p>
            <a:pPr>
              <a:defRPr/>
            </a:pPr>
            <a:fld id="{DC955108-5A2D-4238-A310-FF266209B693}" type="slidenum">
              <a:rPr lang="en-AU"/>
              <a:pPr>
                <a:defRPr/>
              </a:pPr>
              <a:t>‹#›</a:t>
            </a:fld>
            <a:endParaRPr lang="en-A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AU" dirty="0"/>
          </a:p>
        </p:txBody>
      </p:sp>
      <p:sp>
        <p:nvSpPr>
          <p:cNvPr id="3"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4" name="Rectangle 6"/>
          <p:cNvSpPr>
            <a:spLocks noGrp="1" noChangeArrowheads="1"/>
          </p:cNvSpPr>
          <p:nvPr>
            <p:ph type="sldNum" sz="quarter" idx="12"/>
          </p:nvPr>
        </p:nvSpPr>
        <p:spPr>
          <a:ln/>
        </p:spPr>
        <p:txBody>
          <a:bodyPr/>
          <a:lstStyle>
            <a:lvl1pPr>
              <a:defRPr/>
            </a:lvl1pPr>
          </a:lstStyle>
          <a:p>
            <a:pPr>
              <a:defRPr/>
            </a:pPr>
            <a:fld id="{F50E377F-86B6-4B25-9512-8E32B5A83205}" type="slidenum">
              <a:rPr lang="en-AU"/>
              <a:pPr>
                <a:defRPr/>
              </a:pPr>
              <a:t>‹#›</a:t>
            </a:fld>
            <a:endParaRPr lang="en-A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AU"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7" name="Rectangle 6"/>
          <p:cNvSpPr>
            <a:spLocks noGrp="1" noChangeArrowheads="1"/>
          </p:cNvSpPr>
          <p:nvPr>
            <p:ph type="sldNum" sz="quarter" idx="12"/>
          </p:nvPr>
        </p:nvSpPr>
        <p:spPr>
          <a:ln/>
        </p:spPr>
        <p:txBody>
          <a:bodyPr/>
          <a:lstStyle>
            <a:lvl1pPr>
              <a:defRPr/>
            </a:lvl1pPr>
          </a:lstStyle>
          <a:p>
            <a:pPr>
              <a:defRPr/>
            </a:pPr>
            <a:fld id="{87EFDFB0-E6FC-4290-A842-FF8549BB4702}" type="slidenum">
              <a:rPr lang="en-AU"/>
              <a:pPr>
                <a:defRPr/>
              </a:pPr>
              <a:t>‹#›</a:t>
            </a:fld>
            <a:endParaRPr lang="en-AU"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AU"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7" name="Rectangle 6"/>
          <p:cNvSpPr>
            <a:spLocks noGrp="1" noChangeArrowheads="1"/>
          </p:cNvSpPr>
          <p:nvPr>
            <p:ph type="sldNum" sz="quarter" idx="12"/>
          </p:nvPr>
        </p:nvSpPr>
        <p:spPr>
          <a:ln/>
        </p:spPr>
        <p:txBody>
          <a:bodyPr/>
          <a:lstStyle>
            <a:lvl1pPr>
              <a:defRPr/>
            </a:lvl1pPr>
          </a:lstStyle>
          <a:p>
            <a:pPr>
              <a:defRPr/>
            </a:pPr>
            <a:fld id="{BA3BEABF-3905-4967-992F-0A3A0239B510}" type="slidenum">
              <a:rPr lang="en-AU"/>
              <a:pPr>
                <a:defRPr/>
              </a:pPr>
              <a:t>‹#›</a:t>
            </a:fld>
            <a:endParaRPr lang="en-AU"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D2A828E1-5CE8-43FC-9875-7EB32D9DC9F6}" type="slidenum">
              <a:rPr lang="en-AU"/>
              <a:pPr>
                <a:defRPr/>
              </a:pPr>
              <a:t>‹#›</a:t>
            </a:fld>
            <a:endParaRPr lang="en-A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600201"/>
            <a:ext cx="2743200" cy="45259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600201"/>
            <a:ext cx="80264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C3306096-8DC5-4C75-83E3-7A39F1488DB7}" type="slidenum">
              <a:rPr lang="en-AU"/>
              <a:pPr>
                <a:defRPr/>
              </a:pPr>
              <a:t>‹#›</a:t>
            </a:fld>
            <a:endParaRPr lang="en-AU"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9"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10" name="Picture Placeholder 2"/>
          <p:cNvSpPr>
            <a:spLocks noGrp="1"/>
          </p:cNvSpPr>
          <p:nvPr>
            <p:ph type="pic" idx="1"/>
          </p:nvPr>
        </p:nvSpPr>
        <p:spPr>
          <a:xfrm>
            <a:off x="679260" y="1315159"/>
            <a:ext cx="11051549" cy="5006471"/>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701516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202922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135458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AU"/>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669554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6569336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1848850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12968345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24266977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AU"/>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12287963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AU"/>
          </a:p>
        </p:txBody>
      </p:sp>
      <p:sp>
        <p:nvSpPr>
          <p:cNvPr id="3" name="Picture Placeholder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0382784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1096637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249214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65720" y="2130426"/>
            <a:ext cx="7136320" cy="1470025"/>
          </a:xfrm>
          <a:prstGeom prst="rect">
            <a:avLst/>
          </a:prstGeom>
        </p:spPr>
        <p:txBody>
          <a:bodyPr anchor="ctr"/>
          <a:lstStyle>
            <a:lvl1pPr algn="l">
              <a:defRPr sz="3000" baseline="0">
                <a:latin typeface="Arial Narrow"/>
                <a:cs typeface="Arial Narrow"/>
              </a:defRPr>
            </a:lvl1pPr>
          </a:lstStyle>
          <a:p>
            <a:r>
              <a:rPr lang="en-AU" dirty="0"/>
              <a:t>TITLE PAGE (30pt Arial Narrow)</a:t>
            </a:r>
            <a:endParaRPr lang="en-US" dirty="0"/>
          </a:p>
        </p:txBody>
      </p:sp>
      <p:sp>
        <p:nvSpPr>
          <p:cNvPr id="3" name="Subtitle 2"/>
          <p:cNvSpPr>
            <a:spLocks noGrp="1"/>
          </p:cNvSpPr>
          <p:nvPr>
            <p:ph type="subTitle" idx="1" hasCustomPrompt="1"/>
          </p:nvPr>
        </p:nvSpPr>
        <p:spPr>
          <a:xfrm>
            <a:off x="365720" y="3613924"/>
            <a:ext cx="7136320" cy="633181"/>
          </a:xfrm>
          <a:prstGeom prst="rect">
            <a:avLst/>
          </a:prstGeom>
        </p:spPr>
        <p:txBody>
          <a:bodyPr anchor="ctr"/>
          <a:lstStyle>
            <a:lvl1pPr marL="0" indent="0" algn="l">
              <a:buNone/>
              <a:defRPr sz="1800">
                <a:solidFill>
                  <a:schemeClr val="bg1">
                    <a:lumMod val="50000"/>
                  </a:schemeClr>
                </a:solidFill>
                <a:latin typeface="Arial Narrow"/>
                <a:cs typeface="Arial Narrow"/>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dirty="0"/>
              <a:t>SUB HEADLINE / PRESENTER (18pt Arial Narrow)</a:t>
            </a:r>
            <a:endParaRPr lang="en-US" dirty="0"/>
          </a:p>
        </p:txBody>
      </p:sp>
    </p:spTree>
    <p:extLst>
      <p:ext uri="{BB962C8B-B14F-4D97-AF65-F5344CB8AC3E}">
        <p14:creationId xmlns:p14="http://schemas.microsoft.com/office/powerpoint/2010/main" val="19216370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84386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365720" y="2130426"/>
            <a:ext cx="7136320" cy="1470025"/>
          </a:xfrm>
          <a:prstGeom prst="rect">
            <a:avLst/>
          </a:prstGeom>
        </p:spPr>
        <p:txBody>
          <a:bodyPr anchor="ctr"/>
          <a:lstStyle>
            <a:lvl1pPr algn="l">
              <a:defRPr sz="3000" baseline="0">
                <a:solidFill>
                  <a:schemeClr val="bg1"/>
                </a:solidFill>
                <a:latin typeface="Arial Narrow"/>
                <a:cs typeface="Arial Narrow"/>
              </a:defRPr>
            </a:lvl1pPr>
          </a:lstStyle>
          <a:p>
            <a:r>
              <a:rPr lang="en-AU" dirty="0"/>
              <a:t>TITLE PAGE (30pt Arial Narrow)</a:t>
            </a:r>
            <a:endParaRPr lang="en-US" dirty="0"/>
          </a:p>
        </p:txBody>
      </p:sp>
      <p:sp>
        <p:nvSpPr>
          <p:cNvPr id="7" name="Subtitle 2"/>
          <p:cNvSpPr>
            <a:spLocks noGrp="1"/>
          </p:cNvSpPr>
          <p:nvPr>
            <p:ph type="subTitle" idx="1" hasCustomPrompt="1"/>
          </p:nvPr>
        </p:nvSpPr>
        <p:spPr>
          <a:xfrm>
            <a:off x="365720" y="3613924"/>
            <a:ext cx="7136320" cy="633181"/>
          </a:xfrm>
          <a:prstGeom prst="rect">
            <a:avLst/>
          </a:prstGeom>
        </p:spPr>
        <p:txBody>
          <a:bodyPr anchor="ctr"/>
          <a:lstStyle>
            <a:lvl1pPr marL="0" indent="0" algn="l">
              <a:buNone/>
              <a:defRPr sz="1800">
                <a:solidFill>
                  <a:schemeClr val="bg1"/>
                </a:solidFill>
                <a:latin typeface="Arial Narrow"/>
                <a:cs typeface="Arial Narrow"/>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dirty="0"/>
              <a:t>SUB HEADLINE / PRESENTER (18pt Arial Narrow)</a:t>
            </a:r>
            <a:endParaRPr lang="en-US" dirty="0"/>
          </a:p>
        </p:txBody>
      </p:sp>
    </p:spTree>
    <p:extLst>
      <p:ext uri="{BB962C8B-B14F-4D97-AF65-F5344CB8AC3E}">
        <p14:creationId xmlns:p14="http://schemas.microsoft.com/office/powerpoint/2010/main" val="30732634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8088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09600" y="141897"/>
            <a:ext cx="10972800" cy="510825"/>
          </a:xfrm>
          <a:prstGeom prst="rect">
            <a:avLst/>
          </a:prstGeom>
        </p:spPr>
        <p:txBody>
          <a:bodyPr/>
          <a:lstStyle>
            <a:lvl1pPr algn="l">
              <a:defRPr sz="2400">
                <a:latin typeface="Arial Narrow"/>
                <a:cs typeface="Arial Narrow"/>
              </a:defRPr>
            </a:lvl1pPr>
          </a:lstStyle>
          <a:p>
            <a:r>
              <a:rPr lang="en-AU" dirty="0"/>
              <a:t>CLICK TO EDIT MASTER TITLE STYLE</a:t>
            </a:r>
            <a:endParaRPr lang="en-US" dirty="0"/>
          </a:p>
        </p:txBody>
      </p:sp>
      <p:sp>
        <p:nvSpPr>
          <p:cNvPr id="5"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
        <p:nvSpPr>
          <p:cNvPr id="3" name="TextBox 2"/>
          <p:cNvSpPr txBox="1"/>
          <p:nvPr userDrawn="1"/>
        </p:nvSpPr>
        <p:spPr>
          <a:xfrm>
            <a:off x="10739779" y="638473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6238362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09600" y="141897"/>
            <a:ext cx="10972800" cy="510825"/>
          </a:xfrm>
          <a:prstGeom prst="rect">
            <a:avLst/>
          </a:prstGeom>
        </p:spPr>
        <p:txBody>
          <a:bodyPr/>
          <a:lstStyle>
            <a:lvl1pPr algn="l">
              <a:defRPr sz="2400">
                <a:latin typeface="Arial Narrow"/>
                <a:cs typeface="Arial Narrow"/>
              </a:defRPr>
            </a:lvl1pPr>
          </a:lstStyle>
          <a:p>
            <a:r>
              <a:rPr lang="en-AU" dirty="0"/>
              <a:t>CLICK TO EDIT MASTER TITLE STYLE</a:t>
            </a:r>
            <a:endParaRPr lang="en-US" dirty="0"/>
          </a:p>
        </p:txBody>
      </p:sp>
      <p:sp>
        <p:nvSpPr>
          <p:cNvPr id="12" name="Content Placeholder 2"/>
          <p:cNvSpPr>
            <a:spLocks noGrp="1"/>
          </p:cNvSpPr>
          <p:nvPr>
            <p:ph sz="half" idx="1"/>
          </p:nvPr>
        </p:nvSpPr>
        <p:spPr>
          <a:xfrm>
            <a:off x="609599" y="1231261"/>
            <a:ext cx="11092828" cy="4525963"/>
          </a:xfrm>
          <a:prstGeom prst="rect">
            <a:avLst/>
          </a:prstGeom>
        </p:spPr>
        <p:txBody>
          <a:bodyPr/>
          <a:lstStyle>
            <a:lvl1pPr marL="342900" indent="-342900">
              <a:buFont typeface="Wingdings" charset="2"/>
              <a:buChar char="§"/>
              <a:defRPr sz="2400">
                <a:latin typeface="Arial"/>
                <a:cs typeface="Arial"/>
              </a:defRPr>
            </a:lvl1pPr>
            <a:lvl2pP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8"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Tree>
    <p:extLst>
      <p:ext uri="{BB962C8B-B14F-4D97-AF65-F5344CB8AC3E}">
        <p14:creationId xmlns:p14="http://schemas.microsoft.com/office/powerpoint/2010/main" val="5864134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141897"/>
            <a:ext cx="10972800" cy="510825"/>
          </a:xfrm>
          <a:prstGeom prst="rect">
            <a:avLst/>
          </a:prstGeom>
        </p:spPr>
        <p:txBody>
          <a:bodyPr/>
          <a:lstStyle>
            <a:lvl1pPr algn="l">
              <a:defRPr sz="2400">
                <a:latin typeface="Arial Narrow"/>
                <a:cs typeface="Arial Narrow"/>
              </a:defRPr>
            </a:lvl1pPr>
          </a:lstStyle>
          <a:p>
            <a:r>
              <a:rPr lang="en-AU" dirty="0"/>
              <a:t>CLICK TO EDIT MASTER TITLE STYLE</a:t>
            </a:r>
            <a:endParaRPr lang="en-US" dirty="0"/>
          </a:p>
        </p:txBody>
      </p:sp>
      <p:sp>
        <p:nvSpPr>
          <p:cNvPr id="3" name="Content Placeholder 2"/>
          <p:cNvSpPr>
            <a:spLocks noGrp="1"/>
          </p:cNvSpPr>
          <p:nvPr>
            <p:ph sz="half" idx="1"/>
          </p:nvPr>
        </p:nvSpPr>
        <p:spPr>
          <a:xfrm>
            <a:off x="609600" y="1231261"/>
            <a:ext cx="5384800" cy="4525963"/>
          </a:xfrm>
          <a:prstGeom prst="rect">
            <a:avLst/>
          </a:prstGeom>
        </p:spPr>
        <p:txBody>
          <a:bodyPr/>
          <a:lstStyle>
            <a:lvl1pPr marL="342900" indent="-342900">
              <a:buFont typeface="Wingdings" charset="2"/>
              <a:buChar char="§"/>
              <a:defRPr sz="2400">
                <a:latin typeface="Arial"/>
                <a:cs typeface="Arial"/>
              </a:defRPr>
            </a:lvl1pPr>
            <a:lvl2pP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6197600" y="1231261"/>
            <a:ext cx="5384800" cy="4525963"/>
          </a:xfrm>
          <a:prstGeom prst="rect">
            <a:avLst/>
          </a:prstGeom>
        </p:spPr>
        <p:txBody>
          <a:bodyPr/>
          <a:lstStyle>
            <a:lvl1pPr marL="342900" indent="-342900">
              <a:buFont typeface="Wingdings" charset="2"/>
              <a:buChar char="§"/>
              <a:defRPr sz="2400">
                <a:latin typeface="Arial"/>
                <a:cs typeface="Arial"/>
              </a:defRPr>
            </a:lvl1pPr>
            <a:lvl2pP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7"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Tree>
    <p:extLst>
      <p:ext uri="{BB962C8B-B14F-4D97-AF65-F5344CB8AC3E}">
        <p14:creationId xmlns:p14="http://schemas.microsoft.com/office/powerpoint/2010/main" val="10463200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Text &amp; diagram">
    <p:spTree>
      <p:nvGrpSpPr>
        <p:cNvPr id="1" name=""/>
        <p:cNvGrpSpPr/>
        <p:nvPr/>
      </p:nvGrpSpPr>
      <p:grpSpPr>
        <a:xfrm>
          <a:off x="0" y="0"/>
          <a:ext cx="0" cy="0"/>
          <a:chOff x="0" y="0"/>
          <a:chExt cx="0" cy="0"/>
        </a:xfrm>
      </p:grpSpPr>
      <p:sp>
        <p:nvSpPr>
          <p:cNvPr id="10" name="Picture Placeholder 2"/>
          <p:cNvSpPr>
            <a:spLocks noGrp="1"/>
          </p:cNvSpPr>
          <p:nvPr>
            <p:ph type="pic" idx="15"/>
          </p:nvPr>
        </p:nvSpPr>
        <p:spPr>
          <a:xfrm>
            <a:off x="4381704" y="1088126"/>
            <a:ext cx="7349104" cy="4743791"/>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hasCustomPrompt="1"/>
          </p:nvPr>
        </p:nvSpPr>
        <p:spPr>
          <a:xfrm>
            <a:off x="609600" y="141897"/>
            <a:ext cx="10972800" cy="510825"/>
          </a:xfrm>
          <a:prstGeom prst="rect">
            <a:avLst/>
          </a:prstGeom>
        </p:spPr>
        <p:txBody>
          <a:bodyPr/>
          <a:lstStyle>
            <a:lvl1pPr algn="l">
              <a:defRPr sz="2400">
                <a:latin typeface="Arial Narrow"/>
                <a:cs typeface="Arial Narrow"/>
              </a:defRPr>
            </a:lvl1pPr>
          </a:lstStyle>
          <a:p>
            <a:r>
              <a:rPr lang="en-AU" dirty="0"/>
              <a:t>CLICK TO EDIT MASTER TITLE STYLE</a:t>
            </a:r>
            <a:endParaRPr lang="en-US" dirty="0"/>
          </a:p>
        </p:txBody>
      </p:sp>
      <p:sp>
        <p:nvSpPr>
          <p:cNvPr id="9" name="Content Placeholder 2"/>
          <p:cNvSpPr>
            <a:spLocks noGrp="1"/>
          </p:cNvSpPr>
          <p:nvPr>
            <p:ph idx="14"/>
          </p:nvPr>
        </p:nvSpPr>
        <p:spPr>
          <a:xfrm>
            <a:off x="609600" y="1088126"/>
            <a:ext cx="3312888" cy="4743791"/>
          </a:xfrm>
          <a:prstGeom prst="rect">
            <a:avLst/>
          </a:prstGeom>
        </p:spPr>
        <p:txBody>
          <a:bodyPr/>
          <a:lstStyle>
            <a:lvl1pPr marL="342900" indent="-342900">
              <a:buFont typeface="Wingdings" charset="2"/>
              <a:buChar char="§"/>
              <a:defRPr sz="2400">
                <a:latin typeface="Arial"/>
                <a:cs typeface="Arial"/>
              </a:defRPr>
            </a:lvl1pPr>
            <a:lvl2pPr>
              <a:defRPr sz="2000"/>
            </a:lvl2pPr>
            <a:lvl3pPr marL="1143000" indent="-228600">
              <a:buFont typeface="Wingdings" charset="2"/>
              <a:buChar char="§"/>
              <a:defRPr sz="18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7"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Tree>
    <p:extLst>
      <p:ext uri="{BB962C8B-B14F-4D97-AF65-F5344CB8AC3E}">
        <p14:creationId xmlns:p14="http://schemas.microsoft.com/office/powerpoint/2010/main" val="33557358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1" name="Picture Placeholder 2"/>
          <p:cNvSpPr>
            <a:spLocks noGrp="1"/>
          </p:cNvSpPr>
          <p:nvPr>
            <p:ph type="pic" idx="1"/>
          </p:nvPr>
        </p:nvSpPr>
        <p:spPr>
          <a:xfrm>
            <a:off x="679260" y="1031359"/>
            <a:ext cx="11051549" cy="4871506"/>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3" name="Title 2"/>
          <p:cNvSpPr>
            <a:spLocks noGrp="1"/>
          </p:cNvSpPr>
          <p:nvPr>
            <p:ph type="title" hasCustomPrompt="1"/>
          </p:nvPr>
        </p:nvSpPr>
        <p:spPr>
          <a:xfrm>
            <a:off x="620809" y="141897"/>
            <a:ext cx="11110000" cy="487491"/>
          </a:xfrm>
          <a:prstGeom prst="rect">
            <a:avLst/>
          </a:prstGeom>
        </p:spPr>
        <p:txBody>
          <a:bodyPr/>
          <a:lstStyle>
            <a:lvl1pPr algn="l">
              <a:defRPr sz="2400">
                <a:latin typeface="Arial Narrow" charset="0"/>
                <a:ea typeface="Arial Narrow" charset="0"/>
                <a:cs typeface="Arial Narrow" charset="0"/>
              </a:defRPr>
            </a:lvl1pPr>
          </a:lstStyle>
          <a:p>
            <a:r>
              <a:rPr lang="en-AU" dirty="0"/>
              <a:t>CLICK TO EDIT MASTER TITLE STYLE</a:t>
            </a:r>
            <a:endParaRPr lang="en-US" dirty="0"/>
          </a:p>
        </p:txBody>
      </p:sp>
      <p:sp>
        <p:nvSpPr>
          <p:cNvPr id="6"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Tree>
    <p:extLst>
      <p:ext uri="{BB962C8B-B14F-4D97-AF65-F5344CB8AC3E}">
        <p14:creationId xmlns:p14="http://schemas.microsoft.com/office/powerpoint/2010/main" val="412801582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2284" y="944564"/>
            <a:ext cx="10936816" cy="604837"/>
          </a:xfrm>
          <a:prstGeom prst="rect">
            <a:avLst/>
          </a:prstGeom>
        </p:spPr>
        <p:txBody>
          <a:bodyPr/>
          <a:lstStyle/>
          <a:p>
            <a:r>
              <a:rPr lang="en-US"/>
              <a:t>Click to edit Master title style</a:t>
            </a:r>
            <a:endParaRPr lang="en-MY"/>
          </a:p>
        </p:txBody>
      </p:sp>
      <p:sp>
        <p:nvSpPr>
          <p:cNvPr id="3" name="Rectangle 3"/>
          <p:cNvSpPr>
            <a:spLocks noGrp="1" noChangeArrowheads="1"/>
          </p:cNvSpPr>
          <p:nvPr>
            <p:ph type="dt" idx="10"/>
          </p:nvPr>
        </p:nvSpPr>
        <p:spPr>
          <a:xfrm>
            <a:off x="9793818" y="6542088"/>
            <a:ext cx="1587500" cy="138112"/>
          </a:xfrm>
          <a:prstGeom prst="rect">
            <a:avLst/>
          </a:prstGeom>
          <a:ln/>
        </p:spPr>
        <p:txBody>
          <a:bodyPr/>
          <a:lstStyle>
            <a:lvl1pPr>
              <a:defRPr/>
            </a:lvl1pPr>
          </a:lstStyle>
          <a:p>
            <a:pPr>
              <a:defRPr/>
            </a:pPr>
            <a:endParaRPr lang="en-AU" altLang="en-US"/>
          </a:p>
        </p:txBody>
      </p:sp>
      <p:sp>
        <p:nvSpPr>
          <p:cNvPr id="4" name="Rectangle 4"/>
          <p:cNvSpPr>
            <a:spLocks noGrp="1" noChangeArrowheads="1"/>
          </p:cNvSpPr>
          <p:nvPr>
            <p:ph type="ftr" idx="11"/>
          </p:nvPr>
        </p:nvSpPr>
        <p:spPr>
          <a:xfrm>
            <a:off x="4165600" y="6356351"/>
            <a:ext cx="3860800" cy="365125"/>
          </a:xfrm>
          <a:prstGeom prst="rect">
            <a:avLst/>
          </a:prstGeom>
          <a:ln/>
        </p:spPr>
        <p:txBody>
          <a:bodyPr/>
          <a:lstStyle>
            <a:lvl1pPr>
              <a:defRPr/>
            </a:lvl1pPr>
          </a:lstStyle>
          <a:p>
            <a:pPr>
              <a:defRPr/>
            </a:pPr>
            <a:endParaRPr lang="en-AU" altLang="en-US"/>
          </a:p>
        </p:txBody>
      </p:sp>
      <p:sp>
        <p:nvSpPr>
          <p:cNvPr id="5" name="Rectangle 5"/>
          <p:cNvSpPr>
            <a:spLocks noGrp="1" noChangeArrowheads="1"/>
          </p:cNvSpPr>
          <p:nvPr>
            <p:ph type="sldNum" idx="12"/>
          </p:nvPr>
        </p:nvSpPr>
        <p:spPr>
          <a:ln/>
        </p:spPr>
        <p:txBody>
          <a:bodyPr/>
          <a:lstStyle>
            <a:lvl1pPr>
              <a:defRPr/>
            </a:lvl1pPr>
          </a:lstStyle>
          <a:p>
            <a:fld id="{6BC81E26-17D9-47C5-A402-BC342BFCF728}" type="slidenum">
              <a:rPr lang="en-AU" altLang="en-US"/>
              <a:pPr/>
              <a:t>‹#›</a:t>
            </a:fld>
            <a:endParaRPr lang="en-AU" altLang="en-US"/>
          </a:p>
        </p:txBody>
      </p:sp>
    </p:spTree>
    <p:extLst>
      <p:ext uri="{BB962C8B-B14F-4D97-AF65-F5344CB8AC3E}">
        <p14:creationId xmlns:p14="http://schemas.microsoft.com/office/powerpoint/2010/main" val="30372226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377993" y="2362515"/>
            <a:ext cx="7325545" cy="1470025"/>
          </a:xfrm>
          <a:prstGeom prst="rect">
            <a:avLst/>
          </a:prstGeom>
        </p:spPr>
        <p:txBody>
          <a:bodyPr anchor="ctr"/>
          <a:lstStyle>
            <a:lvl1pPr algn="l">
              <a:defRPr sz="2800">
                <a:latin typeface="Arial Narrow"/>
                <a:cs typeface="Arial Narrow"/>
              </a:defRPr>
            </a:lvl1pPr>
          </a:lstStyle>
          <a:p>
            <a:r>
              <a:rPr lang="en-US" sz="3000" dirty="0">
                <a:solidFill>
                  <a:srgbClr val="000000"/>
                </a:solidFill>
                <a:latin typeface="Arial Narrow"/>
                <a:cs typeface="Arial Narrow"/>
              </a:rPr>
              <a:t>SECTION BREAK 2 </a:t>
            </a:r>
            <a:br>
              <a:rPr lang="en-US" sz="3000" dirty="0">
                <a:solidFill>
                  <a:srgbClr val="000000"/>
                </a:solidFill>
                <a:latin typeface="Arial Narrow"/>
                <a:cs typeface="Arial Narrow"/>
              </a:rPr>
            </a:br>
            <a:r>
              <a:rPr lang="en-US" sz="3000" dirty="0">
                <a:solidFill>
                  <a:srgbClr val="000000"/>
                </a:solidFill>
                <a:latin typeface="Arial Narrow"/>
                <a:cs typeface="Arial Narrow"/>
              </a:rPr>
              <a:t>(30pt Arial Narrow)</a:t>
            </a:r>
          </a:p>
        </p:txBody>
      </p:sp>
    </p:spTree>
    <p:extLst>
      <p:ext uri="{BB962C8B-B14F-4D97-AF65-F5344CB8AC3E}">
        <p14:creationId xmlns:p14="http://schemas.microsoft.com/office/powerpoint/2010/main" val="1279951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sp>
        <p:nvSpPr>
          <p:cNvPr id="11" name="Text Placeholder 10"/>
          <p:cNvSpPr>
            <a:spLocks noGrp="1"/>
          </p:cNvSpPr>
          <p:nvPr>
            <p:ph type="body" sz="quarter" idx="10" hasCustomPrompt="1"/>
          </p:nvPr>
        </p:nvSpPr>
        <p:spPr>
          <a:xfrm>
            <a:off x="459513" y="2582358"/>
            <a:ext cx="7101769" cy="1963182"/>
          </a:xfrm>
          <a:prstGeom prst="rect">
            <a:avLst/>
          </a:prstGeom>
        </p:spPr>
        <p:txBody>
          <a:bodyPr vert="horz" anchor="t"/>
          <a:lstStyle>
            <a:lvl1pPr marL="0" indent="0">
              <a:buNone/>
              <a:defRPr sz="3000" baseline="0">
                <a:solidFill>
                  <a:schemeClr val="bg1"/>
                </a:solidFill>
                <a:latin typeface="Arial Narrow"/>
                <a:cs typeface="Arial Narrow"/>
              </a:defRPr>
            </a:lvl1pPr>
          </a:lstStyle>
          <a:p>
            <a:pPr lvl="0"/>
            <a:r>
              <a:rPr lang="en-AU" dirty="0"/>
              <a:t>SECTION BREAK 1 </a:t>
            </a:r>
            <a:br>
              <a:rPr lang="en-AU" dirty="0"/>
            </a:br>
            <a:r>
              <a:rPr lang="en-AU" dirty="0"/>
              <a:t>(30pt Arial Narrow)</a:t>
            </a:r>
          </a:p>
        </p:txBody>
      </p:sp>
    </p:spTree>
    <p:extLst>
      <p:ext uri="{BB962C8B-B14F-4D97-AF65-F5344CB8AC3E}">
        <p14:creationId xmlns:p14="http://schemas.microsoft.com/office/powerpoint/2010/main" val="28476260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10"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15473933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line header">
    <p:spTree>
      <p:nvGrpSpPr>
        <p:cNvPr id="1" name=""/>
        <p:cNvGrpSpPr/>
        <p:nvPr/>
      </p:nvGrpSpPr>
      <p:grpSpPr>
        <a:xfrm>
          <a:off x="0" y="0"/>
          <a:ext cx="0" cy="0"/>
          <a:chOff x="0" y="0"/>
          <a:chExt cx="0" cy="0"/>
        </a:xfrm>
      </p:grpSpPr>
      <p:sp>
        <p:nvSpPr>
          <p:cNvPr id="3" name="Content Placeholder 2"/>
          <p:cNvSpPr>
            <a:spLocks noGrp="1"/>
          </p:cNvSpPr>
          <p:nvPr>
            <p:ph idx="1"/>
          </p:nvPr>
        </p:nvSpPr>
        <p:spPr>
          <a:xfrm>
            <a:off x="478367" y="1600201"/>
            <a:ext cx="10972800" cy="4525963"/>
          </a:xfrm>
          <a:prstGeom prst="rect">
            <a:avLst/>
          </a:prstGeom>
        </p:spPr>
        <p:txBody>
          <a:bodyPr/>
          <a:lstStyle>
            <a:lvl1pPr marL="342900" indent="-342900">
              <a:buFont typeface="Wingdings" charset="2"/>
              <a:buChar char="§"/>
              <a:defRPr sz="2400">
                <a:latin typeface="Arial"/>
                <a:cs typeface="Arial"/>
              </a:defRPr>
            </a:lvl1pPr>
            <a:lvl2pPr>
              <a:defRPr sz="2000"/>
            </a:lvl2pPr>
            <a:lvl3pPr marL="1143000" indent="-228600">
              <a:buFont typeface="Wingdings" charset="2"/>
              <a:buChar char="§"/>
              <a:defRPr sz="18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8"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5"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4875142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08000" y="1600201"/>
            <a:ext cx="5384800" cy="4525963"/>
          </a:xfrm>
          <a:prstGeom prst="rect">
            <a:avLst/>
          </a:prstGeom>
        </p:spPr>
        <p:txBody>
          <a:bodyPr/>
          <a:lstStyle>
            <a:lvl1pPr marL="342900" indent="-342900">
              <a:buFont typeface="Wingdings" charset="2"/>
              <a:buChar char="§"/>
              <a:defRPr sz="2400">
                <a:latin typeface="Arial"/>
                <a:cs typeface="Arial"/>
              </a:defRPr>
            </a:lvl1pPr>
            <a:lvl2pP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6096000" y="1600201"/>
            <a:ext cx="5384800" cy="4525963"/>
          </a:xfrm>
          <a:prstGeom prst="rect">
            <a:avLst/>
          </a:prstGeom>
        </p:spPr>
        <p:txBody>
          <a:bodyPr/>
          <a:lstStyle>
            <a:lvl1pPr marL="342900" indent="-342900">
              <a:buFont typeface="Wingdings" charset="2"/>
              <a:buChar char="§"/>
              <a:defRPr sz="2400">
                <a:latin typeface="Arial"/>
                <a:cs typeface="Arial"/>
              </a:defRPr>
            </a:lvl1pPr>
            <a:lvl2pPr marL="742950" indent="-285750">
              <a:buFont typeface="Wingdings" charset="2"/>
              <a:buChar cha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9"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6"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17432603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ext &amp; image">
    <p:spTree>
      <p:nvGrpSpPr>
        <p:cNvPr id="1" name=""/>
        <p:cNvGrpSpPr/>
        <p:nvPr/>
      </p:nvGrpSpPr>
      <p:grpSpPr>
        <a:xfrm>
          <a:off x="0" y="0"/>
          <a:ext cx="0" cy="0"/>
          <a:chOff x="0" y="0"/>
          <a:chExt cx="0" cy="0"/>
        </a:xfrm>
      </p:grpSpPr>
      <p:sp>
        <p:nvSpPr>
          <p:cNvPr id="3" name="Content Placeholder 2"/>
          <p:cNvSpPr>
            <a:spLocks noGrp="1"/>
          </p:cNvSpPr>
          <p:nvPr>
            <p:ph idx="1"/>
          </p:nvPr>
        </p:nvSpPr>
        <p:spPr>
          <a:xfrm>
            <a:off x="495138" y="1315159"/>
            <a:ext cx="5082791" cy="5006471"/>
          </a:xfrm>
          <a:prstGeom prst="rect">
            <a:avLst/>
          </a:prstGeom>
        </p:spPr>
        <p:txBody>
          <a:bodyPr/>
          <a:lstStyle>
            <a:lvl1pPr marL="342900" indent="-342900">
              <a:buFont typeface="Wingdings" charset="2"/>
              <a:buChar char="§"/>
              <a:defRPr sz="2400">
                <a:latin typeface="Arial"/>
                <a:cs typeface="Arial"/>
              </a:defRPr>
            </a:lvl1pPr>
            <a:lvl2pPr>
              <a:defRPr sz="2000"/>
            </a:lvl2pPr>
            <a:lvl3pPr marL="1143000" indent="-228600">
              <a:buFont typeface="Wingdings" charset="2"/>
              <a:buChar char="§"/>
              <a:defRPr sz="18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8"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5" name="Picture Placeholder 2"/>
          <p:cNvSpPr>
            <a:spLocks noGrp="1"/>
          </p:cNvSpPr>
          <p:nvPr>
            <p:ph type="pic" idx="10"/>
          </p:nvPr>
        </p:nvSpPr>
        <p:spPr>
          <a:xfrm>
            <a:off x="6084982" y="1315159"/>
            <a:ext cx="5531365" cy="5006471"/>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Text Placeholder 9"/>
          <p:cNvSpPr>
            <a:spLocks noGrp="1"/>
          </p:cNvSpPr>
          <p:nvPr>
            <p:ph type="body" sz="quarter" idx="11"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4211133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Text &amp; diagram">
    <p:spTree>
      <p:nvGrpSpPr>
        <p:cNvPr id="1" name=""/>
        <p:cNvGrpSpPr/>
        <p:nvPr/>
      </p:nvGrpSpPr>
      <p:grpSpPr>
        <a:xfrm>
          <a:off x="0" y="0"/>
          <a:ext cx="0" cy="0"/>
          <a:chOff x="0" y="0"/>
          <a:chExt cx="0" cy="0"/>
        </a:xfrm>
      </p:grpSpPr>
      <p:sp>
        <p:nvSpPr>
          <p:cNvPr id="3" name="Content Placeholder 2"/>
          <p:cNvSpPr>
            <a:spLocks noGrp="1"/>
          </p:cNvSpPr>
          <p:nvPr>
            <p:ph idx="1"/>
          </p:nvPr>
        </p:nvSpPr>
        <p:spPr>
          <a:xfrm>
            <a:off x="517125" y="1315159"/>
            <a:ext cx="3312888" cy="5006471"/>
          </a:xfrm>
          <a:prstGeom prst="rect">
            <a:avLst/>
          </a:prstGeom>
        </p:spPr>
        <p:txBody>
          <a:bodyPr/>
          <a:lstStyle>
            <a:lvl1pPr marL="342900" indent="-342900">
              <a:buFont typeface="Wingdings" charset="2"/>
              <a:buChar char="§"/>
              <a:defRPr sz="2400">
                <a:latin typeface="Arial"/>
                <a:cs typeface="Arial"/>
              </a:defRPr>
            </a:lvl1pPr>
            <a:lvl2pPr>
              <a:defRPr sz="2000"/>
            </a:lvl2pPr>
            <a:lvl3pPr marL="1143000" indent="-228600">
              <a:buFont typeface="Wingdings" charset="2"/>
              <a:buChar char="§"/>
              <a:defRPr sz="18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8"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5" name="Picture Placeholder 2"/>
          <p:cNvSpPr>
            <a:spLocks noGrp="1"/>
          </p:cNvSpPr>
          <p:nvPr>
            <p:ph type="pic" idx="10"/>
          </p:nvPr>
        </p:nvSpPr>
        <p:spPr>
          <a:xfrm>
            <a:off x="4289229" y="1315159"/>
            <a:ext cx="7349104" cy="5006471"/>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Text Placeholder 9"/>
          <p:cNvSpPr>
            <a:spLocks noGrp="1"/>
          </p:cNvSpPr>
          <p:nvPr>
            <p:ph type="body" sz="quarter" idx="11"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300856479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9"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10" name="Picture Placeholder 2"/>
          <p:cNvSpPr>
            <a:spLocks noGrp="1"/>
          </p:cNvSpPr>
          <p:nvPr>
            <p:ph type="pic" idx="1"/>
          </p:nvPr>
        </p:nvSpPr>
        <p:spPr>
          <a:xfrm>
            <a:off x="679260" y="1315159"/>
            <a:ext cx="11051549" cy="5006471"/>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3592110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4" Type="http://schemas.openxmlformats.org/officeDocument/2006/relationships/image" Target="../media/image2.jpe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7.xml"/><Relationship Id="rId1" Type="http://schemas.openxmlformats.org/officeDocument/2006/relationships/slideLayout" Target="../slideLayouts/slideLayout26.xml"/><Relationship Id="rId4" Type="http://schemas.openxmlformats.org/officeDocument/2006/relationships/image" Target="../media/image1.jpeg"/></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slideLayout" Target="../slideLayouts/slideLayout30.xml"/><Relationship Id="rId7" Type="http://schemas.openxmlformats.org/officeDocument/2006/relationships/theme" Target="../theme/theme5.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5" Type="http://schemas.openxmlformats.org/officeDocument/2006/relationships/slideLayout" Target="../slideLayouts/slideLayout32.xml"/><Relationship Id="rId4" Type="http://schemas.openxmlformats.org/officeDocument/2006/relationships/slideLayout" Target="../slideLayouts/slideLayout31.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theme" Target="../theme/theme6.xml"/><Relationship Id="rId1" Type="http://schemas.openxmlformats.org/officeDocument/2006/relationships/slideLayout" Target="../slideLayouts/slideLayout34.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theme" Target="../theme/theme7.xml"/><Relationship Id="rId1" Type="http://schemas.openxmlformats.org/officeDocument/2006/relationships/slideLayout" Target="../slideLayouts/slideLayout35.xml"/></Relationships>
</file>

<file path=ppt/slideMasters/_rels/slideMaster8.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slideLayout" Target="../slideLayouts/slideLayout38.xml"/><Relationship Id="rId7" Type="http://schemas.openxmlformats.org/officeDocument/2006/relationships/theme" Target="../theme/theme8.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609600" y="249237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AU"/>
              <a:t>Click to edit Master title style</a:t>
            </a:r>
          </a:p>
        </p:txBody>
      </p:sp>
      <p:sp>
        <p:nvSpPr>
          <p:cNvPr id="4100"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cs typeface="+mn-cs"/>
              </a:defRPr>
            </a:lvl1pPr>
          </a:lstStyle>
          <a:p>
            <a:pPr>
              <a:defRPr/>
            </a:pPr>
            <a:endParaRPr lang="en-AU" dirty="0"/>
          </a:p>
        </p:txBody>
      </p:sp>
      <p:sp>
        <p:nvSpPr>
          <p:cNvPr id="4101"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cs typeface="+mn-cs"/>
              </a:defRPr>
            </a:lvl1pPr>
          </a:lstStyle>
          <a:p>
            <a:pPr>
              <a:defRPr/>
            </a:pPr>
            <a:endParaRPr lang="en-AU" dirty="0"/>
          </a:p>
        </p:txBody>
      </p:sp>
      <p:sp>
        <p:nvSpPr>
          <p:cNvPr id="4102"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cs typeface="+mn-cs"/>
              </a:defRPr>
            </a:lvl1pPr>
          </a:lstStyle>
          <a:p>
            <a:pPr>
              <a:defRPr/>
            </a:pPr>
            <a:fld id="{B73441E8-46F8-4770-A23D-405C5F7C34D0}" type="slidenum">
              <a:rPr lang="en-AU"/>
              <a:pPr>
                <a:defRPr/>
              </a:pPr>
              <a:t>‹#›</a:t>
            </a:fld>
            <a:endParaRPr lang="en-AU" dirty="0"/>
          </a:p>
        </p:txBody>
      </p:sp>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87" r:id="rId12"/>
  </p:sldLayoutIdLst>
  <p:hf hdr="0" ft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imes New Roman" pitchFamily="18" charset="0"/>
        </a:defRPr>
      </a:lvl2pPr>
      <a:lvl3pPr algn="l" rtl="0" eaLnBrk="0" fontAlgn="base" hangingPunct="0">
        <a:spcBef>
          <a:spcPct val="0"/>
        </a:spcBef>
        <a:spcAft>
          <a:spcPct val="0"/>
        </a:spcAft>
        <a:defRPr sz="4000">
          <a:solidFill>
            <a:schemeClr val="tx2"/>
          </a:solidFill>
          <a:latin typeface="Times New Roman" pitchFamily="18" charset="0"/>
        </a:defRPr>
      </a:lvl3pPr>
      <a:lvl4pPr algn="l" rtl="0" eaLnBrk="0" fontAlgn="base" hangingPunct="0">
        <a:spcBef>
          <a:spcPct val="0"/>
        </a:spcBef>
        <a:spcAft>
          <a:spcPct val="0"/>
        </a:spcAft>
        <a:defRPr sz="4000">
          <a:solidFill>
            <a:schemeClr val="tx2"/>
          </a:solidFill>
          <a:latin typeface="Times New Roman" pitchFamily="18" charset="0"/>
        </a:defRPr>
      </a:lvl4pPr>
      <a:lvl5pPr algn="l" rtl="0" eaLnBrk="0" fontAlgn="base" hangingPunct="0">
        <a:spcBef>
          <a:spcPct val="0"/>
        </a:spcBef>
        <a:spcAft>
          <a:spcPct val="0"/>
        </a:spcAft>
        <a:defRPr sz="4000">
          <a:solidFill>
            <a:schemeClr val="tx2"/>
          </a:solidFill>
          <a:latin typeface="Times New Roman" pitchFamily="18" charset="0"/>
        </a:defRPr>
      </a:lvl5pPr>
      <a:lvl6pPr marL="457200" algn="l" rtl="0" fontAlgn="base">
        <a:spcBef>
          <a:spcPct val="0"/>
        </a:spcBef>
        <a:spcAft>
          <a:spcPct val="0"/>
        </a:spcAft>
        <a:defRPr sz="4000">
          <a:solidFill>
            <a:schemeClr val="tx2"/>
          </a:solidFill>
          <a:latin typeface="Times New Roman" pitchFamily="18" charset="0"/>
        </a:defRPr>
      </a:lvl6pPr>
      <a:lvl7pPr marL="914400" algn="l" rtl="0" fontAlgn="base">
        <a:spcBef>
          <a:spcPct val="0"/>
        </a:spcBef>
        <a:spcAft>
          <a:spcPct val="0"/>
        </a:spcAft>
        <a:defRPr sz="4000">
          <a:solidFill>
            <a:schemeClr val="tx2"/>
          </a:solidFill>
          <a:latin typeface="Times New Roman" pitchFamily="18" charset="0"/>
        </a:defRPr>
      </a:lvl7pPr>
      <a:lvl8pPr marL="1371600" algn="l" rtl="0" fontAlgn="base">
        <a:spcBef>
          <a:spcPct val="0"/>
        </a:spcBef>
        <a:spcAft>
          <a:spcPct val="0"/>
        </a:spcAft>
        <a:defRPr sz="4000">
          <a:solidFill>
            <a:schemeClr val="tx2"/>
          </a:solidFill>
          <a:latin typeface="Times New Roman" pitchFamily="18" charset="0"/>
        </a:defRPr>
      </a:lvl8pPr>
      <a:lvl9pPr marL="1828800" algn="l" rtl="0" fontAlgn="base">
        <a:spcBef>
          <a:spcPct val="0"/>
        </a:spcBef>
        <a:spcAft>
          <a:spcPct val="0"/>
        </a:spcAft>
        <a:defRPr sz="40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AU"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AU"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B73441E8-46F8-4770-A23D-405C5F7C34D0}" type="slidenum">
              <a:rPr lang="en-AU" smtClean="0"/>
              <a:pPr>
                <a:defRPr/>
              </a:pPr>
              <a:t>‹#›</a:t>
            </a:fld>
            <a:endParaRPr lang="en-AU" dirty="0"/>
          </a:p>
        </p:txBody>
      </p:sp>
      <p:pic>
        <p:nvPicPr>
          <p:cNvPr id="7" name="Picture 6" descr="PPT templates-1-standard-FINAL-2.jpg"/>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785215334"/>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DFDCB2-E1AF-CF45-BF86-32B8D7F4E267}" type="slidenum">
              <a:rPr lang="en-US" smtClean="0"/>
              <a:t>‹#›</a:t>
            </a:fld>
            <a:endParaRPr lang="en-US"/>
          </a:p>
        </p:txBody>
      </p:sp>
      <p:pic>
        <p:nvPicPr>
          <p:cNvPr id="4" name="Picture 3" descr="PPT templates-1-standard-FINAL.jp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33825717"/>
      </p:ext>
    </p:extLst>
  </p:cSld>
  <p:clrMap bg1="lt1" tx1="dk1" bg2="lt2" tx2="dk2" accent1="accent1" accent2="accent2" accent3="accent3" accent4="accent4" accent5="accent5" accent6="accent6" hlink="hlink" folHlink="folHlink"/>
  <p:sldLayoutIdLst>
    <p:sldLayoutId id="2147483764" r:id="rId1"/>
    <p:sldLayoutId id="2147483765" r:id="rId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2">
        <a:schemeClr val="bg1"/>
      </p:bgRef>
    </p:bg>
    <p:spTree>
      <p:nvGrpSpPr>
        <p:cNvPr id="1" name=""/>
        <p:cNvGrpSpPr/>
        <p:nvPr/>
      </p:nvGrpSpPr>
      <p:grpSpPr>
        <a:xfrm>
          <a:off x="0" y="0"/>
          <a:ext cx="0" cy="0"/>
          <a:chOff x="0" y="0"/>
          <a:chExt cx="0" cy="0"/>
        </a:xfrm>
      </p:grpSpPr>
      <p:pic>
        <p:nvPicPr>
          <p:cNvPr id="3" name="Picture 2" descr="PPT templates-1-standard-FINAL-2.jp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02806701"/>
      </p:ext>
    </p:extLst>
  </p:cSld>
  <p:clrMap bg1="lt1" tx1="dk1" bg2="lt2" tx2="dk2" accent1="accent1" accent2="accent2" accent3="accent3" accent4="accent4" accent5="accent5" accent6="accent6" hlink="hlink" folHlink="folHlink"/>
  <p:sldLayoutIdLst>
    <p:sldLayoutId id="2147483767" r:id="rId1"/>
    <p:sldLayoutId id="2147483768" r:id="rId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B116A7-1BBE-0246-8B18-68B8A757ECD8}" type="slidenum">
              <a:rPr lang="en-US" smtClean="0"/>
              <a:t>‹#›</a:t>
            </a:fld>
            <a:endParaRPr lang="en-US"/>
          </a:p>
        </p:txBody>
      </p:sp>
      <p:pic>
        <p:nvPicPr>
          <p:cNvPr id="4" name="Picture 3" descr="PPT templates-1-standard-covers-3-1.jp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67567174"/>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PPT templates-1-standard-covers-3-6.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11075489"/>
      </p:ext>
    </p:extLst>
  </p:cSld>
  <p:clrMap bg1="lt1" tx1="dk1" bg2="lt2" tx2="dk2" accent1="accent1" accent2="accent2" accent3="accent3" accent4="accent4" accent5="accent5" accent6="accent6" hlink="hlink" folHlink="folHlink"/>
  <p:sldLayoutIdLst>
    <p:sldLayoutId id="2147483777"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descr="PPT templates-1-standard-covers-3-3.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16691000"/>
      </p:ext>
    </p:extLst>
  </p:cSld>
  <p:clrMap bg1="lt1" tx1="dk1" bg2="lt2" tx2="dk2" accent1="accent1" accent2="accent2" accent3="accent3" accent4="accent4" accent5="accent5" accent6="accent6" hlink="hlink" folHlink="folHlink"/>
  <p:sldLayoutIdLst>
    <p:sldLayoutId id="2147483779"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PPT-templates-1-standard-6.jp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43659642"/>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8.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8.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8.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8.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8.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0.m4a"/><Relationship Id="rId1" Type="http://schemas.microsoft.com/office/2007/relationships/media" Target="../media/media10.m4a"/><Relationship Id="rId5" Type="http://schemas.openxmlformats.org/officeDocument/2006/relationships/image" Target="../media/image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1.m4a"/><Relationship Id="rId1" Type="http://schemas.microsoft.com/office/2007/relationships/media" Target="../media/media11.m4a"/><Relationship Id="rId5" Type="http://schemas.openxmlformats.org/officeDocument/2006/relationships/image" Target="../media/image8.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2.m4a"/><Relationship Id="rId1" Type="http://schemas.microsoft.com/office/2007/relationships/media" Target="../media/media12.m4a"/><Relationship Id="rId5" Type="http://schemas.openxmlformats.org/officeDocument/2006/relationships/image" Target="../media/image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3.m4a"/><Relationship Id="rId1" Type="http://schemas.microsoft.com/office/2007/relationships/media" Target="../media/media13.m4a"/><Relationship Id="rId5" Type="http://schemas.openxmlformats.org/officeDocument/2006/relationships/image" Target="../media/image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4.m4a"/><Relationship Id="rId1" Type="http://schemas.microsoft.com/office/2007/relationships/media" Target="../media/media14.m4a"/><Relationship Id="rId5" Type="http://schemas.openxmlformats.org/officeDocument/2006/relationships/image" Target="../media/image8.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5.m4a"/><Relationship Id="rId1" Type="http://schemas.microsoft.com/office/2007/relationships/media" Target="../media/media15.m4a"/><Relationship Id="rId5" Type="http://schemas.openxmlformats.org/officeDocument/2006/relationships/image" Target="../media/image8.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6.m4a"/><Relationship Id="rId1" Type="http://schemas.microsoft.com/office/2007/relationships/media" Target="../media/media16.m4a"/><Relationship Id="rId5" Type="http://schemas.openxmlformats.org/officeDocument/2006/relationships/image" Target="../media/image8.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7.m4a"/><Relationship Id="rId1" Type="http://schemas.microsoft.com/office/2007/relationships/media" Target="../media/media17.m4a"/><Relationship Id="rId5" Type="http://schemas.openxmlformats.org/officeDocument/2006/relationships/image" Target="../media/image8.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8.m4a"/><Relationship Id="rId1" Type="http://schemas.microsoft.com/office/2007/relationships/media" Target="../media/media18.m4a"/><Relationship Id="rId5" Type="http://schemas.openxmlformats.org/officeDocument/2006/relationships/image" Target="../media/image8.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9.m4a"/><Relationship Id="rId1" Type="http://schemas.microsoft.com/office/2007/relationships/media" Target="../media/media19.m4a"/><Relationship Id="rId5" Type="http://schemas.openxmlformats.org/officeDocument/2006/relationships/image" Target="../media/image8.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20.m4a"/><Relationship Id="rId1" Type="http://schemas.microsoft.com/office/2007/relationships/media" Target="../media/media20.m4a"/><Relationship Id="rId5" Type="http://schemas.openxmlformats.org/officeDocument/2006/relationships/image" Target="../media/image8.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21.m4a"/><Relationship Id="rId1" Type="http://schemas.microsoft.com/office/2007/relationships/media" Target="../media/media21.m4a"/><Relationship Id="rId5" Type="http://schemas.openxmlformats.org/officeDocument/2006/relationships/image" Target="../media/image8.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22.m4a"/><Relationship Id="rId1" Type="http://schemas.microsoft.com/office/2007/relationships/media" Target="../media/media22.m4a"/><Relationship Id="rId5" Type="http://schemas.openxmlformats.org/officeDocument/2006/relationships/image" Target="../media/image8.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23.m4a"/><Relationship Id="rId1" Type="http://schemas.microsoft.com/office/2007/relationships/media" Target="../media/media23.m4a"/><Relationship Id="rId5" Type="http://schemas.openxmlformats.org/officeDocument/2006/relationships/image" Target="../media/image8.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24.m4a"/><Relationship Id="rId1" Type="http://schemas.microsoft.com/office/2007/relationships/media" Target="../media/media24.m4a"/><Relationship Id="rId5" Type="http://schemas.openxmlformats.org/officeDocument/2006/relationships/image" Target="../media/image8.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25.m4a"/><Relationship Id="rId1" Type="http://schemas.microsoft.com/office/2007/relationships/media" Target="../media/media25.m4a"/><Relationship Id="rId5" Type="http://schemas.openxmlformats.org/officeDocument/2006/relationships/image" Target="../media/image8.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26.m4a"/><Relationship Id="rId1" Type="http://schemas.microsoft.com/office/2007/relationships/media" Target="../media/media26.m4a"/><Relationship Id="rId5" Type="http://schemas.openxmlformats.org/officeDocument/2006/relationships/image" Target="../media/image8.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27.m4a"/><Relationship Id="rId1" Type="http://schemas.microsoft.com/office/2007/relationships/media" Target="../media/media27.m4a"/><Relationship Id="rId6" Type="http://schemas.openxmlformats.org/officeDocument/2006/relationships/image" Target="../media/image8.png"/><Relationship Id="rId5" Type="http://schemas.openxmlformats.org/officeDocument/2006/relationships/hyperlink" Target="https://www.ed.ac.uk/reflection/reflectors-toolkit/reflecting-on-experience/gibbs-reflective-cycle" TargetMode="Externa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28.m4a"/><Relationship Id="rId1" Type="http://schemas.microsoft.com/office/2007/relationships/media" Target="../media/media28.m4a"/><Relationship Id="rId5" Type="http://schemas.openxmlformats.org/officeDocument/2006/relationships/image" Target="../media/image8.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29.m4a"/><Relationship Id="rId1" Type="http://schemas.microsoft.com/office/2007/relationships/media" Target="../media/media29.m4a"/><Relationship Id="rId5" Type="http://schemas.openxmlformats.org/officeDocument/2006/relationships/image" Target="../media/image8.png"/><Relationship Id="rId4"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idx="4294967295"/>
          </p:nvPr>
        </p:nvSpPr>
        <p:spPr>
          <a:xfrm>
            <a:off x="767408" y="764704"/>
            <a:ext cx="6984776" cy="1470025"/>
          </a:xfrm>
          <a:prstGeom prst="rect">
            <a:avLst/>
          </a:prstGeom>
        </p:spPr>
        <p:txBody>
          <a:bodyPr>
            <a:normAutofit/>
          </a:bodyPr>
          <a:lstStyle/>
          <a:p>
            <a:pPr algn="l"/>
            <a:r>
              <a:rPr lang="en-US" dirty="0">
                <a:latin typeface="Garamond" panose="02020404030301010803" pitchFamily="18" charset="0"/>
              </a:rPr>
              <a:t>FIT1055: IT professional practice and Ethics</a:t>
            </a:r>
          </a:p>
        </p:txBody>
      </p:sp>
      <p:sp>
        <p:nvSpPr>
          <p:cNvPr id="6" name="Subtitle 5"/>
          <p:cNvSpPr>
            <a:spLocks noGrp="1"/>
          </p:cNvSpPr>
          <p:nvPr>
            <p:ph type="body" sz="quarter" idx="4294967295"/>
          </p:nvPr>
        </p:nvSpPr>
        <p:spPr>
          <a:xfrm>
            <a:off x="767408" y="2427496"/>
            <a:ext cx="7776864" cy="1439863"/>
          </a:xfrm>
          <a:prstGeom prst="rect">
            <a:avLst/>
          </a:prstGeom>
        </p:spPr>
        <p:txBody>
          <a:bodyPr>
            <a:normAutofit/>
          </a:bodyPr>
          <a:lstStyle/>
          <a:p>
            <a:pPr marL="0" indent="0">
              <a:buNone/>
            </a:pPr>
            <a:r>
              <a:rPr lang="en-US" dirty="0">
                <a:solidFill>
                  <a:schemeClr val="tx2"/>
                </a:solidFill>
                <a:latin typeface="Garamond" panose="02020404030301010803" pitchFamily="18" charset="0"/>
              </a:rPr>
              <a:t>Gibb’s reflective cycle</a:t>
            </a:r>
          </a:p>
        </p:txBody>
      </p:sp>
      <p:sp>
        <p:nvSpPr>
          <p:cNvPr id="2" name="TextBox 1"/>
          <p:cNvSpPr txBox="1"/>
          <p:nvPr/>
        </p:nvSpPr>
        <p:spPr>
          <a:xfrm>
            <a:off x="15138584" y="2962762"/>
            <a:ext cx="184666" cy="369332"/>
          </a:xfrm>
          <a:prstGeom prst="rect">
            <a:avLst/>
          </a:prstGeom>
          <a:noFill/>
        </p:spPr>
        <p:txBody>
          <a:bodyPr wrap="none" rtlCol="0">
            <a:spAutoFit/>
          </a:bodyPr>
          <a:lstStyle/>
          <a:p>
            <a:endParaRPr lang="en-US" dirty="0"/>
          </a:p>
        </p:txBody>
      </p:sp>
      <p:pic>
        <p:nvPicPr>
          <p:cNvPr id="3" name="Picture 2"/>
          <p:cNvPicPr>
            <a:picLocks noChangeAspect="1"/>
          </p:cNvPicPr>
          <p:nvPr/>
        </p:nvPicPr>
        <p:blipFill rotWithShape="1">
          <a:blip r:embed="rId5"/>
          <a:srcRect l="61618" r="2096" b="651"/>
          <a:stretch/>
        </p:blipFill>
        <p:spPr>
          <a:xfrm>
            <a:off x="8256240" y="0"/>
            <a:ext cx="3347375" cy="6885384"/>
          </a:xfrm>
          <a:prstGeom prst="rect">
            <a:avLst/>
          </a:prstGeom>
        </p:spPr>
      </p:pic>
      <p:pic>
        <p:nvPicPr>
          <p:cNvPr id="4" name="Picture 3"/>
          <p:cNvPicPr>
            <a:picLocks noChangeAspect="1"/>
          </p:cNvPicPr>
          <p:nvPr/>
        </p:nvPicPr>
        <p:blipFill rotWithShape="1">
          <a:blip r:embed="rId5"/>
          <a:srcRect l="-8303" t="-32096" r="79376" b="114920"/>
          <a:stretch/>
        </p:blipFill>
        <p:spPr>
          <a:xfrm>
            <a:off x="-1934161" y="-2603813"/>
            <a:ext cx="4645785" cy="2072373"/>
          </a:xfrm>
          <a:prstGeom prst="rect">
            <a:avLst/>
          </a:prstGeom>
        </p:spPr>
      </p:pic>
      <p:pic>
        <p:nvPicPr>
          <p:cNvPr id="7" name="Picture 6"/>
          <p:cNvPicPr>
            <a:picLocks noChangeAspect="1"/>
          </p:cNvPicPr>
          <p:nvPr/>
        </p:nvPicPr>
        <p:blipFill rotWithShape="1">
          <a:blip r:embed="rId5"/>
          <a:srcRect r="66180" b="81278"/>
          <a:stretch/>
        </p:blipFill>
        <p:spPr>
          <a:xfrm>
            <a:off x="692441" y="5661249"/>
            <a:ext cx="2250885" cy="936104"/>
          </a:xfrm>
          <a:prstGeom prst="rect">
            <a:avLst/>
          </a:prstGeom>
        </p:spPr>
      </p:pic>
      <p:pic>
        <p:nvPicPr>
          <p:cNvPr id="8" name="Picture 7"/>
          <p:cNvPicPr>
            <a:picLocks noChangeAspect="1"/>
          </p:cNvPicPr>
          <p:nvPr/>
        </p:nvPicPr>
        <p:blipFill rotWithShape="1">
          <a:blip r:embed="rId5"/>
          <a:srcRect t="79504" r="77476"/>
          <a:stretch/>
        </p:blipFill>
        <p:spPr>
          <a:xfrm>
            <a:off x="2367262" y="5252513"/>
            <a:ext cx="2072554" cy="1416847"/>
          </a:xfrm>
          <a:prstGeom prst="rect">
            <a:avLst/>
          </a:prstGeom>
        </p:spPr>
      </p:pic>
      <p:pic>
        <p:nvPicPr>
          <p:cNvPr id="14" name="Audio 13">
            <a:extLst>
              <a:ext uri="{FF2B5EF4-FFF2-40B4-BE49-F238E27FC236}">
                <a16:creationId xmlns:a16="http://schemas.microsoft.com/office/drawing/2014/main" id="{80AA4F27-1591-8284-91F3-9BEDE2DA087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935780418"/>
      </p:ext>
    </p:extLst>
  </p:cSld>
  <p:clrMapOvr>
    <a:masterClrMapping/>
  </p:clrMapOvr>
  <mc:AlternateContent xmlns:mc="http://schemas.openxmlformats.org/markup-compatibility/2006">
    <mc:Choice xmlns:p14="http://schemas.microsoft.com/office/powerpoint/2010/main" Requires="p14">
      <p:transition spd="slow" p14:dur="2000" advTm="11402"/>
    </mc:Choice>
    <mc:Fallback>
      <p:transition spd="slow" advTm="114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839416" y="1484784"/>
            <a:ext cx="10225136" cy="4032448"/>
          </a:xfrm>
        </p:spPr>
        <p:txBody>
          <a:bodyPr>
            <a:noAutofit/>
          </a:bodyPr>
          <a:lstStyle/>
          <a:p>
            <a:endParaRPr lang="en-US" dirty="0">
              <a:latin typeface="Garamond" panose="02020404030301010803" pitchFamily="18" charset="0"/>
              <a:cs typeface="Arial"/>
            </a:endParaRPr>
          </a:p>
          <a:p>
            <a:pPr marL="514350" indent="-514350">
              <a:buFont typeface="+mj-lt"/>
              <a:buAutoNum type="arabicPeriod"/>
            </a:pPr>
            <a:r>
              <a:rPr lang="en-US" sz="2600" dirty="0">
                <a:latin typeface="Garamond" panose="02020404030301010803" pitchFamily="18" charset="0"/>
              </a:rPr>
              <a:t>Describe what is Gibb's reflective cycle model</a:t>
            </a:r>
          </a:p>
          <a:p>
            <a:pPr marL="514350" indent="-514350">
              <a:buFont typeface="+mj-lt"/>
              <a:buAutoNum type="arabicPeriod"/>
            </a:pPr>
            <a:r>
              <a:rPr lang="en-US" sz="2600" dirty="0">
                <a:latin typeface="Garamond" panose="02020404030301010803" pitchFamily="18" charset="0"/>
              </a:rPr>
              <a:t>Comprehend how to use Gibb's reflective cycle model as part of improving your life-long learning</a:t>
            </a:r>
          </a:p>
          <a:p>
            <a:pPr marL="514350" indent="-514350">
              <a:buFont typeface="+mj-lt"/>
              <a:buAutoNum type="arabicPeriod"/>
            </a:pPr>
            <a:r>
              <a:rPr lang="en-US" sz="2600" dirty="0">
                <a:latin typeface="Garamond" panose="02020404030301010803" pitchFamily="18" charset="0"/>
              </a:rPr>
              <a:t>Comprehend how Gibbs’ reflective cycle is applied in Assignment 3</a:t>
            </a:r>
          </a:p>
        </p:txBody>
      </p:sp>
      <p:sp>
        <p:nvSpPr>
          <p:cNvPr id="2" name="Title 1"/>
          <p:cNvSpPr>
            <a:spLocks noGrp="1"/>
          </p:cNvSpPr>
          <p:nvPr>
            <p:ph type="title" idx="4294967295"/>
          </p:nvPr>
        </p:nvSpPr>
        <p:spPr>
          <a:xfrm>
            <a:off x="583202" y="188640"/>
            <a:ext cx="9505056" cy="1106488"/>
          </a:xfrm>
          <a:prstGeom prst="rect">
            <a:avLst/>
          </a:prstGeom>
        </p:spPr>
        <p:txBody>
          <a:bodyPr>
            <a:normAutofit/>
          </a:bodyPr>
          <a:lstStyle/>
          <a:p>
            <a:r>
              <a:rPr lang="en-US" dirty="0">
                <a:latin typeface="Garamond" panose="02020404030301010803" pitchFamily="18" charset="0"/>
                <a:cs typeface="Arial"/>
              </a:rPr>
              <a:t>Things you will learn by the end of lesson</a:t>
            </a:r>
          </a:p>
        </p:txBody>
      </p:sp>
      <p:pic>
        <p:nvPicPr>
          <p:cNvPr id="11" name="Audio 10">
            <a:extLst>
              <a:ext uri="{FF2B5EF4-FFF2-40B4-BE49-F238E27FC236}">
                <a16:creationId xmlns:a16="http://schemas.microsoft.com/office/drawing/2014/main" id="{B9D41002-0BC1-4AB0-0CFA-E3C81693FAB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577827782"/>
      </p:ext>
    </p:extLst>
  </p:cSld>
  <p:clrMapOvr>
    <a:masterClrMapping/>
  </p:clrMapOvr>
  <mc:AlternateContent xmlns:mc="http://schemas.openxmlformats.org/markup-compatibility/2006">
    <mc:Choice xmlns:p14="http://schemas.microsoft.com/office/powerpoint/2010/main" Requires="p14">
      <p:transition spd="slow" p14:dur="2000" advTm="15786"/>
    </mc:Choice>
    <mc:Fallback>
      <p:transition spd="slow" advTm="1578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983432" y="1546226"/>
            <a:ext cx="9865096" cy="4608512"/>
          </a:xfrm>
        </p:spPr>
        <p:txBody>
          <a:bodyPr>
            <a:normAutofit/>
          </a:bodyPr>
          <a:lstStyle/>
          <a:p>
            <a:r>
              <a:rPr lang="en-US" dirty="0">
                <a:solidFill>
                  <a:srgbClr val="333333"/>
                </a:solidFill>
                <a:effectLst/>
                <a:latin typeface="Garamond" panose="02020404030301010803" pitchFamily="18" charset="0"/>
              </a:rPr>
              <a:t>For students to engage in deep learning, reflection is required, whereas surface learning may occur because of a lack of reflection. </a:t>
            </a: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latin typeface="Garamond" panose="02020404030301010803" pitchFamily="18" charset="0"/>
              </a:rPr>
              <a:t>Reflection</a:t>
            </a:r>
            <a:r>
              <a:rPr lang="en-US" dirty="0">
                <a:solidFill>
                  <a:srgbClr val="333333"/>
                </a:solidFill>
                <a:effectLst/>
                <a:latin typeface="Garamond" panose="02020404030301010803" pitchFamily="18" charset="0"/>
              </a:rPr>
              <a:t>– why do we need it ?</a:t>
            </a:r>
          </a:p>
        </p:txBody>
      </p:sp>
      <p:pic>
        <p:nvPicPr>
          <p:cNvPr id="10" name="Audio 9">
            <a:extLst>
              <a:ext uri="{FF2B5EF4-FFF2-40B4-BE49-F238E27FC236}">
                <a16:creationId xmlns:a16="http://schemas.microsoft.com/office/drawing/2014/main" id="{02252BD7-3CB8-E0BB-EC2F-E9C2E04FEF5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039282824"/>
      </p:ext>
    </p:extLst>
  </p:cSld>
  <p:clrMapOvr>
    <a:masterClrMapping/>
  </p:clrMapOvr>
  <mc:AlternateContent xmlns:mc="http://schemas.openxmlformats.org/markup-compatibility/2006">
    <mc:Choice xmlns:p14="http://schemas.microsoft.com/office/powerpoint/2010/main" Requires="p14">
      <p:transition spd="slow" p14:dur="2000" advTm="14688"/>
    </mc:Choice>
    <mc:Fallback>
      <p:transition spd="slow" advTm="1468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875420" y="1772816"/>
            <a:ext cx="9865096" cy="4608512"/>
          </a:xfrm>
        </p:spPr>
        <p:txBody>
          <a:bodyPr>
            <a:normAutofit/>
          </a:bodyPr>
          <a:lstStyle/>
          <a:p>
            <a:r>
              <a:rPr lang="en-US" dirty="0">
                <a:solidFill>
                  <a:srgbClr val="333333"/>
                </a:solidFill>
                <a:effectLst/>
                <a:latin typeface="Garamond" panose="02020404030301010803" pitchFamily="18" charset="0"/>
              </a:rPr>
              <a:t>In this unit, we define reflection as :</a:t>
            </a:r>
          </a:p>
          <a:p>
            <a:endParaRPr lang="en-US" dirty="0">
              <a:solidFill>
                <a:srgbClr val="333333"/>
              </a:solidFill>
              <a:latin typeface="Garamond" panose="02020404030301010803" pitchFamily="18" charset="0"/>
            </a:endParaRPr>
          </a:p>
          <a:p>
            <a:r>
              <a:rPr lang="en-US" dirty="0">
                <a:latin typeface="Garamond" panose="02020404030301010803" pitchFamily="18" charset="0"/>
              </a:rPr>
              <a:t>Conceptualized self-study, in which one engages in intentional and systematic inquiry in one’s own practice, recognized as a complex and deliberate process of thinking about and interpreting an experience in order to learn from the experience to improve practice. </a:t>
            </a:r>
            <a:endParaRPr lang="en-MY" dirty="0">
              <a:latin typeface="Garamond" panose="02020404030301010803" pitchFamily="18" charset="0"/>
            </a:endParaRP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pPr algn="l"/>
            <a:r>
              <a:rPr lang="en-US" sz="4000" dirty="0">
                <a:latin typeface="Garamond" panose="02020404030301010803" pitchFamily="18" charset="0"/>
              </a:rPr>
              <a:t>Reflection – what is it?</a:t>
            </a:r>
          </a:p>
        </p:txBody>
      </p:sp>
      <p:pic>
        <p:nvPicPr>
          <p:cNvPr id="9" name="Audio 8">
            <a:extLst>
              <a:ext uri="{FF2B5EF4-FFF2-40B4-BE49-F238E27FC236}">
                <a16:creationId xmlns:a16="http://schemas.microsoft.com/office/drawing/2014/main" id="{BA1A087E-814B-A16A-EC84-E62EE8BBE77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3211627351"/>
      </p:ext>
    </p:extLst>
  </p:cSld>
  <p:clrMapOvr>
    <a:masterClrMapping/>
  </p:clrMapOvr>
  <mc:AlternateContent xmlns:mc="http://schemas.openxmlformats.org/markup-compatibility/2006">
    <mc:Choice xmlns:p14="http://schemas.microsoft.com/office/powerpoint/2010/main" Requires="p14">
      <p:transition spd="slow" p14:dur="2000" advTm="41429"/>
    </mc:Choice>
    <mc:Fallback>
      <p:transition spd="slow" advTm="414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875420" y="1772816"/>
            <a:ext cx="9865096" cy="4608512"/>
          </a:xfrm>
        </p:spPr>
        <p:txBody>
          <a:bodyPr>
            <a:normAutofit/>
          </a:bodyPr>
          <a:lstStyle/>
          <a:p>
            <a:r>
              <a:rPr lang="en-US" dirty="0">
                <a:solidFill>
                  <a:srgbClr val="333333"/>
                </a:solidFill>
                <a:effectLst/>
                <a:latin typeface="Garamond" panose="02020404030301010803" pitchFamily="18" charset="0"/>
              </a:rPr>
              <a:t>Reflective writing helps you make personal sense out of the rich, complex ,and confusing information you are learning, ideas you are confronting, and people you are working with. </a:t>
            </a:r>
          </a:p>
          <a:p>
            <a:endParaRPr lang="en-US" dirty="0">
              <a:solidFill>
                <a:srgbClr val="333333"/>
              </a:solidFill>
              <a:latin typeface="Garamond" panose="02020404030301010803" pitchFamily="18" charset="0"/>
            </a:endParaRPr>
          </a:p>
          <a:p>
            <a:r>
              <a:rPr lang="en-US" dirty="0">
                <a:solidFill>
                  <a:srgbClr val="333333"/>
                </a:solidFill>
                <a:effectLst/>
                <a:latin typeface="Garamond" panose="02020404030301010803" pitchFamily="18" charset="0"/>
              </a:rPr>
              <a:t>As the term implies, this writing is like a mirror, giving you an opportunity to look at your developing self. This personal connection increases your motivation, purpose, and involvement by helping you define what you want to learn and say.</a:t>
            </a: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effectLst/>
                <a:latin typeface="Garamond" panose="02020404030301010803" pitchFamily="18" charset="0"/>
              </a:rPr>
              <a:t>Why do we need reflective writing?</a:t>
            </a:r>
          </a:p>
        </p:txBody>
      </p:sp>
      <p:pic>
        <p:nvPicPr>
          <p:cNvPr id="7" name="Audio 6">
            <a:extLst>
              <a:ext uri="{FF2B5EF4-FFF2-40B4-BE49-F238E27FC236}">
                <a16:creationId xmlns:a16="http://schemas.microsoft.com/office/drawing/2014/main" id="{55B89DE4-3A1E-15C4-765D-18C1DD60364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3111363281"/>
      </p:ext>
    </p:extLst>
  </p:cSld>
  <p:clrMapOvr>
    <a:masterClrMapping/>
  </p:clrMapOvr>
  <mc:AlternateContent xmlns:mc="http://schemas.openxmlformats.org/markup-compatibility/2006">
    <mc:Choice xmlns:p14="http://schemas.microsoft.com/office/powerpoint/2010/main" Requires="p14">
      <p:transition spd="slow" p14:dur="2000" advTm="56352"/>
    </mc:Choice>
    <mc:Fallback>
      <p:transition spd="slow" advTm="5635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875420" y="1772816"/>
            <a:ext cx="9865096" cy="4608512"/>
          </a:xfrm>
        </p:spPr>
        <p:txBody>
          <a:bodyPr>
            <a:normAutofit/>
          </a:bodyPr>
          <a:lstStyle/>
          <a:p>
            <a:r>
              <a:rPr lang="en-MY" dirty="0">
                <a:latin typeface="Garamond" panose="02020404030301010803" pitchFamily="18" charset="0"/>
              </a:rPr>
              <a:t>Gibbs' Reflective Cycle was developed by Graham Gibbs in 1988 to give structure to learning from experiences. </a:t>
            </a:r>
          </a:p>
          <a:p>
            <a:r>
              <a:rPr lang="en-MY" dirty="0">
                <a:latin typeface="Garamond" panose="02020404030301010803" pitchFamily="18" charset="0"/>
              </a:rPr>
              <a:t> </a:t>
            </a:r>
          </a:p>
          <a:p>
            <a:r>
              <a:rPr lang="en-MY" dirty="0">
                <a:latin typeface="Garamond" panose="02020404030301010803" pitchFamily="18" charset="0"/>
              </a:rPr>
              <a:t>It offers a framework for examining experiences, and given its cyclic nature lends itself particularly well to repeated experiences, allowing you to learn and plan from things that either went well or didn’t go well. </a:t>
            </a:r>
          </a:p>
        </p:txBody>
      </p:sp>
      <p:sp>
        <p:nvSpPr>
          <p:cNvPr id="2" name="Title 1"/>
          <p:cNvSpPr>
            <a:spLocks noGrp="1"/>
          </p:cNvSpPr>
          <p:nvPr>
            <p:ph type="title" idx="4294967295"/>
          </p:nvPr>
        </p:nvSpPr>
        <p:spPr>
          <a:xfrm>
            <a:off x="623392" y="332656"/>
            <a:ext cx="10369152" cy="1106488"/>
          </a:xfrm>
          <a:prstGeom prst="rect">
            <a:avLst/>
          </a:prstGeom>
        </p:spPr>
        <p:txBody>
          <a:bodyPr>
            <a:normAutofit fontScale="90000"/>
          </a:bodyPr>
          <a:lstStyle/>
          <a:p>
            <a:pPr algn="l"/>
            <a:r>
              <a:rPr lang="en-US" dirty="0">
                <a:latin typeface="Garamond" panose="02020404030301010803" pitchFamily="18" charset="0"/>
              </a:rPr>
              <a:t>How do we write a “reflective writing”?</a:t>
            </a:r>
            <a:br>
              <a:rPr lang="en-US" dirty="0">
                <a:latin typeface="Garamond" panose="02020404030301010803" pitchFamily="18" charset="0"/>
              </a:rPr>
            </a:br>
            <a:r>
              <a:rPr lang="en-US" sz="4000" dirty="0">
                <a:latin typeface="Garamond" panose="02020404030301010803" pitchFamily="18" charset="0"/>
              </a:rPr>
              <a:t>Gibb’s reflective cycle</a:t>
            </a:r>
          </a:p>
        </p:txBody>
      </p:sp>
      <p:pic>
        <p:nvPicPr>
          <p:cNvPr id="7" name="Audio 6">
            <a:extLst>
              <a:ext uri="{FF2B5EF4-FFF2-40B4-BE49-F238E27FC236}">
                <a16:creationId xmlns:a16="http://schemas.microsoft.com/office/drawing/2014/main" id="{7BC7E0EB-B8F1-5212-B4E2-A1E5E450711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400846138"/>
      </p:ext>
    </p:extLst>
  </p:cSld>
  <p:clrMapOvr>
    <a:masterClrMapping/>
  </p:clrMapOvr>
  <mc:AlternateContent xmlns:mc="http://schemas.openxmlformats.org/markup-compatibility/2006">
    <mc:Choice xmlns:p14="http://schemas.microsoft.com/office/powerpoint/2010/main" Requires="p14">
      <p:transition spd="slow" p14:dur="2000" advTm="130026"/>
    </mc:Choice>
    <mc:Fallback>
      <p:transition spd="slow" advTm="1300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875420" y="1772816"/>
            <a:ext cx="6444716" cy="4824536"/>
          </a:xfrm>
        </p:spPr>
        <p:txBody>
          <a:bodyPr>
            <a:normAutofit/>
          </a:bodyPr>
          <a:lstStyle/>
          <a:p>
            <a:pPr lvl="0"/>
            <a:r>
              <a:rPr lang="en-MY" b="1" dirty="0">
                <a:latin typeface="Garamond" panose="02020404030301010803" pitchFamily="18" charset="0"/>
              </a:rPr>
              <a:t>Description</a:t>
            </a:r>
            <a:r>
              <a:rPr lang="en-MY" dirty="0">
                <a:latin typeface="Garamond" panose="02020404030301010803" pitchFamily="18" charset="0"/>
              </a:rPr>
              <a:t> of the experience</a:t>
            </a:r>
          </a:p>
          <a:p>
            <a:pPr lvl="0"/>
            <a:r>
              <a:rPr lang="en-MY" b="1" dirty="0">
                <a:latin typeface="Garamond" panose="02020404030301010803" pitchFamily="18" charset="0"/>
              </a:rPr>
              <a:t>Feelings</a:t>
            </a:r>
            <a:r>
              <a:rPr lang="en-MY" dirty="0">
                <a:latin typeface="Garamond" panose="02020404030301010803" pitchFamily="18" charset="0"/>
              </a:rPr>
              <a:t> and thoughts about the experience</a:t>
            </a:r>
          </a:p>
          <a:p>
            <a:pPr lvl="0"/>
            <a:r>
              <a:rPr lang="en-MY" b="1" dirty="0">
                <a:latin typeface="Garamond" panose="02020404030301010803" pitchFamily="18" charset="0"/>
              </a:rPr>
              <a:t>Evaluation</a:t>
            </a:r>
            <a:r>
              <a:rPr lang="en-MY" dirty="0">
                <a:latin typeface="Garamond" panose="02020404030301010803" pitchFamily="18" charset="0"/>
              </a:rPr>
              <a:t> of the experience, both good and bad</a:t>
            </a:r>
          </a:p>
          <a:p>
            <a:pPr lvl="0"/>
            <a:r>
              <a:rPr lang="en-MY" b="1" dirty="0">
                <a:latin typeface="Garamond" panose="02020404030301010803" pitchFamily="18" charset="0"/>
              </a:rPr>
              <a:t>Analysis</a:t>
            </a:r>
            <a:r>
              <a:rPr lang="en-MY" dirty="0">
                <a:latin typeface="Garamond" panose="02020404030301010803" pitchFamily="18" charset="0"/>
              </a:rPr>
              <a:t> to make sense of the situation</a:t>
            </a:r>
          </a:p>
          <a:p>
            <a:pPr lvl="0"/>
            <a:r>
              <a:rPr lang="en-MY" b="1" dirty="0">
                <a:latin typeface="Garamond" panose="02020404030301010803" pitchFamily="18" charset="0"/>
              </a:rPr>
              <a:t>Conclusion</a:t>
            </a:r>
            <a:r>
              <a:rPr lang="en-MY" dirty="0">
                <a:latin typeface="Garamond" panose="02020404030301010803" pitchFamily="18" charset="0"/>
              </a:rPr>
              <a:t> about what you learned and what you could have done differently</a:t>
            </a:r>
          </a:p>
          <a:p>
            <a:pPr lvl="0"/>
            <a:r>
              <a:rPr lang="en-MY" b="1" dirty="0">
                <a:latin typeface="Garamond" panose="02020404030301010803" pitchFamily="18" charset="0"/>
              </a:rPr>
              <a:t>Action plan</a:t>
            </a:r>
            <a:r>
              <a:rPr lang="en-MY" dirty="0">
                <a:latin typeface="Garamond" panose="02020404030301010803" pitchFamily="18" charset="0"/>
              </a:rPr>
              <a:t> for how you would deal with similar situations in the future, or general changes you might find appropriate.</a:t>
            </a: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pPr algn="l"/>
            <a:r>
              <a:rPr lang="en-US" sz="4000" dirty="0">
                <a:latin typeface="Garamond" panose="02020404030301010803" pitchFamily="18" charset="0"/>
              </a:rPr>
              <a:t>Gibb’s reflective cycle has 6 stages</a:t>
            </a:r>
          </a:p>
        </p:txBody>
      </p:sp>
      <p:pic>
        <p:nvPicPr>
          <p:cNvPr id="4" name="Picture 3">
            <a:extLst>
              <a:ext uri="{FF2B5EF4-FFF2-40B4-BE49-F238E27FC236}">
                <a16:creationId xmlns:a16="http://schemas.microsoft.com/office/drawing/2014/main" id="{A356627C-E3E8-40DF-A620-DCFDC8D62230}"/>
              </a:ext>
            </a:extLst>
          </p:cNvPr>
          <p:cNvPicPr/>
          <p:nvPr/>
        </p:nvPicPr>
        <p:blipFill>
          <a:blip r:embed="rId5"/>
          <a:stretch>
            <a:fillRect/>
          </a:stretch>
        </p:blipFill>
        <p:spPr>
          <a:xfrm>
            <a:off x="7968208" y="1499004"/>
            <a:ext cx="3456384" cy="4378268"/>
          </a:xfrm>
          <a:prstGeom prst="rect">
            <a:avLst/>
          </a:prstGeom>
        </p:spPr>
      </p:pic>
      <p:sp>
        <p:nvSpPr>
          <p:cNvPr id="6" name="TextBox 5">
            <a:extLst>
              <a:ext uri="{FF2B5EF4-FFF2-40B4-BE49-F238E27FC236}">
                <a16:creationId xmlns:a16="http://schemas.microsoft.com/office/drawing/2014/main" id="{F88E7D9F-CC1D-435A-02DA-5D8D8E847CEB}"/>
              </a:ext>
            </a:extLst>
          </p:cNvPr>
          <p:cNvSpPr txBox="1"/>
          <p:nvPr/>
        </p:nvSpPr>
        <p:spPr>
          <a:xfrm>
            <a:off x="9120336" y="5877272"/>
            <a:ext cx="2088232" cy="369332"/>
          </a:xfrm>
          <a:prstGeom prst="rect">
            <a:avLst/>
          </a:prstGeom>
          <a:noFill/>
        </p:spPr>
        <p:txBody>
          <a:bodyPr wrap="square" rtlCol="0">
            <a:spAutoFit/>
          </a:bodyPr>
          <a:lstStyle/>
          <a:p>
            <a:r>
              <a:rPr lang="en-US" dirty="0">
                <a:latin typeface="Garamond" panose="02020404030301010803" pitchFamily="18" charset="0"/>
              </a:rPr>
              <a:t>Figure 1</a:t>
            </a:r>
          </a:p>
        </p:txBody>
      </p:sp>
      <p:pic>
        <p:nvPicPr>
          <p:cNvPr id="9" name="Audio 8">
            <a:extLst>
              <a:ext uri="{FF2B5EF4-FFF2-40B4-BE49-F238E27FC236}">
                <a16:creationId xmlns:a16="http://schemas.microsoft.com/office/drawing/2014/main" id="{DEB1E564-5978-545D-EE76-A7487E9A0D1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48002892"/>
      </p:ext>
    </p:extLst>
  </p:cSld>
  <p:clrMapOvr>
    <a:masterClrMapping/>
  </p:clrMapOvr>
  <mc:AlternateContent xmlns:mc="http://schemas.openxmlformats.org/markup-compatibility/2006">
    <mc:Choice xmlns:p14="http://schemas.microsoft.com/office/powerpoint/2010/main" Requires="p14">
      <p:transition spd="slow" p14:dur="2000" advTm="26293"/>
    </mc:Choice>
    <mc:Fallback>
      <p:transition spd="slow" advTm="262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875420" y="1772816"/>
            <a:ext cx="6804756" cy="4608512"/>
          </a:xfrm>
        </p:spPr>
        <p:txBody>
          <a:bodyPr>
            <a:normAutofit/>
          </a:bodyPr>
          <a:lstStyle/>
          <a:p>
            <a:pPr marL="0" marR="0" algn="just">
              <a:lnSpc>
                <a:spcPct val="115000"/>
              </a:lnSpc>
              <a:spcBef>
                <a:spcPts val="0"/>
              </a:spcBef>
              <a:spcAft>
                <a:spcPts val="1000"/>
              </a:spcAft>
            </a:pPr>
            <a:r>
              <a:rPr lang="en-US" sz="1800" b="1" dirty="0">
                <a:effectLst/>
                <a:latin typeface="Book Antiqua" panose="02040602050305030304" pitchFamily="18" charset="0"/>
                <a:ea typeface="Calibri" panose="020F0502020204030204" pitchFamily="34" charset="0"/>
                <a:cs typeface="Times New Roman" panose="02020603050405020304" pitchFamily="18" charset="0"/>
              </a:rPr>
              <a:t>Refer to </a:t>
            </a:r>
            <a:r>
              <a:rPr lang="en-US" sz="1800" b="1" dirty="0">
                <a:latin typeface="Book Antiqua" panose="02040602050305030304" pitchFamily="18" charset="0"/>
                <a:ea typeface="Calibri" panose="020F0502020204030204" pitchFamily="34" charset="0"/>
                <a:cs typeface="Times New Roman" panose="02020603050405020304" pitchFamily="18" charset="0"/>
              </a:rPr>
              <a:t>Figure 1 </a:t>
            </a:r>
          </a:p>
          <a:p>
            <a:pPr marL="0" marR="0" algn="just">
              <a:lnSpc>
                <a:spcPct val="115000"/>
              </a:lnSpc>
              <a:spcBef>
                <a:spcPts val="0"/>
              </a:spcBef>
              <a:spcAft>
                <a:spcPts val="1000"/>
              </a:spcAft>
            </a:pPr>
            <a:r>
              <a:rPr lang="en-US" sz="1800" dirty="0">
                <a:effectLst/>
                <a:latin typeface="Book Antiqua" panose="02040602050305030304" pitchFamily="18" charset="0"/>
                <a:ea typeface="Calibri" panose="020F0502020204030204" pitchFamily="34" charset="0"/>
                <a:cs typeface="Times New Roman" panose="02020603050405020304" pitchFamily="18" charset="0"/>
              </a:rPr>
              <a:t>This model is a good way to work through an experience. This can be either a stand-alone experience or a situation you go through frequently, for example meetings with your team. </a:t>
            </a:r>
          </a:p>
          <a:p>
            <a:pPr marL="0" marR="0" algn="just">
              <a:lnSpc>
                <a:spcPct val="115000"/>
              </a:lnSpc>
              <a:spcBef>
                <a:spcPts val="0"/>
              </a:spcBef>
              <a:spcAft>
                <a:spcPts val="1000"/>
              </a:spcAft>
            </a:pPr>
            <a:r>
              <a:rPr lang="en-US" sz="1800" dirty="0">
                <a:effectLst/>
                <a:latin typeface="Book Antiqua" panose="02040602050305030304" pitchFamily="18" charset="0"/>
                <a:ea typeface="Calibri" panose="020F0502020204030204" pitchFamily="34" charset="0"/>
                <a:cs typeface="Times New Roman" panose="02020603050405020304" pitchFamily="18" charset="0"/>
              </a:rPr>
              <a:t>Gibb’s originally advocated its use in repeated situations, but the stages and principles apply equally well for single experiences too. </a:t>
            </a:r>
          </a:p>
          <a:p>
            <a:pPr marL="0" marR="0" algn="just">
              <a:lnSpc>
                <a:spcPct val="115000"/>
              </a:lnSpc>
              <a:spcBef>
                <a:spcPts val="0"/>
              </a:spcBef>
              <a:spcAft>
                <a:spcPts val="1000"/>
              </a:spcAft>
            </a:pPr>
            <a:r>
              <a:rPr lang="en-US" sz="1800" dirty="0">
                <a:effectLst/>
                <a:latin typeface="Book Antiqua" panose="02040602050305030304" pitchFamily="18" charset="0"/>
                <a:ea typeface="Calibri" panose="020F0502020204030204" pitchFamily="34" charset="0"/>
                <a:cs typeface="Times New Roman" panose="02020603050405020304" pitchFamily="18" charset="0"/>
              </a:rPr>
              <a:t>If done with a stand-alone experience, the action plan may become more general and look at how you can apply your conclusions in the future.</a:t>
            </a: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effectLst/>
                <a:latin typeface="Garamond" panose="02020404030301010803" pitchFamily="18" charset="0"/>
              </a:rPr>
              <a:t>Explanation on the cycle</a:t>
            </a:r>
          </a:p>
        </p:txBody>
      </p:sp>
      <p:pic>
        <p:nvPicPr>
          <p:cNvPr id="6" name="Picture 5">
            <a:extLst>
              <a:ext uri="{FF2B5EF4-FFF2-40B4-BE49-F238E27FC236}">
                <a16:creationId xmlns:a16="http://schemas.microsoft.com/office/drawing/2014/main" id="{137264F0-307F-92EE-B7D9-F862259BB34D}"/>
              </a:ext>
            </a:extLst>
          </p:cNvPr>
          <p:cNvPicPr/>
          <p:nvPr/>
        </p:nvPicPr>
        <p:blipFill>
          <a:blip r:embed="rId5"/>
          <a:stretch>
            <a:fillRect/>
          </a:stretch>
        </p:blipFill>
        <p:spPr>
          <a:xfrm>
            <a:off x="8112224" y="1052736"/>
            <a:ext cx="3456384" cy="4378268"/>
          </a:xfrm>
          <a:prstGeom prst="rect">
            <a:avLst/>
          </a:prstGeom>
        </p:spPr>
      </p:pic>
      <p:sp>
        <p:nvSpPr>
          <p:cNvPr id="7" name="TextBox 6">
            <a:extLst>
              <a:ext uri="{FF2B5EF4-FFF2-40B4-BE49-F238E27FC236}">
                <a16:creationId xmlns:a16="http://schemas.microsoft.com/office/drawing/2014/main" id="{786C52B0-566C-EEC4-EFE1-4DE90135BD1B}"/>
              </a:ext>
            </a:extLst>
          </p:cNvPr>
          <p:cNvSpPr txBox="1"/>
          <p:nvPr/>
        </p:nvSpPr>
        <p:spPr>
          <a:xfrm>
            <a:off x="9234786" y="5586912"/>
            <a:ext cx="2088232" cy="369332"/>
          </a:xfrm>
          <a:prstGeom prst="rect">
            <a:avLst/>
          </a:prstGeom>
          <a:noFill/>
        </p:spPr>
        <p:txBody>
          <a:bodyPr wrap="square" rtlCol="0">
            <a:spAutoFit/>
          </a:bodyPr>
          <a:lstStyle/>
          <a:p>
            <a:r>
              <a:rPr lang="en-US" b="1" dirty="0">
                <a:latin typeface="Garamond" panose="02020404030301010803" pitchFamily="18" charset="0"/>
              </a:rPr>
              <a:t>Figure 1</a:t>
            </a:r>
          </a:p>
        </p:txBody>
      </p:sp>
      <p:pic>
        <p:nvPicPr>
          <p:cNvPr id="9" name="Audio 8">
            <a:extLst>
              <a:ext uri="{FF2B5EF4-FFF2-40B4-BE49-F238E27FC236}">
                <a16:creationId xmlns:a16="http://schemas.microsoft.com/office/drawing/2014/main" id="{8F1367CD-C1EA-0BD6-6AC8-21ABDE07D14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866677804"/>
      </p:ext>
    </p:extLst>
  </p:cSld>
  <p:clrMapOvr>
    <a:masterClrMapping/>
  </p:clrMapOvr>
  <mc:AlternateContent xmlns:mc="http://schemas.openxmlformats.org/markup-compatibility/2006">
    <mc:Choice xmlns:p14="http://schemas.microsoft.com/office/powerpoint/2010/main" Requires="p14">
      <p:transition spd="slow" p14:dur="2000" advTm="54154"/>
    </mc:Choice>
    <mc:Fallback>
      <p:transition spd="slow" advTm="5415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767408" y="1340768"/>
            <a:ext cx="9865096" cy="4608512"/>
          </a:xfrm>
        </p:spPr>
        <p:txBody>
          <a:bodyPr>
            <a:noAutofit/>
          </a:bodyPr>
          <a:lstStyle/>
          <a:p>
            <a:pPr marL="0" marR="0" algn="just">
              <a:lnSpc>
                <a:spcPct val="115000"/>
              </a:lnSpc>
              <a:spcBef>
                <a:spcPts val="0"/>
              </a:spcBef>
              <a:spcAft>
                <a:spcPts val="1000"/>
              </a:spcAft>
            </a:pPr>
            <a:r>
              <a:rPr lang="en-US" sz="2200" dirty="0">
                <a:effectLst/>
                <a:latin typeface="Garamond" panose="02020404030301010803" pitchFamily="18" charset="0"/>
                <a:ea typeface="Calibri" panose="020F0502020204030204" pitchFamily="34" charset="0"/>
                <a:cs typeface="Times New Roman" panose="02020603050405020304" pitchFamily="18" charset="0"/>
              </a:rPr>
              <a:t>For each of the stages of the model a number of helpful questions are outlined below. You don’t have to answer all of them but they guide you about what sort of things make sense to include in that stage. </a:t>
            </a:r>
          </a:p>
          <a:p>
            <a:pPr marL="0" marR="0" algn="just">
              <a:lnSpc>
                <a:spcPct val="115000"/>
              </a:lnSpc>
              <a:spcBef>
                <a:spcPts val="0"/>
              </a:spcBef>
              <a:spcAft>
                <a:spcPts val="1000"/>
              </a:spcAft>
            </a:pPr>
            <a:r>
              <a:rPr lang="en-US" sz="2200" dirty="0">
                <a:effectLst/>
                <a:latin typeface="Garamond" panose="02020404030301010803" pitchFamily="18" charset="0"/>
                <a:ea typeface="Calibri" panose="020F0502020204030204" pitchFamily="34" charset="0"/>
                <a:cs typeface="Times New Roman" panose="02020603050405020304" pitchFamily="18" charset="0"/>
              </a:rPr>
              <a:t>For each of the stages of the model a number of helpful questions are outlined below.</a:t>
            </a:r>
          </a:p>
          <a:p>
            <a:pPr marL="342900" marR="0" lvl="0" indent="-342900" algn="just">
              <a:lnSpc>
                <a:spcPct val="115000"/>
              </a:lnSpc>
              <a:spcBef>
                <a:spcPts val="0"/>
              </a:spcBef>
              <a:spcAft>
                <a:spcPts val="0"/>
              </a:spcAft>
              <a:buFont typeface="Symbol" pitchFamily="2" charset="2"/>
              <a:buChar char=""/>
            </a:pPr>
            <a:r>
              <a:rPr lang="en-MY" sz="1800" dirty="0">
                <a:effectLst/>
                <a:latin typeface="Garamond" panose="02020404030301010803" pitchFamily="18" charset="0"/>
                <a:ea typeface="Calibri" panose="020F0502020204030204" pitchFamily="34" charset="0"/>
                <a:cs typeface="Times New Roman" panose="02020603050405020304" pitchFamily="18" charset="0"/>
              </a:rPr>
              <a:t>What happened?</a:t>
            </a:r>
            <a:endParaRPr lang="en-US" sz="1800" dirty="0">
              <a:effectLst/>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itchFamily="2" charset="2"/>
              <a:buChar char=""/>
            </a:pPr>
            <a:r>
              <a:rPr lang="en-MY" sz="1800" dirty="0">
                <a:effectLst/>
                <a:latin typeface="Garamond" panose="02020404030301010803" pitchFamily="18" charset="0"/>
                <a:ea typeface="Calibri" panose="020F0502020204030204" pitchFamily="34" charset="0"/>
                <a:cs typeface="Times New Roman" panose="02020603050405020304" pitchFamily="18" charset="0"/>
              </a:rPr>
              <a:t>When and where did it happen?</a:t>
            </a:r>
            <a:endParaRPr lang="en-US" sz="1800" dirty="0">
              <a:effectLst/>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itchFamily="2" charset="2"/>
              <a:buChar char=""/>
            </a:pPr>
            <a:r>
              <a:rPr lang="en-MY" sz="1800" dirty="0">
                <a:effectLst/>
                <a:latin typeface="Garamond" panose="02020404030301010803" pitchFamily="18" charset="0"/>
                <a:ea typeface="Calibri" panose="020F0502020204030204" pitchFamily="34" charset="0"/>
                <a:cs typeface="Times New Roman" panose="02020603050405020304" pitchFamily="18" charset="0"/>
              </a:rPr>
              <a:t>Who was present?</a:t>
            </a:r>
            <a:endParaRPr lang="en-US" sz="1800" dirty="0">
              <a:effectLst/>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itchFamily="2" charset="2"/>
              <a:buChar char=""/>
            </a:pPr>
            <a:r>
              <a:rPr lang="en-MY" sz="1800" dirty="0">
                <a:effectLst/>
                <a:latin typeface="Garamond" panose="02020404030301010803" pitchFamily="18" charset="0"/>
                <a:ea typeface="Calibri" panose="020F0502020204030204" pitchFamily="34" charset="0"/>
                <a:cs typeface="Times New Roman" panose="02020603050405020304" pitchFamily="18" charset="0"/>
              </a:rPr>
              <a:t>What did you and the other people do?</a:t>
            </a:r>
            <a:endParaRPr lang="en-US" sz="1800" dirty="0">
              <a:effectLst/>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itchFamily="2" charset="2"/>
              <a:buChar char=""/>
            </a:pPr>
            <a:r>
              <a:rPr lang="en-MY" sz="1800" dirty="0">
                <a:effectLst/>
                <a:latin typeface="Garamond" panose="02020404030301010803" pitchFamily="18" charset="0"/>
                <a:ea typeface="Calibri" panose="020F0502020204030204" pitchFamily="34" charset="0"/>
                <a:cs typeface="Times New Roman" panose="02020603050405020304" pitchFamily="18" charset="0"/>
              </a:rPr>
              <a:t>What was the outcome of the situation?</a:t>
            </a:r>
            <a:endParaRPr lang="en-US" sz="1800" dirty="0">
              <a:effectLst/>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itchFamily="2" charset="2"/>
              <a:buChar char=""/>
            </a:pPr>
            <a:r>
              <a:rPr lang="en-MY" sz="1800" dirty="0">
                <a:effectLst/>
                <a:latin typeface="Garamond" panose="02020404030301010803" pitchFamily="18" charset="0"/>
                <a:ea typeface="Calibri" panose="020F0502020204030204" pitchFamily="34" charset="0"/>
                <a:cs typeface="Times New Roman" panose="02020603050405020304" pitchFamily="18" charset="0"/>
              </a:rPr>
              <a:t>Why were you there?</a:t>
            </a:r>
            <a:endParaRPr lang="en-US" sz="1800" dirty="0">
              <a:effectLst/>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itchFamily="2" charset="2"/>
              <a:buChar char=""/>
            </a:pPr>
            <a:r>
              <a:rPr lang="en-MY" sz="1800" dirty="0">
                <a:effectLst/>
                <a:latin typeface="Garamond" panose="02020404030301010803" pitchFamily="18" charset="0"/>
                <a:ea typeface="Calibri" panose="020F0502020204030204" pitchFamily="34" charset="0"/>
                <a:cs typeface="Times New Roman" panose="02020603050405020304" pitchFamily="18" charset="0"/>
              </a:rPr>
              <a:t>What did you want to happen?</a:t>
            </a:r>
            <a:endParaRPr lang="en-US" sz="1800" dirty="0">
              <a:effectLst/>
              <a:latin typeface="Garamond" panose="02020404030301010803" pitchFamily="18" charset="0"/>
              <a:ea typeface="Calibri" panose="020F0502020204030204" pitchFamily="34" charset="0"/>
              <a:cs typeface="Times New Roman" panose="02020603050405020304" pitchFamily="18" charset="0"/>
            </a:endParaRP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effectLst/>
                <a:latin typeface="Garamond" panose="02020404030301010803" pitchFamily="18" charset="0"/>
              </a:rPr>
              <a:t>How to use the model’s cycle for reflective writing</a:t>
            </a:r>
          </a:p>
        </p:txBody>
      </p:sp>
      <p:pic>
        <p:nvPicPr>
          <p:cNvPr id="7" name="Audio 6">
            <a:extLst>
              <a:ext uri="{FF2B5EF4-FFF2-40B4-BE49-F238E27FC236}">
                <a16:creationId xmlns:a16="http://schemas.microsoft.com/office/drawing/2014/main" id="{99308D41-7431-9473-4B1F-EC906E4E508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616308171"/>
      </p:ext>
    </p:extLst>
  </p:cSld>
  <p:clrMapOvr>
    <a:masterClrMapping/>
  </p:clrMapOvr>
  <mc:AlternateContent xmlns:mc="http://schemas.openxmlformats.org/markup-compatibility/2006">
    <mc:Choice xmlns:p14="http://schemas.microsoft.com/office/powerpoint/2010/main" Requires="p14">
      <p:transition spd="slow" p14:dur="2000" advTm="40576"/>
    </mc:Choice>
    <mc:Fallback>
      <p:transition spd="slow" advTm="405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875420" y="1772816"/>
            <a:ext cx="9865096" cy="4608512"/>
          </a:xfrm>
        </p:spPr>
        <p:txBody>
          <a:bodyPr>
            <a:normAutofit/>
          </a:bodyPr>
          <a:lstStyle/>
          <a:p>
            <a:pPr marL="0" marR="0" algn="just">
              <a:lnSpc>
                <a:spcPct val="115000"/>
              </a:lnSpc>
              <a:spcBef>
                <a:spcPts val="200"/>
              </a:spcBef>
              <a:spcAft>
                <a:spcPts val="0"/>
              </a:spcAft>
            </a:pPr>
            <a:r>
              <a:rPr lang="en-US" b="1" dirty="0">
                <a:solidFill>
                  <a:srgbClr val="1F3763"/>
                </a:solidFill>
                <a:effectLst/>
                <a:latin typeface="Garamond" panose="02020404030301010803" pitchFamily="18" charset="0"/>
                <a:ea typeface="Times New Roman" panose="02020603050405020304" pitchFamily="18" charset="0"/>
                <a:cs typeface="Times New Roman" panose="02020603050405020304" pitchFamily="18" charset="0"/>
              </a:rPr>
              <a:t>Example- Application of Gibb’s to group assignment</a:t>
            </a:r>
          </a:p>
          <a:p>
            <a:pPr marL="0" marR="0" algn="just">
              <a:lnSpc>
                <a:spcPct val="115000"/>
              </a:lnSpc>
              <a:spcBef>
                <a:spcPts val="0"/>
              </a:spcBef>
              <a:spcAft>
                <a:spcPts val="1000"/>
              </a:spcAft>
            </a:pPr>
            <a:r>
              <a:rPr lang="en-US" dirty="0">
                <a:effectLst/>
                <a:latin typeface="Garamond" panose="02020404030301010803" pitchFamily="18" charset="0"/>
                <a:ea typeface="Calibri" panose="020F0502020204030204" pitchFamily="34" charset="0"/>
                <a:cs typeface="Times New Roman" panose="02020603050405020304" pitchFamily="18" charset="0"/>
              </a:rPr>
              <a:t>We shall in the below some examples of reflective writing using Gibb’s model for each stages for a group assignment that you are involved in. </a:t>
            </a:r>
          </a:p>
          <a:p>
            <a:pPr marL="0" marR="0" algn="just">
              <a:lnSpc>
                <a:spcPct val="115000"/>
              </a:lnSpc>
              <a:spcBef>
                <a:spcPts val="0"/>
              </a:spcBef>
              <a:spcAft>
                <a:spcPts val="1000"/>
              </a:spcAft>
            </a:pPr>
            <a:r>
              <a:rPr lang="en-US" b="1" dirty="0">
                <a:effectLst/>
                <a:latin typeface="Garamond" panose="02020404030301010803" pitchFamily="18" charset="0"/>
                <a:ea typeface="Calibri" panose="020F0502020204030204" pitchFamily="34" charset="0"/>
                <a:cs typeface="Times New Roman" panose="02020603050405020304" pitchFamily="18" charset="0"/>
              </a:rPr>
              <a:t>Description</a:t>
            </a:r>
            <a:endParaRPr lang="en-US" dirty="0">
              <a:effectLst/>
              <a:latin typeface="Garamond" panose="02020404030301010803"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MY" dirty="0">
                <a:effectLst/>
                <a:latin typeface="Garamond" panose="02020404030301010803" pitchFamily="18" charset="0"/>
                <a:ea typeface="Calibri" panose="020F0502020204030204" pitchFamily="34" charset="0"/>
                <a:cs typeface="Times New Roman" panose="02020603050405020304" pitchFamily="18" charset="0"/>
              </a:rPr>
              <a:t>Here you have a chance to describe the situation in detail. The main points to include here concern what happened. Your feelings and conclusions will come later.</a:t>
            </a:r>
            <a:endParaRPr lang="en-US" dirty="0">
              <a:effectLst/>
              <a:latin typeface="Garamond" panose="02020404030301010803" pitchFamily="18" charset="0"/>
              <a:ea typeface="Calibri" panose="020F0502020204030204" pitchFamily="34" charset="0"/>
              <a:cs typeface="Times New Roman" panose="02020603050405020304" pitchFamily="18" charset="0"/>
            </a:endParaRP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effectLst/>
                <a:latin typeface="Garamond" panose="02020404030301010803" pitchFamily="18" charset="0"/>
              </a:rPr>
              <a:t>Example in applying Gibb’s cycle </a:t>
            </a:r>
          </a:p>
        </p:txBody>
      </p:sp>
      <p:pic>
        <p:nvPicPr>
          <p:cNvPr id="7" name="Audio 6">
            <a:extLst>
              <a:ext uri="{FF2B5EF4-FFF2-40B4-BE49-F238E27FC236}">
                <a16:creationId xmlns:a16="http://schemas.microsoft.com/office/drawing/2014/main" id="{5D41620A-754A-AAE3-5C36-71B3C3E8430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514795848"/>
      </p:ext>
    </p:extLst>
  </p:cSld>
  <p:clrMapOvr>
    <a:masterClrMapping/>
  </p:clrMapOvr>
  <mc:AlternateContent xmlns:mc="http://schemas.openxmlformats.org/markup-compatibility/2006">
    <mc:Choice xmlns:p14="http://schemas.microsoft.com/office/powerpoint/2010/main" Requires="p14">
      <p:transition spd="slow" p14:dur="2000" advTm="32373"/>
    </mc:Choice>
    <mc:Fallback>
      <p:transition spd="slow" advTm="323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875420" y="1772816"/>
            <a:ext cx="9865096" cy="4608512"/>
          </a:xfrm>
        </p:spPr>
        <p:txBody>
          <a:bodyPr>
            <a:normAutofit/>
          </a:bodyPr>
          <a:lstStyle/>
          <a:p>
            <a:pPr marL="0" marR="0" algn="just">
              <a:lnSpc>
                <a:spcPct val="115000"/>
              </a:lnSpc>
              <a:spcBef>
                <a:spcPts val="0"/>
              </a:spcBef>
              <a:spcAft>
                <a:spcPts val="1000"/>
              </a:spcAft>
            </a:pPr>
            <a:r>
              <a:rPr lang="en-US" sz="1800" b="1" dirty="0">
                <a:effectLst/>
                <a:latin typeface="Book Antiqua" panose="02040602050305030304" pitchFamily="18" charset="0"/>
                <a:ea typeface="Calibri" panose="020F0502020204030204" pitchFamily="34" charset="0"/>
                <a:cs typeface="Times New Roman" panose="02020603050405020304" pitchFamily="18" charset="0"/>
              </a:rPr>
              <a:t>Description</a:t>
            </a:r>
            <a:endParaRPr lang="en-US" sz="1800" dirty="0">
              <a:effectLst/>
              <a:latin typeface="Book Antiqua" panose="02040602050305030304"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1800" dirty="0">
                <a:effectLst/>
                <a:latin typeface="Book Antiqua" panose="02040602050305030304" pitchFamily="18" charset="0"/>
                <a:ea typeface="Calibri" panose="020F0502020204030204" pitchFamily="34" charset="0"/>
                <a:cs typeface="Times New Roman" panose="02020603050405020304" pitchFamily="18" charset="0"/>
              </a:rPr>
              <a:t>Following the questions which we will use to guide us at each cycle, asks yourself the following:</a:t>
            </a:r>
          </a:p>
          <a:p>
            <a:pPr marL="342900" marR="0" lvl="0" indent="-342900" algn="just">
              <a:lnSpc>
                <a:spcPct val="115000"/>
              </a:lnSpc>
              <a:spcBef>
                <a:spcPts val="0"/>
              </a:spcBef>
              <a:spcAft>
                <a:spcPts val="0"/>
              </a:spcAft>
              <a:buFont typeface="Symbol" pitchFamily="2" charset="2"/>
              <a:buChar char=""/>
            </a:pPr>
            <a:r>
              <a:rPr lang="en-MY" sz="1800" dirty="0">
                <a:effectLst/>
                <a:latin typeface="Book Antiqua" panose="02040602050305030304" pitchFamily="18" charset="0"/>
                <a:ea typeface="Calibri" panose="020F0502020204030204" pitchFamily="34" charset="0"/>
                <a:cs typeface="Times New Roman" panose="02020603050405020304" pitchFamily="18" charset="0"/>
              </a:rPr>
              <a:t>What happened?</a:t>
            </a:r>
            <a:endParaRPr lang="en-US" sz="1800" dirty="0">
              <a:effectLst/>
              <a:latin typeface="Book Antiqua" panose="02040602050305030304"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itchFamily="2" charset="2"/>
              <a:buChar char=""/>
            </a:pPr>
            <a:r>
              <a:rPr lang="en-MY" sz="1800" dirty="0">
                <a:effectLst/>
                <a:latin typeface="Book Antiqua" panose="02040602050305030304" pitchFamily="18" charset="0"/>
                <a:ea typeface="Calibri" panose="020F0502020204030204" pitchFamily="34" charset="0"/>
                <a:cs typeface="Times New Roman" panose="02020603050405020304" pitchFamily="18" charset="0"/>
              </a:rPr>
              <a:t>When and where did it happen?</a:t>
            </a:r>
            <a:endParaRPr lang="en-US" sz="1800" dirty="0">
              <a:effectLst/>
              <a:latin typeface="Book Antiqua" panose="02040602050305030304"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itchFamily="2" charset="2"/>
              <a:buChar char=""/>
            </a:pPr>
            <a:r>
              <a:rPr lang="en-MY" sz="1800" dirty="0">
                <a:effectLst/>
                <a:latin typeface="Book Antiqua" panose="02040602050305030304" pitchFamily="18" charset="0"/>
                <a:ea typeface="Calibri" panose="020F0502020204030204" pitchFamily="34" charset="0"/>
                <a:cs typeface="Times New Roman" panose="02020603050405020304" pitchFamily="18" charset="0"/>
              </a:rPr>
              <a:t>Who was present?</a:t>
            </a:r>
            <a:endParaRPr lang="en-US" sz="1800" dirty="0">
              <a:effectLst/>
              <a:latin typeface="Book Antiqua" panose="02040602050305030304"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itchFamily="2" charset="2"/>
              <a:buChar char=""/>
            </a:pPr>
            <a:r>
              <a:rPr lang="en-MY" sz="1800" dirty="0">
                <a:effectLst/>
                <a:latin typeface="Book Antiqua" panose="02040602050305030304" pitchFamily="18" charset="0"/>
                <a:ea typeface="Calibri" panose="020F0502020204030204" pitchFamily="34" charset="0"/>
                <a:cs typeface="Times New Roman" panose="02020603050405020304" pitchFamily="18" charset="0"/>
              </a:rPr>
              <a:t>What did you and the other people do?</a:t>
            </a:r>
            <a:endParaRPr lang="en-US" sz="1800" dirty="0">
              <a:effectLst/>
              <a:latin typeface="Book Antiqua" panose="02040602050305030304"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itchFamily="2" charset="2"/>
              <a:buChar char=""/>
            </a:pPr>
            <a:r>
              <a:rPr lang="en-MY" sz="1800" dirty="0">
                <a:effectLst/>
                <a:latin typeface="Book Antiqua" panose="02040602050305030304" pitchFamily="18" charset="0"/>
                <a:ea typeface="Calibri" panose="020F0502020204030204" pitchFamily="34" charset="0"/>
                <a:cs typeface="Times New Roman" panose="02020603050405020304" pitchFamily="18" charset="0"/>
              </a:rPr>
              <a:t>What was the outcome of the situation?</a:t>
            </a:r>
            <a:endParaRPr lang="en-US" sz="1800" dirty="0">
              <a:effectLst/>
              <a:latin typeface="Book Antiqua" panose="02040602050305030304"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itchFamily="2" charset="2"/>
              <a:buChar char=""/>
            </a:pPr>
            <a:r>
              <a:rPr lang="en-MY" sz="1800" dirty="0">
                <a:effectLst/>
                <a:latin typeface="Book Antiqua" panose="02040602050305030304" pitchFamily="18" charset="0"/>
                <a:ea typeface="Calibri" panose="020F0502020204030204" pitchFamily="34" charset="0"/>
                <a:cs typeface="Times New Roman" panose="02020603050405020304" pitchFamily="18" charset="0"/>
              </a:rPr>
              <a:t>Why were you there?</a:t>
            </a:r>
            <a:endParaRPr lang="en-US" sz="1800" dirty="0">
              <a:effectLst/>
              <a:latin typeface="Book Antiqua" panose="02040602050305030304"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itchFamily="2" charset="2"/>
              <a:buChar char=""/>
            </a:pPr>
            <a:r>
              <a:rPr lang="en-MY" sz="1800" dirty="0">
                <a:effectLst/>
                <a:latin typeface="Book Antiqua" panose="02040602050305030304" pitchFamily="18" charset="0"/>
                <a:ea typeface="Calibri" panose="020F0502020204030204" pitchFamily="34" charset="0"/>
                <a:cs typeface="Times New Roman" panose="02020603050405020304" pitchFamily="18" charset="0"/>
              </a:rPr>
              <a:t>What did you want to happen?</a:t>
            </a:r>
            <a:endParaRPr lang="en-US" sz="1800" dirty="0">
              <a:effectLst/>
              <a:latin typeface="Book Antiqua" panose="02040602050305030304" pitchFamily="18" charset="0"/>
              <a:ea typeface="Calibri" panose="020F0502020204030204" pitchFamily="34" charset="0"/>
              <a:cs typeface="Times New Roman" panose="02020603050405020304" pitchFamily="18" charset="0"/>
            </a:endParaRPr>
          </a:p>
          <a:p>
            <a:pPr marL="0" marR="0" algn="just">
              <a:lnSpc>
                <a:spcPct val="115000"/>
              </a:lnSpc>
              <a:spcBef>
                <a:spcPts val="200"/>
              </a:spcBef>
              <a:spcAft>
                <a:spcPts val="0"/>
              </a:spcAft>
            </a:pPr>
            <a:endParaRPr lang="en-US" sz="1800" dirty="0">
              <a:effectLst/>
              <a:latin typeface="Book Antiqua" panose="02040602050305030304" pitchFamily="18" charset="0"/>
              <a:ea typeface="Calibri" panose="020F0502020204030204" pitchFamily="34" charset="0"/>
              <a:cs typeface="Times New Roman" panose="02020603050405020304" pitchFamily="18" charset="0"/>
            </a:endParaRP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effectLst/>
                <a:latin typeface="Garamond" panose="02020404030301010803" pitchFamily="18" charset="0"/>
              </a:rPr>
              <a:t>Description </a:t>
            </a:r>
          </a:p>
        </p:txBody>
      </p:sp>
      <p:pic>
        <p:nvPicPr>
          <p:cNvPr id="7" name="Audio 6">
            <a:extLst>
              <a:ext uri="{FF2B5EF4-FFF2-40B4-BE49-F238E27FC236}">
                <a16:creationId xmlns:a16="http://schemas.microsoft.com/office/drawing/2014/main" id="{43B534BA-EE3D-9CB0-20AA-172DEAD493E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680980305"/>
      </p:ext>
    </p:extLst>
  </p:cSld>
  <p:clrMapOvr>
    <a:masterClrMapping/>
  </p:clrMapOvr>
  <mc:AlternateContent xmlns:mc="http://schemas.openxmlformats.org/markup-compatibility/2006">
    <mc:Choice xmlns:p14="http://schemas.microsoft.com/office/powerpoint/2010/main" Requires="p14">
      <p:transition spd="slow" p14:dur="2000" advTm="30986"/>
    </mc:Choice>
    <mc:Fallback>
      <p:transition spd="slow" advTm="3098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767408" y="1628800"/>
            <a:ext cx="9865096" cy="4608512"/>
          </a:xfrm>
        </p:spPr>
        <p:txBody>
          <a:bodyPr>
            <a:noAutofit/>
          </a:bodyPr>
          <a:lstStyle/>
          <a:p>
            <a:pPr marL="0" marR="0" algn="just">
              <a:lnSpc>
                <a:spcPct val="115000"/>
              </a:lnSpc>
              <a:spcBef>
                <a:spcPts val="0"/>
              </a:spcBef>
              <a:spcAft>
                <a:spcPts val="1000"/>
              </a:spcAft>
            </a:pPr>
            <a:r>
              <a:rPr lang="en-US" sz="2200" b="1" dirty="0">
                <a:effectLst/>
                <a:latin typeface="Garamond" panose="02020404030301010803" pitchFamily="18" charset="0"/>
                <a:ea typeface="Calibri" panose="020F0502020204030204" pitchFamily="34" charset="0"/>
                <a:cs typeface="Times New Roman" panose="02020603050405020304" pitchFamily="18" charset="0"/>
              </a:rPr>
              <a:t>Example of Description </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200" dirty="0">
                <a:effectLst/>
                <a:latin typeface="Garamond" panose="02020404030301010803" pitchFamily="18" charset="0"/>
                <a:ea typeface="Calibri" panose="020F0502020204030204" pitchFamily="34" charset="0"/>
                <a:cs typeface="Times New Roman" panose="02020603050405020304" pitchFamily="18" charset="0"/>
              </a:rPr>
              <a:t>For an assessed written group-work assignment, my group (3 others from my course) and I decided to divide the different sections between us so that we only had to research one element each. </a:t>
            </a:r>
          </a:p>
          <a:p>
            <a:pPr marL="0" marR="0" algn="just">
              <a:lnSpc>
                <a:spcPct val="115000"/>
              </a:lnSpc>
              <a:spcBef>
                <a:spcPts val="0"/>
              </a:spcBef>
              <a:spcAft>
                <a:spcPts val="1000"/>
              </a:spcAft>
            </a:pPr>
            <a:r>
              <a:rPr lang="en-US" sz="2200" dirty="0">
                <a:effectLst/>
                <a:latin typeface="Garamond" panose="02020404030301010803" pitchFamily="18" charset="0"/>
                <a:ea typeface="Calibri" panose="020F0502020204030204" pitchFamily="34" charset="0"/>
                <a:cs typeface="Times New Roman" panose="02020603050405020304" pitchFamily="18" charset="0"/>
              </a:rPr>
              <a:t>We expected we could just piece the assignment together in the afternoon the day before the deadline, meaning that we didn’t have to schedule time to sit and write it together. </a:t>
            </a: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effectLst/>
                <a:latin typeface="Garamond" panose="02020404030301010803" pitchFamily="18" charset="0"/>
              </a:rPr>
              <a:t>Description </a:t>
            </a:r>
            <a:endParaRPr lang="en-US" dirty="0">
              <a:solidFill>
                <a:srgbClr val="333333"/>
              </a:solidFill>
              <a:effectLst/>
              <a:latin typeface="Helvetica" pitchFamily="2" charset="0"/>
            </a:endParaRPr>
          </a:p>
        </p:txBody>
      </p:sp>
      <p:pic>
        <p:nvPicPr>
          <p:cNvPr id="7" name="Audio 6">
            <a:extLst>
              <a:ext uri="{FF2B5EF4-FFF2-40B4-BE49-F238E27FC236}">
                <a16:creationId xmlns:a16="http://schemas.microsoft.com/office/drawing/2014/main" id="{4EBB5CF9-0586-3921-E7D3-2DC8AD5A185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724067757"/>
      </p:ext>
    </p:extLst>
  </p:cSld>
  <p:clrMapOvr>
    <a:masterClrMapping/>
  </p:clrMapOvr>
  <mc:AlternateContent xmlns:mc="http://schemas.openxmlformats.org/markup-compatibility/2006">
    <mc:Choice xmlns:p14="http://schemas.microsoft.com/office/powerpoint/2010/main" Requires="p14">
      <p:transition spd="slow" p14:dur="2000" advTm="13866"/>
    </mc:Choice>
    <mc:Fallback>
      <p:transition spd="slow" advTm="138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767408" y="1628800"/>
            <a:ext cx="9865096" cy="4608512"/>
          </a:xfrm>
        </p:spPr>
        <p:txBody>
          <a:bodyPr>
            <a:noAutofit/>
          </a:bodyPr>
          <a:lstStyle/>
          <a:p>
            <a:pPr marL="0" marR="0" algn="just">
              <a:lnSpc>
                <a:spcPct val="115000"/>
              </a:lnSpc>
              <a:spcBef>
                <a:spcPts val="0"/>
              </a:spcBef>
              <a:spcAft>
                <a:spcPts val="1000"/>
              </a:spcAft>
            </a:pPr>
            <a:r>
              <a:rPr lang="en-US" sz="2200" b="1" dirty="0">
                <a:effectLst/>
                <a:latin typeface="Garamond" panose="02020404030301010803" pitchFamily="18" charset="0"/>
                <a:ea typeface="Calibri" panose="020F0502020204030204" pitchFamily="34" charset="0"/>
                <a:cs typeface="Times New Roman" panose="02020603050405020304" pitchFamily="18" charset="0"/>
              </a:rPr>
              <a:t>Example of Description …continue</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200" dirty="0">
                <a:effectLst/>
                <a:latin typeface="Garamond" panose="02020404030301010803" pitchFamily="18" charset="0"/>
                <a:ea typeface="Calibri" panose="020F0502020204030204" pitchFamily="34" charset="0"/>
                <a:cs typeface="Times New Roman" panose="02020603050405020304" pitchFamily="18" charset="0"/>
              </a:rPr>
              <a:t>However, when we sat down it was clear the sections weren’t written in the same writing style. We therefore had to rewrite most of the assignment to make it a coherent piece of work.  We had given ourselves enough time before the deadline to individually write our own sections, however we did not plan a great deal of time to rewrite if something were to go wrong. </a:t>
            </a:r>
          </a:p>
          <a:p>
            <a:pPr marL="0" marR="0" algn="just">
              <a:lnSpc>
                <a:spcPct val="115000"/>
              </a:lnSpc>
              <a:spcBef>
                <a:spcPts val="0"/>
              </a:spcBef>
              <a:spcAft>
                <a:spcPts val="1000"/>
              </a:spcAft>
            </a:pPr>
            <a:r>
              <a:rPr lang="en-US" sz="2200" dirty="0">
                <a:effectLst/>
                <a:latin typeface="Garamond" panose="02020404030301010803" pitchFamily="18" charset="0"/>
                <a:ea typeface="Calibri" panose="020F0502020204030204" pitchFamily="34" charset="0"/>
                <a:cs typeface="Times New Roman" panose="02020603050405020304" pitchFamily="18" charset="0"/>
              </a:rPr>
              <a:t>Therefore, two members of the group had to drop their plans that evening so the assignment would be finished in time for the deadline</a:t>
            </a: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effectLst/>
                <a:latin typeface="Garamond" panose="02020404030301010803" pitchFamily="18" charset="0"/>
              </a:rPr>
              <a:t>Description </a:t>
            </a:r>
            <a:endParaRPr lang="en-US" dirty="0">
              <a:solidFill>
                <a:srgbClr val="333333"/>
              </a:solidFill>
              <a:effectLst/>
              <a:latin typeface="Helvetica" pitchFamily="2" charset="0"/>
            </a:endParaRPr>
          </a:p>
        </p:txBody>
      </p:sp>
      <p:pic>
        <p:nvPicPr>
          <p:cNvPr id="7" name="Audio 6">
            <a:extLst>
              <a:ext uri="{FF2B5EF4-FFF2-40B4-BE49-F238E27FC236}">
                <a16:creationId xmlns:a16="http://schemas.microsoft.com/office/drawing/2014/main" id="{ECB45D88-3262-39F4-108F-94A254E9B18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378972665"/>
      </p:ext>
    </p:extLst>
  </p:cSld>
  <p:clrMapOvr>
    <a:masterClrMapping/>
  </p:clrMapOvr>
  <mc:AlternateContent xmlns:mc="http://schemas.openxmlformats.org/markup-compatibility/2006">
    <mc:Choice xmlns:p14="http://schemas.microsoft.com/office/powerpoint/2010/main" Requires="p14">
      <p:transition spd="slow" p14:dur="2000" advTm="23786"/>
    </mc:Choice>
    <mc:Fallback>
      <p:transition spd="slow" advTm="2378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767408" y="1439721"/>
            <a:ext cx="9865096" cy="4608512"/>
          </a:xfrm>
        </p:spPr>
        <p:txBody>
          <a:bodyPr>
            <a:normAutofit/>
          </a:bodyPr>
          <a:lstStyle/>
          <a:p>
            <a:pPr marL="0" marR="0" algn="just">
              <a:lnSpc>
                <a:spcPct val="115000"/>
              </a:lnSpc>
              <a:spcBef>
                <a:spcPts val="0"/>
              </a:spcBef>
              <a:spcAft>
                <a:spcPts val="1000"/>
              </a:spcAft>
            </a:pPr>
            <a:r>
              <a:rPr lang="en-US" sz="2200" dirty="0">
                <a:effectLst/>
                <a:latin typeface="Garamond" panose="02020404030301010803" pitchFamily="18" charset="0"/>
                <a:ea typeface="Calibri" panose="020F0502020204030204" pitchFamily="34" charset="0"/>
                <a:cs typeface="Times New Roman" panose="02020603050405020304" pitchFamily="18" charset="0"/>
              </a:rPr>
              <a:t>Here you can explore any feelings or thoughts that you had during the experience and how they may have impacted the experience.</a:t>
            </a:r>
          </a:p>
          <a:p>
            <a:pPr marL="0" marR="0" algn="just">
              <a:lnSpc>
                <a:spcPct val="115000"/>
              </a:lnSpc>
              <a:spcBef>
                <a:spcPts val="0"/>
              </a:spcBef>
              <a:spcAft>
                <a:spcPts val="1000"/>
              </a:spcAft>
            </a:pPr>
            <a:r>
              <a:rPr lang="en-US" sz="2200" dirty="0">
                <a:effectLst/>
                <a:latin typeface="Garamond" panose="02020404030301010803" pitchFamily="18" charset="0"/>
                <a:ea typeface="Calibri" panose="020F0502020204030204" pitchFamily="34" charset="0"/>
                <a:cs typeface="Times New Roman" panose="02020603050405020304" pitchFamily="18" charset="0"/>
              </a:rPr>
              <a:t>Helpful questions:</a:t>
            </a:r>
          </a:p>
          <a:p>
            <a:pPr marL="342900" marR="0" lvl="0" indent="-342900" algn="just">
              <a:lnSpc>
                <a:spcPct val="115000"/>
              </a:lnSpc>
              <a:spcBef>
                <a:spcPts val="0"/>
              </a:spcBef>
              <a:spcAft>
                <a:spcPts val="0"/>
              </a:spcAft>
              <a:buFont typeface="Symbol" pitchFamily="2" charset="2"/>
              <a:buChar char=""/>
            </a:pPr>
            <a:r>
              <a:rPr lang="en-US" sz="2200" dirty="0">
                <a:effectLst/>
                <a:latin typeface="Garamond" panose="02020404030301010803" pitchFamily="18" charset="0"/>
                <a:ea typeface="Calibri" panose="020F0502020204030204" pitchFamily="34" charset="0"/>
                <a:cs typeface="Times New Roman" panose="02020603050405020304" pitchFamily="18" charset="0"/>
              </a:rPr>
              <a:t>What were you feeling during the situation?</a:t>
            </a:r>
          </a:p>
          <a:p>
            <a:pPr marL="342900" marR="0" lvl="0" indent="-342900" algn="just">
              <a:lnSpc>
                <a:spcPct val="115000"/>
              </a:lnSpc>
              <a:spcBef>
                <a:spcPts val="0"/>
              </a:spcBef>
              <a:spcAft>
                <a:spcPts val="0"/>
              </a:spcAft>
              <a:buFont typeface="Symbol" pitchFamily="2" charset="2"/>
              <a:buChar char=""/>
            </a:pPr>
            <a:r>
              <a:rPr lang="en-US" sz="2200" dirty="0">
                <a:effectLst/>
                <a:latin typeface="Garamond" panose="02020404030301010803" pitchFamily="18" charset="0"/>
                <a:ea typeface="Calibri" panose="020F0502020204030204" pitchFamily="34" charset="0"/>
                <a:cs typeface="Times New Roman" panose="02020603050405020304" pitchFamily="18" charset="0"/>
              </a:rPr>
              <a:t>What were you feeling before and after the situation?</a:t>
            </a:r>
          </a:p>
          <a:p>
            <a:pPr marL="342900" marR="0" lvl="0" indent="-342900" algn="just">
              <a:lnSpc>
                <a:spcPct val="115000"/>
              </a:lnSpc>
              <a:spcBef>
                <a:spcPts val="0"/>
              </a:spcBef>
              <a:spcAft>
                <a:spcPts val="0"/>
              </a:spcAft>
              <a:buFont typeface="Symbol" pitchFamily="2" charset="2"/>
              <a:buChar char=""/>
            </a:pPr>
            <a:r>
              <a:rPr lang="en-US" sz="2200" dirty="0">
                <a:effectLst/>
                <a:latin typeface="Garamond" panose="02020404030301010803" pitchFamily="18" charset="0"/>
                <a:ea typeface="Calibri" panose="020F0502020204030204" pitchFamily="34" charset="0"/>
                <a:cs typeface="Times New Roman" panose="02020603050405020304" pitchFamily="18" charset="0"/>
              </a:rPr>
              <a:t>What do you think other people were feeling about the situation?</a:t>
            </a:r>
          </a:p>
          <a:p>
            <a:pPr marL="342900" marR="0" lvl="0" indent="-342900" algn="just">
              <a:lnSpc>
                <a:spcPct val="115000"/>
              </a:lnSpc>
              <a:spcBef>
                <a:spcPts val="0"/>
              </a:spcBef>
              <a:spcAft>
                <a:spcPts val="0"/>
              </a:spcAft>
              <a:buFont typeface="Symbol" pitchFamily="2" charset="2"/>
              <a:buChar char=""/>
            </a:pPr>
            <a:r>
              <a:rPr lang="en-US" sz="2200" dirty="0">
                <a:effectLst/>
                <a:latin typeface="Garamond" panose="02020404030301010803" pitchFamily="18" charset="0"/>
                <a:ea typeface="Calibri" panose="020F0502020204030204" pitchFamily="34" charset="0"/>
                <a:cs typeface="Times New Roman" panose="02020603050405020304" pitchFamily="18" charset="0"/>
              </a:rPr>
              <a:t>What do you think other people feel about the situation now?</a:t>
            </a:r>
          </a:p>
          <a:p>
            <a:pPr marL="342900" marR="0" lvl="0" indent="-342900" algn="just">
              <a:lnSpc>
                <a:spcPct val="115000"/>
              </a:lnSpc>
              <a:spcBef>
                <a:spcPts val="0"/>
              </a:spcBef>
              <a:spcAft>
                <a:spcPts val="0"/>
              </a:spcAft>
              <a:buFont typeface="Symbol" pitchFamily="2" charset="2"/>
              <a:buChar char=""/>
            </a:pPr>
            <a:r>
              <a:rPr lang="en-US" sz="2200" dirty="0">
                <a:effectLst/>
                <a:latin typeface="Garamond" panose="02020404030301010803" pitchFamily="18" charset="0"/>
                <a:ea typeface="Calibri" panose="020F0502020204030204" pitchFamily="34" charset="0"/>
                <a:cs typeface="Times New Roman" panose="02020603050405020304" pitchFamily="18" charset="0"/>
              </a:rPr>
              <a:t>What were you thinking during the situation?</a:t>
            </a:r>
          </a:p>
          <a:p>
            <a:pPr marL="342900" marR="0" lvl="0" indent="-342900" algn="just">
              <a:lnSpc>
                <a:spcPct val="115000"/>
              </a:lnSpc>
              <a:spcBef>
                <a:spcPts val="0"/>
              </a:spcBef>
              <a:spcAft>
                <a:spcPts val="1000"/>
              </a:spcAft>
              <a:buFont typeface="Symbol" pitchFamily="2" charset="2"/>
              <a:buChar char=""/>
            </a:pPr>
            <a:r>
              <a:rPr lang="en-US" sz="2200" dirty="0">
                <a:effectLst/>
                <a:latin typeface="Garamond" panose="02020404030301010803" pitchFamily="18" charset="0"/>
                <a:ea typeface="Calibri" panose="020F0502020204030204" pitchFamily="34" charset="0"/>
                <a:cs typeface="Times New Roman" panose="02020603050405020304" pitchFamily="18" charset="0"/>
              </a:rPr>
              <a:t>What do you think about the situation now?</a:t>
            </a:r>
          </a:p>
          <a:p>
            <a:pPr marL="342900" marR="0" lvl="0" indent="-342900" algn="just">
              <a:lnSpc>
                <a:spcPct val="115000"/>
              </a:lnSpc>
              <a:spcBef>
                <a:spcPts val="0"/>
              </a:spcBef>
              <a:spcAft>
                <a:spcPts val="1000"/>
              </a:spcAft>
              <a:buFont typeface="Symbol" pitchFamily="2" charset="2"/>
              <a:buChar char=""/>
            </a:pP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effectLst/>
                <a:latin typeface="Garamond" panose="02020404030301010803" pitchFamily="18" charset="0"/>
              </a:rPr>
              <a:t>Feeling</a:t>
            </a:r>
          </a:p>
        </p:txBody>
      </p:sp>
      <p:pic>
        <p:nvPicPr>
          <p:cNvPr id="7" name="Audio 6">
            <a:extLst>
              <a:ext uri="{FF2B5EF4-FFF2-40B4-BE49-F238E27FC236}">
                <a16:creationId xmlns:a16="http://schemas.microsoft.com/office/drawing/2014/main" id="{B48F982B-0B2A-DC20-E14B-B5485641C27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428372071"/>
      </p:ext>
    </p:extLst>
  </p:cSld>
  <p:clrMapOvr>
    <a:masterClrMapping/>
  </p:clrMapOvr>
  <mc:AlternateContent xmlns:mc="http://schemas.openxmlformats.org/markup-compatibility/2006">
    <mc:Choice xmlns:p14="http://schemas.microsoft.com/office/powerpoint/2010/main" Requires="p14">
      <p:transition spd="slow" p14:dur="2000" advTm="19434"/>
    </mc:Choice>
    <mc:Fallback>
      <p:transition spd="slow" advTm="1943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767408" y="1439721"/>
            <a:ext cx="9865096" cy="4608512"/>
          </a:xfrm>
        </p:spPr>
        <p:txBody>
          <a:bodyPr>
            <a:normAutofit/>
          </a:bodyPr>
          <a:lstStyle/>
          <a:p>
            <a:pPr marL="0" marR="0" algn="just">
              <a:lnSpc>
                <a:spcPct val="115000"/>
              </a:lnSpc>
              <a:spcBef>
                <a:spcPts val="0"/>
              </a:spcBef>
              <a:spcAft>
                <a:spcPts val="1000"/>
              </a:spcAft>
            </a:pPr>
            <a:r>
              <a:rPr lang="en-US" dirty="0">
                <a:latin typeface="Garamond" panose="02020404030301010803" pitchFamily="18" charset="0"/>
                <a:ea typeface="Calibri" panose="020F0502020204030204" pitchFamily="34" charset="0"/>
                <a:cs typeface="Times New Roman" panose="02020603050405020304" pitchFamily="18" charset="0"/>
              </a:rPr>
              <a:t>E</a:t>
            </a:r>
            <a:r>
              <a:rPr lang="en-US" b="1" dirty="0">
                <a:effectLst/>
                <a:latin typeface="Garamond" panose="02020404030301010803" pitchFamily="18" charset="0"/>
                <a:ea typeface="Calibri" panose="020F0502020204030204" pitchFamily="34" charset="0"/>
                <a:cs typeface="Times New Roman" panose="02020603050405020304" pitchFamily="18" charset="0"/>
              </a:rPr>
              <a:t>xample of Feelings</a:t>
            </a:r>
            <a:endParaRPr lang="en-US" dirty="0">
              <a:effectLst/>
              <a:latin typeface="Garamond" panose="02020404030301010803" pitchFamily="18" charset="0"/>
              <a:ea typeface="Calibri" panose="020F0502020204030204" pitchFamily="34" charset="0"/>
              <a:cs typeface="Times New Roman" panose="02020603050405020304" pitchFamily="18" charset="0"/>
            </a:endParaRPr>
          </a:p>
          <a:p>
            <a:r>
              <a:rPr lang="en-US" dirty="0">
                <a:effectLst/>
                <a:latin typeface="Garamond" panose="02020404030301010803" pitchFamily="18" charset="0"/>
                <a:ea typeface="Calibri" panose="020F0502020204030204" pitchFamily="34" charset="0"/>
                <a:cs typeface="Times New Roman" panose="02020603050405020304" pitchFamily="18" charset="0"/>
              </a:rPr>
              <a:t>Before we came together and </a:t>
            </a:r>
            <a:r>
              <a:rPr lang="en-US" dirty="0" err="1">
                <a:effectLst/>
                <a:latin typeface="Garamond" panose="02020404030301010803" pitchFamily="18" charset="0"/>
                <a:ea typeface="Calibri" panose="020F0502020204030204" pitchFamily="34" charset="0"/>
                <a:cs typeface="Times New Roman" panose="02020603050405020304" pitchFamily="18" charset="0"/>
              </a:rPr>
              <a:t>realised</a:t>
            </a:r>
            <a:r>
              <a:rPr lang="en-US" dirty="0">
                <a:effectLst/>
                <a:latin typeface="Garamond" panose="02020404030301010803" pitchFamily="18" charset="0"/>
                <a:ea typeface="Calibri" panose="020F0502020204030204" pitchFamily="34" charset="0"/>
                <a:cs typeface="Times New Roman" panose="02020603050405020304" pitchFamily="18" charset="0"/>
              </a:rPr>
              <a:t> we still had a lot of work to do, I was quite happy and thought we had been smart when we divided the work between us. </a:t>
            </a:r>
          </a:p>
          <a:p>
            <a:r>
              <a:rPr lang="en-US" dirty="0">
                <a:effectLst/>
                <a:latin typeface="Garamond" panose="02020404030301010803" pitchFamily="18" charset="0"/>
                <a:ea typeface="Calibri" panose="020F0502020204030204" pitchFamily="34" charset="0"/>
                <a:cs typeface="Times New Roman" panose="02020603050405020304" pitchFamily="18" charset="0"/>
              </a:rPr>
              <a:t>When we </a:t>
            </a:r>
            <a:r>
              <a:rPr lang="en-US" dirty="0" err="1">
                <a:effectLst/>
                <a:latin typeface="Garamond" panose="02020404030301010803" pitchFamily="18" charset="0"/>
                <a:ea typeface="Calibri" panose="020F0502020204030204" pitchFamily="34" charset="0"/>
                <a:cs typeface="Times New Roman" panose="02020603050405020304" pitchFamily="18" charset="0"/>
              </a:rPr>
              <a:t>realised</a:t>
            </a:r>
            <a:r>
              <a:rPr lang="en-US" dirty="0">
                <a:effectLst/>
                <a:latin typeface="Garamond" panose="02020404030301010803" pitchFamily="18" charset="0"/>
                <a:ea typeface="Calibri" panose="020F0502020204030204" pitchFamily="34" charset="0"/>
                <a:cs typeface="Times New Roman" panose="02020603050405020304" pitchFamily="18" charset="0"/>
              </a:rPr>
              <a:t> we couldn’t hand in the assignment like it was, I got quite frustrated. I was certain it was going to work, and therefore I had little motivation to actually do the rewriting. </a:t>
            </a:r>
          </a:p>
          <a:p>
            <a:r>
              <a:rPr lang="en-US" dirty="0">
                <a:effectLst/>
                <a:latin typeface="Garamond" panose="02020404030301010803" pitchFamily="18" charset="0"/>
                <a:ea typeface="Calibri" panose="020F0502020204030204" pitchFamily="34" charset="0"/>
                <a:cs typeface="Times New Roman" panose="02020603050405020304" pitchFamily="18" charset="0"/>
              </a:rPr>
              <a:t>Given that a couple of people from the group had to cancel their plans I ended up feeling quite guilty, which actually helped me to work harder in the evening and get the work done faster. </a:t>
            </a:r>
          </a:p>
          <a:p>
            <a:r>
              <a:rPr lang="en-US" dirty="0">
                <a:effectLst/>
                <a:latin typeface="Garamond" panose="02020404030301010803" pitchFamily="18" charset="0"/>
                <a:ea typeface="Calibri" panose="020F0502020204030204" pitchFamily="34" charset="0"/>
                <a:cs typeface="Times New Roman" panose="02020603050405020304" pitchFamily="18" charset="0"/>
              </a:rPr>
              <a:t>Looking back, I’m feeling satisfied that we decided to put in the work</a:t>
            </a:r>
            <a:r>
              <a:rPr lang="en-US" dirty="0">
                <a:effectLst/>
                <a:latin typeface="Garamond" panose="02020404030301010803" pitchFamily="18" charset="0"/>
              </a:rPr>
              <a:t> </a:t>
            </a:r>
            <a:endParaRPr lang="en-US" dirty="0">
              <a:effectLst/>
              <a:latin typeface="Garamond" panose="02020404030301010803" pitchFamily="18" charset="0"/>
              <a:ea typeface="Calibri" panose="020F0502020204030204" pitchFamily="34" charset="0"/>
              <a:cs typeface="Times New Roman" panose="02020603050405020304" pitchFamily="18" charset="0"/>
            </a:endParaRP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effectLst/>
                <a:latin typeface="Garamond" panose="02020404030301010803" pitchFamily="18" charset="0"/>
              </a:rPr>
              <a:t>Feeling</a:t>
            </a:r>
          </a:p>
        </p:txBody>
      </p:sp>
      <p:pic>
        <p:nvPicPr>
          <p:cNvPr id="7" name="Audio 6">
            <a:extLst>
              <a:ext uri="{FF2B5EF4-FFF2-40B4-BE49-F238E27FC236}">
                <a16:creationId xmlns:a16="http://schemas.microsoft.com/office/drawing/2014/main" id="{3538A2F2-8955-B119-B07C-7638F82AE6B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876677466"/>
      </p:ext>
    </p:extLst>
  </p:cSld>
  <p:clrMapOvr>
    <a:masterClrMapping/>
  </p:clrMapOvr>
  <mc:AlternateContent xmlns:mc="http://schemas.openxmlformats.org/markup-compatibility/2006">
    <mc:Choice xmlns:p14="http://schemas.microsoft.com/office/powerpoint/2010/main" Requires="p14">
      <p:transition spd="slow" p14:dur="2000" advTm="33610"/>
    </mc:Choice>
    <mc:Fallback>
      <p:transition spd="slow" advTm="33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767408" y="1546226"/>
            <a:ext cx="9865096" cy="4608512"/>
          </a:xfrm>
        </p:spPr>
        <p:txBody>
          <a:bodyPr>
            <a:normAutofit/>
          </a:bodyPr>
          <a:lstStyle/>
          <a:p>
            <a:pPr marL="0" marR="0" algn="just">
              <a:lnSpc>
                <a:spcPct val="115000"/>
              </a:lnSpc>
              <a:spcBef>
                <a:spcPts val="0"/>
              </a:spcBef>
              <a:spcAft>
                <a:spcPts val="1000"/>
              </a:spcAft>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Here you have a chance to evaluate what worked and what didn’t work in the situation. Try to be as objective and honest as possible. To get the most out of your reflection focus on both the positive and the negative aspects of the situation, even if it was primarily one or the other.</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Helpful questions</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itchFamily="2" charset="2"/>
              <a:buChar char=""/>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What was good and bad about the experience?</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itchFamily="2" charset="2"/>
              <a:buChar char=""/>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What went well?</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itchFamily="2" charset="2"/>
              <a:buChar char=""/>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What didn’t go so well?</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itchFamily="2" charset="2"/>
              <a:buChar char=""/>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What did you and other people contribute to the situation (positively or negatively)?</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effectLst/>
                <a:latin typeface="Garamond" panose="02020404030301010803" pitchFamily="18" charset="0"/>
              </a:rPr>
              <a:t>Evaluation</a:t>
            </a:r>
          </a:p>
        </p:txBody>
      </p:sp>
      <p:pic>
        <p:nvPicPr>
          <p:cNvPr id="7" name="Audio 6">
            <a:extLst>
              <a:ext uri="{FF2B5EF4-FFF2-40B4-BE49-F238E27FC236}">
                <a16:creationId xmlns:a16="http://schemas.microsoft.com/office/drawing/2014/main" id="{40741E04-57A4-8277-CA24-5B1DB986D7D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037167580"/>
      </p:ext>
    </p:extLst>
  </p:cSld>
  <p:clrMapOvr>
    <a:masterClrMapping/>
  </p:clrMapOvr>
  <mc:AlternateContent xmlns:mc="http://schemas.openxmlformats.org/markup-compatibility/2006">
    <mc:Choice xmlns:p14="http://schemas.microsoft.com/office/powerpoint/2010/main" Requires="p14">
      <p:transition spd="slow" p14:dur="2000" advTm="21546"/>
    </mc:Choice>
    <mc:Fallback>
      <p:transition spd="slow" advTm="215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767408" y="1628800"/>
            <a:ext cx="9865096" cy="4608512"/>
          </a:xfrm>
        </p:spPr>
        <p:txBody>
          <a:bodyPr>
            <a:normAutofit/>
          </a:bodyPr>
          <a:lstStyle/>
          <a:p>
            <a:pPr marL="0" marR="0" algn="just">
              <a:lnSpc>
                <a:spcPct val="115000"/>
              </a:lnSpc>
              <a:spcBef>
                <a:spcPts val="0"/>
              </a:spcBef>
              <a:spcAft>
                <a:spcPts val="1000"/>
              </a:spcAft>
            </a:pPr>
            <a:r>
              <a:rPr lang="en-US" b="1"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Example of Evaluation</a:t>
            </a:r>
            <a:endParaRPr lang="en-US" dirty="0">
              <a:effectLst/>
              <a:latin typeface="Garamond" panose="02020404030301010803"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The things that were good and worked well was the fact that each group member produced good quality work for the agreed deadline. Moreover, the fact that two people from the group cancelled plans motivated us to work harder in the evening. That contributed positively to the group’s work ethic. The things that clearly didn’t work was that we assumed we wrote in the same way, and therefore the overall time plan of the group failed</a:t>
            </a:r>
            <a:endParaRPr lang="en-US" dirty="0">
              <a:effectLst/>
              <a:latin typeface="Garamond" panose="02020404030301010803" pitchFamily="18" charset="0"/>
              <a:ea typeface="Calibri" panose="020F0502020204030204" pitchFamily="34" charset="0"/>
              <a:cs typeface="Times New Roman" panose="02020603050405020304" pitchFamily="18" charset="0"/>
            </a:endParaRP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effectLst/>
                <a:latin typeface="Garamond" panose="02020404030301010803" pitchFamily="18" charset="0"/>
              </a:rPr>
              <a:t>Evaluation</a:t>
            </a:r>
          </a:p>
        </p:txBody>
      </p:sp>
      <p:pic>
        <p:nvPicPr>
          <p:cNvPr id="7" name="Audio 6">
            <a:extLst>
              <a:ext uri="{FF2B5EF4-FFF2-40B4-BE49-F238E27FC236}">
                <a16:creationId xmlns:a16="http://schemas.microsoft.com/office/drawing/2014/main" id="{A06D8F41-EB87-BE05-A4E8-975968F8118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800380946"/>
      </p:ext>
    </p:extLst>
  </p:cSld>
  <p:clrMapOvr>
    <a:masterClrMapping/>
  </p:clrMapOvr>
  <mc:AlternateContent xmlns:mc="http://schemas.openxmlformats.org/markup-compatibility/2006">
    <mc:Choice xmlns:p14="http://schemas.microsoft.com/office/powerpoint/2010/main" Requires="p14">
      <p:transition spd="slow" p14:dur="2000" advTm="20362"/>
    </mc:Choice>
    <mc:Fallback>
      <p:transition spd="slow" advTm="203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875420" y="1628800"/>
            <a:ext cx="9865096" cy="4608512"/>
          </a:xfrm>
        </p:spPr>
        <p:txBody>
          <a:bodyPr>
            <a:normAutofit/>
          </a:bodyPr>
          <a:lstStyle/>
          <a:p>
            <a:pPr marL="0" marR="0" algn="just">
              <a:lnSpc>
                <a:spcPct val="115000"/>
              </a:lnSpc>
              <a:spcBef>
                <a:spcPts val="0"/>
              </a:spcBef>
              <a:spcAft>
                <a:spcPts val="1000"/>
              </a:spcAft>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The analysis step is where you have a chance to make sense of what happened. Up until now you have focused on details around what happened in the situation. Now you have a chance to extract meaning from it. You want to target the different aspects that went well or poorly and ask yourself why. If you are looking to include academic literature, this is the natural place to include it.</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Helpful questions:</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itchFamily="2" charset="2"/>
              <a:buChar char=""/>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Why did things go well?</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itchFamily="2" charset="2"/>
              <a:buChar char=""/>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Why didn’t it go well?</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itchFamily="2" charset="2"/>
              <a:buChar char=""/>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What sense can I make of the situation?</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effectLst/>
                <a:latin typeface="Garamond" panose="02020404030301010803" pitchFamily="18" charset="0"/>
              </a:rPr>
              <a:t>Analysis</a:t>
            </a:r>
          </a:p>
        </p:txBody>
      </p:sp>
      <p:pic>
        <p:nvPicPr>
          <p:cNvPr id="7" name="Audio 6">
            <a:extLst>
              <a:ext uri="{FF2B5EF4-FFF2-40B4-BE49-F238E27FC236}">
                <a16:creationId xmlns:a16="http://schemas.microsoft.com/office/drawing/2014/main" id="{88E846F3-ED4B-4DE3-D568-8ED18009FE9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3720153577"/>
      </p:ext>
    </p:extLst>
  </p:cSld>
  <p:clrMapOvr>
    <a:masterClrMapping/>
  </p:clrMapOvr>
  <mc:AlternateContent xmlns:mc="http://schemas.openxmlformats.org/markup-compatibility/2006">
    <mc:Choice xmlns:p14="http://schemas.microsoft.com/office/powerpoint/2010/main" Requires="p14">
      <p:transition spd="slow" p14:dur="2000" advTm="56064"/>
    </mc:Choice>
    <mc:Fallback>
      <p:transition spd="slow" advTm="560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875420" y="1628800"/>
            <a:ext cx="9865096" cy="4608512"/>
          </a:xfrm>
        </p:spPr>
        <p:txBody>
          <a:bodyPr>
            <a:noAutofit/>
          </a:bodyPr>
          <a:lstStyle/>
          <a:p>
            <a:pPr marL="0" marR="0" algn="just">
              <a:lnSpc>
                <a:spcPct val="115000"/>
              </a:lnSpc>
              <a:spcBef>
                <a:spcPts val="0"/>
              </a:spcBef>
              <a:spcAft>
                <a:spcPts val="1000"/>
              </a:spcAft>
            </a:pPr>
            <a:r>
              <a:rPr lang="en-US" sz="2200" b="1"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Example of Analysis</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20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I </a:t>
            </a: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think the reason that our initial division of work went well was because each person had a say in what part of the assignment they wanted to work on, and we divided according to people’s self-identified strengths. </a:t>
            </a:r>
          </a:p>
          <a:p>
            <a:pPr marL="0" marR="0" algn="just">
              <a:lnSpc>
                <a:spcPct val="115000"/>
              </a:lnSpc>
              <a:spcBef>
                <a:spcPts val="0"/>
              </a:spcBef>
              <a:spcAft>
                <a:spcPts val="1000"/>
              </a:spcAft>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I have experienced working this way before and discovered when I’m working by myself I enjoy working in areas that match my strengths. It seems natural to me that this is also the case in groups.</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effectLst/>
                <a:latin typeface="Garamond" panose="02020404030301010803" pitchFamily="18" charset="0"/>
              </a:rPr>
              <a:t>Analysis</a:t>
            </a:r>
          </a:p>
        </p:txBody>
      </p:sp>
      <p:pic>
        <p:nvPicPr>
          <p:cNvPr id="7" name="Audio 6">
            <a:extLst>
              <a:ext uri="{FF2B5EF4-FFF2-40B4-BE49-F238E27FC236}">
                <a16:creationId xmlns:a16="http://schemas.microsoft.com/office/drawing/2014/main" id="{300EB439-1582-6221-6A50-8B254218076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3450279587"/>
      </p:ext>
    </p:extLst>
  </p:cSld>
  <p:clrMapOvr>
    <a:masterClrMapping/>
  </p:clrMapOvr>
  <mc:AlternateContent xmlns:mc="http://schemas.openxmlformats.org/markup-compatibility/2006">
    <mc:Choice xmlns:p14="http://schemas.microsoft.com/office/powerpoint/2010/main" Requires="p14">
      <p:transition spd="slow" p14:dur="2000" advTm="33162"/>
    </mc:Choice>
    <mc:Fallback>
      <p:transition spd="slow" advTm="331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839416" y="1455960"/>
            <a:ext cx="9865096" cy="4608512"/>
          </a:xfrm>
        </p:spPr>
        <p:txBody>
          <a:bodyPr>
            <a:noAutofit/>
          </a:bodyPr>
          <a:lstStyle/>
          <a:p>
            <a:pPr marL="0" marR="0" algn="just">
              <a:lnSpc>
                <a:spcPct val="115000"/>
              </a:lnSpc>
              <a:spcBef>
                <a:spcPts val="0"/>
              </a:spcBef>
              <a:spcAft>
                <a:spcPts val="1000"/>
              </a:spcAft>
            </a:pPr>
            <a:r>
              <a:rPr lang="en-US" sz="2200" b="1"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Example of </a:t>
            </a:r>
            <a:r>
              <a:rPr lang="en-US" sz="2200" b="1" dirty="0" err="1">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Analysis..continue</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I think we thought that this approach would save us time when piecing together the sections in the end, and therefore we didn’t think it through. In reality, it ended up costing us far more time than expected and we also had to stress and rush through the rewrite.  I think the fact we hadn’t planned how we were writing and structuring the sections led us to this situation.</a:t>
            </a:r>
          </a:p>
          <a:p>
            <a:pPr>
              <a:lnSpc>
                <a:spcPct val="100000"/>
              </a:lnSpc>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I searched through some literature on group work and found two things that help me understand the situation. Belbin’s (e.g. 2010) team roles suggests that each person has certain strengths and weaknesses they bring to a group. </a:t>
            </a:r>
          </a:p>
          <a:p>
            <a:pPr>
              <a:lnSpc>
                <a:spcPct val="100000"/>
              </a:lnSpc>
            </a:pPr>
            <a:endPar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endParaRPr>
          </a:p>
          <a:p>
            <a:pPr>
              <a:lnSpc>
                <a:spcPct val="100000"/>
              </a:lnSpc>
            </a:pP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effectLst/>
                <a:latin typeface="Garamond" panose="02020404030301010803" pitchFamily="18" charset="0"/>
              </a:rPr>
              <a:t>Analysis</a:t>
            </a:r>
          </a:p>
        </p:txBody>
      </p:sp>
      <p:pic>
        <p:nvPicPr>
          <p:cNvPr id="7" name="Audio 6">
            <a:extLst>
              <a:ext uri="{FF2B5EF4-FFF2-40B4-BE49-F238E27FC236}">
                <a16:creationId xmlns:a16="http://schemas.microsoft.com/office/drawing/2014/main" id="{EA9FE0A7-3EDA-7C6A-0943-3F79F7A5B1B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394528472"/>
      </p:ext>
    </p:extLst>
  </p:cSld>
  <p:clrMapOvr>
    <a:masterClrMapping/>
  </p:clrMapOvr>
  <mc:AlternateContent xmlns:mc="http://schemas.openxmlformats.org/markup-compatibility/2006">
    <mc:Choice xmlns:p14="http://schemas.microsoft.com/office/powerpoint/2010/main" Requires="p14">
      <p:transition spd="slow" p14:dur="2000" advTm="15530"/>
    </mc:Choice>
    <mc:Fallback>
      <p:transition spd="slow" advTm="155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875420" y="1628800"/>
            <a:ext cx="9865096" cy="4608512"/>
          </a:xfrm>
        </p:spPr>
        <p:txBody>
          <a:bodyPr>
            <a:noAutofit/>
          </a:bodyPr>
          <a:lstStyle/>
          <a:p>
            <a:pPr marL="0" marR="0" algn="just">
              <a:lnSpc>
                <a:spcPct val="115000"/>
              </a:lnSpc>
              <a:spcBef>
                <a:spcPts val="0"/>
              </a:spcBef>
              <a:spcAft>
                <a:spcPts val="1000"/>
              </a:spcAft>
            </a:pPr>
            <a:r>
              <a:rPr lang="en-US" sz="2200" b="1"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Example of </a:t>
            </a:r>
            <a:r>
              <a:rPr lang="en-US" sz="2200" b="1" dirty="0" err="1">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Analysis..continue</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a:lnSpc>
                <a:spcPct val="100000"/>
              </a:lnSpc>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While we didn’t think about our team members in the same way Belbin does, effective team work and work delegation seems to come from using people’s different strengths, which we did.</a:t>
            </a:r>
          </a:p>
          <a:p>
            <a:pPr marL="0" marR="0" algn="just">
              <a:lnSpc>
                <a:spcPct val="115000"/>
              </a:lnSpc>
              <a:spcBef>
                <a:spcPts val="0"/>
              </a:spcBef>
              <a:spcAft>
                <a:spcPts val="1000"/>
              </a:spcAft>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Another theory that might help explain why we didn’t predict the plan wouldn’t work is ‘Groupthink’ (e.g. Janis, 1991). Groupthink is where people in a group won’t raise different opinions to a dominant opinion or decision, because they don’t want to seem like an outsider. </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effectLst/>
                <a:latin typeface="Garamond" panose="02020404030301010803" pitchFamily="18" charset="0"/>
              </a:rPr>
              <a:t>Analysis</a:t>
            </a:r>
          </a:p>
        </p:txBody>
      </p:sp>
      <p:pic>
        <p:nvPicPr>
          <p:cNvPr id="7" name="Audio 6">
            <a:extLst>
              <a:ext uri="{FF2B5EF4-FFF2-40B4-BE49-F238E27FC236}">
                <a16:creationId xmlns:a16="http://schemas.microsoft.com/office/drawing/2014/main" id="{917FE401-B710-C2F4-D2F4-4EB8C590D2F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4112944574"/>
      </p:ext>
    </p:extLst>
  </p:cSld>
  <p:clrMapOvr>
    <a:masterClrMapping/>
  </p:clrMapOvr>
  <mc:AlternateContent xmlns:mc="http://schemas.openxmlformats.org/markup-compatibility/2006">
    <mc:Choice xmlns:p14="http://schemas.microsoft.com/office/powerpoint/2010/main" Requires="p14">
      <p:transition spd="slow" p14:dur="2000" advTm="26517"/>
    </mc:Choice>
    <mc:Fallback>
      <p:transition spd="slow" advTm="2651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875420" y="1628800"/>
            <a:ext cx="9865096" cy="4608512"/>
          </a:xfrm>
        </p:spPr>
        <p:txBody>
          <a:bodyPr>
            <a:noAutofit/>
          </a:bodyPr>
          <a:lstStyle/>
          <a:p>
            <a:pPr marL="0" marR="0" algn="just">
              <a:lnSpc>
                <a:spcPct val="115000"/>
              </a:lnSpc>
              <a:spcBef>
                <a:spcPts val="0"/>
              </a:spcBef>
              <a:spcAft>
                <a:spcPts val="1000"/>
              </a:spcAft>
            </a:pPr>
            <a:r>
              <a:rPr lang="en-US" sz="2200" b="1"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Example of </a:t>
            </a:r>
            <a:r>
              <a:rPr lang="en-US" sz="2200" b="1" dirty="0" err="1">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Analysis..continue</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a:lnSpc>
                <a:spcPct val="100000"/>
              </a:lnSpc>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I think if we had challenged our assumptions about our plan - by actually being critical, we would probably have foreseen that it wouldn’t work. </a:t>
            </a:r>
          </a:p>
          <a:p>
            <a:pPr>
              <a:lnSpc>
                <a:spcPct val="100000"/>
              </a:lnSpc>
            </a:pPr>
            <a:endParaRPr lang="en-US" sz="2200" dirty="0">
              <a:solidFill>
                <a:srgbClr val="333333"/>
              </a:solidFill>
              <a:latin typeface="Garamond" panose="02020404030301010803" pitchFamily="18" charset="0"/>
              <a:ea typeface="Calibri" panose="020F0502020204030204" pitchFamily="34" charset="0"/>
              <a:cs typeface="Times New Roman" panose="02020603050405020304" pitchFamily="18" charset="0"/>
            </a:endParaRPr>
          </a:p>
          <a:p>
            <a:pPr>
              <a:lnSpc>
                <a:spcPct val="100000"/>
              </a:lnSpc>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Some characteristics of groupthink that were in our group were: ‘collective </a:t>
            </a:r>
            <a:r>
              <a:rPr lang="en-US" sz="2200" dirty="0" err="1">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rationalisation</a:t>
            </a: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 – we kept telling each other that it would work; and probably ‘illusion of invulnerability’ – we are all good students, so of course we couldn’t do anything wrong.</a:t>
            </a:r>
          </a:p>
          <a:p>
            <a:pPr>
              <a:lnSpc>
                <a:spcPct val="100000"/>
              </a:lnSpc>
            </a:pP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I think being aware of groupthink in the future will be helpful in group work, when trying to make decisions in future situation</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a:lnSpc>
                <a:spcPct val="100000"/>
              </a:lnSpc>
            </a:pP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effectLst/>
                <a:latin typeface="Garamond" panose="02020404030301010803" pitchFamily="18" charset="0"/>
              </a:rPr>
              <a:t>Analysis</a:t>
            </a:r>
          </a:p>
        </p:txBody>
      </p:sp>
      <p:pic>
        <p:nvPicPr>
          <p:cNvPr id="7" name="Audio 6">
            <a:extLst>
              <a:ext uri="{FF2B5EF4-FFF2-40B4-BE49-F238E27FC236}">
                <a16:creationId xmlns:a16="http://schemas.microsoft.com/office/drawing/2014/main" id="{5DC31D77-454A-DC86-5A80-1EA0C3F0649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700253348"/>
      </p:ext>
    </p:extLst>
  </p:cSld>
  <p:clrMapOvr>
    <a:masterClrMapping/>
  </p:clrMapOvr>
  <mc:AlternateContent xmlns:mc="http://schemas.openxmlformats.org/markup-compatibility/2006">
    <mc:Choice xmlns:p14="http://schemas.microsoft.com/office/powerpoint/2010/main" Requires="p14">
      <p:transition spd="slow" p14:dur="2000" advTm="14901"/>
    </mc:Choice>
    <mc:Fallback>
      <p:transition spd="slow" advTm="1490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875420" y="1772816"/>
            <a:ext cx="9865096" cy="4608512"/>
          </a:xfrm>
        </p:spPr>
        <p:txBody>
          <a:bodyPr>
            <a:normAutofit/>
          </a:bodyPr>
          <a:lstStyle/>
          <a:p>
            <a:pPr marL="0" marR="0" algn="just">
              <a:lnSpc>
                <a:spcPct val="115000"/>
              </a:lnSpc>
              <a:spcBef>
                <a:spcPts val="0"/>
              </a:spcBef>
              <a:spcAft>
                <a:spcPts val="1000"/>
              </a:spcAft>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In this section you can make conclusions about what happened. This is where you </a:t>
            </a:r>
            <a:r>
              <a:rPr lang="en-US" sz="2200" dirty="0" err="1">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summarise</a:t>
            </a: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 your learning and highlight what changes to your actions could improve the outcome in the future. It should be a natural response to the previous sections.</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Helpful questions:</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itchFamily="2" charset="2"/>
              <a:buChar char=""/>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What did I learn from this situation?</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itchFamily="2" charset="2"/>
              <a:buChar char=""/>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How could this have been a more positive situation for everyone involved?</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itchFamily="2" charset="2"/>
              <a:buChar char=""/>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What skills do I need to develop for me to handle a situation like this better?</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itchFamily="2" charset="2"/>
              <a:buChar char=""/>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What else could I have done</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effectLst/>
                <a:latin typeface="Garamond" panose="02020404030301010803" pitchFamily="18" charset="0"/>
              </a:rPr>
              <a:t>Conclusion</a:t>
            </a:r>
          </a:p>
        </p:txBody>
      </p:sp>
      <p:pic>
        <p:nvPicPr>
          <p:cNvPr id="7" name="Audio 6">
            <a:extLst>
              <a:ext uri="{FF2B5EF4-FFF2-40B4-BE49-F238E27FC236}">
                <a16:creationId xmlns:a16="http://schemas.microsoft.com/office/drawing/2014/main" id="{F62E2960-B613-4990-0EC1-A5EE78B0F92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199699628"/>
      </p:ext>
    </p:extLst>
  </p:cSld>
  <p:clrMapOvr>
    <a:masterClrMapping/>
  </p:clrMapOvr>
  <mc:AlternateContent xmlns:mc="http://schemas.openxmlformats.org/markup-compatibility/2006">
    <mc:Choice xmlns:p14="http://schemas.microsoft.com/office/powerpoint/2010/main" Requires="p14">
      <p:transition spd="slow" p14:dur="2000" advTm="41450"/>
    </mc:Choice>
    <mc:Fallback>
      <p:transition spd="slow" advTm="414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767408" y="1556230"/>
            <a:ext cx="9865096" cy="4608512"/>
          </a:xfrm>
        </p:spPr>
        <p:txBody>
          <a:bodyPr>
            <a:normAutofit/>
          </a:bodyPr>
          <a:lstStyle/>
          <a:p>
            <a:pPr marL="0" marR="0" algn="just">
              <a:lnSpc>
                <a:spcPct val="115000"/>
              </a:lnSpc>
              <a:spcBef>
                <a:spcPts val="0"/>
              </a:spcBef>
              <a:spcAft>
                <a:spcPts val="1000"/>
              </a:spcAft>
            </a:pPr>
            <a:r>
              <a:rPr lang="en-US" sz="2200" b="1"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Example of conclusion</a:t>
            </a:r>
          </a:p>
          <a:p>
            <a:pPr marL="0" marR="0" algn="just">
              <a:lnSpc>
                <a:spcPct val="115000"/>
              </a:lnSpc>
              <a:spcBef>
                <a:spcPts val="0"/>
              </a:spcBef>
              <a:spcAft>
                <a:spcPts val="1000"/>
              </a:spcAft>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I learned that when a group wants to divide work, we must plan how we want each section to look and feel – having done this would likely have made it possible to put the sections together and submit without much or any rewriting. </a:t>
            </a:r>
          </a:p>
          <a:p>
            <a:pPr marL="0" marR="0" algn="just">
              <a:lnSpc>
                <a:spcPct val="115000"/>
              </a:lnSpc>
              <a:spcBef>
                <a:spcPts val="0"/>
              </a:spcBef>
              <a:spcAft>
                <a:spcPts val="1000"/>
              </a:spcAft>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Moreover, I will continue to have people self-identify their strengths and possibly even suggest using the ‘Belbin team roles’-framework with longer projects. </a:t>
            </a:r>
          </a:p>
          <a:p>
            <a:pPr marL="0" marR="0" algn="just">
              <a:lnSpc>
                <a:spcPct val="115000"/>
              </a:lnSpc>
              <a:spcBef>
                <a:spcPts val="0"/>
              </a:spcBef>
              <a:spcAft>
                <a:spcPts val="1000"/>
              </a:spcAft>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Lastly, I learned that we sometimes have to challenge the decisions we seem to agree on in the group to ensure that we are not agreeing just because of groupthink</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effectLst/>
                <a:latin typeface="Garamond" panose="02020404030301010803" pitchFamily="18" charset="0"/>
              </a:rPr>
              <a:t>Conclusion</a:t>
            </a:r>
          </a:p>
        </p:txBody>
      </p:sp>
      <p:pic>
        <p:nvPicPr>
          <p:cNvPr id="7" name="Audio 6">
            <a:extLst>
              <a:ext uri="{FF2B5EF4-FFF2-40B4-BE49-F238E27FC236}">
                <a16:creationId xmlns:a16="http://schemas.microsoft.com/office/drawing/2014/main" id="{0B35E8D2-6980-9542-A2C4-0D49DC95307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3461542713"/>
      </p:ext>
    </p:extLst>
  </p:cSld>
  <p:clrMapOvr>
    <a:masterClrMapping/>
  </p:clrMapOvr>
  <mc:AlternateContent xmlns:mc="http://schemas.openxmlformats.org/markup-compatibility/2006">
    <mc:Choice xmlns:p14="http://schemas.microsoft.com/office/powerpoint/2010/main" Requires="p14">
      <p:transition spd="slow" p14:dur="2000" advTm="18336"/>
    </mc:Choice>
    <mc:Fallback>
      <p:transition spd="slow" advTm="1833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767408" y="1546226"/>
            <a:ext cx="9865096" cy="4608512"/>
          </a:xfrm>
        </p:spPr>
        <p:txBody>
          <a:bodyPr>
            <a:normAutofit/>
          </a:bodyPr>
          <a:lstStyle/>
          <a:p>
            <a:pPr marL="0" marR="0" algn="just">
              <a:lnSpc>
                <a:spcPct val="115000"/>
              </a:lnSpc>
              <a:spcBef>
                <a:spcPts val="0"/>
              </a:spcBef>
              <a:spcAft>
                <a:spcPts val="1000"/>
              </a:spcAft>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At this step you plan for what you would do differently in a similar or related situation in the future. It can also be extremely helpful to think about how you will help yourself to act differently – such that you don’t only plan what you will do differently, but also how you will make sure it happens. Sometimes just the </a:t>
            </a:r>
            <a:r>
              <a:rPr lang="en-US" sz="2200" dirty="0" err="1">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realisation</a:t>
            </a: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 is enough, but other times reminders might be helpful.</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Helpful questions</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itchFamily="2" charset="2"/>
              <a:buChar char=""/>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If I had to do the same thing again, what would I do differently?</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itchFamily="2" charset="2"/>
              <a:buChar char=""/>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How will I develop the required skills I need</a:t>
            </a:r>
          </a:p>
          <a:p>
            <a:pPr marL="342900" indent="-342900" algn="just">
              <a:lnSpc>
                <a:spcPct val="115000"/>
              </a:lnSpc>
              <a:spcBef>
                <a:spcPts val="0"/>
              </a:spcBef>
              <a:spcAft>
                <a:spcPts val="1000"/>
              </a:spcAft>
              <a:buFont typeface="Symbol" pitchFamily="2" charset="2"/>
              <a:buChar char=""/>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How can I make sure that I can act differently next time</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itchFamily="2" charset="2"/>
              <a:buChar char=""/>
            </a:pP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effectLst/>
                <a:latin typeface="Garamond" panose="02020404030301010803" pitchFamily="18" charset="0"/>
              </a:rPr>
              <a:t>Action Plan</a:t>
            </a:r>
          </a:p>
        </p:txBody>
      </p:sp>
      <p:pic>
        <p:nvPicPr>
          <p:cNvPr id="7" name="Audio 6">
            <a:extLst>
              <a:ext uri="{FF2B5EF4-FFF2-40B4-BE49-F238E27FC236}">
                <a16:creationId xmlns:a16="http://schemas.microsoft.com/office/drawing/2014/main" id="{FD3B9D9E-B887-EC32-A97E-47EDC5C3DE9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29847872"/>
      </p:ext>
    </p:extLst>
  </p:cSld>
  <p:clrMapOvr>
    <a:masterClrMapping/>
  </p:clrMapOvr>
  <mc:AlternateContent xmlns:mc="http://schemas.openxmlformats.org/markup-compatibility/2006">
    <mc:Choice xmlns:p14="http://schemas.microsoft.com/office/powerpoint/2010/main" Requires="p14">
      <p:transition spd="slow" p14:dur="2000" advTm="24714"/>
    </mc:Choice>
    <mc:Fallback>
      <p:transition spd="slow" advTm="2471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875420" y="1772816"/>
            <a:ext cx="9865096" cy="4608512"/>
          </a:xfrm>
        </p:spPr>
        <p:txBody>
          <a:bodyPr>
            <a:normAutofit/>
          </a:bodyPr>
          <a:lstStyle/>
          <a:p>
            <a:pPr marL="0" marR="0" algn="just">
              <a:lnSpc>
                <a:spcPct val="115000"/>
              </a:lnSpc>
              <a:spcBef>
                <a:spcPts val="0"/>
              </a:spcBef>
              <a:spcAft>
                <a:spcPts val="1000"/>
              </a:spcAft>
            </a:pPr>
            <a:r>
              <a:rPr lang="en-US" sz="2200" b="1"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Example of Action Plan</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When I’m working with a group next time, I will talk to them about what strengths they have. This is easy to do and remember in a first meeting, and also potentially works as an ice-breaker if we don’t know each other well. Next, if we decide to divide work, I will insist that we plan out what we expect from it beforehand. </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effectLst/>
                <a:latin typeface="Garamond" panose="02020404030301010803" pitchFamily="18" charset="0"/>
              </a:rPr>
              <a:t>Action Plan</a:t>
            </a:r>
            <a:endParaRPr lang="en-US" dirty="0">
              <a:solidFill>
                <a:srgbClr val="333333"/>
              </a:solidFill>
              <a:effectLst/>
              <a:latin typeface="Helvetica" pitchFamily="2" charset="0"/>
            </a:endParaRPr>
          </a:p>
        </p:txBody>
      </p:sp>
      <p:pic>
        <p:nvPicPr>
          <p:cNvPr id="7" name="Audio 6">
            <a:extLst>
              <a:ext uri="{FF2B5EF4-FFF2-40B4-BE49-F238E27FC236}">
                <a16:creationId xmlns:a16="http://schemas.microsoft.com/office/drawing/2014/main" id="{6B9C941D-148D-35BF-9287-40BA28B64A1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3509141868"/>
      </p:ext>
    </p:extLst>
  </p:cSld>
  <p:clrMapOvr>
    <a:masterClrMapping/>
  </p:clrMapOvr>
  <mc:AlternateContent xmlns:mc="http://schemas.openxmlformats.org/markup-compatibility/2006">
    <mc:Choice xmlns:p14="http://schemas.microsoft.com/office/powerpoint/2010/main" Requires="p14">
      <p:transition spd="slow" p14:dur="2000" advTm="13013"/>
    </mc:Choice>
    <mc:Fallback>
      <p:transition spd="slow" advTm="1301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875420" y="1772816"/>
            <a:ext cx="9865096" cy="4608512"/>
          </a:xfrm>
        </p:spPr>
        <p:txBody>
          <a:bodyPr>
            <a:normAutofit/>
          </a:bodyPr>
          <a:lstStyle/>
          <a:p>
            <a:pPr marL="0" marR="0" algn="just">
              <a:lnSpc>
                <a:spcPct val="115000"/>
              </a:lnSpc>
              <a:spcBef>
                <a:spcPts val="0"/>
              </a:spcBef>
              <a:spcAft>
                <a:spcPts val="1000"/>
              </a:spcAft>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Potentially I would suggest writing the introduction or first section together first, so that we have a reference for when we are writing our own parts. I’m confident this current experience will be enough to remind me to suggest this if anyone says we should divide up the work in the future. </a:t>
            </a:r>
          </a:p>
          <a:p>
            <a:pPr marL="0" marR="0" algn="just">
              <a:lnSpc>
                <a:spcPct val="115000"/>
              </a:lnSpc>
              <a:spcBef>
                <a:spcPts val="0"/>
              </a:spcBef>
              <a:spcAft>
                <a:spcPts val="1000"/>
              </a:spcAft>
            </a:pPr>
            <a:r>
              <a:rPr lang="en-US" sz="2200" dirty="0">
                <a:solidFill>
                  <a:srgbClr val="333333"/>
                </a:solidFill>
                <a:effectLst/>
                <a:latin typeface="Garamond" panose="02020404030301010803" pitchFamily="18" charset="0"/>
                <a:ea typeface="Calibri" panose="020F0502020204030204" pitchFamily="34" charset="0"/>
                <a:cs typeface="Times New Roman" panose="02020603050405020304" pitchFamily="18" charset="0"/>
              </a:rPr>
              <a:t>Lastly, I will ask if we can challenge our initial decisions so that we are confident we are making informed decisions to avoid groupthink. If I have any concerns, I will tell the group. I think by remembering I want the best result possible will make me be able to disagree even when it feels uncomfortable</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200" dirty="0">
                <a:effectLst/>
                <a:latin typeface="Garamond" panose="02020404030301010803" pitchFamily="18" charset="0"/>
                <a:ea typeface="Calibri" panose="020F0502020204030204" pitchFamily="34" charset="0"/>
                <a:cs typeface="Times New Roman" panose="02020603050405020304" pitchFamily="18" charset="0"/>
              </a:rPr>
              <a:t>Adapted from </a:t>
            </a:r>
            <a:r>
              <a:rPr lang="en-US" sz="2200" u="sng" dirty="0">
                <a:solidFill>
                  <a:srgbClr val="0563C1"/>
                </a:solidFill>
                <a:effectLst/>
                <a:latin typeface="Garamond" panose="02020404030301010803" pitchFamily="18" charset="0"/>
                <a:ea typeface="Calibri" panose="020F0502020204030204" pitchFamily="34" charset="0"/>
                <a:cs typeface="Times New Roman" panose="02020603050405020304" pitchFamily="18" charset="0"/>
                <a:hlinkClick r:id="rId5"/>
              </a:rPr>
              <a:t>Gibbs' Reflective Cycle Writing</a:t>
            </a:r>
            <a:endParaRPr lang="en-US" sz="2200" dirty="0">
              <a:effectLst/>
              <a:latin typeface="Garamond" panose="02020404030301010803" pitchFamily="18" charset="0"/>
              <a:ea typeface="Calibri" panose="020F0502020204030204" pitchFamily="34" charset="0"/>
              <a:cs typeface="Times New Roman" panose="02020603050405020304" pitchFamily="18" charset="0"/>
            </a:endParaRP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effectLst/>
                <a:latin typeface="Garamond" panose="02020404030301010803" pitchFamily="18" charset="0"/>
              </a:rPr>
              <a:t>Action Plan</a:t>
            </a:r>
            <a:endParaRPr lang="en-US" dirty="0">
              <a:solidFill>
                <a:srgbClr val="333333"/>
              </a:solidFill>
              <a:effectLst/>
              <a:latin typeface="Helvetica" pitchFamily="2" charset="0"/>
            </a:endParaRPr>
          </a:p>
        </p:txBody>
      </p:sp>
      <p:pic>
        <p:nvPicPr>
          <p:cNvPr id="7" name="Audio 6">
            <a:extLst>
              <a:ext uri="{FF2B5EF4-FFF2-40B4-BE49-F238E27FC236}">
                <a16:creationId xmlns:a16="http://schemas.microsoft.com/office/drawing/2014/main" id="{EBBFEBD6-A737-EEC4-5544-DF53F66C6EE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4294367776"/>
      </p:ext>
    </p:extLst>
  </p:cSld>
  <p:clrMapOvr>
    <a:masterClrMapping/>
  </p:clrMapOvr>
  <mc:AlternateContent xmlns:mc="http://schemas.openxmlformats.org/markup-compatibility/2006">
    <mc:Choice xmlns:p14="http://schemas.microsoft.com/office/powerpoint/2010/main" Requires="p14">
      <p:transition spd="slow" p14:dur="2000" advTm="17653"/>
    </mc:Choice>
    <mc:Fallback>
      <p:transition spd="slow" advTm="176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875420" y="1772816"/>
            <a:ext cx="9865096" cy="4608512"/>
          </a:xfrm>
        </p:spPr>
        <p:txBody>
          <a:bodyPr>
            <a:normAutofit/>
          </a:bodyPr>
          <a:lstStyle/>
          <a:p>
            <a:pPr marL="0" marR="0" algn="just">
              <a:lnSpc>
                <a:spcPct val="115000"/>
              </a:lnSpc>
              <a:spcBef>
                <a:spcPts val="0"/>
              </a:spcBef>
              <a:spcAft>
                <a:spcPts val="1000"/>
              </a:spcAft>
            </a:pPr>
            <a:r>
              <a:rPr lang="en-US" sz="2200" dirty="0">
                <a:effectLst/>
                <a:latin typeface="Garamond" panose="02020404030301010803" pitchFamily="18" charset="0"/>
                <a:ea typeface="Calibri" panose="020F0502020204030204" pitchFamily="34" charset="0"/>
                <a:cs typeface="Times New Roman" panose="02020603050405020304" pitchFamily="18" charset="0"/>
              </a:rPr>
              <a:t>Most often as a technical student, we do not really enjoy writing. However, writing in a reflective manner would help us to become aware of our learning experiences, including how we learn. Gibbs reflective cycle model is one method to help you structure properly how you can carry out reflective writing.</a:t>
            </a:r>
          </a:p>
          <a:p>
            <a:pPr marL="0" marR="0" algn="just">
              <a:lnSpc>
                <a:spcPct val="115000"/>
              </a:lnSpc>
              <a:spcBef>
                <a:spcPts val="0"/>
              </a:spcBef>
              <a:spcAft>
                <a:spcPts val="1000"/>
              </a:spcAft>
            </a:pPr>
            <a:r>
              <a:rPr lang="en-US" sz="2200" dirty="0">
                <a:effectLst/>
                <a:latin typeface="Garamond" panose="02020404030301010803" pitchFamily="18" charset="0"/>
                <a:ea typeface="Calibri" panose="020F0502020204030204" pitchFamily="34" charset="0"/>
                <a:cs typeface="Times New Roman" panose="02020603050405020304" pitchFamily="18" charset="0"/>
              </a:rPr>
              <a:t>Reflection is important, it is a skill that goes hand in hand with your research skills to develop your life-long learning skills.</a:t>
            </a:r>
          </a:p>
        </p:txBody>
      </p:sp>
      <p:sp>
        <p:nvSpPr>
          <p:cNvPr id="2" name="Title 1"/>
          <p:cNvSpPr>
            <a:spLocks noGrp="1"/>
          </p:cNvSpPr>
          <p:nvPr>
            <p:ph type="title" idx="4294967295"/>
          </p:nvPr>
        </p:nvSpPr>
        <p:spPr>
          <a:xfrm>
            <a:off x="623392" y="332656"/>
            <a:ext cx="10369152" cy="1106488"/>
          </a:xfrm>
          <a:prstGeom prst="rect">
            <a:avLst/>
          </a:prstGeom>
        </p:spPr>
        <p:txBody>
          <a:bodyPr>
            <a:normAutofit/>
          </a:bodyPr>
          <a:lstStyle/>
          <a:p>
            <a:r>
              <a:rPr lang="en-US" dirty="0">
                <a:solidFill>
                  <a:srgbClr val="333333"/>
                </a:solidFill>
                <a:latin typeface="Garamond" panose="02020404030301010803" pitchFamily="18" charset="0"/>
              </a:rPr>
              <a:t>Last but not least</a:t>
            </a:r>
            <a:endParaRPr lang="en-US" dirty="0">
              <a:solidFill>
                <a:srgbClr val="333333"/>
              </a:solidFill>
              <a:effectLst/>
              <a:latin typeface="Garamond" panose="02020404030301010803" pitchFamily="18" charset="0"/>
            </a:endParaRPr>
          </a:p>
        </p:txBody>
      </p:sp>
      <p:pic>
        <p:nvPicPr>
          <p:cNvPr id="7" name="Audio 6">
            <a:extLst>
              <a:ext uri="{FF2B5EF4-FFF2-40B4-BE49-F238E27FC236}">
                <a16:creationId xmlns:a16="http://schemas.microsoft.com/office/drawing/2014/main" id="{B4C666EF-DEE6-B7C4-F955-34A17F47962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17816615"/>
      </p:ext>
    </p:extLst>
  </p:cSld>
  <p:clrMapOvr>
    <a:masterClrMapping/>
  </p:clrMapOvr>
  <mc:AlternateContent xmlns:mc="http://schemas.openxmlformats.org/markup-compatibility/2006">
    <mc:Choice xmlns:p14="http://schemas.microsoft.com/office/powerpoint/2010/main" Requires="p14">
      <p:transition spd="slow" p14:dur="2000" advTm="40640"/>
    </mc:Choice>
    <mc:Fallback>
      <p:transition spd="slow" advTm="40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839416" y="1484784"/>
            <a:ext cx="10225136" cy="4032448"/>
          </a:xfrm>
        </p:spPr>
        <p:txBody>
          <a:bodyPr>
            <a:noAutofit/>
          </a:bodyPr>
          <a:lstStyle/>
          <a:p>
            <a:endParaRPr lang="en-US" dirty="0">
              <a:latin typeface="Garamond" panose="02020404030301010803" pitchFamily="18" charset="0"/>
              <a:cs typeface="Arial"/>
            </a:endParaRPr>
          </a:p>
          <a:p>
            <a:pPr marL="457200" indent="-457200">
              <a:buFont typeface="+mj-lt"/>
              <a:buAutoNum type="arabicPeriod"/>
            </a:pPr>
            <a:r>
              <a:rPr lang="en-US" dirty="0">
                <a:latin typeface="Garamond" panose="02020404030301010803" pitchFamily="18" charset="0"/>
              </a:rPr>
              <a:t>Reflection is a form of self-study conceptualized by writing</a:t>
            </a:r>
          </a:p>
          <a:p>
            <a:pPr marL="457200" indent="-457200">
              <a:buFont typeface="+mj-lt"/>
              <a:buAutoNum type="arabicPeriod"/>
            </a:pPr>
            <a:r>
              <a:rPr lang="en-US" dirty="0">
                <a:latin typeface="Garamond" panose="02020404030301010803" pitchFamily="18" charset="0"/>
              </a:rPr>
              <a:t>Gibb’s reflective cycle is a model provided to help you structure your learning experiences into </a:t>
            </a:r>
            <a:r>
              <a:rPr lang="en-US">
                <a:latin typeface="Garamond" panose="02020404030301010803" pitchFamily="18" charset="0"/>
              </a:rPr>
              <a:t>reflective writing.</a:t>
            </a:r>
            <a:endParaRPr lang="en-US" dirty="0">
              <a:latin typeface="Garamond" panose="02020404030301010803" pitchFamily="18" charset="0"/>
            </a:endParaRPr>
          </a:p>
        </p:txBody>
      </p:sp>
      <p:sp>
        <p:nvSpPr>
          <p:cNvPr id="2" name="Title 1"/>
          <p:cNvSpPr>
            <a:spLocks noGrp="1"/>
          </p:cNvSpPr>
          <p:nvPr>
            <p:ph type="title" idx="4294967295"/>
          </p:nvPr>
        </p:nvSpPr>
        <p:spPr>
          <a:xfrm>
            <a:off x="583202" y="188640"/>
            <a:ext cx="9505056" cy="1106488"/>
          </a:xfrm>
          <a:prstGeom prst="rect">
            <a:avLst/>
          </a:prstGeom>
        </p:spPr>
        <p:txBody>
          <a:bodyPr>
            <a:normAutofit/>
          </a:bodyPr>
          <a:lstStyle/>
          <a:p>
            <a:r>
              <a:rPr lang="en-US" dirty="0">
                <a:latin typeface="Garamond" panose="02020404030301010803" pitchFamily="18" charset="0"/>
                <a:cs typeface="Arial"/>
              </a:rPr>
              <a:t>Summary of this lesson</a:t>
            </a:r>
          </a:p>
        </p:txBody>
      </p:sp>
      <p:pic>
        <p:nvPicPr>
          <p:cNvPr id="7" name="Audio 6">
            <a:extLst>
              <a:ext uri="{FF2B5EF4-FFF2-40B4-BE49-F238E27FC236}">
                <a16:creationId xmlns:a16="http://schemas.microsoft.com/office/drawing/2014/main" id="{3D50D8F6-1095-32B2-6FDA-0639A1D5A75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685357999"/>
      </p:ext>
    </p:extLst>
  </p:cSld>
  <p:clrMapOvr>
    <a:masterClrMapping/>
  </p:clrMapOvr>
  <mc:AlternateContent xmlns:mc="http://schemas.openxmlformats.org/markup-compatibility/2006">
    <mc:Choice xmlns:p14="http://schemas.microsoft.com/office/powerpoint/2010/main" Requires="p14">
      <p:transition spd="slow" p14:dur="2000" advTm="31459"/>
    </mc:Choice>
    <mc:Fallback>
      <p:transition spd="slow" advTm="3145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WASPOLLED" val="A79145AC99644806834DDC90CF40D409"/>
  <p:tag name="TPVERSION" val="5"/>
  <p:tag name="TPFULLVERSION" val="5.4.1.2"/>
  <p:tag name="PPTVERSION" val="15"/>
  <p:tag name="TPOS" val="2"/>
</p:tagLst>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FIT1049FIT2003 Examp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T1049FIT2003 Example.potx" id="{0959B5B8-E8A5-4555-AA4D-C08290C7CF2D}" vid="{ABCF4FDE-D506-4A71-A46B-6B46E85196E4}"/>
    </a:ext>
  </a:extLst>
</a:theme>
</file>

<file path=ppt/theme/theme3.xml><?xml version="1.0" encoding="utf-8"?>
<a:theme xmlns:a="http://schemas.openxmlformats.org/drawingml/2006/main" name="Title slide_1">
  <a:themeElements>
    <a:clrScheme name="Monash Colour Palette">
      <a:dk1>
        <a:sysClr val="windowText" lastClr="000000"/>
      </a:dk1>
      <a:lt1>
        <a:sysClr val="window" lastClr="FFFFFF"/>
      </a:lt1>
      <a:dk2>
        <a:srgbClr val="006DAE"/>
      </a:dk2>
      <a:lt2>
        <a:srgbClr val="939597"/>
      </a:lt2>
      <a:accent1>
        <a:srgbClr val="E3E5E5"/>
      </a:accent1>
      <a:accent2>
        <a:srgbClr val="ECECEC"/>
      </a:accent2>
      <a:accent3>
        <a:srgbClr val="FF002B"/>
      </a:accent3>
      <a:accent4>
        <a:srgbClr val="00AC3E"/>
      </a:accent4>
      <a:accent5>
        <a:srgbClr val="009FDA"/>
      </a:accent5>
      <a:accent6>
        <a:srgbClr val="8177E7"/>
      </a:accent6>
      <a:hlink>
        <a:srgbClr val="EE64A4"/>
      </a:hlink>
      <a:folHlink>
        <a:srgbClr val="FC622E"/>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1CAF005F-FBF3-4B11-82C1-1C7DCB010D35}"/>
    </a:ext>
  </a:extLst>
</a:theme>
</file>

<file path=ppt/theme/theme4.xml><?xml version="1.0" encoding="utf-8"?>
<a:theme xmlns:a="http://schemas.openxmlformats.org/drawingml/2006/main" name="Title slide_2">
  <a:themeElements>
    <a:clrScheme name="Monash Black">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1F24A3D9-D0FF-4975-8D16-82ED1789C46B}"/>
    </a:ext>
  </a:extLst>
</a:theme>
</file>

<file path=ppt/theme/theme5.xml><?xml version="1.0" encoding="utf-8"?>
<a:theme xmlns:a="http://schemas.openxmlformats.org/drawingml/2006/main" name="1_Standard slide">
  <a:themeElements>
    <a:clrScheme name="Monash University">
      <a:dk1>
        <a:srgbClr val="000000"/>
      </a:dk1>
      <a:lt1>
        <a:srgbClr val="FFFFFF"/>
      </a:lt1>
      <a:dk2>
        <a:srgbClr val="006DAE"/>
      </a:dk2>
      <a:lt2>
        <a:srgbClr val="CCCCCC"/>
      </a:lt2>
      <a:accent1>
        <a:srgbClr val="FF002B"/>
      </a:accent1>
      <a:accent2>
        <a:srgbClr val="FC622E"/>
      </a:accent2>
      <a:accent3>
        <a:srgbClr val="829356"/>
      </a:accent3>
      <a:accent4>
        <a:srgbClr val="00AC3E"/>
      </a:accent4>
      <a:accent5>
        <a:srgbClr val="009FDA"/>
      </a:accent5>
      <a:accent6>
        <a:srgbClr val="8177E7"/>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65D099FF-7EEB-48D5-A654-27F6622821DB}"/>
    </a:ext>
  </a:extLst>
</a:theme>
</file>

<file path=ppt/theme/theme6.xml><?xml version="1.0" encoding="utf-8"?>
<a:theme xmlns:a="http://schemas.openxmlformats.org/drawingml/2006/main" name="Section break 2">
  <a:themeElements>
    <a:clrScheme name="Monash Colour Palette">
      <a:dk1>
        <a:sysClr val="windowText" lastClr="000000"/>
      </a:dk1>
      <a:lt1>
        <a:sysClr val="window" lastClr="FFFFFF"/>
      </a:lt1>
      <a:dk2>
        <a:srgbClr val="006DAE"/>
      </a:dk2>
      <a:lt2>
        <a:srgbClr val="939597"/>
      </a:lt2>
      <a:accent1>
        <a:srgbClr val="E3E5E5"/>
      </a:accent1>
      <a:accent2>
        <a:srgbClr val="ECECEC"/>
      </a:accent2>
      <a:accent3>
        <a:srgbClr val="FF002B"/>
      </a:accent3>
      <a:accent4>
        <a:srgbClr val="00AC3E"/>
      </a:accent4>
      <a:accent5>
        <a:srgbClr val="009FDA"/>
      </a:accent5>
      <a:accent6>
        <a:srgbClr val="8177E7"/>
      </a:accent6>
      <a:hlink>
        <a:srgbClr val="EE64A4"/>
      </a:hlink>
      <a:folHlink>
        <a:srgbClr val="FC622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EB9E0C9F-7EAB-44D9-93D2-F31469C55EF3}"/>
    </a:ext>
  </a:extLst>
</a:theme>
</file>

<file path=ppt/theme/theme7.xml><?xml version="1.0" encoding="utf-8"?>
<a:theme xmlns:a="http://schemas.openxmlformats.org/drawingml/2006/main" name="Section break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7DC990B3-0A3A-4A87-A7ED-8800B7104099}"/>
    </a:ext>
  </a:extLst>
</a:theme>
</file>

<file path=ppt/theme/theme8.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238EFAC0-BA05-4C15-A281-1AA3E7690AD0}"/>
    </a:ext>
  </a:extLst>
</a:theme>
</file>

<file path=ppt/theme/theme9.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48245</TotalTime>
  <Words>17029</Words>
  <Application>Microsoft Macintosh PowerPoint</Application>
  <PresentationFormat>Widescreen</PresentationFormat>
  <Paragraphs>540</Paragraphs>
  <Slides>29</Slides>
  <Notes>29</Notes>
  <HiddenSlides>0</HiddenSlides>
  <MMClips>29</MMClips>
  <ScaleCrop>false</ScaleCrop>
  <HeadingPairs>
    <vt:vector size="6" baseType="variant">
      <vt:variant>
        <vt:lpstr>Fonts Used</vt:lpstr>
      </vt:variant>
      <vt:variant>
        <vt:i4>10</vt:i4>
      </vt:variant>
      <vt:variant>
        <vt:lpstr>Theme</vt:lpstr>
      </vt:variant>
      <vt:variant>
        <vt:i4>8</vt:i4>
      </vt:variant>
      <vt:variant>
        <vt:lpstr>Slide Titles</vt:lpstr>
      </vt:variant>
      <vt:variant>
        <vt:i4>29</vt:i4>
      </vt:variant>
    </vt:vector>
  </HeadingPairs>
  <TitlesOfParts>
    <vt:vector size="47" baseType="lpstr">
      <vt:lpstr>Arial</vt:lpstr>
      <vt:lpstr>Helvetica</vt:lpstr>
      <vt:lpstr>Times New Roman</vt:lpstr>
      <vt:lpstr>Arial Narrow</vt:lpstr>
      <vt:lpstr>Calibri</vt:lpstr>
      <vt:lpstr>Book Antiqua</vt:lpstr>
      <vt:lpstr>Wingdings</vt:lpstr>
      <vt:lpstr>Garamond</vt:lpstr>
      <vt:lpstr>Calibri Light</vt:lpstr>
      <vt:lpstr>Symbol</vt:lpstr>
      <vt:lpstr>Custom Design</vt:lpstr>
      <vt:lpstr>FIT1049FIT2003 Example</vt:lpstr>
      <vt:lpstr>Title slide_1</vt:lpstr>
      <vt:lpstr>Title slide_2</vt:lpstr>
      <vt:lpstr>1_Standard slide</vt:lpstr>
      <vt:lpstr>Section break 2</vt:lpstr>
      <vt:lpstr>Section break 1</vt:lpstr>
      <vt:lpstr>4_Custom Design</vt:lpstr>
      <vt:lpstr>FIT1055: IT professional practice and Ethics</vt:lpstr>
      <vt:lpstr>Things you will learn by the end of lesson</vt:lpstr>
      <vt:lpstr>Reflection– why do we need it ?</vt:lpstr>
      <vt:lpstr>Reflection – what is it?</vt:lpstr>
      <vt:lpstr>Why do we need reflective writing?</vt:lpstr>
      <vt:lpstr>How do we write a “reflective writing”? Gibb’s reflective cycle</vt:lpstr>
      <vt:lpstr>Gibb’s reflective cycle has 6 stages</vt:lpstr>
      <vt:lpstr>Explanation on the cycle</vt:lpstr>
      <vt:lpstr>How to use the model’s cycle for reflective writing</vt:lpstr>
      <vt:lpstr>Example in applying Gibb’s cycle </vt:lpstr>
      <vt:lpstr>Description </vt:lpstr>
      <vt:lpstr>Description </vt:lpstr>
      <vt:lpstr>Description </vt:lpstr>
      <vt:lpstr>Feeling</vt:lpstr>
      <vt:lpstr>Feeling</vt:lpstr>
      <vt:lpstr>Evaluation</vt:lpstr>
      <vt:lpstr>Evaluation</vt:lpstr>
      <vt:lpstr>Analysis</vt:lpstr>
      <vt:lpstr>Analysis</vt:lpstr>
      <vt:lpstr>Analysis</vt:lpstr>
      <vt:lpstr>Analysis</vt:lpstr>
      <vt:lpstr>Analysis</vt:lpstr>
      <vt:lpstr>Conclusion</vt:lpstr>
      <vt:lpstr>Conclusion</vt:lpstr>
      <vt:lpstr>Action Plan</vt:lpstr>
      <vt:lpstr>Action Plan</vt:lpstr>
      <vt:lpstr>Action Plan</vt:lpstr>
      <vt:lpstr>Last but not least</vt:lpstr>
      <vt:lpstr>Summary of this lesson</vt:lpstr>
    </vt:vector>
  </TitlesOfParts>
  <Company>Monash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FIT1049-FIT2003 Lecture 1</dc:title>
  <dc:subject>FIT1049-FIT2003 Lecture 1</dc:subject>
  <dc:creator>annn</dc:creator>
  <cp:lastModifiedBy>nik nailah abdullah</cp:lastModifiedBy>
  <cp:revision>1292</cp:revision>
  <cp:lastPrinted>2019-03-04T05:36:01Z</cp:lastPrinted>
  <dcterms:created xsi:type="dcterms:W3CDTF">2008-07-14T07:08:14Z</dcterms:created>
  <dcterms:modified xsi:type="dcterms:W3CDTF">2025-10-22T13:30:25Z</dcterms:modified>
</cp:coreProperties>
</file>