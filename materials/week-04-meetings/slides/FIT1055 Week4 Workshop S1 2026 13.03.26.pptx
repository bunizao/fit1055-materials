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78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64" r:id="rId10"/>
    <p:sldId id="280" r:id="rId11"/>
    <p:sldId id="1132" r:id="rId12"/>
    <p:sldId id="1133" r:id="rId13"/>
    <p:sldId id="266" r:id="rId14"/>
    <p:sldId id="1059" r:id="rId15"/>
    <p:sldId id="281" r:id="rId16"/>
    <p:sldId id="268" r:id="rId17"/>
    <p:sldId id="282" r:id="rId18"/>
    <p:sldId id="270" r:id="rId19"/>
    <p:sldId id="271" r:id="rId20"/>
    <p:sldId id="272" r:id="rId21"/>
    <p:sldId id="273" r:id="rId22"/>
    <p:sldId id="276" r:id="rId23"/>
    <p:sldId id="263" r:id="rId24"/>
    <p:sldId id="283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92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1" d="100"/>
        <a:sy n="12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24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EA5DB-D3C3-CD6A-D8B0-55F5C0A07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BE569-529D-5B44-0BAF-1826D3624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86A33-943D-2704-3571-F50077F75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98EC1-6865-D413-0A7F-98DE1B18FD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08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17A70-0C5D-CAB0-8843-F8E9A785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23D02E-3E82-820B-D8FF-EA7A6A19B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4923D-9D54-D89B-878B-8E4DD6C89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4BBDE-8F63-1A38-F652-78EE60B95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45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57628-FC30-80D2-397C-B7BBAE034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0C0727-4321-9D54-58F6-A5F64C616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8F719-0C24-7237-56F9-97B93963E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0D0E1-A73B-666C-19AE-EC062369FB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83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9CC75-16E1-0E5E-2A44-D4B717FBD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FB5CD-2345-CA35-00C5-29171B1A1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6AD17-D5EF-196D-FB86-59C72C19E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A19FE-1761-BE19-8840-4347F5496B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51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C7443-B1B0-03BC-F2CF-E8AA43CF2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5F921-1756-6D64-185F-027B1C281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D8175-25B8-A025-5D15-65C310768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DA4F9-A623-E7A5-2B16-95C751316C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5789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 anchor="ctr"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 anchor="ctr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 anchor="ctr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04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youtube.com/watch?v=oPhKhTI0Lss" TargetMode="External"/><Relationship Id="rId7" Type="http://schemas.openxmlformats.org/officeDocument/2006/relationships/hyperlink" Target="https://www.youtube.com/watch?v=scyTIRNDu_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www.youtube.com/watch?v=qGFoZ8yodc4" TargetMode="Externa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F3HcegaW28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www.youtube.com/watch?v=pCa8Zvf0XaE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sz="quarter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138584" y="296276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11BF76-DB46-7723-5F8E-28A996E100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18" r="2096" b="651"/>
          <a:stretch/>
        </p:blipFill>
        <p:spPr>
          <a:xfrm>
            <a:off x="6552395" y="315310"/>
            <a:ext cx="2591605" cy="31425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E6D076-9D84-ED2A-EF7B-28B6955C20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180" b="81278"/>
          <a:stretch/>
        </p:blipFill>
        <p:spPr>
          <a:xfrm>
            <a:off x="1249489" y="4135389"/>
            <a:ext cx="2250885" cy="936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364201-B955-51AD-3BF7-A8B0B0E0B8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9504" r="77476"/>
          <a:stretch/>
        </p:blipFill>
        <p:spPr>
          <a:xfrm>
            <a:off x="2924310" y="4167987"/>
            <a:ext cx="1426973" cy="975513"/>
          </a:xfrm>
          <a:prstGeom prst="rect">
            <a:avLst/>
          </a:prstGeom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DC9E5B37-550E-BDDA-20D9-6A0D119A6118}"/>
              </a:ext>
            </a:extLst>
          </p:cNvPr>
          <p:cNvSpPr txBox="1">
            <a:spLocks/>
          </p:cNvSpPr>
          <p:nvPr/>
        </p:nvSpPr>
        <p:spPr>
          <a:xfrm>
            <a:off x="557811" y="541128"/>
            <a:ext cx="5994584" cy="14700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  <a:latin typeface="Garamond" panose="02020404030301010803" pitchFamily="18" charset="0"/>
              </a:rPr>
              <a:t>FIT1055: IT professional practice and Ethics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79ECFDF-A608-7E14-41A8-8AB52BCC43FC}"/>
              </a:ext>
            </a:extLst>
          </p:cNvPr>
          <p:cNvSpPr/>
          <p:nvPr/>
        </p:nvSpPr>
        <p:spPr>
          <a:xfrm>
            <a:off x="667118" y="2234253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Week 4: Meetings &amp; Interviews</a:t>
            </a:r>
            <a:endParaRPr lang="en-US" sz="3200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in the IT Workplace</a:t>
            </a:r>
            <a:endParaRPr lang="en-US" sz="32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You Will Learn This Week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By the end of Week 4, you will be able to: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8595360" cy="3493008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Describe types of meetings and their importance for IT professionals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Explain where meetings fit in Waterfall and Agile/Scrum software development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Structure effective meeting agendas and minutes using professional guidelines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Use Microsoft Copilot ethically to draft agendas and minutes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Identify AI and digital tools within Zoom/Microsoft Teams for productive meetings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Apply the STAR technique to structure responses in professional and interview settings</a:t>
            </a:r>
            <a:endParaRPr lang="en-US" sz="1500" dirty="0"/>
          </a:p>
        </p:txBody>
      </p:sp>
      <p:sp>
        <p:nvSpPr>
          <p:cNvPr id="10" name="BlueBar">
            <a:extLst>
              <a:ext uri="{FF2B5EF4-FFF2-40B4-BE49-F238E27FC236}">
                <a16:creationId xmlns:a16="http://schemas.microsoft.com/office/drawing/2014/main" id="{5F290378-4AB8-C736-7B42-8ED68C083C52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1: Types of Meetings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2514600"/>
            <a:ext cx="2560320" cy="50292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Understanding formal vs. informal — and why it matters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is a Meeting?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purposeful gathering to discuss, coordinate, and accomplish shared objectives.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4206240" cy="3493008"/>
          </a:xfrm>
          <a:prstGeom prst="rect">
            <a:avLst/>
          </a:prstGeom>
          <a:solidFill>
            <a:srgbClr val="FFFFFF"/>
          </a:solidFill>
          <a:ln w="1524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meeting is a structured conversation where people come together to share information, make decisions, and coordinate action.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Meetings are the primary communication mechanism in every IT team — from daily standups to board-level strategic reviews.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182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makes a meeting effective?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45643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Clear purpose and agenda
▪ Right people in the room
▪ Documented outcomes (minutes)
▪ Action items with owners &amp; deadlines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115568"/>
            <a:ext cx="4206240" cy="3493008"/>
          </a:xfrm>
          <a:prstGeom prst="rect">
            <a:avLst/>
          </a:prstGeom>
          <a:solidFill>
            <a:srgbClr val="EEF4FB"/>
          </a:solidFill>
          <a:ln w="1524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Why Meetings Matter for IT Professionals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5727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🗂  </a:t>
            </a: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Align teams</a:t>
            </a: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— on sprint goals, project scope, and technical decisions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1031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🤝  </a:t>
            </a: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Build relationships</a:t>
            </a: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— with clients, stakeholders, and cross-functional teams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6334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🔍  </a:t>
            </a: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Solve problems</a:t>
            </a: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— collaboratively and make decisions with full context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1638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📣  </a:t>
            </a: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Communicate progress</a:t>
            </a: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— and blockers to management and peers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6941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🚀  </a:t>
            </a: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Drive careers</a:t>
            </a: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— by demonstrating leadership, communication, and initiative</a:t>
            </a:r>
            <a:endParaRPr lang="en-US" sz="1200" dirty="0"/>
          </a:p>
        </p:txBody>
      </p:sp>
      <p:sp>
        <p:nvSpPr>
          <p:cNvPr id="20" name="BlueBar">
            <a:extLst>
              <a:ext uri="{FF2B5EF4-FFF2-40B4-BE49-F238E27FC236}">
                <a16:creationId xmlns:a16="http://schemas.microsoft.com/office/drawing/2014/main" id="{7762C12F-929C-AB20-4C3E-1D91F050661C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Formal vs. Informal Meetings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Both types are common in IT workplaces — knowing the difference shapes how you prepare.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2697480" cy="3493008"/>
          </a:xfrm>
          <a:prstGeom prst="rect">
            <a:avLst/>
          </a:prstGeom>
          <a:solidFill>
            <a:srgbClr val="EEF4FB"/>
          </a:solidFill>
          <a:ln w="1905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207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FORMAL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1517904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Pre-planned with structured agenda, chairperson, formal notice, and written minutes.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" y="23042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When to use: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" y="2560320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Strategic decisions, stakeholder reviews, board meetings, project sign-offs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" y="33101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Examples: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" y="356616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Board meetings, AGMs, sprint reviews, client requirement sessions, EGMs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86100" y="1115568"/>
            <a:ext cx="2697480" cy="3493008"/>
          </a:xfrm>
          <a:prstGeom prst="rect">
            <a:avLst/>
          </a:prstGeom>
          <a:solidFill>
            <a:srgbClr val="EBF7F4"/>
          </a:solidFill>
          <a:ln w="1905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95828" y="1207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INFORMAL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95828" y="1517904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Less structured — no required agenda, chairperson, or minutes. Direction can shift.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95828" y="23042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When to use: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95828" y="2560320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Quick problem-solving, information sharing, team alignment, brainstorming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95828" y="33101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Examples: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95828" y="356616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Daily standups, pair-programming sessions, hallway chats, team check-ins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97880" y="1115568"/>
            <a:ext cx="2697480" cy="3493008"/>
          </a:xfrm>
          <a:prstGeom prst="rect">
            <a:avLst/>
          </a:prstGeom>
          <a:solidFill>
            <a:srgbClr val="F3EEF9"/>
          </a:solidFill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07608" y="1207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EA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VIRTUAL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07608" y="1517904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Any formal or informal meeting conducted via Zoom, MS Teams, Google Meet.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07608" y="23042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EA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When to use: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07608" y="2560320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Distributed teams, remote work, cross-timezone collaboration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07608" y="33101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EA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Examples: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07608" y="356616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Remote standups, client demos, online interviews, hybrid team meetings</a:t>
            </a:r>
            <a:endParaRPr lang="en-US" sz="1400" dirty="0"/>
          </a:p>
        </p:txBody>
      </p:sp>
      <p:sp>
        <p:nvSpPr>
          <p:cNvPr id="29" name="BlueBar">
            <a:extLst>
              <a:ext uri="{FF2B5EF4-FFF2-40B4-BE49-F238E27FC236}">
                <a16:creationId xmlns:a16="http://schemas.microsoft.com/office/drawing/2014/main" id="{7CFB674F-2E27-8C8A-DAB8-086F0F351F8A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2: Meetings in Software Development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2514600"/>
            <a:ext cx="2560320" cy="50292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Where meetings fit in Waterfall and Agile/Scrum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Meetings Across Development Methodologies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Different methodologies = different meeting cadences — both require structured communication.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4160520" cy="3493008"/>
          </a:xfrm>
          <a:prstGeom prst="rect">
            <a:avLst/>
          </a:prstGeom>
          <a:solidFill>
            <a:srgbClr val="FFFFFF"/>
          </a:solidFill>
          <a:ln w="1524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🏗  Waterfall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Sequential phases — meetings concentrated at phase gates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847088"/>
            <a:ext cx="1005840" cy="38404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11480" y="18470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81328" y="18836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Stakeholder meetings to gather and sign off on requirements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359152"/>
            <a:ext cx="1005840" cy="38404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411480" y="235915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81328" y="2395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Architecture review meetings — design decisions documented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2871216"/>
            <a:ext cx="1005840" cy="38404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411480" y="28712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81328" y="29077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Progress check-ins, issue resolution meetings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383280"/>
            <a:ext cx="1005840" cy="38404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411480" y="3383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81328" y="34198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QA review meetings, defect triage sessions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3895344"/>
            <a:ext cx="1005840" cy="38404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411480" y="38953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81328" y="39319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Go/no-go meetings, post-launch retrospectives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115568"/>
            <a:ext cx="4160520" cy="3493008"/>
          </a:xfrm>
          <a:prstGeom prst="rect">
            <a:avLst/>
          </a:prstGeom>
          <a:solidFill>
            <a:srgbClr val="EEF4FB"/>
          </a:solidFill>
          <a:ln w="1524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4800600" y="117043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🔄  Agile / Scrum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148132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Iterative sprints — meetings are continuous ceremonies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0600" y="1847088"/>
            <a:ext cx="1371600" cy="384048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4800600" y="18470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Sprint Planning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36208" y="1883664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Define goals and assign backlog items for the sprint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00600" y="2359152"/>
            <a:ext cx="1371600" cy="384048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33" name="Text 31"/>
          <p:cNvSpPr/>
          <p:nvPr/>
        </p:nvSpPr>
        <p:spPr>
          <a:xfrm>
            <a:off x="4800600" y="23591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Daily Standup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36208" y="239572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15-min: What did I do? What will I do? Any blockers?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00600" y="2871216"/>
            <a:ext cx="1371600" cy="384048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36" name="Text 34"/>
          <p:cNvSpPr/>
          <p:nvPr/>
        </p:nvSpPr>
        <p:spPr>
          <a:xfrm>
            <a:off x="480060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Sprint Review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36208" y="290779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Demo completed features to stakeholders — get feedback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00600" y="3383280"/>
            <a:ext cx="1371600" cy="384048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39" name="Text 37"/>
          <p:cNvSpPr/>
          <p:nvPr/>
        </p:nvSpPr>
        <p:spPr>
          <a:xfrm>
            <a:off x="4800600" y="3383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Retrospective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36208" y="3419856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went well? What to improve? Action items for next sprint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00600" y="3895344"/>
            <a:ext cx="1371600" cy="384048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42" name="Text 40"/>
          <p:cNvSpPr/>
          <p:nvPr/>
        </p:nvSpPr>
        <p:spPr>
          <a:xfrm>
            <a:off x="4800600" y="38953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Backlog Refinement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36208" y="3931920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Estimate, clarify, and prioritise upcoming work items</a:t>
            </a:r>
            <a:endParaRPr lang="en-US" sz="1300" dirty="0"/>
          </a:p>
        </p:txBody>
      </p:sp>
      <p:sp>
        <p:nvSpPr>
          <p:cNvPr id="44" name="BlueBar">
            <a:extLst>
              <a:ext uri="{FF2B5EF4-FFF2-40B4-BE49-F238E27FC236}">
                <a16:creationId xmlns:a16="http://schemas.microsoft.com/office/drawing/2014/main" id="{D501BBE8-37AB-8227-4B3E-E4D6E7EB626B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3CB43-226E-D76E-976B-F36FD234A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5A0AB5-E569-CAEC-A5BD-EB8B105CEE6D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F308F1-651C-34F5-571A-CBD9C2888C2B}"/>
              </a:ext>
            </a:extLst>
          </p:cNvPr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Some video examples of the different meetings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6C72943-8D82-8AE3-ECE3-03ABB339805F}"/>
              </a:ext>
            </a:extLst>
          </p:cNvPr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A7A091A-FB84-757A-3E8E-5C8DFC620450}"/>
              </a:ext>
            </a:extLst>
          </p:cNvPr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D945CB-8C29-F574-9C0E-FA1FC6D44F02}"/>
              </a:ext>
            </a:extLst>
          </p:cNvPr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65B8267-F6A2-3D65-387E-A526F684964C}"/>
              </a:ext>
            </a:extLst>
          </p:cNvPr>
          <p:cNvSpPr/>
          <p:nvPr/>
        </p:nvSpPr>
        <p:spPr>
          <a:xfrm>
            <a:off x="274320" y="1115568"/>
            <a:ext cx="2697480" cy="3493008"/>
          </a:xfrm>
          <a:prstGeom prst="rect">
            <a:avLst/>
          </a:prstGeom>
          <a:solidFill>
            <a:srgbClr val="EEF4FB"/>
          </a:solidFill>
          <a:ln w="1905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0BF7999-BDFF-299F-5253-6BC1FAA6D3D4}"/>
              </a:ext>
            </a:extLst>
          </p:cNvPr>
          <p:cNvSpPr/>
          <p:nvPr/>
        </p:nvSpPr>
        <p:spPr>
          <a:xfrm>
            <a:off x="384048" y="1207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AE"/>
                </a:solidFill>
                <a:latin typeface="Garamond" pitchFamily="34" charset="0"/>
              </a:rPr>
              <a:t>Formal meeting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C7C5C15-4C66-81F9-BAC0-DFBBDE330EC1}"/>
              </a:ext>
            </a:extLst>
          </p:cNvPr>
          <p:cNvSpPr/>
          <p:nvPr/>
        </p:nvSpPr>
        <p:spPr>
          <a:xfrm>
            <a:off x="3086100" y="1115568"/>
            <a:ext cx="2697480" cy="3493008"/>
          </a:xfrm>
          <a:prstGeom prst="rect">
            <a:avLst/>
          </a:prstGeom>
          <a:solidFill>
            <a:srgbClr val="EBF7F4"/>
          </a:solidFill>
          <a:ln w="1905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BD3D903-7529-6435-D540-E5C4B1C49D0D}"/>
              </a:ext>
            </a:extLst>
          </p:cNvPr>
          <p:cNvSpPr/>
          <p:nvPr/>
        </p:nvSpPr>
        <p:spPr>
          <a:xfrm>
            <a:off x="3195828" y="1207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Informal meetings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01D2428-5386-673C-5F47-DF38133AB9BA}"/>
              </a:ext>
            </a:extLst>
          </p:cNvPr>
          <p:cNvSpPr/>
          <p:nvPr/>
        </p:nvSpPr>
        <p:spPr>
          <a:xfrm>
            <a:off x="5897880" y="2384298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Less structured — no required agenda, chairperson, or minutes. Direction can shift.</a:t>
            </a:r>
            <a:endParaRPr lang="en-US" sz="14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D09DB56-0258-807A-ADD3-A4432FE6BC58}"/>
              </a:ext>
            </a:extLst>
          </p:cNvPr>
          <p:cNvSpPr/>
          <p:nvPr/>
        </p:nvSpPr>
        <p:spPr>
          <a:xfrm>
            <a:off x="5897880" y="1115568"/>
            <a:ext cx="2697480" cy="3493008"/>
          </a:xfrm>
          <a:prstGeom prst="rect">
            <a:avLst/>
          </a:prstGeom>
          <a:solidFill>
            <a:srgbClr val="F3EEF9"/>
          </a:solidFill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036046E-7A28-4743-03E7-3A8C4429EFF5}"/>
              </a:ext>
            </a:extLst>
          </p:cNvPr>
          <p:cNvSpPr/>
          <p:nvPr/>
        </p:nvSpPr>
        <p:spPr>
          <a:xfrm>
            <a:off x="6007608" y="1207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EA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Agile meetings</a:t>
            </a:r>
            <a:endParaRPr lang="en-US" sz="1400" dirty="0"/>
          </a:p>
        </p:txBody>
      </p:sp>
      <p:sp>
        <p:nvSpPr>
          <p:cNvPr id="29" name="BlueBar">
            <a:extLst>
              <a:ext uri="{FF2B5EF4-FFF2-40B4-BE49-F238E27FC236}">
                <a16:creationId xmlns:a16="http://schemas.microsoft.com/office/drawing/2014/main" id="{97AC04D0-149C-82C0-DCB4-004D348E3D3B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C12053-417A-8AAA-80EA-7D35F6DEDE9B}"/>
              </a:ext>
            </a:extLst>
          </p:cNvPr>
          <p:cNvSpPr txBox="1"/>
          <p:nvPr/>
        </p:nvSpPr>
        <p:spPr>
          <a:xfrm>
            <a:off x="384048" y="3315581"/>
            <a:ext cx="21837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aramond" panose="02020404030301010803" pitchFamily="18" charset="0"/>
              </a:rPr>
              <a:t>Link:</a:t>
            </a:r>
          </a:p>
          <a:p>
            <a:r>
              <a:rPr lang="en-US" sz="1400" dirty="0">
                <a:latin typeface="Garamond" panose="02020404030301010803" pitchFamily="18" charset="0"/>
                <a:hlinkClick r:id="rId3"/>
              </a:rPr>
              <a:t>https://www.youtube.com/watch?v=oPhKhTI0Lss</a:t>
            </a:r>
            <a:endParaRPr lang="en-US" sz="1400" dirty="0">
              <a:latin typeface="Garamond" panose="02020404030301010803" pitchFamily="18" charset="0"/>
            </a:endParaRPr>
          </a:p>
          <a:p>
            <a:endParaRPr lang="en-US" sz="1400" dirty="0">
              <a:latin typeface="Garamond" panose="02020404030301010803" pitchFamily="18" charset="0"/>
            </a:endParaRPr>
          </a:p>
          <a:p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ED1B1D1-B419-E378-4275-739742E9C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7" y="1631444"/>
            <a:ext cx="2532861" cy="148538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26FE252-03CB-8088-10DE-F6ADC4624233}"/>
              </a:ext>
            </a:extLst>
          </p:cNvPr>
          <p:cNvSpPr txBox="1"/>
          <p:nvPr/>
        </p:nvSpPr>
        <p:spPr>
          <a:xfrm>
            <a:off x="6122793" y="3343400"/>
            <a:ext cx="20647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aramond" panose="02020404030301010803" pitchFamily="18" charset="0"/>
              </a:rPr>
              <a:t>Link: </a:t>
            </a:r>
            <a:r>
              <a:rPr lang="en-US" sz="1400" dirty="0">
                <a:latin typeface="Garamond" panose="02020404030301010803" pitchFamily="18" charset="0"/>
                <a:hlinkClick r:id="rId5"/>
              </a:rPr>
              <a:t>https://www.youtube.com/watch?v=qGFoZ8yodc4</a:t>
            </a:r>
            <a:endParaRPr lang="en-US" sz="1400" dirty="0">
              <a:latin typeface="Garamond" panose="02020404030301010803" pitchFamily="18" charset="0"/>
            </a:endParaRPr>
          </a:p>
          <a:p>
            <a:endParaRPr lang="en-US" sz="1400" dirty="0">
              <a:latin typeface="Garamond" panose="02020404030301010803" pitchFamily="18" charset="0"/>
            </a:endParaRPr>
          </a:p>
          <a:p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68A524E-FEC6-BAA7-653B-5B2502630F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608" y="1753372"/>
            <a:ext cx="2452326" cy="148538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A92D542-74C6-217E-3A43-F59516C20E15}"/>
              </a:ext>
            </a:extLst>
          </p:cNvPr>
          <p:cNvSpPr txBox="1"/>
          <p:nvPr/>
        </p:nvSpPr>
        <p:spPr>
          <a:xfrm>
            <a:off x="3195828" y="3451123"/>
            <a:ext cx="24039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aramond" panose="02020404030301010803" pitchFamily="18" charset="0"/>
              </a:rPr>
              <a:t>Link </a:t>
            </a:r>
            <a:r>
              <a:rPr lang="en-US" sz="1400" dirty="0">
                <a:latin typeface="Garamond" panose="02020404030301010803" pitchFamily="18" charset="0"/>
                <a:hlinkClick r:id="rId7"/>
              </a:rPr>
              <a:t>https://www.youtube.com/watch?v=scyTIRNDu_A</a:t>
            </a:r>
            <a:endParaRPr lang="en-US" sz="1400" dirty="0">
              <a:latin typeface="Garamond" panose="02020404030301010803" pitchFamily="18" charset="0"/>
            </a:endParaRPr>
          </a:p>
          <a:p>
            <a:endParaRPr lang="en-US" sz="1400" dirty="0">
              <a:latin typeface="Garamond" panose="02020404030301010803" pitchFamily="18" charset="0"/>
            </a:endParaRPr>
          </a:p>
          <a:p>
            <a:endParaRPr lang="en-US" sz="1400" dirty="0">
              <a:latin typeface="Garamond" panose="02020404030301010803" pitchFamily="18" charset="0"/>
            </a:endParaRPr>
          </a:p>
          <a:p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3B30C41-91BA-8887-EAB5-E4E283C671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6254" y="1683458"/>
            <a:ext cx="2576200" cy="166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90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3: Meeting Agenda &amp; Minutes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2514600"/>
            <a:ext cx="2560320" cy="50292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Planning, documenting, and using AI to do it better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Meeting Agenda — Assignment 1 Research Project Kickoff (Sample)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Scenario: Your team is meeting to plan the Assignment 1 research report on ChatGPT ethics in healthcare.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859536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143000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 agenda is a structured roadmap: it lists what will be discussed, who leads each item, how it will be discussed, and what outcome is expected.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760220"/>
            <a:ext cx="1828800" cy="310896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310896" y="17602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Item / Topic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1760220"/>
            <a:ext cx="1920240" cy="310896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2139696" y="176022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Desired Outcome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1760220"/>
            <a:ext cx="822960" cy="310896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059936" y="176022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Priority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760220"/>
            <a:ext cx="822960" cy="310896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882896" y="176022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Time Alloc.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1760220"/>
            <a:ext cx="1097280" cy="310896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5705856" y="176022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Owner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760220"/>
            <a:ext cx="1828800" cy="310896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803136" y="17602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Discussion Method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071116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320040" y="2071116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Define research question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03120" y="207111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2148840" y="207111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Agreed final question: ethical use of ChatGPT in healthcare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23360" y="2071116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4069080" y="207111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High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2071116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4892040" y="207111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 min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0" y="2071116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5715000" y="207111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 Lead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2071116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6812280" y="2071116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Go-around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2528316"/>
            <a:ext cx="182880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320040" y="2528316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Assign source types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103120" y="2528316"/>
            <a:ext cx="192024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2148840" y="252831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Each member owns 1–2 sources (primary / secondary)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023360" y="2528316"/>
            <a:ext cx="82296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4069080" y="252831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High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2528316"/>
            <a:ext cx="82296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4892040" y="252831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 min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669280" y="2528316"/>
            <a:ext cx="109728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 41"/>
          <p:cNvSpPr/>
          <p:nvPr/>
        </p:nvSpPr>
        <p:spPr>
          <a:xfrm>
            <a:off x="5715000" y="252831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All members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766560" y="2528316"/>
            <a:ext cx="182880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5" name="Text 43"/>
          <p:cNvSpPr/>
          <p:nvPr/>
        </p:nvSpPr>
        <p:spPr>
          <a:xfrm>
            <a:off x="6812280" y="2528316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Share info &amp; commit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" y="2985516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7" name="Text 45"/>
          <p:cNvSpPr/>
          <p:nvPr/>
        </p:nvSpPr>
        <p:spPr>
          <a:xfrm>
            <a:off x="320040" y="2985516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Set search strategies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103120" y="298551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2148840" y="298551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Agreed Boolean search terms + Copilot prompts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023360" y="2985516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1" name="Text 49"/>
          <p:cNvSpPr/>
          <p:nvPr/>
        </p:nvSpPr>
        <p:spPr>
          <a:xfrm>
            <a:off x="4069080" y="298551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High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46320" y="2985516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3" name="Text 51"/>
          <p:cNvSpPr/>
          <p:nvPr/>
        </p:nvSpPr>
        <p:spPr>
          <a:xfrm>
            <a:off x="4892040" y="298551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 min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669280" y="2985516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5" name="Text 53"/>
          <p:cNvSpPr/>
          <p:nvPr/>
        </p:nvSpPr>
        <p:spPr>
          <a:xfrm>
            <a:off x="5715000" y="298551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Researcher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766560" y="2985516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7" name="Text 55"/>
          <p:cNvSpPr/>
          <p:nvPr/>
        </p:nvSpPr>
        <p:spPr>
          <a:xfrm>
            <a:off x="6812280" y="2985516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Brainstorm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74320" y="3442716"/>
            <a:ext cx="182880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9" name="Text 57"/>
          <p:cNvSpPr/>
          <p:nvPr/>
        </p:nvSpPr>
        <p:spPr>
          <a:xfrm>
            <a:off x="320040" y="3442716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Report structure &amp; deadlines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103120" y="3442716"/>
            <a:ext cx="192024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1" name="Text 59"/>
          <p:cNvSpPr/>
          <p:nvPr/>
        </p:nvSpPr>
        <p:spPr>
          <a:xfrm>
            <a:off x="2148840" y="3442716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Sections assigned, draft deadline confirmed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023360" y="3442716"/>
            <a:ext cx="82296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63" name="Text 61"/>
          <p:cNvSpPr/>
          <p:nvPr/>
        </p:nvSpPr>
        <p:spPr>
          <a:xfrm>
            <a:off x="4069080" y="344271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High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846320" y="3442716"/>
            <a:ext cx="82296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65" name="Text 63"/>
          <p:cNvSpPr/>
          <p:nvPr/>
        </p:nvSpPr>
        <p:spPr>
          <a:xfrm>
            <a:off x="4892040" y="344271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 min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669280" y="3442716"/>
            <a:ext cx="109728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67" name="Text 65"/>
          <p:cNvSpPr/>
          <p:nvPr/>
        </p:nvSpPr>
        <p:spPr>
          <a:xfrm>
            <a:off x="5715000" y="344271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Project Manager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766560" y="3442716"/>
            <a:ext cx="182880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8D8E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69" name="Text 67"/>
          <p:cNvSpPr/>
          <p:nvPr/>
        </p:nvSpPr>
        <p:spPr>
          <a:xfrm>
            <a:off x="6812280" y="3442716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Feedback</a:t>
            </a:r>
            <a:endParaRPr lang="en-US" sz="1200" dirty="0"/>
          </a:p>
        </p:txBody>
      </p:sp>
      <p:sp>
        <p:nvSpPr>
          <p:cNvPr id="71" name="BlueBar">
            <a:extLst>
              <a:ext uri="{FF2B5EF4-FFF2-40B4-BE49-F238E27FC236}">
                <a16:creationId xmlns:a16="http://schemas.microsoft.com/office/drawing/2014/main" id="{A23FA585-F468-9314-624E-914ECD7699E2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A970-8775-7532-96A8-DACEF9C83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D88302-E2C8-0D9C-9191-DD8AB115EC0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E7A0EB-C8F9-FF9B-9449-AE6D616679F2}"/>
              </a:ext>
            </a:extLst>
          </p:cNvPr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Why Discussion Methods Matter in Meeting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A4152EE-74C1-1971-F35F-C5D9E7F5CA2F}"/>
              </a:ext>
            </a:extLst>
          </p:cNvPr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1689EFD-DE17-BF94-5FD9-C05F463F3BBB}"/>
              </a:ext>
            </a:extLst>
          </p:cNvPr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993E8B3-BFBE-2081-78F9-6936083892CE}"/>
              </a:ext>
            </a:extLst>
          </p:cNvPr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71" name="BlueBar">
            <a:extLst>
              <a:ext uri="{FF2B5EF4-FFF2-40B4-BE49-F238E27FC236}">
                <a16:creationId xmlns:a16="http://schemas.microsoft.com/office/drawing/2014/main" id="{C98AB2E0-484D-B47D-4719-4A5570D2F37E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Shape 4">
            <a:extLst>
              <a:ext uri="{FF2B5EF4-FFF2-40B4-BE49-F238E27FC236}">
                <a16:creationId xmlns:a16="http://schemas.microsoft.com/office/drawing/2014/main" id="{5BD1EFCC-AAE1-6F6E-B082-3DCC35AB8F92}"/>
              </a:ext>
            </a:extLst>
          </p:cNvPr>
          <p:cNvSpPr/>
          <p:nvPr/>
        </p:nvSpPr>
        <p:spPr>
          <a:xfrm>
            <a:off x="274320" y="941832"/>
            <a:ext cx="8595360" cy="37353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">
            <a:extLst>
              <a:ext uri="{FF2B5EF4-FFF2-40B4-BE49-F238E27FC236}">
                <a16:creationId xmlns:a16="http://schemas.microsoft.com/office/drawing/2014/main" id="{3591FB5C-9930-341D-3B19-B2E61E2C6641}"/>
              </a:ext>
            </a:extLst>
          </p:cNvPr>
          <p:cNvSpPr/>
          <p:nvPr/>
        </p:nvSpPr>
        <p:spPr>
          <a:xfrm>
            <a:off x="429768" y="1051560"/>
            <a:ext cx="3291840" cy="3479292"/>
          </a:xfrm>
          <a:prstGeom prst="rect">
            <a:avLst/>
          </a:prstGeom>
          <a:solidFill>
            <a:srgbClr val="EAF2FB"/>
          </a:solidFill>
          <a:ln w="12700">
            <a:solidFill>
              <a:srgbClr val="C0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D74EE3D7-0C72-9688-8AEB-E6EE4EA543A5}"/>
              </a:ext>
            </a:extLst>
          </p:cNvPr>
          <p:cNvSpPr/>
          <p:nvPr/>
        </p:nvSpPr>
        <p:spPr>
          <a:xfrm>
            <a:off x="612648" y="1188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2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 meeting needs the same voice.</a:t>
            </a:r>
            <a:endParaRPr lang="en-US" sz="1400" dirty="0"/>
          </a:p>
        </p:txBody>
      </p:sp>
      <p:sp>
        <p:nvSpPr>
          <p:cNvPr id="75" name="Text 9">
            <a:extLst>
              <a:ext uri="{FF2B5EF4-FFF2-40B4-BE49-F238E27FC236}">
                <a16:creationId xmlns:a16="http://schemas.microsoft.com/office/drawing/2014/main" id="{C6F389D2-C0FF-3165-0198-281242681A1E}"/>
              </a:ext>
            </a:extLst>
          </p:cNvPr>
          <p:cNvSpPr/>
          <p:nvPr/>
        </p:nvSpPr>
        <p:spPr>
          <a:xfrm>
            <a:off x="612648" y="1801368"/>
            <a:ext cx="2926080" cy="2564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IT professionals choose discussion methods intentionally — matching the technique to what the meeting actually needs to achieve.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method wastes time. The right one accelerates decisions, surfaces hidden concerns, and distributes voice fairly across the team.</a:t>
            </a:r>
            <a:endParaRPr lang="en-US" sz="1200" dirty="0"/>
          </a:p>
        </p:txBody>
      </p:sp>
      <p:sp>
        <p:nvSpPr>
          <p:cNvPr id="76" name="Text 10">
            <a:extLst>
              <a:ext uri="{FF2B5EF4-FFF2-40B4-BE49-F238E27FC236}">
                <a16:creationId xmlns:a16="http://schemas.microsoft.com/office/drawing/2014/main" id="{9A073BD3-D1C3-9DC6-C772-8CFBAB8D4260}"/>
              </a:ext>
            </a:extLst>
          </p:cNvPr>
          <p:cNvSpPr/>
          <p:nvPr/>
        </p:nvSpPr>
        <p:spPr>
          <a:xfrm>
            <a:off x="3950208" y="1051560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2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choosing a discussion method, ask:</a:t>
            </a:r>
            <a:endParaRPr lang="en-US" sz="1300" dirty="0"/>
          </a:p>
        </p:txBody>
      </p:sp>
      <p:sp>
        <p:nvSpPr>
          <p:cNvPr id="77" name="Shape 11">
            <a:extLst>
              <a:ext uri="{FF2B5EF4-FFF2-40B4-BE49-F238E27FC236}">
                <a16:creationId xmlns:a16="http://schemas.microsoft.com/office/drawing/2014/main" id="{978DCB7D-80AB-B586-E8B2-1EEE75C02E45}"/>
              </a:ext>
            </a:extLst>
          </p:cNvPr>
          <p:cNvSpPr/>
          <p:nvPr/>
        </p:nvSpPr>
        <p:spPr>
          <a:xfrm>
            <a:off x="3950208" y="1508760"/>
            <a:ext cx="347472" cy="347472"/>
          </a:xfrm>
          <a:prstGeom prst="ellipse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6CFA32DC-25F6-FF1E-C637-D37ECC03E682}"/>
              </a:ext>
            </a:extLst>
          </p:cNvPr>
          <p:cNvSpPr/>
          <p:nvPr/>
        </p:nvSpPr>
        <p:spPr>
          <a:xfrm>
            <a:off x="3950208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9" name="Text 13">
            <a:extLst>
              <a:ext uri="{FF2B5EF4-FFF2-40B4-BE49-F238E27FC236}">
                <a16:creationId xmlns:a16="http://schemas.microsoft.com/office/drawing/2014/main" id="{9FD77F50-0FA4-15B0-6B04-E4866126DA88}"/>
              </a:ext>
            </a:extLst>
          </p:cNvPr>
          <p:cNvSpPr/>
          <p:nvPr/>
        </p:nvSpPr>
        <p:spPr>
          <a:xfrm>
            <a:off x="4389120" y="1481328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outcome do we need?</a:t>
            </a:r>
            <a:endParaRPr lang="en-US" sz="1200" dirty="0"/>
          </a:p>
        </p:txBody>
      </p:sp>
      <p:sp>
        <p:nvSpPr>
          <p:cNvPr id="80" name="Text 14">
            <a:extLst>
              <a:ext uri="{FF2B5EF4-FFF2-40B4-BE49-F238E27FC236}">
                <a16:creationId xmlns:a16="http://schemas.microsoft.com/office/drawing/2014/main" id="{82E5C606-20AD-84E2-2FFE-7F83BF29FD21}"/>
              </a:ext>
            </a:extLst>
          </p:cNvPr>
          <p:cNvSpPr/>
          <p:nvPr/>
        </p:nvSpPr>
        <p:spPr>
          <a:xfrm>
            <a:off x="4389120" y="1783080"/>
            <a:ext cx="4123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generating ideas, making a decision, surfacing concerns, or assigning ownership? Each requires a different structure.</a:t>
            </a:r>
            <a:endParaRPr lang="en-US" sz="1100" dirty="0"/>
          </a:p>
        </p:txBody>
      </p:sp>
      <p:sp>
        <p:nvSpPr>
          <p:cNvPr id="81" name="Shape 15">
            <a:extLst>
              <a:ext uri="{FF2B5EF4-FFF2-40B4-BE49-F238E27FC236}">
                <a16:creationId xmlns:a16="http://schemas.microsoft.com/office/drawing/2014/main" id="{BD298FEA-C2F5-56E1-B827-148A91E276DE}"/>
              </a:ext>
            </a:extLst>
          </p:cNvPr>
          <p:cNvSpPr/>
          <p:nvPr/>
        </p:nvSpPr>
        <p:spPr>
          <a:xfrm>
            <a:off x="3950208" y="2514600"/>
            <a:ext cx="347472" cy="347472"/>
          </a:xfrm>
          <a:prstGeom prst="ellipse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16">
            <a:extLst>
              <a:ext uri="{FF2B5EF4-FFF2-40B4-BE49-F238E27FC236}">
                <a16:creationId xmlns:a16="http://schemas.microsoft.com/office/drawing/2014/main" id="{09707637-F562-B200-3AE2-A90298901958}"/>
              </a:ext>
            </a:extLst>
          </p:cNvPr>
          <p:cNvSpPr/>
          <p:nvPr/>
        </p:nvSpPr>
        <p:spPr>
          <a:xfrm>
            <a:off x="3950208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83" name="Text 17">
            <a:extLst>
              <a:ext uri="{FF2B5EF4-FFF2-40B4-BE49-F238E27FC236}">
                <a16:creationId xmlns:a16="http://schemas.microsoft.com/office/drawing/2014/main" id="{D8D9DF00-589D-D42E-A388-D112A83DE4EE}"/>
              </a:ext>
            </a:extLst>
          </p:cNvPr>
          <p:cNvSpPr/>
          <p:nvPr/>
        </p:nvSpPr>
        <p:spPr>
          <a:xfrm>
            <a:off x="4389120" y="2487168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to contribute?</a:t>
            </a:r>
            <a:endParaRPr lang="en-US" sz="1200" dirty="0"/>
          </a:p>
        </p:txBody>
      </p:sp>
      <p:sp>
        <p:nvSpPr>
          <p:cNvPr id="84" name="Text 18">
            <a:extLst>
              <a:ext uri="{FF2B5EF4-FFF2-40B4-BE49-F238E27FC236}">
                <a16:creationId xmlns:a16="http://schemas.microsoft.com/office/drawing/2014/main" id="{A7726021-D181-851D-93F7-ED4F6C8B1E7A}"/>
              </a:ext>
            </a:extLst>
          </p:cNvPr>
          <p:cNvSpPr/>
          <p:nvPr/>
        </p:nvSpPr>
        <p:spPr>
          <a:xfrm>
            <a:off x="4389120" y="2788920"/>
            <a:ext cx="4123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methods favour vocal participants. Others — like go-around or spend-a-dollar — ensure quieter team members have equal weight.</a:t>
            </a:r>
            <a:endParaRPr lang="en-US" sz="1100" dirty="0"/>
          </a:p>
        </p:txBody>
      </p:sp>
      <p:sp>
        <p:nvSpPr>
          <p:cNvPr id="85" name="Shape 19">
            <a:extLst>
              <a:ext uri="{FF2B5EF4-FFF2-40B4-BE49-F238E27FC236}">
                <a16:creationId xmlns:a16="http://schemas.microsoft.com/office/drawing/2014/main" id="{92D5F234-CFFD-B218-4761-D378B45F861A}"/>
              </a:ext>
            </a:extLst>
          </p:cNvPr>
          <p:cNvSpPr/>
          <p:nvPr/>
        </p:nvSpPr>
        <p:spPr>
          <a:xfrm>
            <a:off x="3950208" y="3520440"/>
            <a:ext cx="347472" cy="347472"/>
          </a:xfrm>
          <a:prstGeom prst="ellipse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20">
            <a:extLst>
              <a:ext uri="{FF2B5EF4-FFF2-40B4-BE49-F238E27FC236}">
                <a16:creationId xmlns:a16="http://schemas.microsoft.com/office/drawing/2014/main" id="{452238A8-4540-4C7F-D408-2ACC886A4CA1}"/>
              </a:ext>
            </a:extLst>
          </p:cNvPr>
          <p:cNvSpPr/>
          <p:nvPr/>
        </p:nvSpPr>
        <p:spPr>
          <a:xfrm>
            <a:off x="3950208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7" name="Text 21">
            <a:extLst>
              <a:ext uri="{FF2B5EF4-FFF2-40B4-BE49-F238E27FC236}">
                <a16:creationId xmlns:a16="http://schemas.microsoft.com/office/drawing/2014/main" id="{76289A0E-E970-23D6-8E7D-BF7ED0AE654A}"/>
              </a:ext>
            </a:extLst>
          </p:cNvPr>
          <p:cNvSpPr/>
          <p:nvPr/>
        </p:nvSpPr>
        <p:spPr>
          <a:xfrm>
            <a:off x="4389120" y="3493008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time do we have?</a:t>
            </a:r>
            <a:endParaRPr lang="en-US" sz="1200" dirty="0"/>
          </a:p>
        </p:txBody>
      </p:sp>
      <p:sp>
        <p:nvSpPr>
          <p:cNvPr id="88" name="Text 22">
            <a:extLst>
              <a:ext uri="{FF2B5EF4-FFF2-40B4-BE49-F238E27FC236}">
                <a16:creationId xmlns:a16="http://schemas.microsoft.com/office/drawing/2014/main" id="{98E9D979-D5C5-E231-D787-2492DFD60C11}"/>
              </a:ext>
            </a:extLst>
          </p:cNvPr>
          <p:cNvSpPr/>
          <p:nvPr/>
        </p:nvSpPr>
        <p:spPr>
          <a:xfrm>
            <a:off x="4389120" y="3794760"/>
            <a:ext cx="4123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is open-ended. List-and-commit is fast and closure-focused. Matching method to time budget keeps meetings productive.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55649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C05C-B3BE-9A3F-6C24-F55AF4BCF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E131DB-ED48-9561-467C-C9777D18EBD1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185166-998A-8F63-CCCC-31C92A4926BA}"/>
              </a:ext>
            </a:extLst>
          </p:cNvPr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Discussion methods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A2710E5-081E-FF1E-8BC7-CFFB129B519F}"/>
              </a:ext>
            </a:extLst>
          </p:cNvPr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1112B62-62B9-FF70-461D-5E8A1AE5C05D}"/>
              </a:ext>
            </a:extLst>
          </p:cNvPr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62F74EA-3279-EE77-F25D-E9DDA76021FB}"/>
              </a:ext>
            </a:extLst>
          </p:cNvPr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71" name="BlueBar">
            <a:extLst>
              <a:ext uri="{FF2B5EF4-FFF2-40B4-BE49-F238E27FC236}">
                <a16:creationId xmlns:a16="http://schemas.microsoft.com/office/drawing/2014/main" id="{776E4918-34F7-33C3-D013-6A65ADB27C6A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12C4A4EC-58E8-DD01-5AC0-F5FD25D673E6}"/>
              </a:ext>
            </a:extLst>
          </p:cNvPr>
          <p:cNvSpPr/>
          <p:nvPr/>
        </p:nvSpPr>
        <p:spPr>
          <a:xfrm>
            <a:off x="589788" y="1060704"/>
            <a:ext cx="128016" cy="12801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C7F55D8-AAE2-5011-518D-CD70F376041B}"/>
              </a:ext>
            </a:extLst>
          </p:cNvPr>
          <p:cNvSpPr/>
          <p:nvPr/>
        </p:nvSpPr>
        <p:spPr>
          <a:xfrm>
            <a:off x="809244" y="859155"/>
            <a:ext cx="7882128" cy="531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1F1F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Go-around: </a:t>
            </a:r>
            <a:r>
              <a:rPr lang="en-US" sz="1600" dirty="0">
                <a:solidFill>
                  <a:srgbClr val="4A4A4A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Taking turns in a circle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8B59C480-5EF9-66C0-8EF7-178F95B88404}"/>
              </a:ext>
            </a:extLst>
          </p:cNvPr>
          <p:cNvSpPr/>
          <p:nvPr/>
        </p:nvSpPr>
        <p:spPr>
          <a:xfrm>
            <a:off x="589788" y="1628394"/>
            <a:ext cx="128016" cy="12801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2A6F77B9-E90C-BBD5-34A9-E3EFE663EE6F}"/>
              </a:ext>
            </a:extLst>
          </p:cNvPr>
          <p:cNvSpPr/>
          <p:nvPr/>
        </p:nvSpPr>
        <p:spPr>
          <a:xfrm>
            <a:off x="809244" y="1426845"/>
            <a:ext cx="7882128" cy="531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1F1F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Feedback: </a:t>
            </a:r>
            <a:r>
              <a:rPr lang="en-US" sz="1600" dirty="0">
                <a:solidFill>
                  <a:srgbClr val="4A4A4A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Responding to specific questions about an idea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BFC006D3-AE23-DD66-BAFA-30694290745C}"/>
              </a:ext>
            </a:extLst>
          </p:cNvPr>
          <p:cNvSpPr/>
          <p:nvPr/>
        </p:nvSpPr>
        <p:spPr>
          <a:xfrm>
            <a:off x="589788" y="2196084"/>
            <a:ext cx="128016" cy="12801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F721A209-CD86-0E5B-B8B7-11A8D99E1C6B}"/>
              </a:ext>
            </a:extLst>
          </p:cNvPr>
          <p:cNvSpPr/>
          <p:nvPr/>
        </p:nvSpPr>
        <p:spPr>
          <a:xfrm>
            <a:off x="809244" y="1994535"/>
            <a:ext cx="7882128" cy="531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1F1F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Share info and needs: </a:t>
            </a:r>
            <a:r>
              <a:rPr lang="en-US" sz="1600" dirty="0">
                <a:solidFill>
                  <a:srgbClr val="4A4A4A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Presenting information and requesting support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0C4BA3CF-5765-1B3D-6D75-934808F26EB8}"/>
              </a:ext>
            </a:extLst>
          </p:cNvPr>
          <p:cNvSpPr/>
          <p:nvPr/>
        </p:nvSpPr>
        <p:spPr>
          <a:xfrm>
            <a:off x="589788" y="2763774"/>
            <a:ext cx="128016" cy="12801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FD09CEFD-BEFB-F893-BC08-7AD6FBB0877D}"/>
              </a:ext>
            </a:extLst>
          </p:cNvPr>
          <p:cNvSpPr/>
          <p:nvPr/>
        </p:nvSpPr>
        <p:spPr>
          <a:xfrm>
            <a:off x="809244" y="2562225"/>
            <a:ext cx="7882128" cy="531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1F1F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Spend-a-dollar: </a:t>
            </a:r>
            <a:r>
              <a:rPr lang="en-US" sz="1600" dirty="0">
                <a:solidFill>
                  <a:srgbClr val="4A4A4A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Ranking priorities by allocating 100 cents across options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94EFD85C-9075-F6A8-3AA5-5658D577EA84}"/>
              </a:ext>
            </a:extLst>
          </p:cNvPr>
          <p:cNvSpPr/>
          <p:nvPr/>
        </p:nvSpPr>
        <p:spPr>
          <a:xfrm>
            <a:off x="589788" y="3331464"/>
            <a:ext cx="128016" cy="12801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EF07F533-3A6E-8320-FE2F-D7EA4231478D}"/>
              </a:ext>
            </a:extLst>
          </p:cNvPr>
          <p:cNvSpPr/>
          <p:nvPr/>
        </p:nvSpPr>
        <p:spPr>
          <a:xfrm>
            <a:off x="809244" y="3129915"/>
            <a:ext cx="7882128" cy="531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1F1F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Brainstorm: </a:t>
            </a:r>
            <a:r>
              <a:rPr lang="en-US" sz="1600" dirty="0">
                <a:solidFill>
                  <a:srgbClr val="4A4A4A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Generating ideas freely without evaluation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E31F7038-EE1E-2305-A48C-DBEB128778AC}"/>
              </a:ext>
            </a:extLst>
          </p:cNvPr>
          <p:cNvSpPr/>
          <p:nvPr/>
        </p:nvSpPr>
        <p:spPr>
          <a:xfrm>
            <a:off x="589788" y="3899154"/>
            <a:ext cx="128016" cy="12801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25F004EA-1755-DAB2-DA56-DE3688FFA2BF}"/>
              </a:ext>
            </a:extLst>
          </p:cNvPr>
          <p:cNvSpPr/>
          <p:nvPr/>
        </p:nvSpPr>
        <p:spPr>
          <a:xfrm>
            <a:off x="809244" y="3697605"/>
            <a:ext cx="7882128" cy="531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1F1F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List items and get commitment: </a:t>
            </a:r>
            <a:r>
              <a:rPr lang="en-US" sz="1600" dirty="0">
                <a:solidFill>
                  <a:srgbClr val="4A4A4A"/>
                </a:solidFill>
                <a:latin typeface="Garamond" panose="02020404030301010803" pitchFamily="18" charset="0"/>
                <a:ea typeface="Georgia" pitchFamily="34" charset="-122"/>
                <a:cs typeface="Georgia" pitchFamily="34" charset="-120"/>
              </a:rPr>
              <a:t>Capturing action items with clear ownership</a:t>
            </a:r>
            <a:endParaRPr lang="en-US" sz="16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755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Meeting Minutes — Purpose &amp; Process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Minutes transform conversation into accountability. Without them, you have no recourse.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4160520" cy="3493008"/>
          </a:xfrm>
          <a:prstGeom prst="rect">
            <a:avLst/>
          </a:prstGeom>
          <a:solidFill>
            <a:srgbClr val="FFFFFF"/>
          </a:solidFill>
          <a:ln w="1524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minutes must capture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536192"/>
            <a:ext cx="3886200" cy="685800"/>
          </a:xfrm>
          <a:prstGeom prst="rect">
            <a:avLst/>
          </a:prstGeom>
          <a:solidFill>
            <a:srgbClr val="EEF4FB"/>
          </a:solidFill>
          <a:ln w="762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530352" y="1572768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📌  </a:t>
            </a: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was decided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   Decisions, resolutions, outcomes agreed by the group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313432"/>
            <a:ext cx="388620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30352" y="2350008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✅  </a:t>
            </a: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needs to be done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   Action items — specific tasks with clear owners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090672"/>
            <a:ext cx="3886200" cy="685800"/>
          </a:xfrm>
          <a:prstGeom prst="rect">
            <a:avLst/>
          </a:prstGeom>
          <a:solidFill>
            <a:srgbClr val="EEF4FB"/>
          </a:solidFill>
          <a:ln w="762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530352" y="3127248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📅  </a:t>
            </a: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By when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   Deadlines for every action item — no ambiguity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91363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 Without minutes, </a:t>
            </a: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you may need to repeat the entire meeting if actions aren't completed.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160520" cy="3493008"/>
          </a:xfrm>
          <a:prstGeom prst="rect">
            <a:avLst/>
          </a:prstGeom>
          <a:solidFill>
            <a:srgbClr val="EEF4FB"/>
          </a:solidFill>
          <a:ln w="1524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4800600" y="1170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Minutes creation process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1572768"/>
            <a:ext cx="347472" cy="475488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800600" y="157276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159105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Pre-planning
</a:t>
            </a: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Use the agenda as your minutes template — start before the meeting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194560"/>
            <a:ext cx="347472" cy="475488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4800600" y="219456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22128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Record-taking
</a:t>
            </a: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Clarify expected level of detail with chair before starting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816352"/>
            <a:ext cx="347472" cy="475488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4800600" y="281635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Writing
</a:t>
            </a: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Capture decisions, accomplishments, and all future actions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3438144"/>
            <a:ext cx="347472" cy="475488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4800600" y="343814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34564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Sharing
</a:t>
            </a: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Distribute within 24 hours via email, Teams, or Google Drive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4059936"/>
            <a:ext cx="347472" cy="475488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4800600" y="4059936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407822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Storage
</a:t>
            </a: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File in accessible location for future reference and accountability</a:t>
            </a:r>
            <a:endParaRPr lang="en-US" sz="1200" dirty="0"/>
          </a:p>
        </p:txBody>
      </p:sp>
      <p:sp>
        <p:nvSpPr>
          <p:cNvPr id="34" name="BlueBar">
            <a:extLst>
              <a:ext uri="{FF2B5EF4-FFF2-40B4-BE49-F238E27FC236}">
                <a16:creationId xmlns:a16="http://schemas.microsoft.com/office/drawing/2014/main" id="{F379BCF9-57AB-F08E-8B3C-132EE136AC33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1DAB6-9B5D-1459-DD39-072E9938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115A71-A820-052B-38EE-B8FEA41733C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DC54ED-5EB5-3BF2-F116-B06D79EC3DC8}"/>
              </a:ext>
            </a:extLst>
          </p:cNvPr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Sample of meeting minutes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8AE59F3-3E14-1F8E-5005-2C0FB78655E8}"/>
              </a:ext>
            </a:extLst>
          </p:cNvPr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E57B1DB-E96B-3946-BBF6-D599AABA704D}"/>
              </a:ext>
            </a:extLst>
          </p:cNvPr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D95E52-0178-89B3-1A91-196C738ED2A9}"/>
              </a:ext>
            </a:extLst>
          </p:cNvPr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24" name="BlueBar">
            <a:extLst>
              <a:ext uri="{FF2B5EF4-FFF2-40B4-BE49-F238E27FC236}">
                <a16:creationId xmlns:a16="http://schemas.microsoft.com/office/drawing/2014/main" id="{3E33417B-54B3-79B8-A2DE-45FA6D662A2A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A white paper with black text&#10;&#10;Description automatically generated">
            <a:extLst>
              <a:ext uri="{FF2B5EF4-FFF2-40B4-BE49-F238E27FC236}">
                <a16:creationId xmlns:a16="http://schemas.microsoft.com/office/drawing/2014/main" id="{B7F22AD3-8CC9-D75A-A533-1A981A42F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042" y="767555"/>
            <a:ext cx="2813821" cy="3983294"/>
          </a:xfrm>
          <a:prstGeom prst="rect">
            <a:avLst/>
          </a:prstGeom>
        </p:spPr>
      </p:pic>
      <p:pic>
        <p:nvPicPr>
          <p:cNvPr id="8" name="Picture 7" descr="A white paper with black text&#10;&#10;Description automatically generated">
            <a:extLst>
              <a:ext uri="{FF2B5EF4-FFF2-40B4-BE49-F238E27FC236}">
                <a16:creationId xmlns:a16="http://schemas.microsoft.com/office/drawing/2014/main" id="{D46782D1-8354-E659-114D-1E507BE3C7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26" y="843558"/>
            <a:ext cx="4048237" cy="359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590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Using Microsoft Copilot — Assignment 1 Group Research Meeting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Scenario: Your 4-person team is meeting to coordinate the Assignment 1 report on ChatGPT ethics in healthcare.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9953" y="1055148"/>
            <a:ext cx="8595360" cy="471899"/>
          </a:xfrm>
          <a:prstGeom prst="rect">
            <a:avLst/>
          </a:prstGeom>
          <a:solidFill>
            <a:srgbClr val="FFF8EC"/>
          </a:solidFill>
          <a:ln w="12700">
            <a:solidFill>
              <a:srgbClr val="D48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1430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45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📋  Team: </a:t>
            </a:r>
            <a:r>
              <a:rPr lang="en-US" sz="14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Aisha (Team Lead), Ben (Researcher), Chloe (Writer), Dev (Reviewer)  </a:t>
            </a:r>
            <a:r>
              <a:rPr lang="en-US" sz="1400" dirty="0">
                <a:solidFill>
                  <a:srgbClr val="CCCCC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|  </a:t>
            </a:r>
            <a:r>
              <a:rPr lang="en-US" sz="1400" b="1" dirty="0">
                <a:solidFill>
                  <a:srgbClr val="7A45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📌  Goal: </a:t>
            </a:r>
            <a:r>
              <a:rPr lang="en-US" sz="14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Coordinate research tasks, agree on sources, assign report sections, confirm submission plan.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718875"/>
            <a:ext cx="4206240" cy="2029968"/>
          </a:xfrm>
          <a:prstGeom prst="rect">
            <a:avLst/>
          </a:prstGeom>
          <a:solidFill>
            <a:srgbClr val="EEF4FB"/>
          </a:solidFill>
          <a:ln w="1905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384048" y="1773739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STEP 1 · Draft the Kickoff Meeting Agenda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2066347"/>
            <a:ext cx="3986784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38912" y="2112067"/>
            <a:ext cx="385876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Objective: </a:t>
            </a: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Draft a 60-minute agenda for a 4-person student research group meeting. The team is planning an IT ethics report on ChatGPT use in healthcare.
</a:t>
            </a:r>
            <a:r>
              <a:rPr lang="en-US" sz="1200" b="1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Output format</a:t>
            </a: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: Table — Item, Desired Outcome, Owner, Time, Discussion Method. Include: opening check-in, source assignment, search strategy review, section allocation, deadline setting, and closing actions.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718875"/>
            <a:ext cx="4206240" cy="2029968"/>
          </a:xfrm>
          <a:prstGeom prst="rect">
            <a:avLst/>
          </a:prstGeom>
          <a:solidFill>
            <a:srgbClr val="EBF7F4"/>
          </a:solidFill>
          <a:ln w="1905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818888" y="1773739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STEP 2 · Generate Meeting Minutes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18888" y="2066347"/>
            <a:ext cx="3986784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B0DDD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873752" y="2112067"/>
            <a:ext cx="385876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Objective</a:t>
            </a: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: From these rough notes [paste notes from your team meeting], create formal minutes for a student research group planning session.
</a:t>
            </a:r>
            <a:r>
              <a:rPr lang="en-US" sz="1200" b="1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Output format: </a:t>
            </a:r>
            <a:r>
              <a:rPr lang="en-US" sz="12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Sections — Date/Attendees, Decisions Made, Action Items (Owner + Deadline), Outstanding Issues, Next Meeting. Keep it concise and professional.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840283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11480" y="3886003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45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STEP 3 · Verify, Attribute &amp; Declare AI Use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142035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✔  Check accuracy: </a:t>
            </a: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Confirm all names, section owners, and deadlines are correct before sharing with your team.   </a:t>
            </a: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✔  Declare AI use: </a:t>
            </a: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Note in your minutes that Copilot assisted drafting — required for academic integrity.   </a:t>
            </a:r>
            <a:r>
              <a:rPr lang="en-US" sz="1200" b="1" dirty="0">
                <a:solidFill>
                  <a:srgbClr val="B03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 Never submit AI-generated meeting records as-is — you are responsible for accuracy.</a:t>
            </a:r>
            <a:endParaRPr lang="en-US" sz="1200" dirty="0"/>
          </a:p>
        </p:txBody>
      </p:sp>
      <p:sp>
        <p:nvSpPr>
          <p:cNvPr id="21" name="BlueBar">
            <a:extLst>
              <a:ext uri="{FF2B5EF4-FFF2-40B4-BE49-F238E27FC236}">
                <a16:creationId xmlns:a16="http://schemas.microsoft.com/office/drawing/2014/main" id="{EB137550-38BA-599A-031C-C6C0EF948F7B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 Features in Video Conferencing Platforms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Zoom and Microsoft Teams include built-in AI tools — use them to run better meetings.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4160520" cy="3493008"/>
          </a:xfrm>
          <a:prstGeom prst="rect">
            <a:avLst/>
          </a:prstGeom>
          <a:solidFill>
            <a:srgbClr val="FFFFFF"/>
          </a:solidFill>
          <a:ln w="15240">
            <a:solidFill>
              <a:srgbClr val="2D8CF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54864" cy="3493008"/>
          </a:xfrm>
          <a:prstGeom prst="rect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11480" y="117043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8C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🎥  Zoom — AI Companion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53619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5FA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▸  Meeting Summary: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Auto-generates summary with action items after every meeting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5FA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▸  Live Transcription: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Real-time captions and searchable transcript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2706624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5FA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▸  Smart Recording: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Highlights, chapters, and searchable meeting moments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329184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5FA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▸  Ask AI Companion: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Ask questions about past meetings: 'What did we decide on X?'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87705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5FA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▸  Whiteboard AI: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Generate diagrams and frameworks from text prompts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115568"/>
            <a:ext cx="4160520" cy="3493008"/>
          </a:xfrm>
          <a:prstGeom prst="rect">
            <a:avLst/>
          </a:prstGeom>
          <a:solidFill>
            <a:srgbClr val="EEF4FB"/>
          </a:solidFill>
          <a:ln w="15240">
            <a:solidFill>
              <a:srgbClr val="5059C9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54864" cy="3493008"/>
          </a:xfrm>
          <a:prstGeom prst="rect">
            <a:avLst/>
          </a:prstGeom>
          <a:solidFill>
            <a:srgbClr val="5059C9"/>
          </a:solidFill>
          <a:ln w="12700">
            <a:solidFill>
              <a:srgbClr val="5059C9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800600" y="117043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59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💬  Google Meet — Gemini</a:t>
            </a:r>
            <a:endParaRPr lang="en-US" sz="1400" dirty="0"/>
          </a:p>
        </p:txBody>
      </p:sp>
      <p:sp>
        <p:nvSpPr>
          <p:cNvPr id="24" name="BlueBar">
            <a:extLst>
              <a:ext uri="{FF2B5EF4-FFF2-40B4-BE49-F238E27FC236}">
                <a16:creationId xmlns:a16="http://schemas.microsoft.com/office/drawing/2014/main" id="{8CF1D074-21E0-EDF5-8B1C-D41B14576742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F2AB17DD-9073-68B6-6A12-427B4BFB4CCC}"/>
              </a:ext>
            </a:extLst>
          </p:cNvPr>
          <p:cNvSpPr/>
          <p:nvPr/>
        </p:nvSpPr>
        <p:spPr>
          <a:xfrm>
            <a:off x="4800600" y="153619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73E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▸  Meeting Transcript: </a:t>
            </a: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Auto-generates a full searchable transcript — saved to Google Docs</a:t>
            </a:r>
            <a:endParaRPr lang="en-US" sz="115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E9B9F634-0193-4EAE-5C93-0C34D1AFB50D}"/>
              </a:ext>
            </a:extLst>
          </p:cNvPr>
          <p:cNvSpPr/>
          <p:nvPr/>
        </p:nvSpPr>
        <p:spPr>
          <a:xfrm>
            <a:off x="4800600" y="212140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73E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▸  Gemini Summaries: </a:t>
            </a: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Produces a written summary of key discussion points and decisions after the call</a:t>
            </a:r>
            <a:endParaRPr lang="en-US" sz="1150" dirty="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C8B24792-2C54-F6B9-B75C-49EA2A9164CA}"/>
              </a:ext>
            </a:extLst>
          </p:cNvPr>
          <p:cNvSpPr/>
          <p:nvPr/>
        </p:nvSpPr>
        <p:spPr>
          <a:xfrm>
            <a:off x="4800600" y="2706624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73E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▸  Smart Nudge: </a:t>
            </a: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Prompts late joiners with a catch-up summary: 'Here is what you missed'</a:t>
            </a:r>
            <a:endParaRPr lang="en-US" sz="115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068C38B3-9322-8C25-44DA-350892611FDE}"/>
              </a:ext>
            </a:extLst>
          </p:cNvPr>
          <p:cNvSpPr/>
          <p:nvPr/>
        </p:nvSpPr>
        <p:spPr>
          <a:xfrm>
            <a:off x="4800600" y="329184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73E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▸  Take Notes for Me: </a:t>
            </a: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Gemini takes structured notes in a linked Google Doc in real time</a:t>
            </a:r>
            <a:endParaRPr lang="en-US" sz="115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5E0C874D-DB78-1ED3-5AED-D99828BF8E2F}"/>
              </a:ext>
            </a:extLst>
          </p:cNvPr>
          <p:cNvSpPr/>
          <p:nvPr/>
        </p:nvSpPr>
        <p:spPr>
          <a:xfrm>
            <a:off x="4800600" y="387705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73E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▸  Ask Gemini: </a:t>
            </a: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Ask questions about the meeting after it ends: 'What action items were assigned?'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1B8E01-2434-9990-846E-C928D9CF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AE9D89-C08D-C44F-F660-C47CA6F9F0E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46EA39-EB38-D79E-433B-4C4C17E5DBB9}"/>
              </a:ext>
            </a:extLst>
          </p:cNvPr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Tutorial to use AI in Video meetings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B2C36D8-C775-1EBB-A5CD-12A274B43591}"/>
              </a:ext>
            </a:extLst>
          </p:cNvPr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B5E49A-B099-574A-AD26-FB460706B094}"/>
              </a:ext>
            </a:extLst>
          </p:cNvPr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88ECCF5-9A9C-B06F-86E0-42AD87FD8651}"/>
              </a:ext>
            </a:extLst>
          </p:cNvPr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0873502-03D5-16E8-2086-DDA49A81A04A}"/>
              </a:ext>
            </a:extLst>
          </p:cNvPr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Zoom and Microsoft Teams include built-in AI tools — use them to run better meetings.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27E4988-BA2D-19FD-DCB0-0CE9BDC80592}"/>
              </a:ext>
            </a:extLst>
          </p:cNvPr>
          <p:cNvSpPr/>
          <p:nvPr/>
        </p:nvSpPr>
        <p:spPr>
          <a:xfrm>
            <a:off x="274320" y="1115568"/>
            <a:ext cx="4160520" cy="3493008"/>
          </a:xfrm>
          <a:prstGeom prst="rect">
            <a:avLst/>
          </a:prstGeom>
          <a:solidFill>
            <a:srgbClr val="FFFFFF"/>
          </a:solidFill>
          <a:ln w="15240">
            <a:solidFill>
              <a:srgbClr val="2D8CF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599C3C0-DE92-8235-25C9-F276D40BE343}"/>
              </a:ext>
            </a:extLst>
          </p:cNvPr>
          <p:cNvSpPr/>
          <p:nvPr/>
        </p:nvSpPr>
        <p:spPr>
          <a:xfrm>
            <a:off x="274320" y="1115568"/>
            <a:ext cx="54864" cy="3493008"/>
          </a:xfrm>
          <a:prstGeom prst="rect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CEE08EE-442C-CE10-D963-87E6E6966EB4}"/>
              </a:ext>
            </a:extLst>
          </p:cNvPr>
          <p:cNvSpPr/>
          <p:nvPr/>
        </p:nvSpPr>
        <p:spPr>
          <a:xfrm>
            <a:off x="411480" y="117043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8C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🎥  Zoom — AI Companion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9BF6454-AD64-E325-D4C8-C216EEEC21F3}"/>
              </a:ext>
            </a:extLst>
          </p:cNvPr>
          <p:cNvSpPr/>
          <p:nvPr/>
        </p:nvSpPr>
        <p:spPr>
          <a:xfrm>
            <a:off x="4663440" y="1115568"/>
            <a:ext cx="4160520" cy="3493008"/>
          </a:xfrm>
          <a:prstGeom prst="rect">
            <a:avLst/>
          </a:prstGeom>
          <a:solidFill>
            <a:srgbClr val="EEF4FB"/>
          </a:solidFill>
          <a:ln w="15240">
            <a:solidFill>
              <a:srgbClr val="5059C9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639C49A-2A56-9600-EFF9-F0DC2CE29A32}"/>
              </a:ext>
            </a:extLst>
          </p:cNvPr>
          <p:cNvSpPr/>
          <p:nvPr/>
        </p:nvSpPr>
        <p:spPr>
          <a:xfrm>
            <a:off x="4663440" y="1115568"/>
            <a:ext cx="54864" cy="3493008"/>
          </a:xfrm>
          <a:prstGeom prst="rect">
            <a:avLst/>
          </a:prstGeom>
          <a:solidFill>
            <a:srgbClr val="5059C9"/>
          </a:solidFill>
          <a:ln w="12700">
            <a:solidFill>
              <a:srgbClr val="5059C9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121A775-C76A-C37E-0D5C-7864FFE16CB4}"/>
              </a:ext>
            </a:extLst>
          </p:cNvPr>
          <p:cNvSpPr/>
          <p:nvPr/>
        </p:nvSpPr>
        <p:spPr>
          <a:xfrm>
            <a:off x="4800600" y="117043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59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💬  Google Meet - Gemini</a:t>
            </a:r>
            <a:endParaRPr lang="en-US" sz="1400" dirty="0"/>
          </a:p>
        </p:txBody>
      </p:sp>
      <p:sp>
        <p:nvSpPr>
          <p:cNvPr id="24" name="BlueBar">
            <a:extLst>
              <a:ext uri="{FF2B5EF4-FFF2-40B4-BE49-F238E27FC236}">
                <a16:creationId xmlns:a16="http://schemas.microsoft.com/office/drawing/2014/main" id="{8DCFF5F4-1D87-617A-97D1-2041C36A2E29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A0E174-A3A0-3940-B483-177E348936B8}"/>
              </a:ext>
            </a:extLst>
          </p:cNvPr>
          <p:cNvSpPr txBox="1"/>
          <p:nvPr/>
        </p:nvSpPr>
        <p:spPr>
          <a:xfrm>
            <a:off x="557784" y="3407914"/>
            <a:ext cx="34554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aramond" panose="02020404030301010803" pitchFamily="18" charset="0"/>
              </a:rPr>
              <a:t>Tutorial: </a:t>
            </a:r>
            <a:r>
              <a:rPr lang="en-US" sz="1600" dirty="0">
                <a:latin typeface="Garamond" panose="02020404030301010803" pitchFamily="18" charset="0"/>
                <a:hlinkClick r:id="rId3"/>
              </a:rPr>
              <a:t>https://www.youtube.com/watch?v=3F3HcegaW28</a:t>
            </a:r>
            <a:endParaRPr lang="en-US" sz="1600" dirty="0">
              <a:latin typeface="Garamond" panose="02020404030301010803" pitchFamily="18" charset="0"/>
            </a:endParaRPr>
          </a:p>
          <a:p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E53480-E68B-813C-668D-6C9885A4FAD7}"/>
              </a:ext>
            </a:extLst>
          </p:cNvPr>
          <p:cNvSpPr txBox="1"/>
          <p:nvPr/>
        </p:nvSpPr>
        <p:spPr>
          <a:xfrm>
            <a:off x="5211097" y="3407914"/>
            <a:ext cx="28415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aramond" panose="02020404030301010803" pitchFamily="18" charset="0"/>
              </a:rPr>
              <a:t>Tutorial:</a:t>
            </a:r>
          </a:p>
          <a:p>
            <a:r>
              <a:rPr lang="en-US" sz="1600" dirty="0">
                <a:latin typeface="Garamond" panose="02020404030301010803" pitchFamily="18" charset="0"/>
                <a:hlinkClick r:id="rId4"/>
              </a:rPr>
              <a:t>https://www.youtube.com/watch?v=pCa8Zvf0XaE</a:t>
            </a:r>
            <a:endParaRPr lang="en-US" sz="1600" dirty="0">
              <a:latin typeface="Garamond" panose="02020404030301010803" pitchFamily="18" charset="0"/>
            </a:endParaRPr>
          </a:p>
          <a:p>
            <a:endParaRPr lang="en-US" sz="1600" dirty="0">
              <a:latin typeface="Garamond" panose="02020404030301010803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E37AC89-F97F-4880-1252-7CE5F98D9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0732" y="1495179"/>
            <a:ext cx="2891887" cy="188059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64458EA-6D7F-BFDA-58B6-579435224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519" y="1390618"/>
            <a:ext cx="2958788" cy="198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7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4: The STAR Technique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2514600"/>
            <a:ext cx="2560320" cy="50292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Structured communication for meetings and interviews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STAR Technique — Structured Communication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framework for presenting experiences clearly in meetings, interviews, performance reviews, and cover letters.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6772" y="1184148"/>
            <a:ext cx="1682496" cy="3493008"/>
          </a:xfrm>
          <a:prstGeom prst="rect">
            <a:avLst/>
          </a:prstGeom>
          <a:solidFill>
            <a:srgbClr val="E8EEF5"/>
          </a:solidFill>
          <a:ln w="1905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716772" y="1184148"/>
            <a:ext cx="1682496" cy="56692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716772" y="1184148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9924" y="18059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9924" y="2135124"/>
            <a:ext cx="1554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Set the scene — describe the context and background so your audience understands the circumstances.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72420" y="1184148"/>
            <a:ext cx="1682496" cy="3493008"/>
          </a:xfrm>
          <a:prstGeom prst="rect">
            <a:avLst/>
          </a:prstGeom>
          <a:solidFill>
            <a:srgbClr val="EEF4FB"/>
          </a:solidFill>
          <a:ln w="1905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2472420" y="1184148"/>
            <a:ext cx="1682496" cy="566928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2472420" y="1184148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45572" y="18059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45572" y="2135124"/>
            <a:ext cx="1554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State your specific responsibility — what were you asked or required to do?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28068" y="1184148"/>
            <a:ext cx="1682496" cy="3493008"/>
          </a:xfrm>
          <a:prstGeom prst="rect">
            <a:avLst/>
          </a:prstGeom>
          <a:solidFill>
            <a:srgbClr val="EBF7F4"/>
          </a:solidFill>
          <a:ln w="1905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4228068" y="1184148"/>
            <a:ext cx="1682496" cy="566928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4228068" y="1184148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01220" y="18059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01220" y="2135124"/>
            <a:ext cx="1554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Explain the steps you personally took — focus on your contribution, not the team's.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83716" y="1184148"/>
            <a:ext cx="1682496" cy="3493008"/>
          </a:xfrm>
          <a:prstGeom prst="rect">
            <a:avLst/>
          </a:prstGeom>
          <a:solidFill>
            <a:srgbClr val="F3EEF9"/>
          </a:solidFill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5983716" y="1184148"/>
            <a:ext cx="1682496" cy="5669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5983716" y="1184148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56868" y="18059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EA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Result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56868" y="2135124"/>
            <a:ext cx="1554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Describe the outcome — ideally quantified. What changed because of your actions?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96912" y="1115568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</a:t>
            </a:r>
            <a:endParaRPr lang="en-US" sz="2600" dirty="0"/>
          </a:p>
        </p:txBody>
      </p:sp>
      <p:sp>
        <p:nvSpPr>
          <p:cNvPr id="33" name="BlueBar">
            <a:extLst>
              <a:ext uri="{FF2B5EF4-FFF2-40B4-BE49-F238E27FC236}">
                <a16:creationId xmlns:a16="http://schemas.microsoft.com/office/drawing/2014/main" id="{B5A799E2-1F13-6778-CF5E-A7C7F9F04C44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STAR in Action — Software Bug Scenario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Behavioural question: "Tell me about a time you solved a critical problem under pressure."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530352" cy="59436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274320" y="1481328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8028432" cy="594360"/>
          </a:xfrm>
          <a:prstGeom prst="rect">
            <a:avLst/>
          </a:prstGeom>
          <a:solidFill>
            <a:srgbClr val="EEF4FB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932688" y="1517904"/>
            <a:ext cx="78455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Situation: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During my final-year project, we discovered a critical authentication bug 48 hours before our beta launch to 200 test users. The bug exposed user session tokens and could have caused a full security breach.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176272"/>
            <a:ext cx="530352" cy="59436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274320" y="2176272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" y="2176272"/>
            <a:ext cx="802843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932688" y="2212848"/>
            <a:ext cx="78455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Task: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 the security lead on the team, I was responsible for identifying the root cause, coordinating the fix, and ensuring we met the launch deadline without compromising user safety.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871216"/>
            <a:ext cx="530352" cy="59436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274320" y="2871216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1248" y="2871216"/>
            <a:ext cx="8028432" cy="594360"/>
          </a:xfrm>
          <a:prstGeom prst="rect">
            <a:avLst/>
          </a:prstGeom>
          <a:solidFill>
            <a:srgbClr val="EEF4FB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932688" y="2907792"/>
            <a:ext cx="78455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 called an emergency standup, assigned debugging tasks based on team expertise, implemented a temporary session invalidation patch within 4 hours, and documented the vulnerability for our final report.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75488" cy="55778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274320" y="356616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" y="3566160"/>
            <a:ext cx="802843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932688" y="3602736"/>
            <a:ext cx="78455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EA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Result: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We launched on time with zero security incidents. The client gave us the highest feedback rating in the cohort. The patch approach was later adopted as a standard process by our supervisor.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3895344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8" name="BlueBar">
            <a:extLst>
              <a:ext uri="{FF2B5EF4-FFF2-40B4-BE49-F238E27FC236}">
                <a16:creationId xmlns:a16="http://schemas.microsoft.com/office/drawing/2014/main" id="{378397F7-4BDE-8BC7-44A2-006BDDFC85F0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STAR — When to Use &amp; Best Practices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STAR works beyond interviews — it is a general professional communication framework.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When to use STAR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💼  </a:t>
            </a: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Job interviews — </a:t>
            </a:r>
            <a:r>
              <a:rPr lang="en-US" sz="115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Behavioural questions: 'Tell me about a time…'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02996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📋  </a:t>
            </a: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Performance reviews — </a:t>
            </a:r>
            <a:r>
              <a:rPr lang="en-US" sz="115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Demonstrate impact with evidence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523744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📝  </a:t>
            </a: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Cover letters — </a:t>
            </a:r>
            <a:r>
              <a:rPr lang="en-US" sz="115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Structure your 'experience' paragraph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🗣  </a:t>
            </a: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Meeting updates — </a:t>
            </a:r>
            <a:r>
              <a:rPr lang="en-US" sz="115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Report on progress with clear outcomes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511296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🤝  </a:t>
            </a: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Client presentations — </a:t>
            </a:r>
            <a:r>
              <a:rPr lang="en-US" sz="115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Show your problem-solving credibility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🎓  </a:t>
            </a:r>
            <a:r>
              <a:rPr lang="en-US" sz="12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Assessment tasks — </a:t>
            </a:r>
            <a:r>
              <a:rPr lang="en-US" sz="115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 oral presentations and reflections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115568"/>
            <a:ext cx="4160520" cy="3493008"/>
          </a:xfrm>
          <a:prstGeom prst="rect">
            <a:avLst/>
          </a:prstGeom>
          <a:solidFill>
            <a:srgbClr val="EEF4FB"/>
          </a:solidFill>
          <a:ln w="1524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170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Tips for effective STAR responses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536192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✦  </a:t>
            </a: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Keep it concise — aim for 90–120 seconds verbally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1975104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✦  </a:t>
            </a: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Use a conversational tone — avoid sounding rehearsed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2414016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✦  </a:t>
            </a: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Quantify results where possible (%, time saved, users impacted)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0600" y="285292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✦  </a:t>
            </a: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Focus on YOUR specific contribution — not the team's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00600" y="3291840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✦  </a:t>
            </a: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Choose examples that highlight skills relevant to the role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3730752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✦  </a:t>
            </a: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Prepare 3–4 strong examples that can flex across question types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4169664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✦  </a:t>
            </a: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Anticipate follow-up questions: 'What would you do differently?'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Summary: Week 4 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400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✔ 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Meetings are critical communication structures in IT — formal meetings follow structured agendas and produce written minutes; informal meetings enable rapid, flexible collaboration
</a:t>
            </a:r>
            <a:r>
              <a:rPr lang="en-US" sz="13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✔ 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Waterfall concentrates meetings at phase gates; Agile/Scrum uses continuous ceremonies (standups, planning, review, retrospective) — both require structured communication
</a:t>
            </a:r>
            <a:r>
              <a:rPr lang="en-US" sz="13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✔ 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Effective agendas define Item, Outcome, Priority, Time, Owner, and Discussion Method — minutes must capture what was decided, what must be done, and by when
</a:t>
            </a:r>
            <a:r>
              <a:rPr lang="en-US" sz="13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✔ 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Copilot can draft agendas and minutes — always verify accuracy, declare AI use, and never distribute unreviewed output
</a:t>
            </a:r>
            <a:r>
              <a:rPr lang="en-US" sz="13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✔ 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Zoom and Google Meet include AI transcription, summaries, and action item extraction — leverage these tools to increase meeting productivity
</a:t>
            </a:r>
            <a:r>
              <a:rPr lang="en-US" sz="1300" b="1" dirty="0">
                <a:solidFill>
                  <a:srgbClr val="00A88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✔ 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STAR (Situation, Task, Action, Result) structures responses in interviews, performance reviews, cover letters, and professional meetings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⚡ Quiz 1&amp; 2: Meetings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9933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Test your understanding of meeting agenda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y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ooterBar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"/>
          <p:cNvSpPr txBox="1"/>
          <p:nvPr/>
        </p:nvSpPr>
        <p:spPr>
          <a:xfrm>
            <a:off x="228600" y="4910328"/>
            <a:ext cx="7000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3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Reminder: </a:t>
            </a:r>
            <a:r>
              <a:rPr sz="2600" b="1" dirty="0">
                <a:solidFill>
                  <a:srgbClr val="FFFFFF"/>
                </a:solidFill>
                <a:latin typeface="Garamond"/>
              </a:rPr>
              <a:t>Things To Do This Week</a:t>
            </a:r>
          </a:p>
        </p:txBody>
      </p:sp>
      <p:sp>
        <p:nvSpPr>
          <p:cNvPr id="7" name="TB7"/>
          <p:cNvSpPr txBox="1"/>
          <p:nvPr/>
        </p:nvSpPr>
        <p:spPr>
          <a:xfrm>
            <a:off x="228600" y="900000"/>
            <a:ext cx="8686800" cy="3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/>
            <a:r>
              <a:rPr lang="en-US" sz="1600" i="1" dirty="0">
                <a:solidFill>
                  <a:srgbClr val="006DAE"/>
                </a:solidFill>
                <a:latin typeface="Garamond"/>
              </a:rPr>
              <a:t>No week 4 workshop</a:t>
            </a:r>
            <a:endParaRPr sz="1600" i="1" dirty="0">
              <a:solidFill>
                <a:srgbClr val="006DAE"/>
              </a:solidFill>
              <a:latin typeface="Garamond"/>
            </a:endParaRPr>
          </a:p>
        </p:txBody>
      </p:sp>
      <p:sp>
        <p:nvSpPr>
          <p:cNvPr id="8" name="TB8"/>
          <p:cNvSpPr txBox="1"/>
          <p:nvPr/>
        </p:nvSpPr>
        <p:spPr>
          <a:xfrm>
            <a:off x="274320" y="1380000"/>
            <a:ext cx="8503920" cy="35394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28600" indent="-228600">
              <a:buChar char="□"/>
            </a:pPr>
            <a:r>
              <a:rPr lang="en-US" sz="1700" dirty="0">
                <a:solidFill>
                  <a:srgbClr val="1A1A1A"/>
                </a:solidFill>
                <a:latin typeface="Garamond"/>
              </a:rPr>
              <a:t>Week 4 applied session is combined to Week 3 session.</a:t>
            </a:r>
            <a:endParaRPr sz="1700" dirty="0">
              <a:solidFill>
                <a:srgbClr val="1A1A1A"/>
              </a:solidFill>
              <a:latin typeface="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2616</Words>
  <Application>Microsoft Macintosh PowerPoint</Application>
  <PresentationFormat>On-screen Show (16:9)</PresentationFormat>
  <Paragraphs>295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Garamond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 nailah abdullah</cp:lastModifiedBy>
  <cp:revision>23</cp:revision>
  <dcterms:created xsi:type="dcterms:W3CDTF">2026-03-13T13:47:15Z</dcterms:created>
  <dcterms:modified xsi:type="dcterms:W3CDTF">2026-03-16T09:37:26Z</dcterms:modified>
</cp:coreProperties>
</file>