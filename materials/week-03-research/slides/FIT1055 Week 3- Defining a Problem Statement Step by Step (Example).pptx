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3154680"/>
            <a:ext cx="8961120" cy="50292"/>
          </a:xfrm>
          <a:prstGeom prst="rect">
            <a:avLst/>
          </a:prstGeom>
          <a:solidFill>
            <a:srgbClr val="5BC2E7"/>
          </a:solidFill>
          <a:ln w="12700">
            <a:solidFill>
              <a:srgbClr val="5BC2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Step by Step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5BC2E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Defining a Problem Statement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5786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A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045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·  Monash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Example of How to Conduct Analysis: Integrating 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5029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80160"/>
            <a:ext cx="4937760" cy="3154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77840" y="1207008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of further inquiry: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then an Ethical AI?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above shows result on a Google search using the keyword </a:t>
            </a:r>
            <a:pPr algn="l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ethical AI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Integrating Sources: Defining Key Concepts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61872"/>
            <a:ext cx="8229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389888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002B5C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Ethical AI refers to the development and deployment of artificial intelligence systems in ways that respect human values, protect human rights, and promote the common good.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Integrating Sources: How to Analyse 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329184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key messages and findings from the articles, always relating them back to the project's aims and objectives.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1207008"/>
            <a:ext cx="5120640" cy="35890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94760" y="1280160"/>
            <a:ext cx="5029200" cy="34427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Integrating Sources: How to Analyse Sources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329184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technical details and comprehend how they should be ideally implemented and used.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1207008"/>
            <a:ext cx="5120640" cy="35890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94760" y="1280160"/>
            <a:ext cx="5029200" cy="34427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Integrating Sources: Highlight Key Technical Issue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320040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how the technical implementation of the method could potentially create ethical issues.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1207008"/>
            <a:ext cx="5212080" cy="172593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03320" y="1252728"/>
            <a:ext cx="5120640" cy="16344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0" y="3070098"/>
            <a:ext cx="5212080" cy="172593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3320" y="3115818"/>
            <a:ext cx="5120640" cy="1634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Integrating Sources: Comprehend the Experiments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320040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experiments that demonstrate ethical issues and identify their underlying causes.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1207008"/>
            <a:ext cx="5212080" cy="172593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03320" y="1252728"/>
            <a:ext cx="5120640" cy="163449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0" y="3070098"/>
            <a:ext cx="5212080" cy="172593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3320" y="3115818"/>
            <a:ext cx="5120640" cy="1634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Integrating Sources: Comprehend the Experiments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3200400" cy="3589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findings from the experiments that demonstrate ethical issues.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1207008"/>
            <a:ext cx="5212080" cy="35890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03320" y="1252728"/>
            <a:ext cx="5120640" cy="3497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Defining Problem Statements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54864" cy="358902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8366760" cy="3406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integrated sources will be further analyzed to develop strong problem statements.
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statement is a clear, concise description of an issue or challenge that needs to be addressed.
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defines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should ideally behave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what the problem is, why it matters, who it affects, what issues may arise after implementation, and what the desired outcome should be.
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the foundation that guides your entire research or project—it tells you exactly what you're trying to solve.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Defining Problem Statements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How–What–Why Framework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20700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problem statement in AI ethics requires moving from scattered information to structured analysis.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801368"/>
            <a:ext cx="2773680" cy="34747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01368"/>
            <a:ext cx="277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2773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58568"/>
            <a:ext cx="259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AI systems operate under ideal conditions?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85160" y="1801368"/>
            <a:ext cx="2773680" cy="347472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5160" y="1801368"/>
            <a:ext cx="277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185160" y="2148840"/>
            <a:ext cx="2773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6600" y="2258568"/>
            <a:ext cx="259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specific ethical issues that arose from the real-world AI deployment?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50280" y="1801368"/>
            <a:ext cx="2773680" cy="34747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50280" y="1801368"/>
            <a:ext cx="277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050280" y="2148840"/>
            <a:ext cx="2773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1720" y="2258568"/>
            <a:ext cx="259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these ethical issues arise from the AI implementation? What is the root cause?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4074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is a high-level concept you define based on recurring themes/incidents highlighted from your sources.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Identify the Patterns from Integrated Sources – the "How"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patterns to define the "How" should it work ideally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07008"/>
          <a:ext cx="4114800" cy="3589020"/>
        </p:xfrm>
        <a:graphic>
          <a:graphicData uri="http://schemas.openxmlformats.org/drawingml/2006/table">
            <a:tbl>
              <a:tblPr/>
              <a:tblGrid>
                <a:gridCol w="4114800"/>
              </a:tblGrid>
              <a:tr h="7178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Identified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B5C"/>
                    </a:solidFill>
                  </a:tcPr>
                </a:tc>
              </a:tr>
              <a:tr h="717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notes creation and summarization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7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monitoring data 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7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search assistance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78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documentation 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617720" y="1207008"/>
            <a:ext cx="54864" cy="3589020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298448"/>
            <a:ext cx="4023360" cy="3406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
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gains: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Reduces administrative burden on healthcare workers
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Standardizes documentation practices
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savings: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Allows more focus on direct patient care
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Makes medical information more searchable and organized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Identify the Patterns from Integrated Sources – the "How"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we can define the following.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8595360" cy="384048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161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AI Should Work Ideally in Healthcare — Seamless Integration Model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591056"/>
            <a:ext cx="8595360" cy="32049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37360"/>
            <a:ext cx="8138160" cy="290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Enhancement, Not Replacement:</a:t>
            </a:r>
            <a:endParaRPr lang="en-US" sz="1300" dirty="0"/>
          </a:p>
          <a:p>
            <a:pPr algn="l"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integrate directly into existing Electronic Health Records (EHR) systems without requiring separate applications</a:t>
            </a:r>
            <a:endParaRPr lang="en-US" sz="1300" dirty="0"/>
          </a:p>
          <a:p>
            <a:pPr algn="l"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professionals should interact with AI through familiar interfaces, not learn entirely new systems</a:t>
            </a:r>
            <a:endParaRPr lang="en-US" sz="1300" dirty="0"/>
          </a:p>
          <a:p>
            <a:pPr algn="l" lvl="1" marL="6858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 should appear contextually when needed, rather than requiring active invocation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Identify the Patterns from Integrated Sources – the "What"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patterns to identify "What" are the ethical issues that arose from the real-world AI deployment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416052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070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Pattern 1: Accuracy and Reliability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591056"/>
            <a:ext cx="4160520" cy="32049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09928"/>
            <a:ext cx="3886200" cy="290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and misinformation in critical medical contexts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plausible but incorrect drug interactions, dosages, or treatment protocols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harm from following AI-generated medical advice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207008"/>
            <a:ext cx="416052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2070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Pattern 2: Bias and Discrimination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1591056"/>
            <a:ext cx="4160520" cy="32049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709928"/>
            <a:ext cx="3886200" cy="2903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Perpetuating existing healthcare disparities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treatment recommendations based on patient demographics; underrepresenting certain populations in training data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algn="l"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Amplifying racial, gender, or socioeconomic biases in medical care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Identify the Patterns from Integrated Sources – the "Why"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patterns to identify "Why" these ethical issues arise from the AI implementation? What is the root cause?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859536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0700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Pattern 1: Dehumanization Through Algorithmic Reductionism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591056"/>
            <a:ext cx="8595360" cy="32049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73936"/>
            <a:ext cx="8138160" cy="2839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process patients as statistical data points rather than recognizing their complexity as human beings
</a:t>
            </a:r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reduce multifaceted medical decisions to mathematical calculations, losing the nuanced understanding that human judgment provides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Identify the Patterns from Integrated Sources – the "Why"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patterns to identify "Why" did these ethical issues arise from the AI implementation? What is the root cause?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8595360" cy="38404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0700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Pattern 2: Erosion of Patient Autonomy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1591056"/>
            <a:ext cx="8595360" cy="32049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73936"/>
            <a:ext cx="8138160" cy="2839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make or heavily influence medical decisions without adequate patient involvement or informed consent
</a:t>
            </a:r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recommendations may bypass patient consultation, or patients may not understand how AI influences their care options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From Pattern Analysis to Define 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How, What, Why → a synthesis of new understanding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8595360" cy="384048"/>
          </a:xfrm>
          <a:prstGeom prst="rect">
            <a:avLst/>
          </a:prstGeom>
          <a:solidFill>
            <a:srgbClr val="006DAE"/>
          </a:solidFill>
          <a:ln w="12700">
            <a:solidFill>
              <a:srgbClr val="006D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207008"/>
            <a:ext cx="8375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How-What-Why Integration Analysis — How AI Should Ideally Function vs. Current Reality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591056"/>
            <a:ext cx="8595360" cy="32049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91056"/>
            <a:ext cx="54864" cy="3204972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73936"/>
            <a:ext cx="8229600" cy="28392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Gap:
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patterns show AI being adopted primarily for administrative efficiency (documentation, summarization, data interpretation), but ideal implementation requires a </a:t>
            </a:r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human-centric collaborative framework.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449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From Pattern Analysis to Define 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804672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How, What, Why → a synthesis of new understanding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02B5C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66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C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FIT1055 IT Professional Practice and Ethics  |  Monash University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966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12527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human-centric collaborative framework is where: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workflow integration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replaces the current fragmented, application-switching approach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intelligence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emerges naturally within clinical workflows rather than requiring separate AI consultations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enhancement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occurs without compromising clinical judgment development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Patient-centered outcomes</a:t>
            </a:r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 system design rather than administrative convenience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538728"/>
            <a:ext cx="8595360" cy="54864"/>
          </a:xfrm>
          <a:prstGeom prst="rect">
            <a:avLst/>
          </a:prstGeom>
          <a:solidFill>
            <a:srgbClr val="00A887"/>
          </a:solidFill>
          <a:ln w="12700">
            <a:solidFill>
              <a:srgbClr val="00A8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593592"/>
            <a:ext cx="8595360" cy="1051560"/>
          </a:xfrm>
          <a:prstGeom prst="rect">
            <a:avLst/>
          </a:prstGeom>
          <a:solidFill>
            <a:srgbClr val="E8F7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576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A8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Insight: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efficiency gains healthcare workers seek through AI adoption inadvertently create systemic vulnerabilities when the technology is not designed with ethical principles as foundational requirements rather than add-on considerations.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by Step: Defining a Problem Statement</dc:title>
  <dc:subject>PptxGenJS Presentation</dc:subject>
  <dc:creator>FIT1055</dc:creator>
  <cp:lastModifiedBy>FIT1055</cp:lastModifiedBy>
  <cp:revision>1</cp:revision>
  <dcterms:created xsi:type="dcterms:W3CDTF">2026-03-16T12:47:22Z</dcterms:created>
  <dcterms:modified xsi:type="dcterms:W3CDTF">2026-03-16T12:47:22Z</dcterms:modified>
</cp:coreProperties>
</file>