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8" r:id="rId3"/>
    <p:sldId id="260" r:id="rId4"/>
    <p:sldId id="261" r:id="rId5"/>
    <p:sldId id="262" r:id="rId6"/>
    <p:sldId id="263" r:id="rId7"/>
    <p:sldId id="264" r:id="rId8"/>
    <p:sldId id="265" r:id="rId9"/>
    <p:sldId id="266" r:id="rId10"/>
    <p:sldId id="267" r:id="rId11"/>
    <p:sldId id="268" r:id="rId12"/>
    <p:sldId id="269" r:id="rId13"/>
    <p:sldId id="270" r:id="rId14"/>
    <p:sldId id="286" r:id="rId15"/>
    <p:sldId id="271" r:id="rId16"/>
    <p:sldId id="272" r:id="rId17"/>
    <p:sldId id="273" r:id="rId18"/>
    <p:sldId id="290"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512"/>
    <p:restoredTop sz="94606"/>
  </p:normalViewPr>
  <p:slideViewPr>
    <p:cSldViewPr snapToGrid="0" snapToObjects="1">
      <p:cViewPr varScale="1">
        <p:scale>
          <a:sx n="131" d="100"/>
          <a:sy n="131" d="100"/>
        </p:scale>
        <p:origin x="184" y="528"/>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style>
          <a:lnRef idx="1">
            <a:schemeClr val="accent1"/>
          </a:lnRef>
          <a:fillRef idx="3">
            <a:schemeClr val="accent1"/>
          </a:fillRef>
          <a:effectRef idx="2">
            <a:schemeClr val="accent1"/>
          </a:effectRef>
          <a:fontRef idx="minor">
            <a:schemeClr val="lt1"/>
          </a:fontRef>
        </p:style>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style>
          <a:lnRef idx="1">
            <a:schemeClr val="accent1"/>
          </a:lnRef>
          <a:fillRef idx="3">
            <a:schemeClr val="accent1"/>
          </a:fillRef>
          <a:effectRef idx="2">
            <a:schemeClr val="accent1"/>
          </a:effectRef>
          <a:fontRef idx="minor">
            <a:schemeClr val="lt1"/>
          </a:fontRef>
        </p:style>
        <p:txBody>
          <a:bodyPr vert="horz" lIns="91440" tIns="45720" rIns="91440" bIns="45720" rtlCol="0"/>
          <a:lstStyle>
            <a:lvl1pPr algn="r">
              <a:defRPr sz="1200"/>
            </a:lvl1pPr>
          </a:lstStyle>
          <a:p>
            <a:fld id="{AEE9EE65-F103-B142-A5B1-729B108678CF}" type="datetimeFigureOut">
              <a:rPr lang="en-US" smtClean="0"/>
              <a:t>3/16/26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style>
          <a:lnRef idx="1">
            <a:schemeClr val="accent1"/>
          </a:lnRef>
          <a:fillRef idx="3">
            <a:schemeClr val="accent1"/>
          </a:fillRef>
          <a:effectRef idx="2">
            <a:schemeClr val="accent1"/>
          </a:effectRef>
          <a:fontRef idx="minor">
            <a:schemeClr val="lt1"/>
          </a:fontRef>
        </p:style>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style>
          <a:lnRef idx="1">
            <a:schemeClr val="accent1"/>
          </a:lnRef>
          <a:fillRef idx="3">
            <a:schemeClr val="accent1"/>
          </a:fillRef>
          <a:effectRef idx="2">
            <a:schemeClr val="accent1"/>
          </a:effectRef>
          <a:fontRef idx="minor">
            <a:schemeClr val="lt1"/>
          </a:fontRef>
        </p:style>
        <p:txBody>
          <a:bodyPr vert="horz" lIns="91440" tIns="45720" rIns="91440" bIns="45720" rtlCol="0" anchor="b"/>
          <a:lstStyle>
            <a:lvl1pPr algn="r">
              <a:defRPr sz="1200"/>
            </a:lvl1pPr>
          </a:lstStyle>
          <a:p>
            <a:fld id="{AB97F44E-784E-D443-830D-2EAADE4C7DBB}" type="slidenum">
              <a:rPr lang="en-US" smtClean="0"/>
              <a:t>‹#›</a:t>
            </a:fld>
            <a:endParaRPr lang="en-US"/>
          </a:p>
        </p:txBody>
      </p:sp>
    </p:spTree>
    <p:extLst>
      <p:ext uri="{BB962C8B-B14F-4D97-AF65-F5344CB8AC3E}">
        <p14:creationId xmlns:p14="http://schemas.microsoft.com/office/powerpoint/2010/main" val="3764009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97F44E-784E-D443-830D-2EAADE4C7DBB}" type="slidenum">
              <a:rPr lang="en-US" smtClean="0"/>
              <a:t>17</a:t>
            </a:fld>
            <a:endParaRPr lang="en-US"/>
          </a:p>
        </p:txBody>
      </p:sp>
    </p:spTree>
    <p:extLst>
      <p:ext uri="{BB962C8B-B14F-4D97-AF65-F5344CB8AC3E}">
        <p14:creationId xmlns:p14="http://schemas.microsoft.com/office/powerpoint/2010/main" val="2943649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F5531-9DA7-D1B4-6025-AFE183DF5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68550-FBA1-48C6-B8DD-7D483566DF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04E0CD-185B-BC6A-EA6F-0D91082786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FD4EFC-13E7-1E3F-429B-238A1846802F}"/>
              </a:ext>
            </a:extLst>
          </p:cNvPr>
          <p:cNvSpPr>
            <a:spLocks noGrp="1"/>
          </p:cNvSpPr>
          <p:nvPr>
            <p:ph type="sldNum" sz="quarter" idx="5"/>
          </p:nvPr>
        </p:nvSpPr>
        <p:spPr/>
        <p:txBody>
          <a:bodyPr/>
          <a:lstStyle/>
          <a:p>
            <a:fld id="{AB97F44E-784E-D443-830D-2EAADE4C7DBB}" type="slidenum">
              <a:rPr lang="en-US" smtClean="0"/>
              <a:t>18</a:t>
            </a:fld>
            <a:endParaRPr lang="en-US"/>
          </a:p>
        </p:txBody>
      </p:sp>
    </p:spTree>
    <p:extLst>
      <p:ext uri="{BB962C8B-B14F-4D97-AF65-F5344CB8AC3E}">
        <p14:creationId xmlns:p14="http://schemas.microsoft.com/office/powerpoint/2010/main" val="278824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style>
          <a:lnRef idx="1">
            <a:schemeClr val="accent1"/>
          </a:lnRef>
          <a:fillRef idx="3">
            <a:schemeClr val="accent1"/>
          </a:fillRef>
          <a:effectRef idx="0">
            <a:schemeClr val="accent1"/>
          </a:effectRef>
          <a:fontRef idx="minor">
            <a:schemeClr val="lt1"/>
          </a:fontRef>
        </p:style>
        <p:txBody>
          <a:bodyPr rtlCol="0" anchor="ctr"/>
          <a:lstStyle/>
          <a:p>
            <a:r>
              <a:rPr lang="en-US"/>
              <a:t>Click to edit Master title style</a:t>
            </a:r>
          </a:p>
        </p:txBody>
      </p:sp>
      <p:sp>
        <p:nvSpPr>
          <p:cNvPr id="3" name="Subtitle 2"/>
          <p:cNvSpPr>
            <a:spLocks noGrp="1"/>
          </p:cNvSpPr>
          <p:nvPr>
            <p:ph type="subTitle" idx="1"/>
          </p:nvPr>
        </p:nvSpPr>
        <p:spPr>
          <a:xfrm>
            <a:off x="1371600" y="3886200"/>
            <a:ext cx="6400800" cy="1752600"/>
          </a:xfrm>
        </p:spPr>
        <p:style>
          <a:lnRef idx="1">
            <a:schemeClr val="accent1"/>
          </a:lnRef>
          <a:fillRef idx="3">
            <a:schemeClr val="accent1"/>
          </a:fillRef>
          <a:effectRef idx="0">
            <a:schemeClr val="accent1"/>
          </a:effectRef>
          <a:fontRef idx="minor">
            <a:schemeClr val="lt1"/>
          </a:fontRef>
        </p:style>
        <p:txBody>
          <a:bodyPr rtlCol="0" anchor="ct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rtlCol="0" anchor="ctr"/>
          <a:lstStyle/>
          <a:p>
            <a:fld id="{5BCAD085-E8A6-8845-BD4E-CB4CCA059FC4}" type="datetimeFigureOut">
              <a:rPr lang="en-US" smtClean="0"/>
              <a:t>3/16/26</a:t>
            </a:fld>
            <a:endParaRPr lang="en-US"/>
          </a:p>
        </p:txBody>
      </p:sp>
      <p:sp>
        <p:nvSpPr>
          <p:cNvPr id="5" name="Footer Placeholder 4"/>
          <p:cNvSpPr>
            <a:spLocks noGrp="1"/>
          </p:cNvSpPr>
          <p:nvPr>
            <p:ph type="ftr" sz="quarter" idx="11"/>
          </p:nvPr>
        </p:nvSpPr>
        <p:spPr/>
        <p:txBody>
          <a:bodyPr rtlCol="0" anchor="ctr"/>
          <a:lstStyle/>
          <a:p>
            <a:endParaRPr lang="en-US"/>
          </a:p>
        </p:txBody>
      </p:sp>
      <p:sp>
        <p:nvSpPr>
          <p:cNvPr id="6" name="Slide Number Placeholder 5"/>
          <p:cNvSpPr>
            <a:spLocks noGrp="1"/>
          </p:cNvSpPr>
          <p:nvPr>
            <p:ph type="sldNum" sz="quarter" idx="12"/>
          </p:nvPr>
        </p:nvSpPr>
        <p:spPr/>
        <p:txBody>
          <a:bodyPr rtlCol="0" anchor="ct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chor="ctr"/>
          <a:lstStyle/>
          <a:p>
            <a:r>
              <a:rPr lang="en-US"/>
              <a:t>Click to edit Master title style</a:t>
            </a:r>
          </a:p>
        </p:txBody>
      </p:sp>
      <p:sp>
        <p:nvSpPr>
          <p:cNvPr id="3" name="Content Placeholder 2"/>
          <p:cNvSpPr>
            <a:spLocks noGrp="1"/>
          </p:cNvSpPr>
          <p:nvPr>
            <p:ph idx="1"/>
          </p:nvPr>
        </p:nvSpPr>
        <p:spPr/>
        <p:txBody>
          <a:bodyPr rtlCol="0"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rtlCol="0" anchor="ctr"/>
          <a:lstStyle/>
          <a:p>
            <a:fld id="{5BCAD085-E8A6-8845-BD4E-CB4CCA059FC4}" type="datetimeFigureOut">
              <a:rPr lang="en-US" smtClean="0"/>
              <a:t>3/16/26</a:t>
            </a:fld>
            <a:endParaRPr lang="en-US"/>
          </a:p>
        </p:txBody>
      </p:sp>
      <p:sp>
        <p:nvSpPr>
          <p:cNvPr id="5" name="Footer Placeholder 4"/>
          <p:cNvSpPr>
            <a:spLocks noGrp="1"/>
          </p:cNvSpPr>
          <p:nvPr>
            <p:ph type="ftr" sz="quarter" idx="11"/>
          </p:nvPr>
        </p:nvSpPr>
        <p:spPr/>
        <p:txBody>
          <a:bodyPr rtlCol="0" anchor="ctr"/>
          <a:lstStyle/>
          <a:p>
            <a:endParaRPr lang="en-US"/>
          </a:p>
        </p:txBody>
      </p:sp>
      <p:sp>
        <p:nvSpPr>
          <p:cNvPr id="6" name="Slide Number Placeholder 5"/>
          <p:cNvSpPr>
            <a:spLocks noGrp="1"/>
          </p:cNvSpPr>
          <p:nvPr>
            <p:ph type="sldNum" sz="quarter" idx="12"/>
          </p:nvPr>
        </p:nvSpPr>
        <p:spPr/>
        <p:txBody>
          <a:bodyPr rtlCol="0" anchor="ct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style>
          <a:lnRef idx="1">
            <a:schemeClr val="accent1"/>
          </a:lnRef>
          <a:fillRef idx="3">
            <a:schemeClr val="accent1"/>
          </a:fillRef>
          <a:effectRef idx="0">
            <a:schemeClr val="accent1"/>
          </a:effectRef>
          <a:fontRef idx="minor">
            <a:schemeClr val="lt1"/>
          </a:fontRef>
        </p:style>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style>
          <a:lnRef idx="1">
            <a:schemeClr val="accent1"/>
          </a:lnRef>
          <a:fillRef idx="3">
            <a:schemeClr val="accent1"/>
          </a:fillRef>
          <a:effectRef idx="0">
            <a:schemeClr val="accent1"/>
          </a:effectRef>
          <a:fontRef idx="minor">
            <a:schemeClr val="lt1"/>
          </a:fontRef>
        </p:style>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rtlCol="0" anchor="ctr"/>
          <a:lstStyle/>
          <a:p>
            <a:fld id="{5BCAD085-E8A6-8845-BD4E-CB4CCA059FC4}" type="datetimeFigureOut">
              <a:rPr lang="en-US" smtClean="0"/>
              <a:t>3/16/26</a:t>
            </a:fld>
            <a:endParaRPr lang="en-US"/>
          </a:p>
        </p:txBody>
      </p:sp>
      <p:sp>
        <p:nvSpPr>
          <p:cNvPr id="5" name="Footer Placeholder 4"/>
          <p:cNvSpPr>
            <a:spLocks noGrp="1"/>
          </p:cNvSpPr>
          <p:nvPr>
            <p:ph type="ftr" sz="quarter" idx="11"/>
          </p:nvPr>
        </p:nvSpPr>
        <p:spPr/>
        <p:txBody>
          <a:bodyPr rtlCol="0" anchor="ctr"/>
          <a:lstStyle/>
          <a:p>
            <a:endParaRPr lang="en-US"/>
          </a:p>
        </p:txBody>
      </p:sp>
      <p:sp>
        <p:nvSpPr>
          <p:cNvPr id="6" name="Slide Number Placeholder 5"/>
          <p:cNvSpPr>
            <a:spLocks noGrp="1"/>
          </p:cNvSpPr>
          <p:nvPr>
            <p:ph type="sldNum" sz="quarter" idx="12"/>
          </p:nvPr>
        </p:nvSpPr>
        <p:spPr/>
        <p:txBody>
          <a:bodyPr rtlCol="0" anchor="ct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chor="ctr"/>
          <a:lstStyle/>
          <a:p>
            <a:r>
              <a:rPr lang="en-US"/>
              <a:t>Click to edit Master title style</a:t>
            </a:r>
          </a:p>
        </p:txBody>
      </p:sp>
      <p:sp>
        <p:nvSpPr>
          <p:cNvPr id="3" name="Content Placeholder 2"/>
          <p:cNvSpPr>
            <a:spLocks noGrp="1"/>
          </p:cNvSpPr>
          <p:nvPr>
            <p:ph sz="half" idx="1"/>
          </p:nvPr>
        </p:nvSpPr>
        <p:spPr>
          <a:xfrm>
            <a:off x="457200" y="1600200"/>
            <a:ext cx="4038600" cy="4525963"/>
          </a:xfrm>
        </p:spPr>
        <p:style>
          <a:lnRef idx="1">
            <a:schemeClr val="accent1"/>
          </a:lnRef>
          <a:fillRef idx="3">
            <a:schemeClr val="accent1"/>
          </a:fillRef>
          <a:effectRef idx="0">
            <a:schemeClr val="accent1"/>
          </a:effectRef>
          <a:fontRef idx="minor">
            <a:schemeClr val="lt1"/>
          </a:fontRef>
        </p:style>
        <p:txBody>
          <a:bodyPr rtlCol="0" anchor="ct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style>
          <a:lnRef idx="1">
            <a:schemeClr val="accent1"/>
          </a:lnRef>
          <a:fillRef idx="3">
            <a:schemeClr val="accent1"/>
          </a:fillRef>
          <a:effectRef idx="0">
            <a:schemeClr val="accent1"/>
          </a:effectRef>
          <a:fontRef idx="minor">
            <a:schemeClr val="lt1"/>
          </a:fontRef>
        </p:style>
        <p:txBody>
          <a:bodyPr rtlCol="0" anchor="ct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rtlCol="0" anchor="ctr"/>
          <a:lstStyle/>
          <a:p>
            <a:fld id="{5BCAD085-E8A6-8845-BD4E-CB4CCA059FC4}" type="datetimeFigureOut">
              <a:rPr lang="en-US" smtClean="0"/>
              <a:t>3/16/26</a:t>
            </a:fld>
            <a:endParaRPr lang="en-US"/>
          </a:p>
        </p:txBody>
      </p:sp>
      <p:sp>
        <p:nvSpPr>
          <p:cNvPr id="6" name="Footer Placeholder 5"/>
          <p:cNvSpPr>
            <a:spLocks noGrp="1"/>
          </p:cNvSpPr>
          <p:nvPr>
            <p:ph type="ftr" sz="quarter" idx="11"/>
          </p:nvPr>
        </p:nvSpPr>
        <p:spPr/>
        <p:txBody>
          <a:bodyPr rtlCol="0" anchor="ctr"/>
          <a:lstStyle/>
          <a:p>
            <a:endParaRPr lang="en-US"/>
          </a:p>
        </p:txBody>
      </p:sp>
      <p:sp>
        <p:nvSpPr>
          <p:cNvPr id="7" name="Slide Number Placeholder 6"/>
          <p:cNvSpPr>
            <a:spLocks noGrp="1"/>
          </p:cNvSpPr>
          <p:nvPr>
            <p:ph type="sldNum" sz="quarter" idx="12"/>
          </p:nvPr>
        </p:nvSpPr>
        <p:spPr/>
        <p:txBody>
          <a:bodyPr rtlCol="0" anchor="ct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chor="ct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style>
          <a:lnRef idx="1">
            <a:schemeClr val="accent1"/>
          </a:lnRef>
          <a:fillRef idx="3">
            <a:schemeClr val="accent1"/>
          </a:fillRef>
          <a:effectRef idx="0">
            <a:schemeClr val="accent1"/>
          </a:effectRef>
          <a:fontRef idx="minor">
            <a:schemeClr val="lt1"/>
          </a:fontRef>
        </p:style>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style>
          <a:lnRef idx="1">
            <a:schemeClr val="accent1"/>
          </a:lnRef>
          <a:fillRef idx="3">
            <a:schemeClr val="accent1"/>
          </a:fillRef>
          <a:effectRef idx="0">
            <a:schemeClr val="accent1"/>
          </a:effectRef>
          <a:fontRef idx="minor">
            <a:schemeClr val="lt1"/>
          </a:fontRef>
        </p:style>
        <p:txBody>
          <a:bodyPr rtlCol="0" anchor="ct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style>
          <a:lnRef idx="1">
            <a:schemeClr val="accent1"/>
          </a:lnRef>
          <a:fillRef idx="3">
            <a:schemeClr val="accent1"/>
          </a:fillRef>
          <a:effectRef idx="0">
            <a:schemeClr val="accent1"/>
          </a:effectRef>
          <a:fontRef idx="minor">
            <a:schemeClr val="lt1"/>
          </a:fontRef>
        </p:style>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style>
          <a:lnRef idx="1">
            <a:schemeClr val="accent1"/>
          </a:lnRef>
          <a:fillRef idx="3">
            <a:schemeClr val="accent1"/>
          </a:fillRef>
          <a:effectRef idx="0">
            <a:schemeClr val="accent1"/>
          </a:effectRef>
          <a:fontRef idx="minor">
            <a:schemeClr val="lt1"/>
          </a:fontRef>
        </p:style>
        <p:txBody>
          <a:bodyPr rtlCol="0" anchor="ct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rtlCol="0" anchor="ctr"/>
          <a:lstStyle/>
          <a:p>
            <a:fld id="{5BCAD085-E8A6-8845-BD4E-CB4CCA059FC4}" type="datetimeFigureOut">
              <a:rPr lang="en-US" smtClean="0"/>
              <a:t>3/16/26</a:t>
            </a:fld>
            <a:endParaRPr lang="en-US"/>
          </a:p>
        </p:txBody>
      </p:sp>
      <p:sp>
        <p:nvSpPr>
          <p:cNvPr id="8" name="Footer Placeholder 7"/>
          <p:cNvSpPr>
            <a:spLocks noGrp="1"/>
          </p:cNvSpPr>
          <p:nvPr>
            <p:ph type="ftr" sz="quarter" idx="11"/>
          </p:nvPr>
        </p:nvSpPr>
        <p:spPr/>
        <p:txBody>
          <a:bodyPr rtlCol="0" anchor="ctr"/>
          <a:lstStyle/>
          <a:p>
            <a:endParaRPr lang="en-US"/>
          </a:p>
        </p:txBody>
      </p:sp>
      <p:sp>
        <p:nvSpPr>
          <p:cNvPr id="9" name="Slide Number Placeholder 8"/>
          <p:cNvSpPr>
            <a:spLocks noGrp="1"/>
          </p:cNvSpPr>
          <p:nvPr>
            <p:ph type="sldNum" sz="quarter" idx="12"/>
          </p:nvPr>
        </p:nvSpPr>
        <p:spPr/>
        <p:txBody>
          <a:bodyPr rtlCol="0" anchor="ct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chor="ctr"/>
          <a:lstStyle/>
          <a:p>
            <a:r>
              <a:rPr lang="en-US"/>
              <a:t>Click to edit Master title style</a:t>
            </a:r>
          </a:p>
        </p:txBody>
      </p:sp>
      <p:sp>
        <p:nvSpPr>
          <p:cNvPr id="3" name="Date Placeholder 2"/>
          <p:cNvSpPr>
            <a:spLocks noGrp="1"/>
          </p:cNvSpPr>
          <p:nvPr>
            <p:ph type="dt" sz="half" idx="10"/>
          </p:nvPr>
        </p:nvSpPr>
        <p:spPr/>
        <p:txBody>
          <a:bodyPr rtlCol="0" anchor="ctr"/>
          <a:lstStyle/>
          <a:p>
            <a:fld id="{5BCAD085-E8A6-8845-BD4E-CB4CCA059FC4}" type="datetimeFigureOut">
              <a:rPr lang="en-US" smtClean="0"/>
              <a:t>3/16/26</a:t>
            </a:fld>
            <a:endParaRPr lang="en-US"/>
          </a:p>
        </p:txBody>
      </p:sp>
      <p:sp>
        <p:nvSpPr>
          <p:cNvPr id="4" name="Footer Placeholder 3"/>
          <p:cNvSpPr>
            <a:spLocks noGrp="1"/>
          </p:cNvSpPr>
          <p:nvPr>
            <p:ph type="ftr" sz="quarter" idx="11"/>
          </p:nvPr>
        </p:nvSpPr>
        <p:spPr/>
        <p:txBody>
          <a:bodyPr rtlCol="0" anchor="ctr"/>
          <a:lstStyle/>
          <a:p>
            <a:endParaRPr lang="en-US"/>
          </a:p>
        </p:txBody>
      </p:sp>
      <p:sp>
        <p:nvSpPr>
          <p:cNvPr id="5" name="Slide Number Placeholder 4"/>
          <p:cNvSpPr>
            <a:spLocks noGrp="1"/>
          </p:cNvSpPr>
          <p:nvPr>
            <p:ph type="sldNum" sz="quarter" idx="12"/>
          </p:nvPr>
        </p:nvSpPr>
        <p:spPr/>
        <p:txBody>
          <a:bodyPr rtlCol="0" anchor="ct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nchor="ctr"/>
          <a:lstStyle/>
          <a:p>
            <a:fld id="{5BCAD085-E8A6-8845-BD4E-CB4CCA059FC4}" type="datetimeFigureOut">
              <a:rPr lang="en-US" smtClean="0"/>
              <a:t>3/16/26</a:t>
            </a:fld>
            <a:endParaRPr lang="en-US"/>
          </a:p>
        </p:txBody>
      </p:sp>
      <p:sp>
        <p:nvSpPr>
          <p:cNvPr id="3" name="Footer Placeholder 2"/>
          <p:cNvSpPr>
            <a:spLocks noGrp="1"/>
          </p:cNvSpPr>
          <p:nvPr>
            <p:ph type="ftr" sz="quarter" idx="11"/>
          </p:nvPr>
        </p:nvSpPr>
        <p:spPr/>
        <p:txBody>
          <a:bodyPr rtlCol="0" anchor="ctr"/>
          <a:lstStyle/>
          <a:p>
            <a:endParaRPr lang="en-US"/>
          </a:p>
        </p:txBody>
      </p:sp>
      <p:sp>
        <p:nvSpPr>
          <p:cNvPr id="4" name="Slide Number Placeholder 3"/>
          <p:cNvSpPr>
            <a:spLocks noGrp="1"/>
          </p:cNvSpPr>
          <p:nvPr>
            <p:ph type="sldNum" sz="quarter" idx="12"/>
          </p:nvPr>
        </p:nvSpPr>
        <p:spPr/>
        <p:txBody>
          <a:bodyPr rtlCol="0" anchor="ct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style>
          <a:lnRef idx="1">
            <a:schemeClr val="accent1"/>
          </a:lnRef>
          <a:fillRef idx="3">
            <a:schemeClr val="accent1"/>
          </a:fillRef>
          <a:effectRef idx="0">
            <a:schemeClr val="accent1"/>
          </a:effectRef>
          <a:fontRef idx="minor">
            <a:schemeClr val="lt1"/>
          </a:fontRef>
        </p:style>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style>
          <a:lnRef idx="1">
            <a:schemeClr val="accent1"/>
          </a:lnRef>
          <a:fillRef idx="3">
            <a:schemeClr val="accent1"/>
          </a:fillRef>
          <a:effectRef idx="0">
            <a:schemeClr val="accent1"/>
          </a:effectRef>
          <a:fontRef idx="minor">
            <a:schemeClr val="lt1"/>
          </a:fontRef>
        </p:style>
        <p:txBody>
          <a:bodyPr rtlCol="0"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style>
          <a:lnRef idx="1">
            <a:schemeClr val="accent1"/>
          </a:lnRef>
          <a:fillRef idx="3">
            <a:schemeClr val="accent1"/>
          </a:fillRef>
          <a:effectRef idx="0">
            <a:schemeClr val="accent1"/>
          </a:effectRef>
          <a:fontRef idx="minor">
            <a:schemeClr val="lt1"/>
          </a:fontRef>
        </p:style>
        <p:txBody>
          <a:bodyPr rtlCol="0"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rtlCol="0" anchor="ctr"/>
          <a:lstStyle/>
          <a:p>
            <a:fld id="{5BCAD085-E8A6-8845-BD4E-CB4CCA059FC4}" type="datetimeFigureOut">
              <a:rPr lang="en-US" smtClean="0"/>
              <a:t>3/16/26</a:t>
            </a:fld>
            <a:endParaRPr lang="en-US"/>
          </a:p>
        </p:txBody>
      </p:sp>
      <p:sp>
        <p:nvSpPr>
          <p:cNvPr id="6" name="Footer Placeholder 5"/>
          <p:cNvSpPr>
            <a:spLocks noGrp="1"/>
          </p:cNvSpPr>
          <p:nvPr>
            <p:ph type="ftr" sz="quarter" idx="11"/>
          </p:nvPr>
        </p:nvSpPr>
        <p:spPr/>
        <p:txBody>
          <a:bodyPr rtlCol="0" anchor="ctr"/>
          <a:lstStyle/>
          <a:p>
            <a:endParaRPr lang="en-US"/>
          </a:p>
        </p:txBody>
      </p:sp>
      <p:sp>
        <p:nvSpPr>
          <p:cNvPr id="7" name="Slide Number Placeholder 6"/>
          <p:cNvSpPr>
            <a:spLocks noGrp="1"/>
          </p:cNvSpPr>
          <p:nvPr>
            <p:ph type="sldNum" sz="quarter" idx="12"/>
          </p:nvPr>
        </p:nvSpPr>
        <p:spPr/>
        <p:txBody>
          <a:bodyPr rtlCol="0" anchor="ct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style>
          <a:lnRef idx="1">
            <a:schemeClr val="accent1"/>
          </a:lnRef>
          <a:fillRef idx="3">
            <a:schemeClr val="accent1"/>
          </a:fillRef>
          <a:effectRef idx="0">
            <a:schemeClr val="accent1"/>
          </a:effectRef>
          <a:fontRef idx="minor">
            <a:schemeClr val="lt1"/>
          </a:fontRef>
        </p:style>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style>
          <a:lnRef idx="1">
            <a:schemeClr val="accent1"/>
          </a:lnRef>
          <a:fillRef idx="3">
            <a:schemeClr val="accent1"/>
          </a:fillRef>
          <a:effectRef idx="0">
            <a:schemeClr val="accent1"/>
          </a:effectRef>
          <a:fontRef idx="minor">
            <a:schemeClr val="lt1"/>
          </a:fontRef>
        </p:style>
        <p:txBody>
          <a:bodyPr rtlCol="0" anchor="ct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style>
          <a:lnRef idx="1">
            <a:schemeClr val="accent1"/>
          </a:lnRef>
          <a:fillRef idx="3">
            <a:schemeClr val="accent1"/>
          </a:fillRef>
          <a:effectRef idx="0">
            <a:schemeClr val="accent1"/>
          </a:effectRef>
          <a:fontRef idx="minor">
            <a:schemeClr val="lt1"/>
          </a:fontRef>
        </p:style>
        <p:txBody>
          <a:bodyPr rtlCol="0"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rtlCol="0" anchor="ctr"/>
          <a:lstStyle/>
          <a:p>
            <a:fld id="{5BCAD085-E8A6-8845-BD4E-CB4CCA059FC4}" type="datetimeFigureOut">
              <a:rPr lang="en-US" smtClean="0"/>
              <a:t>3/16/26</a:t>
            </a:fld>
            <a:endParaRPr lang="en-US"/>
          </a:p>
        </p:txBody>
      </p:sp>
      <p:sp>
        <p:nvSpPr>
          <p:cNvPr id="6" name="Footer Placeholder 5"/>
          <p:cNvSpPr>
            <a:spLocks noGrp="1"/>
          </p:cNvSpPr>
          <p:nvPr>
            <p:ph type="ftr" sz="quarter" idx="11"/>
          </p:nvPr>
        </p:nvSpPr>
        <p:spPr/>
        <p:txBody>
          <a:bodyPr rtlCol="0" anchor="ctr"/>
          <a:lstStyle/>
          <a:p>
            <a:endParaRPr lang="en-US"/>
          </a:p>
        </p:txBody>
      </p:sp>
      <p:sp>
        <p:nvSpPr>
          <p:cNvPr id="7" name="Slide Number Placeholder 6"/>
          <p:cNvSpPr>
            <a:spLocks noGrp="1"/>
          </p:cNvSpPr>
          <p:nvPr>
            <p:ph type="sldNum" sz="quarter" idx="12"/>
          </p:nvPr>
        </p:nvSpPr>
        <p:spPr/>
        <p:txBody>
          <a:bodyPr rtlCol="0" anchor="ct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chor="ct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rtlCol="0" anchor="ctr"/>
          <a:lstStyle/>
          <a:p>
            <a:fld id="{5BCAD085-E8A6-8845-BD4E-CB4CCA059FC4}" type="datetimeFigureOut">
              <a:rPr lang="en-US" smtClean="0"/>
              <a:t>3/16/26</a:t>
            </a:fld>
            <a:endParaRPr lang="en-US"/>
          </a:p>
        </p:txBody>
      </p:sp>
      <p:sp>
        <p:nvSpPr>
          <p:cNvPr id="5" name="Footer Placeholder 4"/>
          <p:cNvSpPr>
            <a:spLocks noGrp="1"/>
          </p:cNvSpPr>
          <p:nvPr>
            <p:ph type="ftr" sz="quarter" idx="11"/>
          </p:nvPr>
        </p:nvSpPr>
        <p:spPr/>
        <p:txBody>
          <a:bodyPr rtlCol="0" anchor="ctr"/>
          <a:lstStyle/>
          <a:p>
            <a:endParaRPr lang="en-US"/>
          </a:p>
        </p:txBody>
      </p:sp>
      <p:sp>
        <p:nvSpPr>
          <p:cNvPr id="6" name="Slide Number Placeholder 5"/>
          <p:cNvSpPr>
            <a:spLocks noGrp="1"/>
          </p:cNvSpPr>
          <p:nvPr>
            <p:ph type="sldNum" sz="quarter" idx="12"/>
          </p:nvPr>
        </p:nvSpPr>
        <p:spPr/>
        <p:txBody>
          <a:bodyPr rtlCol="0" anchor="ct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style>
          <a:lnRef idx="1">
            <a:schemeClr val="accent1"/>
          </a:lnRef>
          <a:fillRef idx="3">
            <a:schemeClr val="accent1"/>
          </a:fillRef>
          <a:effectRef idx="0">
            <a:schemeClr val="accent1"/>
          </a:effectRef>
          <a:fontRef idx="minor">
            <a:schemeClr val="lt1"/>
          </a:fontRef>
        </p:style>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style>
          <a:lnRef idx="1">
            <a:schemeClr val="accent1"/>
          </a:lnRef>
          <a:fillRef idx="3">
            <a:schemeClr val="accent1"/>
          </a:fillRef>
          <a:effectRef idx="0">
            <a:schemeClr val="accent1"/>
          </a:effectRef>
          <a:fontRef idx="minor">
            <a:schemeClr val="lt1"/>
          </a:fontRef>
        </p:style>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rtlCol="0" anchor="ctr"/>
          <a:lstStyle/>
          <a:p>
            <a:fld id="{5BCAD085-E8A6-8845-BD4E-CB4CCA059FC4}" type="datetimeFigureOut">
              <a:rPr lang="en-US" smtClean="0"/>
              <a:t>3/16/26</a:t>
            </a:fld>
            <a:endParaRPr lang="en-US"/>
          </a:p>
        </p:txBody>
      </p:sp>
      <p:sp>
        <p:nvSpPr>
          <p:cNvPr id="5" name="Footer Placeholder 4"/>
          <p:cNvSpPr>
            <a:spLocks noGrp="1"/>
          </p:cNvSpPr>
          <p:nvPr>
            <p:ph type="ftr" sz="quarter" idx="11"/>
          </p:nvPr>
        </p:nvSpPr>
        <p:spPr/>
        <p:txBody>
          <a:bodyPr rtlCol="0" anchor="ctr"/>
          <a:lstStyle/>
          <a:p>
            <a:endParaRPr lang="en-US"/>
          </a:p>
        </p:txBody>
      </p:sp>
      <p:sp>
        <p:nvSpPr>
          <p:cNvPr id="6" name="Slide Number Placeholder 5"/>
          <p:cNvSpPr>
            <a:spLocks noGrp="1"/>
          </p:cNvSpPr>
          <p:nvPr>
            <p:ph type="sldNum" sz="quarter" idx="12"/>
          </p:nvPr>
        </p:nvSpPr>
        <p:spPr/>
        <p:txBody>
          <a:bodyPr rtlCol="0" anchor="ct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style>
          <a:lnRef idx="1">
            <a:schemeClr val="accent1"/>
          </a:lnRef>
          <a:fillRef idx="3">
            <a:schemeClr val="accent1"/>
          </a:fillRef>
          <a:effectRef idx="0">
            <a:schemeClr val="accent1"/>
          </a:effectRef>
          <a:fontRef idx="minor">
            <a:schemeClr val="lt1"/>
          </a:fontRef>
        </p:style>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style>
          <a:lnRef idx="1">
            <a:schemeClr val="accent1"/>
          </a:lnRef>
          <a:fillRef idx="3">
            <a:schemeClr val="accent1"/>
          </a:fillRef>
          <a:effectRef idx="0">
            <a:schemeClr val="accent1"/>
          </a:effectRef>
          <a:fontRef idx="minor">
            <a:schemeClr val="lt1"/>
          </a:fontRef>
        </p:style>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style>
          <a:lnRef idx="1">
            <a:schemeClr val="accent1"/>
          </a:lnRef>
          <a:fillRef idx="3">
            <a:schemeClr val="accent1"/>
          </a:fillRef>
          <a:effectRef idx="0">
            <a:schemeClr val="accent1"/>
          </a:effectRef>
          <a:fontRef idx="minor">
            <a:schemeClr val="lt1"/>
          </a:fontRef>
        </p:style>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style>
          <a:lnRef idx="1">
            <a:schemeClr val="accent1"/>
          </a:lnRef>
          <a:fillRef idx="3">
            <a:schemeClr val="accent1"/>
          </a:fillRef>
          <a:effectRef idx="0">
            <a:schemeClr val="accent1"/>
          </a:effectRef>
          <a:fontRef idx="minor">
            <a:schemeClr val="lt1"/>
          </a:fontRef>
        </p:style>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style>
          <a:lnRef idx="1">
            <a:schemeClr val="accent1"/>
          </a:lnRef>
          <a:fillRef idx="3">
            <a:schemeClr val="accent1"/>
          </a:fillRef>
          <a:effectRef idx="0">
            <a:schemeClr val="accent1"/>
          </a:effectRef>
          <a:fontRef idx="minor">
            <a:schemeClr val="lt1"/>
          </a:fontRef>
        </p:style>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sz="quarter" idx="4294967295"/>
          </p:nvPr>
        </p:nvSpPr>
        <p:spPr>
          <a:xfrm>
            <a:off x="652147" y="2369638"/>
            <a:ext cx="5696454" cy="1439863"/>
          </a:xfrm>
          <a:prstGeom prst="rect">
            <a:avLst/>
          </a:prstGeom>
          <a:noFill/>
          <a:ln>
            <a:noFill/>
          </a:ln>
        </p:spPr>
        <p:txBody>
          <a:bodyPr>
            <a:normAutofit/>
          </a:bodyPr>
          <a:lstStyle/>
          <a:p>
            <a:pPr marL="0" indent="0">
              <a:buNone/>
            </a:pPr>
            <a:r>
              <a:rPr lang="en-US" dirty="0">
                <a:solidFill>
                  <a:schemeClr val="tx1"/>
                </a:solidFill>
                <a:latin typeface="Garamond" panose="02020404030301010803" pitchFamily="18" charset="0"/>
              </a:rPr>
              <a:t>Week 3: Professional Research Skills</a:t>
            </a:r>
          </a:p>
        </p:txBody>
      </p:sp>
      <p:sp>
        <p:nvSpPr>
          <p:cNvPr id="2" name="TextBox 1"/>
          <p:cNvSpPr txBox="1"/>
          <p:nvPr/>
        </p:nvSpPr>
        <p:spPr>
          <a:xfrm>
            <a:off x="15138584" y="2962762"/>
            <a:ext cx="184666" cy="369332"/>
          </a:xfrm>
          <a:prstGeom prst="rect">
            <a:avLst/>
          </a:prstGeom>
          <a:noFill/>
        </p:spPr>
        <p:txBody>
          <a:bodyPr wrap="none" rtlCol="0">
            <a:spAutoFit/>
          </a:bodyPr>
          <a:lstStyle/>
          <a:p>
            <a:endParaRPr lang="en-US" dirty="0"/>
          </a:p>
        </p:txBody>
      </p:sp>
      <p:pic>
        <p:nvPicPr>
          <p:cNvPr id="9" name="Picture 8">
            <a:extLst>
              <a:ext uri="{FF2B5EF4-FFF2-40B4-BE49-F238E27FC236}">
                <a16:creationId xmlns:a16="http://schemas.microsoft.com/office/drawing/2014/main" id="{6C11BF76-DB46-7723-5F8E-28A996E1004F}"/>
              </a:ext>
            </a:extLst>
          </p:cNvPr>
          <p:cNvPicPr>
            <a:picLocks noChangeAspect="1"/>
          </p:cNvPicPr>
          <p:nvPr/>
        </p:nvPicPr>
        <p:blipFill rotWithShape="1">
          <a:blip r:embed="rId2"/>
          <a:srcRect l="61618" r="2096" b="651"/>
          <a:stretch/>
        </p:blipFill>
        <p:spPr>
          <a:xfrm>
            <a:off x="6552395" y="315310"/>
            <a:ext cx="2591605" cy="3142593"/>
          </a:xfrm>
          <a:prstGeom prst="rect">
            <a:avLst/>
          </a:prstGeom>
        </p:spPr>
      </p:pic>
      <p:pic>
        <p:nvPicPr>
          <p:cNvPr id="10" name="Picture 9">
            <a:extLst>
              <a:ext uri="{FF2B5EF4-FFF2-40B4-BE49-F238E27FC236}">
                <a16:creationId xmlns:a16="http://schemas.microsoft.com/office/drawing/2014/main" id="{DCE6D076-9D84-ED2A-EF7B-28B6955C2065}"/>
              </a:ext>
            </a:extLst>
          </p:cNvPr>
          <p:cNvPicPr>
            <a:picLocks noChangeAspect="1"/>
          </p:cNvPicPr>
          <p:nvPr/>
        </p:nvPicPr>
        <p:blipFill rotWithShape="1">
          <a:blip r:embed="rId2"/>
          <a:srcRect r="66180" b="81278"/>
          <a:stretch/>
        </p:blipFill>
        <p:spPr>
          <a:xfrm>
            <a:off x="1249489" y="4135389"/>
            <a:ext cx="2250885" cy="936104"/>
          </a:xfrm>
          <a:prstGeom prst="rect">
            <a:avLst/>
          </a:prstGeom>
        </p:spPr>
      </p:pic>
      <p:pic>
        <p:nvPicPr>
          <p:cNvPr id="11" name="Picture 10">
            <a:extLst>
              <a:ext uri="{FF2B5EF4-FFF2-40B4-BE49-F238E27FC236}">
                <a16:creationId xmlns:a16="http://schemas.microsoft.com/office/drawing/2014/main" id="{1A364201-B955-51AD-3BF7-A8B0B0E0B899}"/>
              </a:ext>
            </a:extLst>
          </p:cNvPr>
          <p:cNvPicPr>
            <a:picLocks noChangeAspect="1"/>
          </p:cNvPicPr>
          <p:nvPr/>
        </p:nvPicPr>
        <p:blipFill rotWithShape="1">
          <a:blip r:embed="rId2"/>
          <a:srcRect t="79504" r="77476"/>
          <a:stretch/>
        </p:blipFill>
        <p:spPr>
          <a:xfrm>
            <a:off x="2924310" y="4167987"/>
            <a:ext cx="1426973" cy="975513"/>
          </a:xfrm>
          <a:prstGeom prst="rect">
            <a:avLst/>
          </a:prstGeom>
        </p:spPr>
      </p:pic>
      <p:sp>
        <p:nvSpPr>
          <p:cNvPr id="3" name="Title 4">
            <a:extLst>
              <a:ext uri="{FF2B5EF4-FFF2-40B4-BE49-F238E27FC236}">
                <a16:creationId xmlns:a16="http://schemas.microsoft.com/office/drawing/2014/main" id="{DC9E5B37-550E-BDDA-20D9-6A0D119A6118}"/>
              </a:ext>
            </a:extLst>
          </p:cNvPr>
          <p:cNvSpPr txBox="1">
            <a:spLocks/>
          </p:cNvSpPr>
          <p:nvPr/>
        </p:nvSpPr>
        <p:spPr>
          <a:xfrm>
            <a:off x="557811" y="541128"/>
            <a:ext cx="5994584" cy="1470025"/>
          </a:xfrm>
          <a:prstGeom prst="rect">
            <a:avLst/>
          </a:prstGeom>
          <a:noFill/>
          <a:ln w="9525" cap="flat" cmpd="sng" algn="ctr">
            <a:noFill/>
            <a:prstDash val="solid"/>
          </a:ln>
          <a:effectLst/>
        </p:spPr>
        <p:txBody>
          <a:bodyPr vert="horz" lIns="91440" tIns="45720" rIns="91440" bIns="4572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l"/>
            <a:r>
              <a:rPr lang="en-US" dirty="0">
                <a:solidFill>
                  <a:schemeClr val="tx1"/>
                </a:solidFill>
                <a:latin typeface="Garamond" panose="02020404030301010803" pitchFamily="18" charset="0"/>
              </a:rPr>
              <a:t>FIT1055: IT professional practice and Ethics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7267"/>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dirty="0"/>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492443"/>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endParaRPr sz="2600" b="1" dirty="0">
              <a:solidFill>
                <a:srgbClr val="FFFFFF"/>
              </a:solidFill>
              <a:latin typeface="Garamond"/>
            </a:endParaRPr>
          </a:p>
        </p:txBody>
      </p:sp>
      <p:sp>
        <p:nvSpPr>
          <p:cNvPr id="7" name="TB7"/>
          <p:cNvSpPr txBox="1"/>
          <p:nvPr/>
        </p:nvSpPr>
        <p:spPr>
          <a:xfrm>
            <a:off x="297180" y="791080"/>
            <a:ext cx="8686800" cy="40011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000" i="1">
                <a:solidFill>
                  <a:srgbClr val="027EB5"/>
                </a:solidFill>
                <a:latin typeface="Garamond"/>
              </a:rPr>
              <a:t>By the end of Week 3, you will be able to:</a:t>
            </a:r>
          </a:p>
        </p:txBody>
      </p:sp>
      <p:sp>
        <p:nvSpPr>
          <p:cNvPr id="8" name="TB8"/>
          <p:cNvSpPr txBox="1"/>
          <p:nvPr/>
        </p:nvSpPr>
        <p:spPr>
          <a:xfrm>
            <a:off x="274320" y="1280160"/>
            <a:ext cx="8503920" cy="2139047"/>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pPr marL="182880" indent="-182880">
              <a:buChar char="▪"/>
            </a:pPr>
            <a:r>
              <a:rPr sz="1900" dirty="0">
                <a:solidFill>
                  <a:srgbClr val="1A1A1A"/>
                </a:solidFill>
                <a:latin typeface="Garamond"/>
              </a:rPr>
              <a:t>Distinguish between primary, secondary, and tertiary research sources</a:t>
            </a:r>
          </a:p>
          <a:p>
            <a:pPr marL="182880" indent="-182880">
              <a:buChar char="▪"/>
            </a:pPr>
            <a:r>
              <a:rPr sz="1900" dirty="0">
                <a:solidFill>
                  <a:srgbClr val="1A1A1A"/>
                </a:solidFill>
                <a:latin typeface="Garamond"/>
              </a:rPr>
              <a:t>Apply the Intelligent Research Cycle to a realistic workplace scenario</a:t>
            </a:r>
          </a:p>
          <a:p>
            <a:pPr marL="182880" indent="-182880">
              <a:buChar char="▪"/>
            </a:pPr>
            <a:r>
              <a:rPr sz="1900" dirty="0">
                <a:solidFill>
                  <a:srgbClr val="1A1A1A"/>
                </a:solidFill>
                <a:latin typeface="Garamond"/>
              </a:rPr>
              <a:t>Evaluate sources using the </a:t>
            </a:r>
            <a:r>
              <a:rPr lang="en-US" sz="1900" dirty="0">
                <a:solidFill>
                  <a:srgbClr val="1A1A1A"/>
                </a:solidFill>
                <a:latin typeface="Garamond"/>
              </a:rPr>
              <a:t>Intelligent research cycle</a:t>
            </a:r>
            <a:r>
              <a:rPr sz="1900" dirty="0">
                <a:solidFill>
                  <a:srgbClr val="1A1A1A"/>
                </a:solidFill>
                <a:latin typeface="Garamond"/>
              </a:rPr>
              <a:t> framework for quality and relevance</a:t>
            </a:r>
          </a:p>
          <a:p>
            <a:pPr marL="182880" indent="-182880">
              <a:buChar char="▪"/>
            </a:pPr>
            <a:r>
              <a:rPr sz="1900" dirty="0">
                <a:solidFill>
                  <a:srgbClr val="1A1A1A"/>
                </a:solidFill>
                <a:latin typeface="Garamond"/>
              </a:rPr>
              <a:t>Integrate and acknowledge sources using APA-7 citation style</a:t>
            </a:r>
          </a:p>
          <a:p>
            <a:pPr marL="182880" indent="-182880">
              <a:buChar char="▪"/>
            </a:pPr>
            <a:r>
              <a:rPr sz="1900" dirty="0">
                <a:solidFill>
                  <a:srgbClr val="1A1A1A"/>
                </a:solidFill>
                <a:latin typeface="Garamond"/>
              </a:rPr>
              <a:t>Structure a professional research report: introduction, literature review, problem statement, and conclusion</a:t>
            </a:r>
          </a:p>
        </p:txBody>
      </p:sp>
      <p:sp>
        <p:nvSpPr>
          <p:cNvPr id="9" name="TextBox 8">
            <a:extLst>
              <a:ext uri="{FF2B5EF4-FFF2-40B4-BE49-F238E27FC236}">
                <a16:creationId xmlns:a16="http://schemas.microsoft.com/office/drawing/2014/main" id="{6ACA7433-CD65-C4BD-C745-11622A496FFD}"/>
              </a:ext>
            </a:extLst>
          </p:cNvPr>
          <p:cNvSpPr txBox="1"/>
          <p:nvPr/>
        </p:nvSpPr>
        <p:spPr>
          <a:xfrm>
            <a:off x="228600" y="73152"/>
            <a:ext cx="8347841" cy="492443"/>
          </a:xfrm>
          <a:prstGeom prst="rect">
            <a:avLst/>
          </a:prstGeom>
          <a:noFill/>
        </p:spPr>
        <p:txBody>
          <a:bodyPr wrap="square">
            <a:spAutoFit/>
          </a:bodyPr>
          <a:lstStyle/>
          <a:p>
            <a:r>
              <a:rPr sz="2600" b="1" dirty="0">
                <a:solidFill>
                  <a:srgbClr val="FFFFFF"/>
                </a:solidFill>
                <a:latin typeface="Garamond"/>
              </a:rPr>
              <a:t>What You Will Learn This Week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SideBar"/>
          <p:cNvSpPr/>
          <p:nvPr/>
        </p:nvSpPr>
        <p:spPr>
          <a:xfrm>
            <a:off x="0" y="0"/>
            <a:ext cx="27432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Accent"/>
          <p:cNvSpPr/>
          <p:nvPr/>
        </p:nvSpPr>
        <p:spPr>
          <a:xfrm>
            <a:off x="457200" y="2286000"/>
            <a:ext cx="3657600" cy="54864"/>
          </a:xfrm>
          <a:prstGeom prst="rect">
            <a:avLst/>
          </a:prstGeom>
          <a:solidFill>
            <a:srgbClr val="5BC2E7"/>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TB4"/>
          <p:cNvSpPr txBox="1"/>
          <p:nvPr/>
        </p:nvSpPr>
        <p:spPr>
          <a:xfrm>
            <a:off x="457200" y="1371600"/>
            <a:ext cx="8229600" cy="10972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3600" b="1" dirty="0">
                <a:solidFill>
                  <a:srgbClr val="FFFFFF"/>
                </a:solidFill>
                <a:latin typeface="Garamond"/>
              </a:rPr>
              <a:t>Part 1: What is Research?</a:t>
            </a:r>
          </a:p>
        </p:txBody>
      </p:sp>
      <p:sp>
        <p:nvSpPr>
          <p:cNvPr id="5" name="TB5"/>
          <p:cNvSpPr txBox="1"/>
          <p:nvPr/>
        </p:nvSpPr>
        <p:spPr>
          <a:xfrm>
            <a:off x="457200" y="2560320"/>
            <a:ext cx="6000000" cy="430887"/>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2200" i="1">
                <a:solidFill>
                  <a:srgbClr val="5BC2E7"/>
                </a:solidFill>
                <a:latin typeface="Garamond"/>
              </a:rPr>
              <a:t>Building the foundation for professional inquiry</a:t>
            </a:r>
          </a:p>
        </p:txBody>
      </p:sp>
      <p:sp>
        <p:nvSpPr>
          <p:cNvPr id="6" name="TB6"/>
          <p:cNvSpPr txBox="1"/>
          <p:nvPr/>
        </p:nvSpPr>
        <p:spPr>
          <a:xfrm>
            <a:off x="457200" y="4846320"/>
            <a:ext cx="8229600" cy="2286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900">
                <a:solidFill>
                  <a:srgbClr val="5BC2E7"/>
                </a:solidFill>
                <a:latin typeface="Garamond"/>
              </a:rPr>
              <a:t>FIT1055: IT Professional Practice and Ethics  |  Week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6400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600" b="1">
                <a:solidFill>
                  <a:srgbClr val="FFFFFF"/>
                </a:solidFill>
                <a:latin typeface="Garamond"/>
              </a:rPr>
              <a:t>What is Research?</a:t>
            </a:r>
          </a:p>
        </p:txBody>
      </p:sp>
      <p:sp>
        <p:nvSpPr>
          <p:cNvPr id="7" name="TB7"/>
          <p:cNvSpPr txBox="1"/>
          <p:nvPr/>
        </p:nvSpPr>
        <p:spPr>
          <a:xfrm>
            <a:off x="274320" y="900000"/>
            <a:ext cx="4000000" cy="2677656"/>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500" dirty="0">
                <a:solidFill>
                  <a:srgbClr val="1A1A1A"/>
                </a:solidFill>
                <a:latin typeface="Garamond"/>
              </a:rPr>
              <a:t>Broadly speaking, research is an investigation or study of materials, sources, or subject matter to establish facts or contribute to a discipline.</a:t>
            </a:r>
          </a:p>
          <a:p>
            <a:pPr algn="l"/>
            <a:r>
              <a:rPr sz="800" dirty="0">
                <a:solidFill>
                  <a:srgbClr val="1A1A1A"/>
                </a:solidFill>
                <a:latin typeface="Garamond"/>
              </a:rPr>
              <a:t> </a:t>
            </a:r>
          </a:p>
          <a:p>
            <a:pPr algn="l"/>
            <a:r>
              <a:rPr sz="1700" b="1" dirty="0">
                <a:solidFill>
                  <a:srgbClr val="002B5C"/>
                </a:solidFill>
                <a:latin typeface="Garamond"/>
              </a:rPr>
              <a:t>Research Skills</a:t>
            </a:r>
          </a:p>
          <a:p>
            <a:pPr algn="l"/>
            <a:r>
              <a:rPr sz="1500" dirty="0">
                <a:solidFill>
                  <a:srgbClr val="1A1A1A"/>
                </a:solidFill>
                <a:latin typeface="Garamond"/>
              </a:rPr>
              <a:t>A soft skill used to discover new ideas and expand understanding by </a:t>
            </a:r>
            <a:r>
              <a:rPr sz="1500" dirty="0" err="1">
                <a:solidFill>
                  <a:srgbClr val="1A1A1A"/>
                </a:solidFill>
                <a:latin typeface="Garamond"/>
              </a:rPr>
              <a:t>analysing</a:t>
            </a:r>
            <a:r>
              <a:rPr sz="1500" dirty="0">
                <a:solidFill>
                  <a:srgbClr val="1A1A1A"/>
                </a:solidFill>
                <a:latin typeface="Garamond"/>
              </a:rPr>
              <a:t> information from various sources.</a:t>
            </a:r>
          </a:p>
          <a:p>
            <a:pPr algn="l"/>
            <a:r>
              <a:rPr sz="800" dirty="0">
                <a:solidFill>
                  <a:srgbClr val="1A1A1A"/>
                </a:solidFill>
                <a:latin typeface="Garamond"/>
              </a:rPr>
              <a:t> </a:t>
            </a:r>
          </a:p>
          <a:p>
            <a:pPr algn="l"/>
            <a:r>
              <a:rPr sz="1500" i="1" dirty="0">
                <a:solidFill>
                  <a:srgbClr val="006DAE"/>
                </a:solidFill>
                <a:latin typeface="Garamond"/>
              </a:rPr>
              <a:t>Effective research means finding something out — then knowing how to use that information to answer questions and solve problems.</a:t>
            </a:r>
          </a:p>
        </p:txBody>
      </p:sp>
      <p:sp>
        <p:nvSpPr>
          <p:cNvPr id="9" name="TB9"/>
          <p:cNvSpPr txBox="1"/>
          <p:nvPr/>
        </p:nvSpPr>
        <p:spPr>
          <a:xfrm>
            <a:off x="4600000" y="900000"/>
            <a:ext cx="4200000" cy="2816156"/>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700" b="1" dirty="0">
                <a:solidFill>
                  <a:srgbClr val="002B5C"/>
                </a:solidFill>
                <a:latin typeface="Garamond"/>
              </a:rPr>
              <a:t>Why IT Professionals Need It</a:t>
            </a:r>
          </a:p>
          <a:p>
            <a:pPr marL="182880" indent="-182880">
              <a:buChar char="▪"/>
            </a:pPr>
            <a:r>
              <a:rPr sz="1500" dirty="0">
                <a:solidFill>
                  <a:srgbClr val="1A1A1A"/>
                </a:solidFill>
                <a:latin typeface="Garamond"/>
              </a:rPr>
              <a:t>Develop new processes and improve team efficiency</a:t>
            </a:r>
          </a:p>
          <a:p>
            <a:pPr marL="182880" indent="-182880">
              <a:buChar char="▪"/>
            </a:pPr>
            <a:r>
              <a:rPr sz="1500" dirty="0">
                <a:solidFill>
                  <a:srgbClr val="1A1A1A"/>
                </a:solidFill>
                <a:latin typeface="Garamond"/>
              </a:rPr>
              <a:t>Continuous personal growth and self-directed learning</a:t>
            </a:r>
          </a:p>
          <a:p>
            <a:pPr marL="182880" indent="-182880">
              <a:buChar char="▪"/>
            </a:pPr>
            <a:r>
              <a:rPr sz="1500" dirty="0">
                <a:solidFill>
                  <a:srgbClr val="1A1A1A"/>
                </a:solidFill>
                <a:latin typeface="Garamond"/>
              </a:rPr>
              <a:t>Understand your customers' needs and pain points</a:t>
            </a:r>
          </a:p>
          <a:p>
            <a:pPr marL="182880" indent="-182880">
              <a:buChar char="▪"/>
            </a:pPr>
            <a:r>
              <a:rPr sz="1500" dirty="0">
                <a:solidFill>
                  <a:srgbClr val="1A1A1A"/>
                </a:solidFill>
                <a:latin typeface="Garamond"/>
              </a:rPr>
              <a:t>Support cost-saving and resource decisions</a:t>
            </a:r>
          </a:p>
          <a:p>
            <a:pPr marL="182880" indent="-182880">
              <a:buChar char="▪"/>
            </a:pPr>
            <a:r>
              <a:rPr sz="1500" dirty="0" err="1">
                <a:solidFill>
                  <a:srgbClr val="1A1A1A"/>
                </a:solidFill>
                <a:latin typeface="Garamond"/>
              </a:rPr>
              <a:t>Analyse</a:t>
            </a:r>
            <a:r>
              <a:rPr sz="1500" dirty="0">
                <a:solidFill>
                  <a:srgbClr val="1A1A1A"/>
                </a:solidFill>
                <a:latin typeface="Garamond"/>
              </a:rPr>
              <a:t> competitors and identify market opportunities</a:t>
            </a:r>
          </a:p>
          <a:p>
            <a:pPr algn="l"/>
            <a:r>
              <a:rPr sz="800" dirty="0">
                <a:solidFill>
                  <a:srgbClr val="1A1A1A"/>
                </a:solidFill>
                <a:latin typeface="Garamond"/>
              </a:rPr>
              <a:t> </a:t>
            </a:r>
          </a:p>
          <a:p>
            <a:pPr algn="l"/>
            <a:r>
              <a:rPr sz="1400" i="1" dirty="0">
                <a:solidFill>
                  <a:srgbClr val="5BC2E7"/>
                </a:solidFill>
                <a:latin typeface="Garamond"/>
              </a:rPr>
              <a:t>"</a:t>
            </a:r>
            <a:r>
              <a:rPr sz="1600" i="1" dirty="0">
                <a:solidFill>
                  <a:srgbClr val="5BC2E7"/>
                </a:solidFill>
                <a:latin typeface="Garamond"/>
              </a:rPr>
              <a:t>Research skills are transferable — highly sought after by employers."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dirty="0">
                <a:solidFill>
                  <a:srgbClr val="027EB5"/>
                </a:solidFill>
                <a:latin typeface="Garamond"/>
              </a:rPr>
              <a:t>FIT1055: IT Professional Practice and Ethics  |  Week 3</a:t>
            </a:r>
          </a:p>
        </p:txBody>
      </p:sp>
      <p:sp>
        <p:nvSpPr>
          <p:cNvPr id="6" name="Title"/>
          <p:cNvSpPr txBox="1"/>
          <p:nvPr/>
        </p:nvSpPr>
        <p:spPr>
          <a:xfrm>
            <a:off x="228600" y="73152"/>
            <a:ext cx="8686800" cy="6400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600" b="1">
                <a:solidFill>
                  <a:srgbClr val="FFFFFF"/>
                </a:solidFill>
                <a:latin typeface="Garamond"/>
              </a:rPr>
              <a:t>Research Skills in Practice</a:t>
            </a:r>
          </a:p>
        </p:txBody>
      </p:sp>
      <p:sp>
        <p:nvSpPr>
          <p:cNvPr id="7" name="TB7"/>
          <p:cNvSpPr txBox="1"/>
          <p:nvPr/>
        </p:nvSpPr>
        <p:spPr>
          <a:xfrm>
            <a:off x="228600" y="900000"/>
            <a:ext cx="8686800" cy="369332"/>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pPr algn="l"/>
            <a:r>
              <a:rPr i="1" dirty="0">
                <a:solidFill>
                  <a:srgbClr val="006DAE"/>
                </a:solidFill>
                <a:latin typeface="Garamond"/>
              </a:rPr>
              <a:t>Your manager asks you to </a:t>
            </a:r>
            <a:r>
              <a:rPr i="1" dirty="0" err="1">
                <a:solidFill>
                  <a:srgbClr val="006DAE"/>
                </a:solidFill>
                <a:latin typeface="Garamond"/>
              </a:rPr>
              <a:t>analyse</a:t>
            </a:r>
            <a:r>
              <a:rPr i="1" dirty="0">
                <a:solidFill>
                  <a:srgbClr val="006DAE"/>
                </a:solidFill>
                <a:latin typeface="Garamond"/>
              </a:rPr>
              <a:t> information for a new project. Here is the research process you apply:</a:t>
            </a:r>
          </a:p>
        </p:txBody>
      </p:sp>
      <p:sp>
        <p:nvSpPr>
          <p:cNvPr id="8" name="Box8"/>
          <p:cNvSpPr/>
          <p:nvPr/>
        </p:nvSpPr>
        <p:spPr>
          <a:xfrm>
            <a:off x="274320" y="1350000"/>
            <a:ext cx="2000000" cy="11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600"/>
          </a:p>
        </p:txBody>
      </p:sp>
      <p:sp>
        <p:nvSpPr>
          <p:cNvPr id="9" name="TB9"/>
          <p:cNvSpPr txBox="1"/>
          <p:nvPr/>
        </p:nvSpPr>
        <p:spPr>
          <a:xfrm>
            <a:off x="320000" y="1420000"/>
            <a:ext cx="1900000" cy="830997"/>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a:solidFill>
                  <a:srgbClr val="002B5C"/>
                </a:solidFill>
                <a:latin typeface="Garamond"/>
              </a:rPr>
              <a:t>1. Identify</a:t>
            </a:r>
          </a:p>
          <a:p>
            <a:pPr algn="l"/>
            <a:r>
              <a:rPr sz="1600">
                <a:solidFill>
                  <a:srgbClr val="1A1A1A"/>
                </a:solidFill>
                <a:latin typeface="Garamond"/>
              </a:rPr>
              <a:t>Define the problem or question clearly</a:t>
            </a:r>
          </a:p>
        </p:txBody>
      </p:sp>
      <p:sp>
        <p:nvSpPr>
          <p:cNvPr id="10" name="Box10"/>
          <p:cNvSpPr/>
          <p:nvPr/>
        </p:nvSpPr>
        <p:spPr>
          <a:xfrm>
            <a:off x="2500000" y="1350000"/>
            <a:ext cx="2000000" cy="11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600"/>
          </a:p>
        </p:txBody>
      </p:sp>
      <p:sp>
        <p:nvSpPr>
          <p:cNvPr id="11" name="TB11"/>
          <p:cNvSpPr txBox="1"/>
          <p:nvPr/>
        </p:nvSpPr>
        <p:spPr>
          <a:xfrm>
            <a:off x="2560000" y="1420000"/>
            <a:ext cx="1900000" cy="1077218"/>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a:solidFill>
                  <a:srgbClr val="002B5C"/>
                </a:solidFill>
                <a:latin typeface="Garamond"/>
              </a:rPr>
              <a:t>2. Collect</a:t>
            </a:r>
          </a:p>
          <a:p>
            <a:pPr algn="l"/>
            <a:r>
              <a:rPr sz="1600">
                <a:solidFill>
                  <a:srgbClr val="1A1A1A"/>
                </a:solidFill>
                <a:latin typeface="Garamond"/>
              </a:rPr>
              <a:t>Gather relevant informational resources</a:t>
            </a:r>
          </a:p>
        </p:txBody>
      </p:sp>
      <p:sp>
        <p:nvSpPr>
          <p:cNvPr id="12" name="Box12"/>
          <p:cNvSpPr/>
          <p:nvPr/>
        </p:nvSpPr>
        <p:spPr>
          <a:xfrm>
            <a:off x="4720000" y="1350000"/>
            <a:ext cx="2000000" cy="11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600"/>
          </a:p>
        </p:txBody>
      </p:sp>
      <p:sp>
        <p:nvSpPr>
          <p:cNvPr id="13" name="TB13"/>
          <p:cNvSpPr txBox="1"/>
          <p:nvPr/>
        </p:nvSpPr>
        <p:spPr>
          <a:xfrm>
            <a:off x="4780000" y="1420000"/>
            <a:ext cx="1900000" cy="830997"/>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a:solidFill>
                  <a:srgbClr val="002B5C"/>
                </a:solidFill>
                <a:latin typeface="Garamond"/>
              </a:rPr>
              <a:t>3. Evaluate</a:t>
            </a:r>
          </a:p>
          <a:p>
            <a:pPr algn="l"/>
            <a:r>
              <a:rPr sz="1600">
                <a:solidFill>
                  <a:srgbClr val="1A1A1A"/>
                </a:solidFill>
                <a:latin typeface="Garamond"/>
              </a:rPr>
              <a:t>Assess quality and relevance of sources</a:t>
            </a:r>
          </a:p>
        </p:txBody>
      </p:sp>
      <p:sp>
        <p:nvSpPr>
          <p:cNvPr id="14" name="Box14"/>
          <p:cNvSpPr/>
          <p:nvPr/>
        </p:nvSpPr>
        <p:spPr>
          <a:xfrm>
            <a:off x="6940000" y="1350000"/>
            <a:ext cx="2000000" cy="11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600"/>
          </a:p>
        </p:txBody>
      </p:sp>
      <p:sp>
        <p:nvSpPr>
          <p:cNvPr id="15" name="TB15"/>
          <p:cNvSpPr txBox="1"/>
          <p:nvPr/>
        </p:nvSpPr>
        <p:spPr>
          <a:xfrm>
            <a:off x="7000000" y="1420000"/>
            <a:ext cx="1900000" cy="1077218"/>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a:solidFill>
                  <a:srgbClr val="002B5C"/>
                </a:solidFill>
                <a:latin typeface="Garamond"/>
              </a:rPr>
              <a:t>4. Apply</a:t>
            </a:r>
          </a:p>
          <a:p>
            <a:pPr algn="l"/>
            <a:r>
              <a:rPr sz="1600">
                <a:solidFill>
                  <a:srgbClr val="1A1A1A"/>
                </a:solidFill>
                <a:latin typeface="Garamond"/>
              </a:rPr>
              <a:t>Formulate an effective, evidence-based solution</a:t>
            </a:r>
          </a:p>
        </p:txBody>
      </p:sp>
      <p:sp>
        <p:nvSpPr>
          <p:cNvPr id="16" name="ActBox16"/>
          <p:cNvSpPr/>
          <p:nvPr/>
        </p:nvSpPr>
        <p:spPr>
          <a:xfrm>
            <a:off x="274320" y="2700000"/>
            <a:ext cx="8503920" cy="1900000"/>
          </a:xfrm>
          <a:prstGeom prst="rect">
            <a:avLst/>
          </a:prstGeom>
          <a:solidFill>
            <a:srgbClr val="E8F7FD"/>
          </a:solidFill>
          <a:ln w="19050">
            <a:solidFill>
              <a:srgbClr val="5BC2E7"/>
            </a:solidFill>
          </a:ln>
        </p:spPr>
        <p:style>
          <a:lnRef idx="1">
            <a:schemeClr val="accent1"/>
          </a:lnRef>
          <a:fillRef idx="3">
            <a:schemeClr val="accent1"/>
          </a:fillRef>
          <a:effectRef idx="0">
            <a:schemeClr val="accent1"/>
          </a:effectRef>
          <a:fontRef idx="minor">
            <a:schemeClr val="lt1"/>
          </a:fontRef>
        </p:style>
        <p:txBody>
          <a:bodyPr lIns="91440" tIns="45720" rIns="91440" bIns="45720" rtlCol="0" anchor="t">
            <a:normAutofit/>
          </a:bodyPr>
          <a:lstStyle/>
          <a:p>
            <a:pPr algn="l"/>
            <a:r>
              <a:rPr sz="1400" b="1" dirty="0">
                <a:solidFill>
                  <a:srgbClr val="002B5C"/>
                </a:solidFill>
                <a:latin typeface="Garamond"/>
              </a:rPr>
              <a:t>💬 </a:t>
            </a:r>
            <a:r>
              <a:rPr sz="1600" b="1" dirty="0">
                <a:solidFill>
                  <a:srgbClr val="002B5C"/>
                </a:solidFill>
                <a:latin typeface="Garamond"/>
              </a:rPr>
              <a:t>Discussion Activity (5 min) — Pair &amp; Share</a:t>
            </a:r>
          </a:p>
          <a:p>
            <a:pPr marL="182880" indent="-182880">
              <a:buChar char="→"/>
            </a:pPr>
            <a:r>
              <a:rPr sz="1600" dirty="0">
                <a:solidFill>
                  <a:srgbClr val="002B5C"/>
                </a:solidFill>
                <a:latin typeface="Garamond"/>
              </a:rPr>
              <a:t>Where do YOU go first when you need to find information at work or in class?</a:t>
            </a:r>
          </a:p>
          <a:p>
            <a:pPr marL="182880" indent="-182880">
              <a:buChar char="→"/>
            </a:pPr>
            <a:r>
              <a:rPr sz="1600" dirty="0">
                <a:solidFill>
                  <a:srgbClr val="002B5C"/>
                </a:solidFill>
                <a:latin typeface="Garamond"/>
              </a:rPr>
              <a:t>Google? Monash Library? YouTube? Reddit? ChatGPT? A colleague?</a:t>
            </a:r>
          </a:p>
          <a:p>
            <a:pPr marL="182880" indent="-182880">
              <a:buChar char="→"/>
            </a:pPr>
            <a:r>
              <a:rPr sz="1600" dirty="0">
                <a:solidFill>
                  <a:srgbClr val="002B5C"/>
                </a:solidFill>
                <a:latin typeface="Garamond"/>
              </a:rPr>
              <a:t>What makes you trust a source? Share with the person next to you.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SideBar"/>
          <p:cNvSpPr/>
          <p:nvPr/>
        </p:nvSpPr>
        <p:spPr>
          <a:xfrm>
            <a:off x="0" y="0"/>
            <a:ext cx="27432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Accent"/>
          <p:cNvSpPr/>
          <p:nvPr/>
        </p:nvSpPr>
        <p:spPr>
          <a:xfrm>
            <a:off x="457200" y="2900000"/>
            <a:ext cx="3657600" cy="54864"/>
          </a:xfrm>
          <a:prstGeom prst="rect">
            <a:avLst/>
          </a:prstGeom>
          <a:solidFill>
            <a:srgbClr val="5BC2E7"/>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TB4"/>
          <p:cNvSpPr txBox="1"/>
          <p:nvPr/>
        </p:nvSpPr>
        <p:spPr>
          <a:xfrm>
            <a:off x="457200" y="1371600"/>
            <a:ext cx="8229600" cy="10972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3600" b="1">
                <a:solidFill>
                  <a:srgbClr val="FFFFFF"/>
                </a:solidFill>
                <a:latin typeface="Garamond"/>
              </a:rPr>
              <a:t>Part 2: The Intelligent Research Cycle</a:t>
            </a:r>
          </a:p>
        </p:txBody>
      </p:sp>
      <p:sp>
        <p:nvSpPr>
          <p:cNvPr id="5" name="TB5"/>
          <p:cNvSpPr txBox="1"/>
          <p:nvPr/>
        </p:nvSpPr>
        <p:spPr>
          <a:xfrm>
            <a:off x="457200" y="3050000"/>
            <a:ext cx="8229600" cy="430887"/>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200" i="1">
                <a:solidFill>
                  <a:srgbClr val="5BC2E7"/>
                </a:solidFill>
                <a:latin typeface="Garamond"/>
              </a:rPr>
              <a:t>A systematic approach to converting data into professional intelligence</a:t>
            </a:r>
          </a:p>
        </p:txBody>
      </p:sp>
      <p:sp>
        <p:nvSpPr>
          <p:cNvPr id="6" name="TB6"/>
          <p:cNvSpPr txBox="1"/>
          <p:nvPr/>
        </p:nvSpPr>
        <p:spPr>
          <a:xfrm>
            <a:off x="457200" y="4846320"/>
            <a:ext cx="8229600" cy="2286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900" dirty="0">
                <a:solidFill>
                  <a:srgbClr val="5BC2E7"/>
                </a:solidFill>
                <a:latin typeface="Garamond"/>
              </a:rPr>
              <a:t>FIT1055: IT Professional Practice and Ethics  |  Week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492443"/>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lang="en-US" sz="2600" b="1" dirty="0">
                <a:solidFill>
                  <a:srgbClr val="FFFFFF"/>
                </a:solidFill>
                <a:latin typeface="Garamond"/>
              </a:rPr>
              <a:t>Introduction to Intelligent research cycle</a:t>
            </a:r>
            <a:endParaRPr sz="2600" b="1" dirty="0">
              <a:solidFill>
                <a:srgbClr val="FFFFFF"/>
              </a:solidFill>
              <a:latin typeface="Garamond"/>
            </a:endParaRPr>
          </a:p>
        </p:txBody>
      </p:sp>
      <p:sp>
        <p:nvSpPr>
          <p:cNvPr id="7" name="TB7"/>
          <p:cNvSpPr txBox="1"/>
          <p:nvPr/>
        </p:nvSpPr>
        <p:spPr>
          <a:xfrm>
            <a:off x="228600" y="900000"/>
            <a:ext cx="8686800" cy="3500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i="1" dirty="0">
                <a:solidFill>
                  <a:srgbClr val="006DAE"/>
                </a:solidFill>
                <a:latin typeface="Garamond"/>
              </a:rPr>
              <a:t>Research is not a one-time event — it is iterative. Each stage builds toward professional-quality intelligence.</a:t>
            </a:r>
          </a:p>
        </p:txBody>
      </p:sp>
      <p:sp>
        <p:nvSpPr>
          <p:cNvPr id="8" name="Box8"/>
          <p:cNvSpPr/>
          <p:nvPr/>
        </p:nvSpPr>
        <p:spPr>
          <a:xfrm>
            <a:off x="274320" y="1350000"/>
            <a:ext cx="2600000" cy="1350000"/>
          </a:xfrm>
          <a:prstGeom prst="rect">
            <a:avLst/>
          </a:prstGeom>
          <a:solidFill>
            <a:srgbClr val="F0F8FF"/>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9" name="TB9"/>
          <p:cNvSpPr txBox="1"/>
          <p:nvPr/>
        </p:nvSpPr>
        <p:spPr>
          <a:xfrm>
            <a:off x="360000" y="1430000"/>
            <a:ext cx="2400000" cy="1200000"/>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a:solidFill>
                  <a:srgbClr val="006DAE"/>
                </a:solidFill>
                <a:latin typeface="Garamond"/>
              </a:rPr>
              <a:t>Stage 1</a:t>
            </a:r>
          </a:p>
          <a:p>
            <a:pPr algn="l"/>
            <a:r>
              <a:rPr sz="1400">
                <a:solidFill>
                  <a:srgbClr val="1A1A1A"/>
                </a:solidFill>
                <a:latin typeface="Garamond"/>
              </a:rPr>
              <a:t>Identify a topic, understand the landscape through literature review, and develop a research question</a:t>
            </a:r>
          </a:p>
        </p:txBody>
      </p:sp>
      <p:sp>
        <p:nvSpPr>
          <p:cNvPr id="10" name="Box10"/>
          <p:cNvSpPr/>
          <p:nvPr/>
        </p:nvSpPr>
        <p:spPr>
          <a:xfrm>
            <a:off x="3200000" y="1350000"/>
            <a:ext cx="2600000" cy="1350000"/>
          </a:xfrm>
          <a:prstGeom prst="rect">
            <a:avLst/>
          </a:prstGeom>
          <a:solidFill>
            <a:srgbClr val="F0F8FF"/>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1" name="TB11"/>
          <p:cNvSpPr txBox="1"/>
          <p:nvPr/>
        </p:nvSpPr>
        <p:spPr>
          <a:xfrm>
            <a:off x="3280000" y="1430000"/>
            <a:ext cx="2450000" cy="1200000"/>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a:solidFill>
                  <a:srgbClr val="006DAE"/>
                </a:solidFill>
                <a:latin typeface="Garamond"/>
              </a:rPr>
              <a:t>Stage 2</a:t>
            </a:r>
          </a:p>
          <a:p>
            <a:pPr algn="l"/>
            <a:r>
              <a:rPr sz="1400">
                <a:solidFill>
                  <a:srgbClr val="1A1A1A"/>
                </a:solidFill>
                <a:latin typeface="Garamond"/>
              </a:rPr>
              <a:t>Choose methodologies — data collection, critical analysis, interviews, or other approaches based on your topic</a:t>
            </a:r>
          </a:p>
        </p:txBody>
      </p:sp>
      <p:sp>
        <p:nvSpPr>
          <p:cNvPr id="12" name="Box12"/>
          <p:cNvSpPr/>
          <p:nvPr/>
        </p:nvSpPr>
        <p:spPr>
          <a:xfrm>
            <a:off x="6100000" y="1350000"/>
            <a:ext cx="2700000" cy="1350000"/>
          </a:xfrm>
          <a:prstGeom prst="rect">
            <a:avLst/>
          </a:prstGeom>
          <a:solidFill>
            <a:srgbClr val="F0F8FF"/>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3" name="TB13"/>
          <p:cNvSpPr txBox="1"/>
          <p:nvPr/>
        </p:nvSpPr>
        <p:spPr>
          <a:xfrm>
            <a:off x="6180000" y="1430000"/>
            <a:ext cx="2550000" cy="1200000"/>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a:solidFill>
                  <a:srgbClr val="006DAE"/>
                </a:solidFill>
                <a:latin typeface="Garamond"/>
              </a:rPr>
              <a:t>Stage 3</a:t>
            </a:r>
          </a:p>
          <a:p>
            <a:pPr algn="l"/>
            <a:r>
              <a:rPr sz="1400">
                <a:solidFill>
                  <a:srgbClr val="1A1A1A"/>
                </a:solidFill>
                <a:latin typeface="Garamond"/>
              </a:rPr>
              <a:t>Draw conclusions and share knowledge through reports, publications, or recommendations to stakeholders</a:t>
            </a:r>
          </a:p>
        </p:txBody>
      </p:sp>
      <p:sp>
        <p:nvSpPr>
          <p:cNvPr id="14" name="TB14"/>
          <p:cNvSpPr txBox="1"/>
          <p:nvPr/>
        </p:nvSpPr>
        <p:spPr>
          <a:xfrm>
            <a:off x="274320" y="3000000"/>
            <a:ext cx="8503920" cy="17000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800" b="1" dirty="0">
                <a:solidFill>
                  <a:srgbClr val="002B5C"/>
                </a:solidFill>
                <a:latin typeface="Garamond"/>
              </a:rPr>
              <a:t>The Intelligent Research Cycle</a:t>
            </a:r>
          </a:p>
          <a:p>
            <a:pPr algn="l"/>
            <a:r>
              <a:rPr sz="1500" dirty="0">
                <a:solidFill>
                  <a:srgbClr val="1A1A1A"/>
                </a:solidFill>
                <a:latin typeface="Garamond"/>
              </a:rPr>
              <a:t>A model for converting raw data and information into actionable intelligence for an </a:t>
            </a:r>
            <a:r>
              <a:rPr sz="1500" dirty="0" err="1">
                <a:solidFill>
                  <a:srgbClr val="1A1A1A"/>
                </a:solidFill>
                <a:latin typeface="Garamond"/>
              </a:rPr>
              <a:t>organisation</a:t>
            </a:r>
            <a:r>
              <a:rPr sz="1500" dirty="0">
                <a:solidFill>
                  <a:srgbClr val="1A1A1A"/>
                </a:solidFill>
                <a:latin typeface="Garamond"/>
              </a:rPr>
              <a:t>.</a:t>
            </a:r>
          </a:p>
          <a:p>
            <a:pPr algn="l"/>
            <a:r>
              <a:rPr sz="800" dirty="0">
                <a:solidFill>
                  <a:srgbClr val="1A1A1A"/>
                </a:solidFill>
                <a:latin typeface="Garamond"/>
              </a:rPr>
              <a:t> </a:t>
            </a:r>
          </a:p>
          <a:p>
            <a:pPr algn="l"/>
            <a:r>
              <a:rPr sz="1500" b="1" dirty="0">
                <a:solidFill>
                  <a:srgbClr val="006DAE"/>
                </a:solidFill>
                <a:latin typeface="Garamond"/>
              </a:rPr>
              <a:t>6 Stages:  Direction → Collection → Processing → Analysis → Dissemination → Feedback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SideBar"/>
          <p:cNvSpPr/>
          <p:nvPr/>
        </p:nvSpPr>
        <p:spPr>
          <a:xfrm>
            <a:off x="0" y="0"/>
            <a:ext cx="27432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Accent"/>
          <p:cNvSpPr/>
          <p:nvPr/>
        </p:nvSpPr>
        <p:spPr>
          <a:xfrm>
            <a:off x="457200" y="2900000"/>
            <a:ext cx="3657600" cy="54864"/>
          </a:xfrm>
          <a:prstGeom prst="rect">
            <a:avLst/>
          </a:prstGeom>
          <a:solidFill>
            <a:srgbClr val="5BC2E7"/>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TB4"/>
          <p:cNvSpPr txBox="1"/>
          <p:nvPr/>
        </p:nvSpPr>
        <p:spPr>
          <a:xfrm>
            <a:off x="457200" y="1371600"/>
            <a:ext cx="8229600" cy="10972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3600" b="1">
                <a:solidFill>
                  <a:srgbClr val="FFFFFF"/>
                </a:solidFill>
                <a:latin typeface="Garamond"/>
              </a:rPr>
              <a:t>Part 3: Applying the Research Cycle</a:t>
            </a:r>
          </a:p>
        </p:txBody>
      </p:sp>
      <p:sp>
        <p:nvSpPr>
          <p:cNvPr id="5" name="TB5"/>
          <p:cNvSpPr txBox="1"/>
          <p:nvPr/>
        </p:nvSpPr>
        <p:spPr>
          <a:xfrm>
            <a:off x="457200" y="3050000"/>
            <a:ext cx="8229600" cy="430887"/>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200" i="1" dirty="0">
                <a:solidFill>
                  <a:srgbClr val="5BC2E7"/>
                </a:solidFill>
                <a:latin typeface="Garamond"/>
              </a:rPr>
              <a:t>A worked example — ChatGPT in healthcare</a:t>
            </a:r>
          </a:p>
        </p:txBody>
      </p:sp>
      <p:sp>
        <p:nvSpPr>
          <p:cNvPr id="6" name="TB6"/>
          <p:cNvSpPr txBox="1"/>
          <p:nvPr/>
        </p:nvSpPr>
        <p:spPr>
          <a:xfrm>
            <a:off x="457200" y="4846320"/>
            <a:ext cx="8229600" cy="2286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900" dirty="0">
                <a:solidFill>
                  <a:srgbClr val="5BC2E7"/>
                </a:solidFill>
                <a:latin typeface="Garamond"/>
              </a:rPr>
              <a:t>FIT1055: IT Professional Practice and Ethics  |  Week 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6400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600" b="1">
                <a:solidFill>
                  <a:srgbClr val="FFFFFF"/>
                </a:solidFill>
                <a:latin typeface="Garamond"/>
              </a:rPr>
              <a:t>The Scenario</a:t>
            </a:r>
          </a:p>
        </p:txBody>
      </p:sp>
      <p:sp>
        <p:nvSpPr>
          <p:cNvPr id="7" name="ActBox7"/>
          <p:cNvSpPr/>
          <p:nvPr/>
        </p:nvSpPr>
        <p:spPr>
          <a:xfrm>
            <a:off x="274320" y="900000"/>
            <a:ext cx="8503920" cy="1500000"/>
          </a:xfrm>
          <a:prstGeom prst="rect">
            <a:avLst/>
          </a:prstGeom>
          <a:solidFill>
            <a:srgbClr val="E8F7FD"/>
          </a:solidFill>
          <a:ln w="19050">
            <a:solidFill>
              <a:srgbClr val="5BC2E7"/>
            </a:solidFill>
          </a:ln>
        </p:spPr>
        <p:style>
          <a:lnRef idx="1">
            <a:schemeClr val="accent1"/>
          </a:lnRef>
          <a:fillRef idx="3">
            <a:schemeClr val="accent1"/>
          </a:fillRef>
          <a:effectRef idx="0">
            <a:schemeClr val="accent1"/>
          </a:effectRef>
          <a:fontRef idx="minor">
            <a:schemeClr val="lt1"/>
          </a:fontRef>
        </p:style>
        <p:txBody>
          <a:bodyPr lIns="91440" tIns="45720" rIns="91440" bIns="45720" rtlCol="0" anchor="t">
            <a:normAutofit/>
          </a:bodyPr>
          <a:lstStyle/>
          <a:p>
            <a:pPr algn="l"/>
            <a:r>
              <a:rPr sz="1600" b="1" dirty="0">
                <a:solidFill>
                  <a:srgbClr val="002B5C"/>
                </a:solidFill>
                <a:latin typeface="Garamond"/>
              </a:rPr>
              <a:t>📋 Workplace Scenario</a:t>
            </a:r>
          </a:p>
          <a:p>
            <a:pPr marL="182880" indent="-182880">
              <a:buChar char="→"/>
            </a:pPr>
            <a:r>
              <a:rPr sz="1600" dirty="0">
                <a:solidFill>
                  <a:srgbClr val="002B5C"/>
                </a:solidFill>
                <a:latin typeface="Garamond"/>
              </a:rPr>
              <a:t>You are an intern at a software company providing AI solutions to the healthcare industry.</a:t>
            </a:r>
          </a:p>
          <a:p>
            <a:pPr marL="182880" indent="-182880">
              <a:buChar char="→"/>
            </a:pPr>
            <a:r>
              <a:rPr sz="1600" dirty="0">
                <a:solidFill>
                  <a:srgbClr val="002B5C"/>
                </a:solidFill>
                <a:latin typeface="Garamond"/>
              </a:rPr>
              <a:t>Your manager assigns you to research: "Ethical consequences of using OpenAI ChatGPT in training doctors."</a:t>
            </a:r>
          </a:p>
          <a:p>
            <a:pPr marL="182880" indent="-182880">
              <a:buChar char="→"/>
            </a:pPr>
            <a:r>
              <a:rPr sz="1600" dirty="0">
                <a:solidFill>
                  <a:srgbClr val="002B5C"/>
                </a:solidFill>
                <a:latin typeface="Garamond"/>
              </a:rPr>
              <a:t>The report will inform management decisions about a pipeline product using ChatGPT.</a:t>
            </a:r>
          </a:p>
        </p:txBody>
      </p:sp>
      <p:sp>
        <p:nvSpPr>
          <p:cNvPr id="8" name="TB8"/>
          <p:cNvSpPr txBox="1"/>
          <p:nvPr/>
        </p:nvSpPr>
        <p:spPr>
          <a:xfrm>
            <a:off x="274320" y="2650000"/>
            <a:ext cx="8503920" cy="21000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dirty="0">
                <a:solidFill>
                  <a:srgbClr val="002B5C"/>
                </a:solidFill>
                <a:latin typeface="Garamond"/>
              </a:rPr>
              <a:t>Let us apply the 6-stage Intelligent Research Cycle to this task:</a:t>
            </a:r>
          </a:p>
          <a:p>
            <a:pPr marL="0" indent="0">
              <a:buNone/>
            </a:pPr>
            <a:endParaRPr sz="1600" b="1" dirty="0">
              <a:solidFill>
                <a:srgbClr val="002B5C"/>
              </a:solidFill>
              <a:latin typeface="Garamond"/>
            </a:endParaRPr>
          </a:p>
          <a:p>
            <a:r>
              <a:rPr sz="1600" b="1" dirty="0">
                <a:solidFill>
                  <a:srgbClr val="006DAE"/>
                </a:solidFill>
                <a:latin typeface="Garamond"/>
              </a:rPr>
              <a:t>Stage 1 </a:t>
            </a:r>
            <a:r>
              <a:rPr sz="1600" dirty="0">
                <a:solidFill>
                  <a:srgbClr val="1A1A1A"/>
                </a:solidFill>
                <a:latin typeface="Garamond"/>
              </a:rPr>
              <a:t>Direction &amp; Planning</a:t>
            </a:r>
          </a:p>
          <a:p>
            <a:r>
              <a:rPr sz="1600" b="1" dirty="0">
                <a:solidFill>
                  <a:srgbClr val="006DAE"/>
                </a:solidFill>
                <a:latin typeface="Garamond"/>
              </a:rPr>
              <a:t>Stage 2 </a:t>
            </a:r>
            <a:r>
              <a:rPr sz="1600" dirty="0">
                <a:solidFill>
                  <a:srgbClr val="1A1A1A"/>
                </a:solidFill>
                <a:latin typeface="Garamond"/>
              </a:rPr>
              <a:t>Collection — Source Types + Search Strategies</a:t>
            </a:r>
          </a:p>
          <a:p>
            <a:r>
              <a:rPr sz="1600" b="1" dirty="0">
                <a:solidFill>
                  <a:srgbClr val="006DAE"/>
                </a:solidFill>
                <a:latin typeface="Garamond"/>
              </a:rPr>
              <a:t>Stage 3 </a:t>
            </a:r>
            <a:r>
              <a:rPr sz="1600" dirty="0">
                <a:solidFill>
                  <a:srgbClr val="1A1A1A"/>
                </a:solidFill>
                <a:latin typeface="Garamond"/>
              </a:rPr>
              <a:t>Processing (raw data prep — relevant for ML/cybersecurity projects)</a:t>
            </a:r>
          </a:p>
          <a:p>
            <a:r>
              <a:rPr sz="1600" b="1" dirty="0">
                <a:solidFill>
                  <a:srgbClr val="006DAE"/>
                </a:solidFill>
                <a:latin typeface="Garamond"/>
              </a:rPr>
              <a:t>Stage 4 </a:t>
            </a:r>
            <a:r>
              <a:rPr sz="1600" dirty="0">
                <a:solidFill>
                  <a:srgbClr val="1A1A1A"/>
                </a:solidFill>
                <a:latin typeface="Garamond"/>
              </a:rPr>
              <a:t>Analysis — Evaluate, integrate, acknowledge sources</a:t>
            </a:r>
          </a:p>
          <a:p>
            <a:r>
              <a:rPr sz="1600" b="1" dirty="0">
                <a:solidFill>
                  <a:srgbClr val="006DAE"/>
                </a:solidFill>
                <a:latin typeface="Garamond"/>
              </a:rPr>
              <a:t>Stage 5 </a:t>
            </a:r>
            <a:r>
              <a:rPr sz="1600" dirty="0">
                <a:solidFill>
                  <a:srgbClr val="1A1A1A"/>
                </a:solidFill>
                <a:latin typeface="Garamond"/>
              </a:rPr>
              <a:t>Dissemination — Deliver the finished report to stakeholders</a:t>
            </a:r>
          </a:p>
          <a:p>
            <a:r>
              <a:rPr sz="1600" b="1" dirty="0">
                <a:solidFill>
                  <a:srgbClr val="006DAE"/>
                </a:solidFill>
                <a:latin typeface="Garamond"/>
              </a:rPr>
              <a:t>Stage 6 </a:t>
            </a:r>
            <a:r>
              <a:rPr sz="1600" dirty="0">
                <a:solidFill>
                  <a:srgbClr val="1A1A1A"/>
                </a:solidFill>
                <a:latin typeface="Garamond"/>
              </a:rPr>
              <a:t>Feedback — Iterate and refine based on stakeholder response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6400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600" b="1" dirty="0">
                <a:solidFill>
                  <a:srgbClr val="FFFFFF"/>
                </a:solidFill>
                <a:latin typeface="Garamond"/>
              </a:rPr>
              <a:t>Stage 1: Direction &amp; Planning</a:t>
            </a:r>
          </a:p>
        </p:txBody>
      </p:sp>
      <p:sp>
        <p:nvSpPr>
          <p:cNvPr id="7" name="TB7"/>
          <p:cNvSpPr txBox="1"/>
          <p:nvPr/>
        </p:nvSpPr>
        <p:spPr>
          <a:xfrm>
            <a:off x="228600" y="900000"/>
            <a:ext cx="8686800" cy="353943"/>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700" i="1" dirty="0">
                <a:solidFill>
                  <a:srgbClr val="006DAE"/>
                </a:solidFill>
                <a:latin typeface="Garamond"/>
              </a:rPr>
              <a:t>Identify the requirements of the work. What is needed? What is the scope? What outcome is expected?</a:t>
            </a:r>
          </a:p>
        </p:txBody>
      </p:sp>
      <p:sp>
        <p:nvSpPr>
          <p:cNvPr id="8" name="Box8"/>
          <p:cNvSpPr/>
          <p:nvPr/>
        </p:nvSpPr>
        <p:spPr>
          <a:xfrm>
            <a:off x="274320" y="1380000"/>
            <a:ext cx="4000000" cy="11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600"/>
          </a:p>
        </p:txBody>
      </p:sp>
      <p:sp>
        <p:nvSpPr>
          <p:cNvPr id="9" name="TB9"/>
          <p:cNvSpPr txBox="1"/>
          <p:nvPr/>
        </p:nvSpPr>
        <p:spPr>
          <a:xfrm>
            <a:off x="380000" y="1460000"/>
            <a:ext cx="3800000" cy="1077218"/>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a:solidFill>
                  <a:srgbClr val="002B5C"/>
                </a:solidFill>
                <a:latin typeface="Garamond"/>
              </a:rPr>
              <a:t>Needs / Objective</a:t>
            </a:r>
          </a:p>
          <a:p>
            <a:pPr algn="l"/>
            <a:r>
              <a:rPr sz="1600">
                <a:solidFill>
                  <a:srgbClr val="1A1A1A"/>
                </a:solidFill>
                <a:latin typeface="Garamond"/>
              </a:rPr>
              <a:t>Company plans to use ChatGPT in a new product. Need to understand ethical implications in healthcare settings.</a:t>
            </a:r>
          </a:p>
        </p:txBody>
      </p:sp>
      <p:sp>
        <p:nvSpPr>
          <p:cNvPr id="10" name="Box10"/>
          <p:cNvSpPr/>
          <p:nvPr/>
        </p:nvSpPr>
        <p:spPr>
          <a:xfrm>
            <a:off x="4540000" y="1380000"/>
            <a:ext cx="4350000" cy="11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600"/>
          </a:p>
        </p:txBody>
      </p:sp>
      <p:sp>
        <p:nvSpPr>
          <p:cNvPr id="11" name="TB11"/>
          <p:cNvSpPr txBox="1"/>
          <p:nvPr/>
        </p:nvSpPr>
        <p:spPr>
          <a:xfrm>
            <a:off x="4650000" y="1460000"/>
            <a:ext cx="4150000" cy="1077218"/>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a:solidFill>
                  <a:srgbClr val="002B5C"/>
                </a:solidFill>
                <a:latin typeface="Garamond"/>
              </a:rPr>
              <a:t>Scope</a:t>
            </a:r>
          </a:p>
          <a:p>
            <a:pPr algn="l"/>
            <a:r>
              <a:rPr sz="1600">
                <a:solidFill>
                  <a:srgbClr val="1A1A1A"/>
                </a:solidFill>
                <a:latin typeface="Garamond"/>
              </a:rPr>
              <a:t>Research different ChatGPT techniques, common ethical consequences in healthcare, strengths and limitations.</a:t>
            </a:r>
          </a:p>
        </p:txBody>
      </p:sp>
      <p:sp>
        <p:nvSpPr>
          <p:cNvPr id="12" name="Box12"/>
          <p:cNvSpPr/>
          <p:nvPr/>
        </p:nvSpPr>
        <p:spPr>
          <a:xfrm>
            <a:off x="274320" y="2750000"/>
            <a:ext cx="4000000" cy="11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600"/>
          </a:p>
        </p:txBody>
      </p:sp>
      <p:sp>
        <p:nvSpPr>
          <p:cNvPr id="13" name="TB13"/>
          <p:cNvSpPr txBox="1"/>
          <p:nvPr/>
        </p:nvSpPr>
        <p:spPr>
          <a:xfrm>
            <a:off x="380000" y="2830000"/>
            <a:ext cx="3800000" cy="830997"/>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a:solidFill>
                  <a:srgbClr val="002B5C"/>
                </a:solidFill>
                <a:latin typeface="Garamond"/>
              </a:rPr>
              <a:t>Outcome</a:t>
            </a:r>
          </a:p>
          <a:p>
            <a:pPr algn="l"/>
            <a:r>
              <a:rPr sz="1600">
                <a:solidFill>
                  <a:srgbClr val="1A1A1A"/>
                </a:solidFill>
                <a:latin typeface="Garamond"/>
              </a:rPr>
              <a:t>A concise, professional report with pros and cons of OpenAI ChatGPT use in healthcare.</a:t>
            </a:r>
          </a:p>
        </p:txBody>
      </p:sp>
      <p:sp>
        <p:nvSpPr>
          <p:cNvPr id="14" name="Box14"/>
          <p:cNvSpPr/>
          <p:nvPr/>
        </p:nvSpPr>
        <p:spPr>
          <a:xfrm>
            <a:off x="4540000" y="2750000"/>
            <a:ext cx="4350000" cy="11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600"/>
          </a:p>
        </p:txBody>
      </p:sp>
      <p:sp>
        <p:nvSpPr>
          <p:cNvPr id="15" name="TB15"/>
          <p:cNvSpPr txBox="1"/>
          <p:nvPr/>
        </p:nvSpPr>
        <p:spPr>
          <a:xfrm>
            <a:off x="4650000" y="2830000"/>
            <a:ext cx="4150000" cy="830997"/>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a:solidFill>
                  <a:srgbClr val="002B5C"/>
                </a:solidFill>
                <a:latin typeface="Garamond"/>
              </a:rPr>
              <a:t>Useful tip</a:t>
            </a:r>
          </a:p>
          <a:p>
            <a:pPr algn="l"/>
            <a:r>
              <a:rPr sz="1600">
                <a:solidFill>
                  <a:srgbClr val="1A1A1A"/>
                </a:solidFill>
                <a:latin typeface="Garamond"/>
              </a:rPr>
              <a:t>Read all project documentation and ask effective questions before beginning research.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640080"/>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r>
              <a:rPr sz="2600" b="1">
                <a:solidFill>
                  <a:srgbClr val="FFFFFF"/>
                </a:solidFill>
                <a:latin typeface="Garamond"/>
              </a:rPr>
              <a:t>Stage 2: Types of Research Sources</a:t>
            </a:r>
          </a:p>
        </p:txBody>
      </p:sp>
      <p:sp>
        <p:nvSpPr>
          <p:cNvPr id="7" name="TB7"/>
          <p:cNvSpPr txBox="1"/>
          <p:nvPr/>
        </p:nvSpPr>
        <p:spPr>
          <a:xfrm>
            <a:off x="228600" y="900000"/>
            <a:ext cx="8686800" cy="353943"/>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700" i="1" dirty="0">
                <a:solidFill>
                  <a:srgbClr val="006DAE"/>
                </a:solidFill>
                <a:latin typeface="Garamond"/>
              </a:rPr>
              <a:t>Before you search, understand what type of source you are looking for:</a:t>
            </a:r>
          </a:p>
        </p:txBody>
      </p:sp>
      <p:sp>
        <p:nvSpPr>
          <p:cNvPr id="8" name="Box8"/>
          <p:cNvSpPr/>
          <p:nvPr/>
        </p:nvSpPr>
        <p:spPr>
          <a:xfrm>
            <a:off x="274320" y="1320000"/>
            <a:ext cx="2600000" cy="28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9" name="TB9"/>
          <p:cNvSpPr txBox="1"/>
          <p:nvPr/>
        </p:nvSpPr>
        <p:spPr>
          <a:xfrm>
            <a:off x="370000" y="1390000"/>
            <a:ext cx="2420000" cy="26500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dirty="0">
                <a:solidFill>
                  <a:srgbClr val="006DAE"/>
                </a:solidFill>
                <a:latin typeface="Garamond"/>
              </a:rPr>
              <a:t>PRIMARY</a:t>
            </a:r>
          </a:p>
          <a:p>
            <a:pPr algn="l"/>
            <a:r>
              <a:rPr sz="1350" dirty="0">
                <a:solidFill>
                  <a:srgbClr val="1A1A1A"/>
                </a:solidFill>
                <a:latin typeface="Garamond"/>
              </a:rPr>
              <a:t>First-hand, original sources — not filtered or interpreted by others.</a:t>
            </a:r>
          </a:p>
          <a:p>
            <a:pPr algn="l"/>
            <a:r>
              <a:rPr sz="600" dirty="0">
                <a:solidFill>
                  <a:srgbClr val="1A1A1A"/>
                </a:solidFill>
                <a:latin typeface="Garamond"/>
              </a:rPr>
              <a:t> </a:t>
            </a:r>
          </a:p>
          <a:p>
            <a:pPr algn="l"/>
            <a:r>
              <a:rPr sz="1300" b="1" dirty="0">
                <a:solidFill>
                  <a:srgbClr val="002B5C"/>
                </a:solidFill>
                <a:latin typeface="Garamond"/>
              </a:rPr>
              <a:t>When to use:</a:t>
            </a:r>
          </a:p>
          <a:p>
            <a:pPr algn="l"/>
            <a:r>
              <a:rPr sz="1300" dirty="0">
                <a:solidFill>
                  <a:srgbClr val="1A1A1A"/>
                </a:solidFill>
                <a:latin typeface="Garamond"/>
              </a:rPr>
              <a:t>To make original claims or gain direct evidence.</a:t>
            </a:r>
          </a:p>
          <a:p>
            <a:pPr algn="l"/>
            <a:r>
              <a:rPr sz="600" dirty="0">
                <a:solidFill>
                  <a:srgbClr val="1A1A1A"/>
                </a:solidFill>
                <a:latin typeface="Garamond"/>
              </a:rPr>
              <a:t> </a:t>
            </a:r>
          </a:p>
          <a:p>
            <a:pPr algn="l"/>
            <a:r>
              <a:rPr sz="1300" b="1" dirty="0">
                <a:solidFill>
                  <a:srgbClr val="002B5C"/>
                </a:solidFill>
                <a:latin typeface="Garamond"/>
              </a:rPr>
              <a:t>Examples:</a:t>
            </a:r>
          </a:p>
          <a:p>
            <a:pPr algn="l"/>
            <a:r>
              <a:rPr sz="1300" dirty="0">
                <a:solidFill>
                  <a:srgbClr val="1A1A1A"/>
                </a:solidFill>
                <a:latin typeface="Garamond"/>
              </a:rPr>
              <a:t>Interviews, original code, conference papers, patents</a:t>
            </a:r>
          </a:p>
        </p:txBody>
      </p:sp>
      <p:sp>
        <p:nvSpPr>
          <p:cNvPr id="10" name="Box10"/>
          <p:cNvSpPr/>
          <p:nvPr/>
        </p:nvSpPr>
        <p:spPr>
          <a:xfrm>
            <a:off x="3200000" y="1320000"/>
            <a:ext cx="2600000" cy="28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1" name="TB11"/>
          <p:cNvSpPr txBox="1"/>
          <p:nvPr/>
        </p:nvSpPr>
        <p:spPr>
          <a:xfrm>
            <a:off x="3290000" y="1390000"/>
            <a:ext cx="2420000" cy="26500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a:solidFill>
                  <a:srgbClr val="006DAE"/>
                </a:solidFill>
                <a:latin typeface="Garamond"/>
              </a:rPr>
              <a:t>SECONDARY</a:t>
            </a:r>
          </a:p>
          <a:p>
            <a:pPr algn="l"/>
            <a:r>
              <a:rPr sz="1350">
                <a:solidFill>
                  <a:srgbClr val="1A1A1A"/>
                </a:solidFill>
                <a:latin typeface="Garamond"/>
              </a:rPr>
              <a:t>Build on primary sources with in-depth analysis and interpretation.</a:t>
            </a:r>
          </a:p>
          <a:p>
            <a:pPr algn="l"/>
            <a:r>
              <a:rPr sz="600">
                <a:solidFill>
                  <a:srgbClr val="1A1A1A"/>
                </a:solidFill>
                <a:latin typeface="Garamond"/>
              </a:rPr>
              <a:t> </a:t>
            </a:r>
          </a:p>
          <a:p>
            <a:pPr algn="l"/>
            <a:r>
              <a:rPr sz="1300" b="1">
                <a:solidFill>
                  <a:srgbClr val="002B5C"/>
                </a:solidFill>
                <a:latin typeface="Garamond"/>
              </a:rPr>
              <a:t>When to use:</a:t>
            </a:r>
          </a:p>
          <a:p>
            <a:pPr algn="l"/>
            <a:r>
              <a:rPr sz="1300">
                <a:solidFill>
                  <a:srgbClr val="1A1A1A"/>
                </a:solidFill>
                <a:latin typeface="Garamond"/>
              </a:rPr>
              <a:t>Background context, see what others have discussed, explore subtopics.</a:t>
            </a:r>
          </a:p>
          <a:p>
            <a:pPr algn="l"/>
            <a:r>
              <a:rPr sz="600">
                <a:solidFill>
                  <a:srgbClr val="1A1A1A"/>
                </a:solidFill>
                <a:latin typeface="Garamond"/>
              </a:rPr>
              <a:t> </a:t>
            </a:r>
          </a:p>
          <a:p>
            <a:pPr algn="l"/>
            <a:r>
              <a:rPr sz="1300" b="1">
                <a:solidFill>
                  <a:srgbClr val="002B5C"/>
                </a:solidFill>
                <a:latin typeface="Garamond"/>
              </a:rPr>
              <a:t>Examples:</a:t>
            </a:r>
          </a:p>
          <a:p>
            <a:pPr algn="l"/>
            <a:r>
              <a:rPr sz="1300">
                <a:solidFill>
                  <a:srgbClr val="1A1A1A"/>
                </a:solidFill>
                <a:latin typeface="Garamond"/>
              </a:rPr>
              <a:t>Textbooks, review articles, blog posts</a:t>
            </a:r>
          </a:p>
        </p:txBody>
      </p:sp>
      <p:sp>
        <p:nvSpPr>
          <p:cNvPr id="12" name="Box12"/>
          <p:cNvSpPr/>
          <p:nvPr/>
        </p:nvSpPr>
        <p:spPr>
          <a:xfrm>
            <a:off x="6100000" y="1320000"/>
            <a:ext cx="2700000" cy="28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13" name="TB13"/>
          <p:cNvSpPr txBox="1"/>
          <p:nvPr/>
        </p:nvSpPr>
        <p:spPr>
          <a:xfrm>
            <a:off x="6190000" y="1390000"/>
            <a:ext cx="2530000" cy="26500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dirty="0">
                <a:solidFill>
                  <a:srgbClr val="006DAE"/>
                </a:solidFill>
                <a:latin typeface="Garamond"/>
              </a:rPr>
              <a:t>TERTIARY</a:t>
            </a:r>
          </a:p>
          <a:p>
            <a:pPr algn="l"/>
            <a:r>
              <a:rPr sz="1350" dirty="0">
                <a:solidFill>
                  <a:srgbClr val="1A1A1A"/>
                </a:solidFill>
                <a:latin typeface="Garamond"/>
              </a:rPr>
              <a:t>Distillations of primary and secondary sources — compiled for broad overview.</a:t>
            </a:r>
          </a:p>
          <a:p>
            <a:pPr algn="l"/>
            <a:r>
              <a:rPr sz="600" dirty="0">
                <a:solidFill>
                  <a:srgbClr val="1A1A1A"/>
                </a:solidFill>
                <a:latin typeface="Garamond"/>
              </a:rPr>
              <a:t> </a:t>
            </a:r>
          </a:p>
          <a:p>
            <a:pPr algn="l"/>
            <a:r>
              <a:rPr sz="1300" b="1" dirty="0">
                <a:solidFill>
                  <a:srgbClr val="002B5C"/>
                </a:solidFill>
                <a:latin typeface="Garamond"/>
              </a:rPr>
              <a:t>When to use:</a:t>
            </a:r>
          </a:p>
          <a:p>
            <a:pPr algn="l"/>
            <a:r>
              <a:rPr sz="1300" dirty="0">
                <a:solidFill>
                  <a:srgbClr val="1A1A1A"/>
                </a:solidFill>
                <a:latin typeface="Garamond"/>
              </a:rPr>
              <a:t>General overview, background information, highly filtered for accuracy.</a:t>
            </a:r>
          </a:p>
          <a:p>
            <a:pPr algn="l"/>
            <a:r>
              <a:rPr sz="600" dirty="0">
                <a:solidFill>
                  <a:srgbClr val="1A1A1A"/>
                </a:solidFill>
                <a:latin typeface="Garamond"/>
              </a:rPr>
              <a:t> </a:t>
            </a:r>
          </a:p>
          <a:p>
            <a:pPr algn="l"/>
            <a:r>
              <a:rPr sz="1300" b="1" dirty="0">
                <a:solidFill>
                  <a:srgbClr val="002B5C"/>
                </a:solidFill>
                <a:latin typeface="Garamond"/>
              </a:rPr>
              <a:t>Examples:</a:t>
            </a:r>
          </a:p>
          <a:p>
            <a:pPr algn="l"/>
            <a:r>
              <a:rPr sz="1300" dirty="0">
                <a:solidFill>
                  <a:srgbClr val="1A1A1A"/>
                </a:solidFill>
                <a:latin typeface="Garamond"/>
              </a:rPr>
              <a:t>Encyclopedias, dictionaries, handbooks</a:t>
            </a:r>
          </a:p>
        </p:txBody>
      </p:sp>
      <p:sp>
        <p:nvSpPr>
          <p:cNvPr id="14" name="TB14"/>
          <p:cNvSpPr txBox="1"/>
          <p:nvPr/>
        </p:nvSpPr>
        <p:spPr>
          <a:xfrm>
            <a:off x="274320" y="4256973"/>
            <a:ext cx="8503920" cy="58477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i="1">
                <a:solidFill>
                  <a:srgbClr val="006DAE"/>
                </a:solidFill>
                <a:latin typeface="Garamond"/>
              </a:rPr>
              <a:t>For our scenario: Begin with 1-2 secondary sources (case studies on ethical issues) then find 1-2 primary sources on ChatGPT techniques.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SideBar"/>
          <p:cNvSpPr/>
          <p:nvPr/>
        </p:nvSpPr>
        <p:spPr>
          <a:xfrm>
            <a:off x="0" y="0"/>
            <a:ext cx="274320" cy="5143500"/>
          </a:xfrm>
          <a:prstGeom prst="rect">
            <a:avLst/>
          </a:prstGeom>
          <a:solidFill>
            <a:srgbClr val="5BC2E7"/>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TB3"/>
          <p:cNvSpPr txBox="1"/>
          <p:nvPr/>
        </p:nvSpPr>
        <p:spPr>
          <a:xfrm>
            <a:off x="457200" y="1200000"/>
            <a:ext cx="8229600" cy="8000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4000" b="1">
                <a:solidFill>
                  <a:srgbClr val="5BC2E7"/>
                </a:solidFill>
                <a:latin typeface="Garamond"/>
              </a:rPr>
              <a:t>⚡ Quiz 1: Research Sources</a:t>
            </a:r>
          </a:p>
        </p:txBody>
      </p:sp>
      <p:sp>
        <p:nvSpPr>
          <p:cNvPr id="4" name="TB4"/>
          <p:cNvSpPr txBox="1"/>
          <p:nvPr/>
        </p:nvSpPr>
        <p:spPr>
          <a:xfrm>
            <a:off x="457200" y="2200000"/>
            <a:ext cx="8229600" cy="6000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400">
                <a:solidFill>
                  <a:srgbClr val="FFFFFF"/>
                </a:solidFill>
                <a:latin typeface="Garamond"/>
              </a:rPr>
              <a:t>Let's see how well you understand source types!</a:t>
            </a:r>
          </a:p>
        </p:txBody>
      </p:sp>
      <p:sp>
        <p:nvSpPr>
          <p:cNvPr id="6" name="TB6"/>
          <p:cNvSpPr txBox="1"/>
          <p:nvPr/>
        </p:nvSpPr>
        <p:spPr>
          <a:xfrm>
            <a:off x="457200" y="4700000"/>
            <a:ext cx="8229600" cy="3000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900">
                <a:solidFill>
                  <a:srgbClr val="5BC2E7"/>
                </a:solidFill>
                <a:latin typeface="Garamond"/>
              </a:rPr>
              <a:t>FIT1055: IT Professional Practice and Ethics  |  Week 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845165"/>
            <a:ext cx="3552767" cy="276999"/>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1200" dirty="0">
                <a:solidFill>
                  <a:srgbClr val="027EB5"/>
                </a:solidFill>
                <a:latin typeface="Garamond"/>
              </a:rPr>
              <a:t>FIT1055: IT Professional Practice and Ethics  |  Week 3</a:t>
            </a:r>
          </a:p>
        </p:txBody>
      </p:sp>
      <p:sp>
        <p:nvSpPr>
          <p:cNvPr id="6" name="Title"/>
          <p:cNvSpPr txBox="1"/>
          <p:nvPr/>
        </p:nvSpPr>
        <p:spPr>
          <a:xfrm>
            <a:off x="228600" y="73152"/>
            <a:ext cx="8686800" cy="492443"/>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600" b="1" dirty="0">
                <a:solidFill>
                  <a:srgbClr val="FFFFFF"/>
                </a:solidFill>
                <a:latin typeface="Garamond"/>
              </a:rPr>
              <a:t>Stage 2: Search Strategies</a:t>
            </a:r>
            <a:r>
              <a:rPr lang="en-US" sz="2600" b="1" dirty="0">
                <a:solidFill>
                  <a:srgbClr val="FFFFFF"/>
                </a:solidFill>
                <a:latin typeface="Garamond"/>
              </a:rPr>
              <a:t> </a:t>
            </a:r>
            <a:endParaRPr sz="2600" b="1" dirty="0">
              <a:solidFill>
                <a:srgbClr val="FFFFFF"/>
              </a:solidFill>
              <a:latin typeface="Garamond"/>
            </a:endParaRPr>
          </a:p>
        </p:txBody>
      </p:sp>
      <p:sp>
        <p:nvSpPr>
          <p:cNvPr id="7" name="TB7"/>
          <p:cNvSpPr txBox="1"/>
          <p:nvPr/>
        </p:nvSpPr>
        <p:spPr>
          <a:xfrm>
            <a:off x="228600" y="900000"/>
            <a:ext cx="8686800" cy="353943"/>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700" i="1" dirty="0">
                <a:solidFill>
                  <a:srgbClr val="006DAE"/>
                </a:solidFill>
                <a:latin typeface="Garamond"/>
              </a:rPr>
              <a:t>Knowing how to search is as important as knowing what to search for.</a:t>
            </a:r>
          </a:p>
        </p:txBody>
      </p:sp>
      <p:sp>
        <p:nvSpPr>
          <p:cNvPr id="8" name="Box8"/>
          <p:cNvSpPr/>
          <p:nvPr/>
        </p:nvSpPr>
        <p:spPr>
          <a:xfrm>
            <a:off x="274320" y="1320000"/>
            <a:ext cx="4100000" cy="27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600"/>
          </a:p>
        </p:txBody>
      </p:sp>
      <p:sp>
        <p:nvSpPr>
          <p:cNvPr id="9" name="TB9"/>
          <p:cNvSpPr txBox="1"/>
          <p:nvPr/>
        </p:nvSpPr>
        <p:spPr>
          <a:xfrm>
            <a:off x="374320" y="1285429"/>
            <a:ext cx="3900000" cy="2800767"/>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dirty="0">
                <a:solidFill>
                  <a:srgbClr val="002B5C"/>
                </a:solidFill>
                <a:latin typeface="Garamond"/>
              </a:rPr>
              <a:t>Google Search Operators</a:t>
            </a:r>
          </a:p>
          <a:p>
            <a:pPr algn="l"/>
            <a:r>
              <a:rPr sz="1600" dirty="0">
                <a:solidFill>
                  <a:srgbClr val="1A1A1A"/>
                </a:solidFill>
                <a:latin typeface="Garamond"/>
              </a:rPr>
              <a:t>Use operators to refine your search and filter results:</a:t>
            </a:r>
          </a:p>
          <a:p>
            <a:pPr algn="l"/>
            <a:r>
              <a:rPr sz="1600" dirty="0">
                <a:solidFill>
                  <a:srgbClr val="1A1A1A"/>
                </a:solidFill>
                <a:latin typeface="Garamond"/>
              </a:rPr>
              <a:t> </a:t>
            </a:r>
          </a:p>
          <a:p>
            <a:pPr marL="182880" indent="-182880">
              <a:buChar char="▪"/>
            </a:pPr>
            <a:r>
              <a:rPr sz="1600" dirty="0">
                <a:solidFill>
                  <a:srgbClr val="1A1A1A"/>
                </a:solidFill>
                <a:latin typeface="Garamond"/>
              </a:rPr>
              <a:t>"exact phrase" — search for this exact phrase</a:t>
            </a:r>
          </a:p>
          <a:p>
            <a:pPr marL="182880" indent="-182880">
              <a:buChar char="▪"/>
            </a:pPr>
            <a:r>
              <a:rPr sz="1600" dirty="0" err="1">
                <a:solidFill>
                  <a:srgbClr val="1A1A1A"/>
                </a:solidFill>
                <a:latin typeface="Garamond"/>
              </a:rPr>
              <a:t>site:edu</a:t>
            </a:r>
            <a:r>
              <a:rPr sz="1600" dirty="0">
                <a:solidFill>
                  <a:srgbClr val="1A1A1A"/>
                </a:solidFill>
                <a:latin typeface="Garamond"/>
              </a:rPr>
              <a:t> — search only educational sites</a:t>
            </a:r>
          </a:p>
          <a:p>
            <a:pPr marL="182880" indent="-182880">
              <a:buChar char="▪"/>
            </a:pPr>
            <a:r>
              <a:rPr sz="1600" dirty="0" err="1">
                <a:solidFill>
                  <a:srgbClr val="1A1A1A"/>
                </a:solidFill>
                <a:latin typeface="Garamond"/>
              </a:rPr>
              <a:t>filetype:pdf</a:t>
            </a:r>
            <a:r>
              <a:rPr sz="1600" dirty="0">
                <a:solidFill>
                  <a:srgbClr val="1A1A1A"/>
                </a:solidFill>
                <a:latin typeface="Garamond"/>
              </a:rPr>
              <a:t> — find PDFs only</a:t>
            </a:r>
          </a:p>
          <a:p>
            <a:pPr marL="182880" indent="-182880">
              <a:buChar char="▪"/>
            </a:pPr>
            <a:r>
              <a:rPr sz="1600" dirty="0">
                <a:solidFill>
                  <a:srgbClr val="1A1A1A"/>
                </a:solidFill>
                <a:latin typeface="Garamond"/>
              </a:rPr>
              <a:t>after:2022 — results published after 2022</a:t>
            </a:r>
          </a:p>
          <a:p>
            <a:pPr algn="l"/>
            <a:r>
              <a:rPr sz="1600" dirty="0">
                <a:solidFill>
                  <a:srgbClr val="1A1A1A"/>
                </a:solidFill>
                <a:latin typeface="Garamond"/>
              </a:rPr>
              <a:t> </a:t>
            </a:r>
          </a:p>
          <a:p>
            <a:pPr algn="l"/>
            <a:r>
              <a:rPr sz="1600" i="1" dirty="0">
                <a:solidFill>
                  <a:srgbClr val="006DAE"/>
                </a:solidFill>
                <a:latin typeface="Garamond"/>
              </a:rPr>
              <a:t>Example: "ChatGPT ethics" </a:t>
            </a:r>
            <a:r>
              <a:rPr sz="1600" i="1" dirty="0" err="1">
                <a:solidFill>
                  <a:srgbClr val="006DAE"/>
                </a:solidFill>
                <a:latin typeface="Garamond"/>
              </a:rPr>
              <a:t>site:edu</a:t>
            </a:r>
            <a:r>
              <a:rPr sz="1600" i="1" dirty="0">
                <a:solidFill>
                  <a:srgbClr val="006DAE"/>
                </a:solidFill>
                <a:latin typeface="Garamond"/>
              </a:rPr>
              <a:t> after:2023</a:t>
            </a:r>
          </a:p>
        </p:txBody>
      </p:sp>
      <p:sp>
        <p:nvSpPr>
          <p:cNvPr id="10" name="Box10"/>
          <p:cNvSpPr/>
          <p:nvPr/>
        </p:nvSpPr>
        <p:spPr>
          <a:xfrm>
            <a:off x="4700000" y="1320000"/>
            <a:ext cx="4100000" cy="27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600"/>
          </a:p>
        </p:txBody>
      </p:sp>
      <p:sp>
        <p:nvSpPr>
          <p:cNvPr id="11" name="TB11"/>
          <p:cNvSpPr txBox="1"/>
          <p:nvPr/>
        </p:nvSpPr>
        <p:spPr>
          <a:xfrm>
            <a:off x="4800000" y="1320000"/>
            <a:ext cx="3900000" cy="2800767"/>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dirty="0">
                <a:solidFill>
                  <a:srgbClr val="002B5C"/>
                </a:solidFill>
                <a:latin typeface="Garamond"/>
              </a:rPr>
              <a:t>Monash Library Search</a:t>
            </a:r>
          </a:p>
          <a:p>
            <a:pPr algn="l"/>
            <a:r>
              <a:rPr sz="1600" dirty="0">
                <a:solidFill>
                  <a:srgbClr val="1A1A1A"/>
                </a:solidFill>
                <a:latin typeface="Garamond"/>
              </a:rPr>
              <a:t>Use Boolean operators for database searches:</a:t>
            </a:r>
          </a:p>
          <a:p>
            <a:pPr algn="l"/>
            <a:r>
              <a:rPr sz="1600" dirty="0">
                <a:solidFill>
                  <a:srgbClr val="1A1A1A"/>
                </a:solidFill>
                <a:latin typeface="Garamond"/>
              </a:rPr>
              <a:t> </a:t>
            </a:r>
          </a:p>
          <a:p>
            <a:pPr marL="182880" indent="-182880">
              <a:buChar char="▪"/>
            </a:pPr>
            <a:r>
              <a:rPr sz="1600" dirty="0">
                <a:solidFill>
                  <a:srgbClr val="1A1A1A"/>
                </a:solidFill>
                <a:latin typeface="Garamond"/>
              </a:rPr>
              <a:t>AND — narrow search (both terms must appear)</a:t>
            </a:r>
          </a:p>
          <a:p>
            <a:pPr marL="182880" indent="-182880">
              <a:buChar char="▪"/>
            </a:pPr>
            <a:r>
              <a:rPr sz="1600" dirty="0">
                <a:solidFill>
                  <a:srgbClr val="1A1A1A"/>
                </a:solidFill>
                <a:latin typeface="Garamond"/>
              </a:rPr>
              <a:t>OR — broaden search (either term)</a:t>
            </a:r>
          </a:p>
          <a:p>
            <a:pPr marL="182880" indent="-182880">
              <a:buChar char="▪"/>
            </a:pPr>
            <a:r>
              <a:rPr sz="1600" dirty="0">
                <a:solidFill>
                  <a:srgbClr val="1A1A1A"/>
                </a:solidFill>
                <a:latin typeface="Garamond"/>
              </a:rPr>
              <a:t>NOT — exclude a term</a:t>
            </a:r>
          </a:p>
          <a:p>
            <a:pPr marL="182880" indent="-182880">
              <a:buChar char="▪"/>
            </a:pPr>
            <a:r>
              <a:rPr sz="1600" dirty="0">
                <a:solidFill>
                  <a:srgbClr val="1A1A1A"/>
                </a:solidFill>
                <a:latin typeface="Garamond"/>
              </a:rPr>
              <a:t>Use " " for exact phrases</a:t>
            </a:r>
          </a:p>
          <a:p>
            <a:pPr algn="l"/>
            <a:r>
              <a:rPr sz="1600" dirty="0">
                <a:solidFill>
                  <a:srgbClr val="1A1A1A"/>
                </a:solidFill>
                <a:latin typeface="Garamond"/>
              </a:rPr>
              <a:t> </a:t>
            </a:r>
          </a:p>
          <a:p>
            <a:pPr algn="l"/>
            <a:r>
              <a:rPr sz="1600" i="1" dirty="0">
                <a:solidFill>
                  <a:srgbClr val="006DAE"/>
                </a:solidFill>
                <a:latin typeface="Garamond"/>
              </a:rPr>
              <a:t>For our scenario: "ChatGPT" AND "healthcare" AND "ethics"</a:t>
            </a:r>
          </a:p>
        </p:txBody>
      </p:sp>
      <p:sp>
        <p:nvSpPr>
          <p:cNvPr id="12" name="TB12"/>
          <p:cNvSpPr txBox="1"/>
          <p:nvPr/>
        </p:nvSpPr>
        <p:spPr>
          <a:xfrm>
            <a:off x="274320" y="4270000"/>
            <a:ext cx="8503920" cy="58477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i="1" dirty="0">
                <a:solidFill>
                  <a:schemeClr val="tx2">
                    <a:lumMod val="75000"/>
                  </a:schemeClr>
                </a:solidFill>
                <a:latin typeface="Garamond"/>
              </a:rPr>
              <a:t>Tip: Every search engine uses variants of Boolean operators. Learning search strategies saves significant time during Assignment 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4C88D8A-5C09-25D4-8200-E163F85AF97B}"/>
            </a:ext>
          </a:extLst>
        </p:cNvPr>
        <p:cNvGrpSpPr/>
        <p:nvPr/>
      </p:nvGrpSpPr>
      <p:grpSpPr>
        <a:xfrm>
          <a:off x="0" y="0"/>
          <a:ext cx="0" cy="0"/>
          <a:chOff x="0" y="0"/>
          <a:chExt cx="0" cy="0"/>
        </a:xfrm>
      </p:grpSpPr>
      <p:sp>
        <p:nvSpPr>
          <p:cNvPr id="2" name="NavyBar">
            <a:extLst>
              <a:ext uri="{FF2B5EF4-FFF2-40B4-BE49-F238E27FC236}">
                <a16:creationId xmlns:a16="http://schemas.microsoft.com/office/drawing/2014/main" id="{258E3FBB-2FAC-915F-F5EA-B4C4793DBEE5}"/>
              </a:ext>
            </a:extLst>
          </p:cNvP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a:extLst>
              <a:ext uri="{FF2B5EF4-FFF2-40B4-BE49-F238E27FC236}">
                <a16:creationId xmlns:a16="http://schemas.microsoft.com/office/drawing/2014/main" id="{F95E037A-4AEC-E710-BFE9-F4F7799AE6AC}"/>
              </a:ext>
            </a:extLst>
          </p:cNvP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a:extLst>
              <a:ext uri="{FF2B5EF4-FFF2-40B4-BE49-F238E27FC236}">
                <a16:creationId xmlns:a16="http://schemas.microsoft.com/office/drawing/2014/main" id="{17623E6E-22B5-DBE8-4B2B-C0F61C37866A}"/>
              </a:ext>
            </a:extLst>
          </p:cNvP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latin typeface="Garamond" panose="02020404030301010803" pitchFamily="18" charset="0"/>
            </a:endParaRPr>
          </a:p>
        </p:txBody>
      </p:sp>
      <p:sp>
        <p:nvSpPr>
          <p:cNvPr id="5" name="Footer">
            <a:extLst>
              <a:ext uri="{FF2B5EF4-FFF2-40B4-BE49-F238E27FC236}">
                <a16:creationId xmlns:a16="http://schemas.microsoft.com/office/drawing/2014/main" id="{0AA259A3-0709-2D59-528B-EEE037929F9C}"/>
              </a:ext>
            </a:extLst>
          </p:cNvPr>
          <p:cNvSpPr txBox="1"/>
          <p:nvPr/>
        </p:nvSpPr>
        <p:spPr>
          <a:xfrm>
            <a:off x="228600" y="4845165"/>
            <a:ext cx="3552767" cy="276999"/>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1200" dirty="0">
                <a:solidFill>
                  <a:srgbClr val="027EB5"/>
                </a:solidFill>
                <a:latin typeface="Garamond" panose="02020404030301010803" pitchFamily="18" charset="0"/>
              </a:rPr>
              <a:t>FIT1055: IT Professional Practice and Ethics  |  Week 3</a:t>
            </a:r>
          </a:p>
        </p:txBody>
      </p:sp>
      <p:sp>
        <p:nvSpPr>
          <p:cNvPr id="6" name="Title">
            <a:extLst>
              <a:ext uri="{FF2B5EF4-FFF2-40B4-BE49-F238E27FC236}">
                <a16:creationId xmlns:a16="http://schemas.microsoft.com/office/drawing/2014/main" id="{6511DBB3-5BC0-B8E1-82C8-99CDC6876487}"/>
              </a:ext>
            </a:extLst>
          </p:cNvPr>
          <p:cNvSpPr txBox="1"/>
          <p:nvPr/>
        </p:nvSpPr>
        <p:spPr>
          <a:xfrm>
            <a:off x="228600" y="73152"/>
            <a:ext cx="8686800" cy="492443"/>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600" b="1" dirty="0">
                <a:solidFill>
                  <a:srgbClr val="FFFFFF"/>
                </a:solidFill>
                <a:latin typeface="Garamond"/>
              </a:rPr>
              <a:t>Stage 2: Search Strategies</a:t>
            </a:r>
            <a:r>
              <a:rPr lang="en-US" sz="2600" b="1" dirty="0">
                <a:solidFill>
                  <a:srgbClr val="FFFFFF"/>
                </a:solidFill>
                <a:latin typeface="Garamond"/>
              </a:rPr>
              <a:t> with Gen-AI</a:t>
            </a:r>
            <a:endParaRPr sz="2600" b="1" dirty="0">
              <a:solidFill>
                <a:srgbClr val="FFFFFF"/>
              </a:solidFill>
              <a:latin typeface="Garamond"/>
            </a:endParaRPr>
          </a:p>
        </p:txBody>
      </p:sp>
      <p:sp>
        <p:nvSpPr>
          <p:cNvPr id="7" name="TB7">
            <a:extLst>
              <a:ext uri="{FF2B5EF4-FFF2-40B4-BE49-F238E27FC236}">
                <a16:creationId xmlns:a16="http://schemas.microsoft.com/office/drawing/2014/main" id="{FB3E0D9B-1F5D-CD38-5FE0-9539E0BC3F89}"/>
              </a:ext>
            </a:extLst>
          </p:cNvPr>
          <p:cNvSpPr txBox="1"/>
          <p:nvPr/>
        </p:nvSpPr>
        <p:spPr>
          <a:xfrm>
            <a:off x="228600" y="850392"/>
            <a:ext cx="8686800" cy="338554"/>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lang="en-US" sz="1600" b="1" i="1" dirty="0">
                <a:solidFill>
                  <a:schemeClr val="tx2">
                    <a:lumMod val="60000"/>
                    <a:lumOff val="40000"/>
                  </a:schemeClr>
                </a:solidFill>
                <a:latin typeface="Garamond" panose="02020404030301010803" pitchFamily="18" charset="0"/>
                <a:ea typeface="Calibri" pitchFamily="34" charset="-122"/>
                <a:cs typeface="Calibri" pitchFamily="34" charset="-120"/>
              </a:rPr>
              <a:t>Using Microsoft Copilot Ethically to Find Research Sources</a:t>
            </a:r>
            <a:endParaRPr lang="en-US" sz="1600" i="1" dirty="0">
              <a:solidFill>
                <a:schemeClr val="tx2">
                  <a:lumMod val="60000"/>
                  <a:lumOff val="40000"/>
                </a:schemeClr>
              </a:solidFill>
              <a:latin typeface="Garamond" panose="02020404030301010803" pitchFamily="18" charset="0"/>
            </a:endParaRPr>
          </a:p>
        </p:txBody>
      </p:sp>
      <p:sp>
        <p:nvSpPr>
          <p:cNvPr id="13" name="Text 4">
            <a:extLst>
              <a:ext uri="{FF2B5EF4-FFF2-40B4-BE49-F238E27FC236}">
                <a16:creationId xmlns:a16="http://schemas.microsoft.com/office/drawing/2014/main" id="{296783A5-78B3-4AF6-9B5A-7A215A01B131}"/>
              </a:ext>
            </a:extLst>
          </p:cNvPr>
          <p:cNvSpPr/>
          <p:nvPr/>
        </p:nvSpPr>
        <p:spPr>
          <a:xfrm>
            <a:off x="320040" y="1101049"/>
            <a:ext cx="8503920" cy="256032"/>
          </a:xfrm>
          <a:prstGeom prst="rect">
            <a:avLst/>
          </a:prstGeom>
          <a:noFill/>
          <a:ln/>
        </p:spPr>
        <p:txBody>
          <a:bodyPr wrap="square" rtlCol="0" anchor="ctr"/>
          <a:lstStyle/>
          <a:p>
            <a:pPr marL="0" indent="0">
              <a:buNone/>
            </a:pPr>
            <a:r>
              <a:rPr lang="en-US" sz="1300" b="1" dirty="0">
                <a:solidFill>
                  <a:srgbClr val="002B5C"/>
                </a:solidFill>
                <a:latin typeface="Garamond" panose="02020404030301010803" pitchFamily="18" charset="0"/>
                <a:ea typeface="Calibri" pitchFamily="34" charset="-122"/>
                <a:cs typeface="Calibri" pitchFamily="34" charset="-120"/>
              </a:rPr>
              <a:t>▸  Copilot Prompt Structure   [ Objective ]  +  [ Output Format ]</a:t>
            </a:r>
            <a:endParaRPr lang="en-US" sz="1300" dirty="0">
              <a:latin typeface="Garamond" panose="02020404030301010803" pitchFamily="18" charset="0"/>
            </a:endParaRPr>
          </a:p>
        </p:txBody>
      </p:sp>
      <p:sp>
        <p:nvSpPr>
          <p:cNvPr id="14" name="Shape 5">
            <a:extLst>
              <a:ext uri="{FF2B5EF4-FFF2-40B4-BE49-F238E27FC236}">
                <a16:creationId xmlns:a16="http://schemas.microsoft.com/office/drawing/2014/main" id="{44F6391A-4575-3032-C615-9C257642D9DB}"/>
              </a:ext>
            </a:extLst>
          </p:cNvPr>
          <p:cNvSpPr/>
          <p:nvPr/>
        </p:nvSpPr>
        <p:spPr>
          <a:xfrm>
            <a:off x="278892" y="1361314"/>
            <a:ext cx="4151376" cy="1796604"/>
          </a:xfrm>
          <a:prstGeom prst="rect">
            <a:avLst/>
          </a:prstGeom>
          <a:solidFill>
            <a:srgbClr val="FFFFFF"/>
          </a:solidFill>
          <a:ln w="12700">
            <a:solidFill>
              <a:srgbClr val="D8DDE6"/>
            </a:solidFill>
            <a:prstDash val="solid"/>
          </a:ln>
          <a:effectLst>
            <a:outerShdw blurRad="63500" dist="25400" dir="8100000" algn="bl" rotWithShape="0">
              <a:srgbClr val="000000">
                <a:alpha val="8000"/>
              </a:srgbClr>
            </a:outerShdw>
          </a:effectLst>
        </p:spPr>
        <p:txBody>
          <a:bodyPr/>
          <a:lstStyle/>
          <a:p>
            <a:endParaRPr lang="en-US" sz="1300">
              <a:latin typeface="Garamond" panose="02020404030301010803" pitchFamily="18" charset="0"/>
            </a:endParaRPr>
          </a:p>
        </p:txBody>
      </p:sp>
      <p:sp>
        <p:nvSpPr>
          <p:cNvPr id="15" name="Shape 6">
            <a:extLst>
              <a:ext uri="{FF2B5EF4-FFF2-40B4-BE49-F238E27FC236}">
                <a16:creationId xmlns:a16="http://schemas.microsoft.com/office/drawing/2014/main" id="{FFBC229A-8147-F793-39A5-42CD80CE9D8C}"/>
              </a:ext>
            </a:extLst>
          </p:cNvPr>
          <p:cNvSpPr/>
          <p:nvPr/>
        </p:nvSpPr>
        <p:spPr>
          <a:xfrm>
            <a:off x="278892" y="1361314"/>
            <a:ext cx="54864" cy="1536192"/>
          </a:xfrm>
          <a:prstGeom prst="rect">
            <a:avLst/>
          </a:prstGeom>
          <a:solidFill>
            <a:srgbClr val="006DAE"/>
          </a:solidFill>
          <a:ln w="12700">
            <a:solidFill>
              <a:srgbClr val="006DAE"/>
            </a:solidFill>
            <a:prstDash val="solid"/>
          </a:ln>
        </p:spPr>
        <p:txBody>
          <a:bodyPr/>
          <a:lstStyle/>
          <a:p>
            <a:endParaRPr lang="en-US" sz="1300">
              <a:latin typeface="Garamond" panose="02020404030301010803" pitchFamily="18" charset="0"/>
            </a:endParaRPr>
          </a:p>
        </p:txBody>
      </p:sp>
      <p:sp>
        <p:nvSpPr>
          <p:cNvPr id="16" name="Text 7">
            <a:extLst>
              <a:ext uri="{FF2B5EF4-FFF2-40B4-BE49-F238E27FC236}">
                <a16:creationId xmlns:a16="http://schemas.microsoft.com/office/drawing/2014/main" id="{0297B365-B06C-E965-A096-6D83A6E26812}"/>
              </a:ext>
            </a:extLst>
          </p:cNvPr>
          <p:cNvSpPr/>
          <p:nvPr/>
        </p:nvSpPr>
        <p:spPr>
          <a:xfrm>
            <a:off x="480060" y="1416178"/>
            <a:ext cx="3840480" cy="246888"/>
          </a:xfrm>
          <a:prstGeom prst="rect">
            <a:avLst/>
          </a:prstGeom>
          <a:noFill/>
          <a:ln/>
        </p:spPr>
        <p:txBody>
          <a:bodyPr wrap="square" lIns="0" tIns="0" rIns="0" bIns="0" rtlCol="0" anchor="ctr"/>
          <a:lstStyle/>
          <a:p>
            <a:pPr marL="0" indent="0">
              <a:buNone/>
            </a:pPr>
            <a:r>
              <a:rPr lang="en-US" sz="1300" b="1" dirty="0">
                <a:solidFill>
                  <a:srgbClr val="006DAE"/>
                </a:solidFill>
                <a:latin typeface="Garamond" panose="02020404030301010803" pitchFamily="18" charset="0"/>
                <a:ea typeface="Calibri" pitchFamily="34" charset="-122"/>
                <a:cs typeface="Calibri" pitchFamily="34" charset="-120"/>
              </a:rPr>
              <a:t>STEP 1 · Secondary Sources</a:t>
            </a:r>
            <a:endParaRPr lang="en-US" sz="1300" dirty="0">
              <a:latin typeface="Garamond" panose="02020404030301010803" pitchFamily="18" charset="0"/>
            </a:endParaRPr>
          </a:p>
        </p:txBody>
      </p:sp>
      <p:sp>
        <p:nvSpPr>
          <p:cNvPr id="17" name="Text 8">
            <a:extLst>
              <a:ext uri="{FF2B5EF4-FFF2-40B4-BE49-F238E27FC236}">
                <a16:creationId xmlns:a16="http://schemas.microsoft.com/office/drawing/2014/main" id="{73444519-3780-C266-86B3-AA207CEF8E39}"/>
              </a:ext>
            </a:extLst>
          </p:cNvPr>
          <p:cNvSpPr/>
          <p:nvPr/>
        </p:nvSpPr>
        <p:spPr>
          <a:xfrm>
            <a:off x="480060" y="1653922"/>
            <a:ext cx="3840480" cy="182880"/>
          </a:xfrm>
          <a:prstGeom prst="rect">
            <a:avLst/>
          </a:prstGeom>
          <a:noFill/>
          <a:ln/>
        </p:spPr>
        <p:txBody>
          <a:bodyPr wrap="square" lIns="0" tIns="0" rIns="0" bIns="0" rtlCol="0" anchor="ctr"/>
          <a:lstStyle/>
          <a:p>
            <a:pPr marL="0" indent="0">
              <a:buNone/>
            </a:pPr>
            <a:r>
              <a:rPr lang="en-US" sz="1300" i="1" dirty="0">
                <a:solidFill>
                  <a:srgbClr val="444444"/>
                </a:solidFill>
                <a:latin typeface="Garamond" panose="02020404030301010803" pitchFamily="18" charset="0"/>
                <a:ea typeface="Calibri" pitchFamily="34" charset="-122"/>
                <a:cs typeface="Calibri" pitchFamily="34" charset="-120"/>
              </a:rPr>
              <a:t>Case studies on AI ethical issues</a:t>
            </a:r>
            <a:endParaRPr lang="en-US" sz="1300" dirty="0">
              <a:latin typeface="Garamond" panose="02020404030301010803" pitchFamily="18" charset="0"/>
            </a:endParaRPr>
          </a:p>
        </p:txBody>
      </p:sp>
      <p:sp>
        <p:nvSpPr>
          <p:cNvPr id="18" name="Text 9">
            <a:extLst>
              <a:ext uri="{FF2B5EF4-FFF2-40B4-BE49-F238E27FC236}">
                <a16:creationId xmlns:a16="http://schemas.microsoft.com/office/drawing/2014/main" id="{592A0805-9D71-8563-7AEA-688BE5200A49}"/>
              </a:ext>
            </a:extLst>
          </p:cNvPr>
          <p:cNvSpPr/>
          <p:nvPr/>
        </p:nvSpPr>
        <p:spPr>
          <a:xfrm>
            <a:off x="480060" y="1864234"/>
            <a:ext cx="3840480" cy="1234338"/>
          </a:xfrm>
          <a:prstGeom prst="rect">
            <a:avLst/>
          </a:prstGeom>
          <a:solidFill>
            <a:srgbClr val="EEF4FB"/>
          </a:solidFill>
          <a:ln w="6350">
            <a:solidFill>
              <a:srgbClr val="C5D8EF"/>
            </a:solidFill>
          </a:ln>
        </p:spPr>
        <p:txBody>
          <a:bodyPr wrap="square" lIns="50800" tIns="76200" rIns="76200" bIns="50800" rtlCol="0" anchor="t"/>
          <a:lstStyle/>
          <a:p>
            <a:pPr marL="0" indent="0">
              <a:buNone/>
            </a:pPr>
            <a:r>
              <a:rPr lang="en-US" sz="1300" b="1" dirty="0">
                <a:solidFill>
                  <a:srgbClr val="002B5C"/>
                </a:solidFill>
                <a:latin typeface="Garamond" panose="02020404030301010803" pitchFamily="18" charset="0"/>
                <a:ea typeface="Calibri" pitchFamily="34" charset="-122"/>
                <a:cs typeface="Calibri" pitchFamily="34" charset="-120"/>
              </a:rPr>
              <a:t>Objective: </a:t>
            </a:r>
            <a:r>
              <a:rPr lang="en-US" sz="1300" dirty="0">
                <a:solidFill>
                  <a:srgbClr val="444444"/>
                </a:solidFill>
                <a:latin typeface="Garamond" panose="02020404030301010803" pitchFamily="18" charset="0"/>
                <a:ea typeface="Calibri" pitchFamily="34" charset="-122"/>
                <a:cs typeface="Calibri" pitchFamily="34" charset="-120"/>
              </a:rPr>
              <a:t>Find 1–2 peer-reviewed case studies or review articles on ethical issues in AI chatbots (e.g. bias, misinformation).
</a:t>
            </a:r>
            <a:r>
              <a:rPr lang="en-US" sz="1300" b="1" dirty="0">
                <a:solidFill>
                  <a:srgbClr val="002B5C"/>
                </a:solidFill>
                <a:latin typeface="Garamond" panose="02020404030301010803" pitchFamily="18" charset="0"/>
                <a:ea typeface="Calibri" pitchFamily="34" charset="-122"/>
                <a:cs typeface="Calibri" pitchFamily="34" charset="-120"/>
              </a:rPr>
              <a:t>Output format: </a:t>
            </a:r>
            <a:r>
              <a:rPr lang="en-US" sz="1300" dirty="0">
                <a:solidFill>
                  <a:srgbClr val="444444"/>
                </a:solidFill>
                <a:latin typeface="Garamond" panose="02020404030301010803" pitchFamily="18" charset="0"/>
                <a:ea typeface="Calibri" pitchFamily="34" charset="-122"/>
                <a:cs typeface="Calibri" pitchFamily="34" charset="-120"/>
              </a:rPr>
              <a:t>List each source with: title, author(s), year, publisher, and a 1-sentence summary. Include a DOI or URL if available.</a:t>
            </a:r>
            <a:endParaRPr lang="en-US" sz="1300" dirty="0">
              <a:latin typeface="Garamond" panose="02020404030301010803" pitchFamily="18" charset="0"/>
            </a:endParaRPr>
          </a:p>
        </p:txBody>
      </p:sp>
      <p:sp>
        <p:nvSpPr>
          <p:cNvPr id="19" name="Shape 10">
            <a:extLst>
              <a:ext uri="{FF2B5EF4-FFF2-40B4-BE49-F238E27FC236}">
                <a16:creationId xmlns:a16="http://schemas.microsoft.com/office/drawing/2014/main" id="{DD1DB1E7-C92E-D6B9-5F66-403F75BF0CE3}"/>
              </a:ext>
            </a:extLst>
          </p:cNvPr>
          <p:cNvSpPr/>
          <p:nvPr/>
        </p:nvSpPr>
        <p:spPr>
          <a:xfrm>
            <a:off x="4713732" y="1361313"/>
            <a:ext cx="4151376" cy="1796605"/>
          </a:xfrm>
          <a:prstGeom prst="rect">
            <a:avLst/>
          </a:prstGeom>
          <a:solidFill>
            <a:srgbClr val="FFFFFF"/>
          </a:solidFill>
          <a:ln w="12700">
            <a:solidFill>
              <a:srgbClr val="D8DDE6"/>
            </a:solidFill>
            <a:prstDash val="solid"/>
          </a:ln>
          <a:effectLst>
            <a:outerShdw blurRad="63500" dist="25400" dir="8100000" algn="bl" rotWithShape="0">
              <a:srgbClr val="000000">
                <a:alpha val="8000"/>
              </a:srgbClr>
            </a:outerShdw>
          </a:effectLst>
        </p:spPr>
        <p:txBody>
          <a:bodyPr/>
          <a:lstStyle/>
          <a:p>
            <a:endParaRPr lang="en-US" sz="1300">
              <a:latin typeface="Garamond" panose="02020404030301010803" pitchFamily="18" charset="0"/>
            </a:endParaRPr>
          </a:p>
        </p:txBody>
      </p:sp>
      <p:sp>
        <p:nvSpPr>
          <p:cNvPr id="20" name="Shape 11">
            <a:extLst>
              <a:ext uri="{FF2B5EF4-FFF2-40B4-BE49-F238E27FC236}">
                <a16:creationId xmlns:a16="http://schemas.microsoft.com/office/drawing/2014/main" id="{6DD4F826-067B-E14A-4C3D-509D68C662D1}"/>
              </a:ext>
            </a:extLst>
          </p:cNvPr>
          <p:cNvSpPr/>
          <p:nvPr/>
        </p:nvSpPr>
        <p:spPr>
          <a:xfrm>
            <a:off x="4713732" y="1361314"/>
            <a:ext cx="54864" cy="1536192"/>
          </a:xfrm>
          <a:prstGeom prst="rect">
            <a:avLst/>
          </a:prstGeom>
          <a:solidFill>
            <a:srgbClr val="00A887"/>
          </a:solidFill>
          <a:ln w="12700">
            <a:solidFill>
              <a:srgbClr val="00A887"/>
            </a:solidFill>
            <a:prstDash val="solid"/>
          </a:ln>
        </p:spPr>
        <p:txBody>
          <a:bodyPr/>
          <a:lstStyle/>
          <a:p>
            <a:endParaRPr lang="en-US" sz="1300">
              <a:latin typeface="Garamond" panose="02020404030301010803" pitchFamily="18" charset="0"/>
            </a:endParaRPr>
          </a:p>
        </p:txBody>
      </p:sp>
      <p:sp>
        <p:nvSpPr>
          <p:cNvPr id="21" name="Text 12">
            <a:extLst>
              <a:ext uri="{FF2B5EF4-FFF2-40B4-BE49-F238E27FC236}">
                <a16:creationId xmlns:a16="http://schemas.microsoft.com/office/drawing/2014/main" id="{8B8F88DC-7C63-5CD0-6537-22A12C6458E3}"/>
              </a:ext>
            </a:extLst>
          </p:cNvPr>
          <p:cNvSpPr/>
          <p:nvPr/>
        </p:nvSpPr>
        <p:spPr>
          <a:xfrm>
            <a:off x="4914900" y="1416178"/>
            <a:ext cx="3840480" cy="246888"/>
          </a:xfrm>
          <a:prstGeom prst="rect">
            <a:avLst/>
          </a:prstGeom>
          <a:noFill/>
          <a:ln/>
        </p:spPr>
        <p:txBody>
          <a:bodyPr wrap="square" lIns="0" tIns="0" rIns="0" bIns="0" rtlCol="0" anchor="ctr"/>
          <a:lstStyle/>
          <a:p>
            <a:pPr marL="0" indent="0">
              <a:buNone/>
            </a:pPr>
            <a:r>
              <a:rPr lang="en-US" sz="1300" b="1" dirty="0">
                <a:solidFill>
                  <a:srgbClr val="00A887"/>
                </a:solidFill>
                <a:latin typeface="Garamond" panose="02020404030301010803" pitchFamily="18" charset="0"/>
                <a:ea typeface="Calibri" pitchFamily="34" charset="-122"/>
                <a:cs typeface="Calibri" pitchFamily="34" charset="-120"/>
              </a:rPr>
              <a:t>STEP 2 · Primary Sources</a:t>
            </a:r>
            <a:endParaRPr lang="en-US" sz="1300" dirty="0">
              <a:latin typeface="Garamond" panose="02020404030301010803" pitchFamily="18" charset="0"/>
            </a:endParaRPr>
          </a:p>
        </p:txBody>
      </p:sp>
      <p:sp>
        <p:nvSpPr>
          <p:cNvPr id="22" name="Text 13">
            <a:extLst>
              <a:ext uri="{FF2B5EF4-FFF2-40B4-BE49-F238E27FC236}">
                <a16:creationId xmlns:a16="http://schemas.microsoft.com/office/drawing/2014/main" id="{C7DACA1D-5EDA-4F7C-8F16-9E9566BDC8AC}"/>
              </a:ext>
            </a:extLst>
          </p:cNvPr>
          <p:cNvSpPr/>
          <p:nvPr/>
        </p:nvSpPr>
        <p:spPr>
          <a:xfrm>
            <a:off x="4914900" y="1653922"/>
            <a:ext cx="3840480" cy="182880"/>
          </a:xfrm>
          <a:prstGeom prst="rect">
            <a:avLst/>
          </a:prstGeom>
          <a:noFill/>
          <a:ln/>
        </p:spPr>
        <p:txBody>
          <a:bodyPr wrap="square" lIns="0" tIns="0" rIns="0" bIns="0" rtlCol="0" anchor="ctr"/>
          <a:lstStyle/>
          <a:p>
            <a:pPr marL="0" indent="0">
              <a:buNone/>
            </a:pPr>
            <a:r>
              <a:rPr lang="en-US" sz="1300" i="1" dirty="0">
                <a:solidFill>
                  <a:srgbClr val="444444"/>
                </a:solidFill>
                <a:latin typeface="Garamond" panose="02020404030301010803" pitchFamily="18" charset="0"/>
                <a:ea typeface="Calibri" pitchFamily="34" charset="-122"/>
                <a:cs typeface="Calibri" pitchFamily="34" charset="-120"/>
              </a:rPr>
              <a:t>Original research on ChatGPT techniques</a:t>
            </a:r>
            <a:endParaRPr lang="en-US" sz="1300" dirty="0">
              <a:latin typeface="Garamond" panose="02020404030301010803" pitchFamily="18" charset="0"/>
            </a:endParaRPr>
          </a:p>
        </p:txBody>
      </p:sp>
      <p:sp>
        <p:nvSpPr>
          <p:cNvPr id="23" name="Text 14">
            <a:extLst>
              <a:ext uri="{FF2B5EF4-FFF2-40B4-BE49-F238E27FC236}">
                <a16:creationId xmlns:a16="http://schemas.microsoft.com/office/drawing/2014/main" id="{A14C3403-9ED2-55E7-FE90-2D065874434E}"/>
              </a:ext>
            </a:extLst>
          </p:cNvPr>
          <p:cNvSpPr/>
          <p:nvPr/>
        </p:nvSpPr>
        <p:spPr>
          <a:xfrm>
            <a:off x="4914900" y="1864234"/>
            <a:ext cx="3840480" cy="1316332"/>
          </a:xfrm>
          <a:prstGeom prst="rect">
            <a:avLst/>
          </a:prstGeom>
          <a:solidFill>
            <a:srgbClr val="EBF7F4"/>
          </a:solidFill>
          <a:ln w="6350">
            <a:solidFill>
              <a:srgbClr val="B0DDD6"/>
            </a:solidFill>
          </a:ln>
        </p:spPr>
        <p:txBody>
          <a:bodyPr wrap="square" lIns="50800" tIns="76200" rIns="76200" bIns="50800" rtlCol="0" anchor="t"/>
          <a:lstStyle/>
          <a:p>
            <a:pPr marL="0" indent="0">
              <a:buNone/>
            </a:pPr>
            <a:r>
              <a:rPr lang="en-US" sz="1300" b="1" dirty="0">
                <a:solidFill>
                  <a:srgbClr val="005A40"/>
                </a:solidFill>
                <a:latin typeface="Garamond" panose="02020404030301010803" pitchFamily="18" charset="0"/>
                <a:ea typeface="Calibri" pitchFamily="34" charset="-122"/>
                <a:cs typeface="Calibri" pitchFamily="34" charset="-120"/>
              </a:rPr>
              <a:t>Objective: </a:t>
            </a:r>
            <a:r>
              <a:rPr lang="en-US" sz="1300" dirty="0">
                <a:solidFill>
                  <a:srgbClr val="444444"/>
                </a:solidFill>
                <a:latin typeface="Garamond" panose="02020404030301010803" pitchFamily="18" charset="0"/>
                <a:ea typeface="Calibri" pitchFamily="34" charset="-122"/>
                <a:cs typeface="Calibri" pitchFamily="34" charset="-120"/>
              </a:rPr>
              <a:t>Find 1–2 original research papers (conference or journal) on ChatGPT prompt engineering or model architecture.
</a:t>
            </a:r>
            <a:r>
              <a:rPr lang="en-US" sz="1300" b="1" dirty="0">
                <a:solidFill>
                  <a:srgbClr val="005A40"/>
                </a:solidFill>
                <a:latin typeface="Garamond" panose="02020404030301010803" pitchFamily="18" charset="0"/>
                <a:ea typeface="Calibri" pitchFamily="34" charset="-122"/>
                <a:cs typeface="Calibri" pitchFamily="34" charset="-120"/>
              </a:rPr>
              <a:t>Output format: </a:t>
            </a:r>
            <a:r>
              <a:rPr lang="en-US" sz="1300" dirty="0">
                <a:solidFill>
                  <a:srgbClr val="444444"/>
                </a:solidFill>
                <a:latin typeface="Garamond" panose="02020404030301010803" pitchFamily="18" charset="0"/>
                <a:ea typeface="Calibri" pitchFamily="34" charset="-122"/>
                <a:cs typeface="Calibri" pitchFamily="34" charset="-120"/>
              </a:rPr>
              <a:t>List each source with: title, author(s), year, publisher, and a 1-sentence summary. Include a DOI or URL if available.</a:t>
            </a:r>
            <a:endParaRPr lang="en-US" sz="1300" dirty="0">
              <a:latin typeface="Garamond" panose="02020404030301010803" pitchFamily="18" charset="0"/>
            </a:endParaRPr>
          </a:p>
        </p:txBody>
      </p:sp>
      <p:sp>
        <p:nvSpPr>
          <p:cNvPr id="24" name="Shape 15">
            <a:extLst>
              <a:ext uri="{FF2B5EF4-FFF2-40B4-BE49-F238E27FC236}">
                <a16:creationId xmlns:a16="http://schemas.microsoft.com/office/drawing/2014/main" id="{18814F18-6FF4-B7B6-E19A-C4D6BC8AB756}"/>
              </a:ext>
            </a:extLst>
          </p:cNvPr>
          <p:cNvSpPr/>
          <p:nvPr/>
        </p:nvSpPr>
        <p:spPr>
          <a:xfrm>
            <a:off x="297180" y="3157919"/>
            <a:ext cx="8595360" cy="1234440"/>
          </a:xfrm>
          <a:prstGeom prst="rect">
            <a:avLst/>
          </a:prstGeom>
          <a:solidFill>
            <a:srgbClr val="FFFFFF"/>
          </a:solidFill>
          <a:ln w="12700">
            <a:solidFill>
              <a:srgbClr val="D8DDE6"/>
            </a:solidFill>
            <a:prstDash val="solid"/>
          </a:ln>
          <a:effectLst>
            <a:outerShdw blurRad="63500" dist="25400" dir="8100000" algn="bl" rotWithShape="0">
              <a:srgbClr val="000000">
                <a:alpha val="8000"/>
              </a:srgbClr>
            </a:outerShdw>
          </a:effectLst>
        </p:spPr>
        <p:txBody>
          <a:bodyPr/>
          <a:lstStyle/>
          <a:p>
            <a:endParaRPr lang="en-US" sz="1300">
              <a:latin typeface="Garamond" panose="02020404030301010803" pitchFamily="18" charset="0"/>
            </a:endParaRPr>
          </a:p>
        </p:txBody>
      </p:sp>
      <p:sp>
        <p:nvSpPr>
          <p:cNvPr id="25" name="Shape 16">
            <a:extLst>
              <a:ext uri="{FF2B5EF4-FFF2-40B4-BE49-F238E27FC236}">
                <a16:creationId xmlns:a16="http://schemas.microsoft.com/office/drawing/2014/main" id="{CA067BBA-8037-2940-6263-EE8B2EB737BB}"/>
              </a:ext>
            </a:extLst>
          </p:cNvPr>
          <p:cNvSpPr/>
          <p:nvPr/>
        </p:nvSpPr>
        <p:spPr>
          <a:xfrm>
            <a:off x="278892" y="3025522"/>
            <a:ext cx="54864" cy="1234440"/>
          </a:xfrm>
          <a:prstGeom prst="rect">
            <a:avLst/>
          </a:prstGeom>
          <a:solidFill>
            <a:srgbClr val="E8A000"/>
          </a:solidFill>
          <a:ln w="12700">
            <a:solidFill>
              <a:srgbClr val="E8A000"/>
            </a:solidFill>
            <a:prstDash val="solid"/>
          </a:ln>
        </p:spPr>
        <p:txBody>
          <a:bodyPr/>
          <a:lstStyle/>
          <a:p>
            <a:endParaRPr lang="en-US" sz="1300">
              <a:latin typeface="Garamond" panose="02020404030301010803" pitchFamily="18" charset="0"/>
            </a:endParaRPr>
          </a:p>
        </p:txBody>
      </p:sp>
      <p:sp>
        <p:nvSpPr>
          <p:cNvPr id="26" name="Text 17">
            <a:extLst>
              <a:ext uri="{FF2B5EF4-FFF2-40B4-BE49-F238E27FC236}">
                <a16:creationId xmlns:a16="http://schemas.microsoft.com/office/drawing/2014/main" id="{B330C879-5FAD-6DEA-44BB-533D630F08E9}"/>
              </a:ext>
            </a:extLst>
          </p:cNvPr>
          <p:cNvSpPr/>
          <p:nvPr/>
        </p:nvSpPr>
        <p:spPr>
          <a:xfrm>
            <a:off x="493776" y="3212570"/>
            <a:ext cx="8229600" cy="246888"/>
          </a:xfrm>
          <a:prstGeom prst="rect">
            <a:avLst/>
          </a:prstGeom>
          <a:noFill/>
          <a:ln/>
        </p:spPr>
        <p:txBody>
          <a:bodyPr wrap="square" lIns="0" tIns="0" rIns="0" bIns="0" rtlCol="0" anchor="ctr"/>
          <a:lstStyle/>
          <a:p>
            <a:pPr marL="0" indent="0">
              <a:buNone/>
            </a:pPr>
            <a:r>
              <a:rPr lang="en-US" sz="1300" b="1" dirty="0">
                <a:solidFill>
                  <a:srgbClr val="7A4500"/>
                </a:solidFill>
                <a:latin typeface="Garamond" panose="02020404030301010803" pitchFamily="18" charset="0"/>
                <a:ea typeface="Calibri" pitchFamily="34" charset="-122"/>
                <a:cs typeface="Calibri" pitchFamily="34" charset="-120"/>
              </a:rPr>
              <a:t>STEP 3 · Verify Every Source Copilot Returns</a:t>
            </a:r>
            <a:endParaRPr lang="en-US" sz="1300" dirty="0">
              <a:latin typeface="Garamond" panose="02020404030301010803" pitchFamily="18" charset="0"/>
            </a:endParaRPr>
          </a:p>
        </p:txBody>
      </p:sp>
      <p:sp>
        <p:nvSpPr>
          <p:cNvPr id="27" name="Text 18">
            <a:extLst>
              <a:ext uri="{FF2B5EF4-FFF2-40B4-BE49-F238E27FC236}">
                <a16:creationId xmlns:a16="http://schemas.microsoft.com/office/drawing/2014/main" id="{58CCE9F4-3415-5FD3-F748-20A1FC2A10A1}"/>
              </a:ext>
            </a:extLst>
          </p:cNvPr>
          <p:cNvSpPr/>
          <p:nvPr/>
        </p:nvSpPr>
        <p:spPr>
          <a:xfrm>
            <a:off x="434340" y="3501121"/>
            <a:ext cx="8275320" cy="777240"/>
          </a:xfrm>
          <a:prstGeom prst="rect">
            <a:avLst/>
          </a:prstGeom>
          <a:noFill/>
          <a:ln/>
        </p:spPr>
        <p:txBody>
          <a:bodyPr wrap="square" lIns="0" tIns="0" rIns="0" bIns="0" rtlCol="0" anchor="t"/>
          <a:lstStyle/>
          <a:p>
            <a:pPr marL="0" indent="0">
              <a:buNone/>
            </a:pPr>
            <a:r>
              <a:rPr lang="en-US" sz="1300" b="1" dirty="0">
                <a:solidFill>
                  <a:srgbClr val="002B5C"/>
                </a:solidFill>
                <a:latin typeface="Garamond" panose="02020404030301010803" pitchFamily="18" charset="0"/>
                <a:ea typeface="Calibri" pitchFamily="34" charset="-122"/>
                <a:cs typeface="Calibri" pitchFamily="34" charset="-120"/>
              </a:rPr>
              <a:t>✔  Check it exists:</a:t>
            </a:r>
            <a:r>
              <a:rPr lang="en-US" sz="1300" dirty="0">
                <a:solidFill>
                  <a:srgbClr val="444444"/>
                </a:solidFill>
                <a:latin typeface="Garamond" panose="02020404030301010803" pitchFamily="18" charset="0"/>
                <a:ea typeface="Calibri" pitchFamily="34" charset="-122"/>
                <a:cs typeface="Calibri" pitchFamily="34" charset="-120"/>
              </a:rPr>
              <a:t>  Search the title on Google Scholar, ACM Digital Library, or IEEE Xplore
</a:t>
            </a:r>
            <a:r>
              <a:rPr lang="en-US" sz="1300" b="1" dirty="0">
                <a:solidFill>
                  <a:srgbClr val="002B5C"/>
                </a:solidFill>
                <a:latin typeface="Garamond" panose="02020404030301010803" pitchFamily="18" charset="0"/>
                <a:ea typeface="Calibri" pitchFamily="34" charset="-122"/>
                <a:cs typeface="Calibri" pitchFamily="34" charset="-120"/>
              </a:rPr>
              <a:t>✔  Confirm the details:</a:t>
            </a:r>
            <a:r>
              <a:rPr lang="en-US" sz="1300" dirty="0">
                <a:solidFill>
                  <a:srgbClr val="444444"/>
                </a:solidFill>
                <a:latin typeface="Garamond" panose="02020404030301010803" pitchFamily="18" charset="0"/>
                <a:ea typeface="Calibri" pitchFamily="34" charset="-122"/>
                <a:cs typeface="Calibri" pitchFamily="34" charset="-120"/>
              </a:rPr>
              <a:t>  Authors, journal/conference name, year, and DOI must match exactly
</a:t>
            </a:r>
            <a:r>
              <a:rPr lang="en-US" sz="1300" b="1" dirty="0">
                <a:solidFill>
                  <a:srgbClr val="002B5C"/>
                </a:solidFill>
                <a:latin typeface="Garamond" panose="02020404030301010803" pitchFamily="18" charset="0"/>
                <a:ea typeface="Calibri" pitchFamily="34" charset="-122"/>
                <a:cs typeface="Calibri" pitchFamily="34" charset="-120"/>
              </a:rPr>
              <a:t>✔  Assess credibility:</a:t>
            </a:r>
            <a:r>
              <a:rPr lang="en-US" sz="1300" dirty="0">
                <a:solidFill>
                  <a:srgbClr val="444444"/>
                </a:solidFill>
                <a:latin typeface="Garamond" panose="02020404030301010803" pitchFamily="18" charset="0"/>
                <a:ea typeface="Calibri" pitchFamily="34" charset="-122"/>
                <a:cs typeface="Calibri" pitchFamily="34" charset="-120"/>
              </a:rPr>
              <a:t>  Is it peer-reviewed? Is the publisher reputable? Is it recent (last 5 years preferred)?
</a:t>
            </a:r>
            <a:r>
              <a:rPr lang="en-US" sz="1300" b="1" dirty="0">
                <a:solidFill>
                  <a:srgbClr val="B03000"/>
                </a:solidFill>
                <a:latin typeface="Garamond" panose="02020404030301010803" pitchFamily="18" charset="0"/>
                <a:ea typeface="Calibri" pitchFamily="34" charset="-122"/>
                <a:cs typeface="Calibri" pitchFamily="34" charset="-120"/>
              </a:rPr>
              <a:t>⚠  Never cite a source you haven't verified — Copilot can hallucinate references.</a:t>
            </a:r>
            <a:endParaRPr lang="en-US" sz="1300" dirty="0">
              <a:latin typeface="Garamond" panose="02020404030301010803" pitchFamily="18" charset="0"/>
            </a:endParaRPr>
          </a:p>
        </p:txBody>
      </p:sp>
      <p:sp>
        <p:nvSpPr>
          <p:cNvPr id="28" name="Shape 19">
            <a:extLst>
              <a:ext uri="{FF2B5EF4-FFF2-40B4-BE49-F238E27FC236}">
                <a16:creationId xmlns:a16="http://schemas.microsoft.com/office/drawing/2014/main" id="{E206D578-A902-AC06-9522-AD489B44F5E9}"/>
              </a:ext>
            </a:extLst>
          </p:cNvPr>
          <p:cNvSpPr/>
          <p:nvPr/>
        </p:nvSpPr>
        <p:spPr>
          <a:xfrm>
            <a:off x="480060" y="4413872"/>
            <a:ext cx="2011680" cy="438912"/>
          </a:xfrm>
          <a:prstGeom prst="rect">
            <a:avLst/>
          </a:prstGeom>
          <a:solidFill>
            <a:srgbClr val="006DAE"/>
          </a:solidFill>
          <a:ln w="12700">
            <a:solidFill>
              <a:srgbClr val="006DAE"/>
            </a:solidFill>
            <a:prstDash val="solid"/>
          </a:ln>
        </p:spPr>
        <p:txBody>
          <a:bodyPr/>
          <a:lstStyle/>
          <a:p>
            <a:endParaRPr lang="en-US" sz="1300">
              <a:latin typeface="Garamond" panose="02020404030301010803" pitchFamily="18" charset="0"/>
            </a:endParaRPr>
          </a:p>
        </p:txBody>
      </p:sp>
      <p:sp>
        <p:nvSpPr>
          <p:cNvPr id="29" name="Text 20">
            <a:extLst>
              <a:ext uri="{FF2B5EF4-FFF2-40B4-BE49-F238E27FC236}">
                <a16:creationId xmlns:a16="http://schemas.microsoft.com/office/drawing/2014/main" id="{7BD76595-8114-56FD-A6E3-682E187DE073}"/>
              </a:ext>
            </a:extLst>
          </p:cNvPr>
          <p:cNvSpPr/>
          <p:nvPr/>
        </p:nvSpPr>
        <p:spPr>
          <a:xfrm>
            <a:off x="333756" y="4361687"/>
            <a:ext cx="2144268" cy="483477"/>
          </a:xfrm>
          <a:prstGeom prst="rect">
            <a:avLst/>
          </a:prstGeom>
          <a:noFill/>
          <a:ln/>
        </p:spPr>
        <p:txBody>
          <a:bodyPr wrap="square" lIns="0" tIns="0" rIns="0" bIns="0" rtlCol="0" anchor="ctr"/>
          <a:lstStyle/>
          <a:p>
            <a:pPr marL="0" indent="0" algn="ctr">
              <a:buNone/>
            </a:pPr>
            <a:r>
              <a:rPr lang="en-US" sz="1300" b="1" dirty="0">
                <a:solidFill>
                  <a:srgbClr val="FFFFFF"/>
                </a:solidFill>
                <a:latin typeface="Garamond" panose="02020404030301010803" pitchFamily="18" charset="0"/>
                <a:ea typeface="Calibri" pitchFamily="34" charset="-122"/>
                <a:cs typeface="Calibri" pitchFamily="34" charset="-120"/>
              </a:rPr>
              <a:t>🔍  Transparency
</a:t>
            </a:r>
            <a:r>
              <a:rPr lang="en-US" sz="1300" i="1" dirty="0">
                <a:solidFill>
                  <a:srgbClr val="FFFFFF"/>
                </a:solidFill>
                <a:latin typeface="Garamond" panose="02020404030301010803" pitchFamily="18" charset="0"/>
                <a:ea typeface="Calibri" pitchFamily="34" charset="-122"/>
                <a:cs typeface="Calibri" pitchFamily="34" charset="-120"/>
              </a:rPr>
              <a:t>Declare AI use in your work</a:t>
            </a:r>
            <a:endParaRPr lang="en-US" sz="1300" dirty="0">
              <a:latin typeface="Garamond" panose="02020404030301010803" pitchFamily="18" charset="0"/>
            </a:endParaRPr>
          </a:p>
        </p:txBody>
      </p:sp>
      <p:sp>
        <p:nvSpPr>
          <p:cNvPr id="30" name="Shape 21">
            <a:extLst>
              <a:ext uri="{FF2B5EF4-FFF2-40B4-BE49-F238E27FC236}">
                <a16:creationId xmlns:a16="http://schemas.microsoft.com/office/drawing/2014/main" id="{0D55B8B3-F770-EFCC-5AE0-0EE0E3167CEB}"/>
              </a:ext>
            </a:extLst>
          </p:cNvPr>
          <p:cNvSpPr/>
          <p:nvPr/>
        </p:nvSpPr>
        <p:spPr>
          <a:xfrm>
            <a:off x="2542032" y="4387596"/>
            <a:ext cx="1967484" cy="504444"/>
          </a:xfrm>
          <a:prstGeom prst="rect">
            <a:avLst/>
          </a:prstGeom>
          <a:solidFill>
            <a:srgbClr val="00A887"/>
          </a:solidFill>
          <a:ln w="12700">
            <a:solidFill>
              <a:srgbClr val="00A887"/>
            </a:solidFill>
            <a:prstDash val="solid"/>
          </a:ln>
        </p:spPr>
        <p:txBody>
          <a:bodyPr/>
          <a:lstStyle/>
          <a:p>
            <a:endParaRPr lang="en-US" sz="1300">
              <a:latin typeface="Garamond" panose="02020404030301010803" pitchFamily="18" charset="0"/>
            </a:endParaRPr>
          </a:p>
        </p:txBody>
      </p:sp>
      <p:sp>
        <p:nvSpPr>
          <p:cNvPr id="31" name="Text 22">
            <a:extLst>
              <a:ext uri="{FF2B5EF4-FFF2-40B4-BE49-F238E27FC236}">
                <a16:creationId xmlns:a16="http://schemas.microsoft.com/office/drawing/2014/main" id="{B3C8E77D-FB40-4812-CA89-7CC581B64A65}"/>
              </a:ext>
            </a:extLst>
          </p:cNvPr>
          <p:cNvSpPr/>
          <p:nvPr/>
        </p:nvSpPr>
        <p:spPr>
          <a:xfrm>
            <a:off x="2542032" y="4361688"/>
            <a:ext cx="2011680" cy="556642"/>
          </a:xfrm>
          <a:prstGeom prst="rect">
            <a:avLst/>
          </a:prstGeom>
          <a:noFill/>
          <a:ln/>
        </p:spPr>
        <p:txBody>
          <a:bodyPr wrap="square" lIns="0" tIns="0" rIns="0" bIns="0" rtlCol="0" anchor="ctr"/>
          <a:lstStyle/>
          <a:p>
            <a:pPr marL="0" indent="0" algn="ctr">
              <a:buNone/>
            </a:pPr>
            <a:r>
              <a:rPr lang="en-US" sz="1300" b="1" dirty="0">
                <a:solidFill>
                  <a:srgbClr val="FFFFFF"/>
                </a:solidFill>
                <a:latin typeface="Garamond" panose="02020404030301010803" pitchFamily="18" charset="0"/>
                <a:ea typeface="Calibri" pitchFamily="34" charset="-122"/>
                <a:cs typeface="Calibri" pitchFamily="34" charset="-120"/>
              </a:rPr>
              <a:t>📋  Attribution
</a:t>
            </a:r>
            <a:r>
              <a:rPr lang="en-US" sz="1300" i="1" dirty="0">
                <a:solidFill>
                  <a:srgbClr val="FFFFFF"/>
                </a:solidFill>
                <a:latin typeface="Garamond" panose="02020404030301010803" pitchFamily="18" charset="0"/>
                <a:ea typeface="Calibri" pitchFamily="34" charset="-122"/>
                <a:cs typeface="Calibri" pitchFamily="34" charset="-120"/>
              </a:rPr>
              <a:t>Cite the original source, not Copilot</a:t>
            </a:r>
            <a:endParaRPr lang="en-US" sz="1300" dirty="0">
              <a:latin typeface="Garamond" panose="02020404030301010803" pitchFamily="18" charset="0"/>
            </a:endParaRPr>
          </a:p>
        </p:txBody>
      </p:sp>
      <p:sp>
        <p:nvSpPr>
          <p:cNvPr id="32" name="Shape 23">
            <a:extLst>
              <a:ext uri="{FF2B5EF4-FFF2-40B4-BE49-F238E27FC236}">
                <a16:creationId xmlns:a16="http://schemas.microsoft.com/office/drawing/2014/main" id="{E1B56F64-FD87-EB1B-1EC2-0F52F8A6A8FC}"/>
              </a:ext>
            </a:extLst>
          </p:cNvPr>
          <p:cNvSpPr/>
          <p:nvPr/>
        </p:nvSpPr>
        <p:spPr>
          <a:xfrm>
            <a:off x="4617720" y="4387978"/>
            <a:ext cx="2011680" cy="530352"/>
          </a:xfrm>
          <a:prstGeom prst="rect">
            <a:avLst/>
          </a:prstGeom>
          <a:solidFill>
            <a:srgbClr val="002B5C"/>
          </a:solidFill>
          <a:ln w="12700">
            <a:solidFill>
              <a:srgbClr val="002B5C"/>
            </a:solidFill>
            <a:prstDash val="solid"/>
          </a:ln>
        </p:spPr>
        <p:txBody>
          <a:bodyPr/>
          <a:lstStyle/>
          <a:p>
            <a:endParaRPr lang="en-US" sz="1300">
              <a:latin typeface="Garamond" panose="02020404030301010803" pitchFamily="18" charset="0"/>
            </a:endParaRPr>
          </a:p>
        </p:txBody>
      </p:sp>
      <p:sp>
        <p:nvSpPr>
          <p:cNvPr id="33" name="Text 24">
            <a:extLst>
              <a:ext uri="{FF2B5EF4-FFF2-40B4-BE49-F238E27FC236}">
                <a16:creationId xmlns:a16="http://schemas.microsoft.com/office/drawing/2014/main" id="{B60A997E-8D2E-7F1F-09C5-EB95AA95A8E2}"/>
              </a:ext>
            </a:extLst>
          </p:cNvPr>
          <p:cNvSpPr/>
          <p:nvPr/>
        </p:nvSpPr>
        <p:spPr>
          <a:xfrm>
            <a:off x="4617720" y="4361687"/>
            <a:ext cx="1903476" cy="698487"/>
          </a:xfrm>
          <a:prstGeom prst="rect">
            <a:avLst/>
          </a:prstGeom>
          <a:noFill/>
          <a:ln/>
        </p:spPr>
        <p:txBody>
          <a:bodyPr wrap="square" lIns="0" tIns="0" rIns="0" bIns="0" rtlCol="0" anchor="ctr"/>
          <a:lstStyle/>
          <a:p>
            <a:pPr marL="0" indent="0" algn="ctr">
              <a:buNone/>
            </a:pPr>
            <a:r>
              <a:rPr lang="en-US" sz="1300" b="1" dirty="0">
                <a:solidFill>
                  <a:srgbClr val="FFFFFF"/>
                </a:solidFill>
                <a:latin typeface="Garamond" panose="02020404030301010803" pitchFamily="18" charset="0"/>
                <a:ea typeface="Calibri" pitchFamily="34" charset="-122"/>
                <a:cs typeface="Calibri" pitchFamily="34" charset="-120"/>
              </a:rPr>
              <a:t>⚖️  Critical Thinking
</a:t>
            </a:r>
            <a:r>
              <a:rPr lang="en-US" sz="1300" i="1" dirty="0">
                <a:solidFill>
                  <a:srgbClr val="FFFFFF"/>
                </a:solidFill>
                <a:latin typeface="Garamond" panose="02020404030301010803" pitchFamily="18" charset="0"/>
                <a:ea typeface="Calibri" pitchFamily="34" charset="-122"/>
                <a:cs typeface="Calibri" pitchFamily="34" charset="-120"/>
              </a:rPr>
              <a:t>You verify; AI assists</a:t>
            </a:r>
            <a:endParaRPr lang="en-US" sz="1300" dirty="0">
              <a:latin typeface="Garamond" panose="02020404030301010803" pitchFamily="18" charset="0"/>
            </a:endParaRPr>
          </a:p>
        </p:txBody>
      </p:sp>
      <p:sp>
        <p:nvSpPr>
          <p:cNvPr id="34" name="Shape 25">
            <a:extLst>
              <a:ext uri="{FF2B5EF4-FFF2-40B4-BE49-F238E27FC236}">
                <a16:creationId xmlns:a16="http://schemas.microsoft.com/office/drawing/2014/main" id="{53FEFFDE-4A56-FBB6-37A6-43CB53F7C9FA}"/>
              </a:ext>
            </a:extLst>
          </p:cNvPr>
          <p:cNvSpPr/>
          <p:nvPr/>
        </p:nvSpPr>
        <p:spPr>
          <a:xfrm>
            <a:off x="6697980" y="4361688"/>
            <a:ext cx="2125980" cy="530352"/>
          </a:xfrm>
          <a:prstGeom prst="rect">
            <a:avLst/>
          </a:prstGeom>
          <a:solidFill>
            <a:srgbClr val="8B0000"/>
          </a:solidFill>
          <a:ln w="12700">
            <a:solidFill>
              <a:srgbClr val="8B0000"/>
            </a:solidFill>
            <a:prstDash val="solid"/>
          </a:ln>
        </p:spPr>
        <p:txBody>
          <a:bodyPr/>
          <a:lstStyle/>
          <a:p>
            <a:endParaRPr lang="en-US" sz="1300">
              <a:latin typeface="Garamond" panose="02020404030301010803" pitchFamily="18" charset="0"/>
            </a:endParaRPr>
          </a:p>
        </p:txBody>
      </p:sp>
      <p:sp>
        <p:nvSpPr>
          <p:cNvPr id="35" name="Text 26">
            <a:extLst>
              <a:ext uri="{FF2B5EF4-FFF2-40B4-BE49-F238E27FC236}">
                <a16:creationId xmlns:a16="http://schemas.microsoft.com/office/drawing/2014/main" id="{EE5DABBF-8FF4-29EC-E360-9DBF9C7DA171}"/>
              </a:ext>
            </a:extLst>
          </p:cNvPr>
          <p:cNvSpPr/>
          <p:nvPr/>
        </p:nvSpPr>
        <p:spPr>
          <a:xfrm>
            <a:off x="6835140" y="4421124"/>
            <a:ext cx="1812036"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Garamond" panose="02020404030301010803" pitchFamily="18" charset="0"/>
                <a:ea typeface="Calibri" pitchFamily="34" charset="-122"/>
                <a:cs typeface="Calibri" pitchFamily="34" charset="-120"/>
              </a:rPr>
              <a:t>🚫  No Fabrication
</a:t>
            </a:r>
            <a:r>
              <a:rPr lang="en-US" sz="1300" i="1" dirty="0">
                <a:solidFill>
                  <a:srgbClr val="FFFFFF"/>
                </a:solidFill>
                <a:latin typeface="Garamond" panose="02020404030301010803" pitchFamily="18" charset="0"/>
                <a:ea typeface="Calibri" pitchFamily="34" charset="-122"/>
                <a:cs typeface="Calibri" pitchFamily="34" charset="-120"/>
              </a:rPr>
              <a:t>Don't use unverified AI-generated refs</a:t>
            </a:r>
            <a:endParaRPr lang="en-US" sz="1300" dirty="0">
              <a:latin typeface="Garamond" panose="02020404030301010803" pitchFamily="18" charset="0"/>
            </a:endParaRPr>
          </a:p>
        </p:txBody>
      </p:sp>
    </p:spTree>
    <p:extLst>
      <p:ext uri="{BB962C8B-B14F-4D97-AF65-F5344CB8AC3E}">
        <p14:creationId xmlns:p14="http://schemas.microsoft.com/office/powerpoint/2010/main" val="3369612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640080"/>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r>
              <a:rPr sz="2600" b="1" dirty="0">
                <a:solidFill>
                  <a:srgbClr val="FFFFFF"/>
                </a:solidFill>
                <a:latin typeface="Garamond"/>
              </a:rPr>
              <a:t>Stage 4: Evaluating Sources — CRAAS Framework</a:t>
            </a:r>
          </a:p>
        </p:txBody>
      </p:sp>
      <p:sp>
        <p:nvSpPr>
          <p:cNvPr id="7" name="TB7"/>
          <p:cNvSpPr txBox="1"/>
          <p:nvPr/>
        </p:nvSpPr>
        <p:spPr>
          <a:xfrm>
            <a:off x="228600" y="900000"/>
            <a:ext cx="8686800" cy="353943"/>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700" i="1" dirty="0">
                <a:solidFill>
                  <a:srgbClr val="006DAE"/>
                </a:solidFill>
                <a:latin typeface="Garamond"/>
              </a:rPr>
              <a:t>Not all sources are equal. Use CRAAS to assess quality before you rely on a source.</a:t>
            </a:r>
          </a:p>
        </p:txBody>
      </p:sp>
      <p:sp>
        <p:nvSpPr>
          <p:cNvPr id="8" name="Box8"/>
          <p:cNvSpPr/>
          <p:nvPr/>
        </p:nvSpPr>
        <p:spPr>
          <a:xfrm>
            <a:off x="274320" y="1320000"/>
            <a:ext cx="1550000" cy="27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500"/>
          </a:p>
        </p:txBody>
      </p:sp>
      <p:sp>
        <p:nvSpPr>
          <p:cNvPr id="9" name="TB9"/>
          <p:cNvSpPr txBox="1"/>
          <p:nvPr/>
        </p:nvSpPr>
        <p:spPr>
          <a:xfrm>
            <a:off x="340000" y="1400000"/>
            <a:ext cx="1430000" cy="1477328"/>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500" b="1" dirty="0">
                <a:solidFill>
                  <a:srgbClr val="006DAE"/>
                </a:solidFill>
                <a:latin typeface="Garamond"/>
              </a:rPr>
              <a:t>C</a:t>
            </a:r>
          </a:p>
          <a:p>
            <a:pPr algn="l"/>
            <a:r>
              <a:rPr sz="1500" b="1" dirty="0">
                <a:solidFill>
                  <a:srgbClr val="002B5C"/>
                </a:solidFill>
                <a:latin typeface="Garamond"/>
              </a:rPr>
              <a:t>Currency</a:t>
            </a:r>
          </a:p>
          <a:p>
            <a:pPr algn="l"/>
            <a:r>
              <a:rPr sz="1500" dirty="0">
                <a:solidFill>
                  <a:srgbClr val="1A1A1A"/>
                </a:solidFill>
                <a:latin typeface="Garamond"/>
              </a:rPr>
              <a:t>Is the info still relevant and recent for the topic?</a:t>
            </a:r>
          </a:p>
        </p:txBody>
      </p:sp>
      <p:sp>
        <p:nvSpPr>
          <p:cNvPr id="10" name="Box10"/>
          <p:cNvSpPr/>
          <p:nvPr/>
        </p:nvSpPr>
        <p:spPr>
          <a:xfrm>
            <a:off x="2000000" y="1320000"/>
            <a:ext cx="1550000" cy="27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500"/>
          </a:p>
        </p:txBody>
      </p:sp>
      <p:sp>
        <p:nvSpPr>
          <p:cNvPr id="11" name="TB11"/>
          <p:cNvSpPr txBox="1"/>
          <p:nvPr/>
        </p:nvSpPr>
        <p:spPr>
          <a:xfrm>
            <a:off x="2080000" y="1400000"/>
            <a:ext cx="1430000" cy="1477328"/>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500" b="1">
                <a:solidFill>
                  <a:srgbClr val="006DAE"/>
                </a:solidFill>
                <a:latin typeface="Garamond"/>
              </a:rPr>
              <a:t>R</a:t>
            </a:r>
          </a:p>
          <a:p>
            <a:pPr algn="l"/>
            <a:r>
              <a:rPr sz="1500" b="1">
                <a:solidFill>
                  <a:srgbClr val="002B5C"/>
                </a:solidFill>
                <a:latin typeface="Garamond"/>
              </a:rPr>
              <a:t>Relevance</a:t>
            </a:r>
          </a:p>
          <a:p>
            <a:pPr algn="l"/>
            <a:r>
              <a:rPr sz="1500">
                <a:solidFill>
                  <a:srgbClr val="1A1A1A"/>
                </a:solidFill>
                <a:latin typeface="Garamond"/>
              </a:rPr>
              <a:t>Does it directly address your research question?</a:t>
            </a:r>
          </a:p>
        </p:txBody>
      </p:sp>
      <p:sp>
        <p:nvSpPr>
          <p:cNvPr id="12" name="Box12"/>
          <p:cNvSpPr/>
          <p:nvPr/>
        </p:nvSpPr>
        <p:spPr>
          <a:xfrm>
            <a:off x="3730000" y="1320000"/>
            <a:ext cx="1550000" cy="27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500"/>
          </a:p>
        </p:txBody>
      </p:sp>
      <p:sp>
        <p:nvSpPr>
          <p:cNvPr id="13" name="TB13"/>
          <p:cNvSpPr txBox="1"/>
          <p:nvPr/>
        </p:nvSpPr>
        <p:spPr>
          <a:xfrm>
            <a:off x="3810000" y="1400000"/>
            <a:ext cx="1430000" cy="1477328"/>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500" b="1">
                <a:solidFill>
                  <a:srgbClr val="006DAE"/>
                </a:solidFill>
                <a:latin typeface="Garamond"/>
              </a:rPr>
              <a:t>A</a:t>
            </a:r>
          </a:p>
          <a:p>
            <a:pPr algn="l"/>
            <a:r>
              <a:rPr sz="1500" b="1">
                <a:solidFill>
                  <a:srgbClr val="002B5C"/>
                </a:solidFill>
                <a:latin typeface="Garamond"/>
              </a:rPr>
              <a:t>Accuracy</a:t>
            </a:r>
          </a:p>
          <a:p>
            <a:pPr algn="l"/>
            <a:r>
              <a:rPr sz="1500">
                <a:solidFill>
                  <a:srgbClr val="1A1A1A"/>
                </a:solidFill>
                <a:latin typeface="Garamond"/>
              </a:rPr>
              <a:t>Can you verify this with other sources? Is it correct?</a:t>
            </a:r>
          </a:p>
        </p:txBody>
      </p:sp>
      <p:sp>
        <p:nvSpPr>
          <p:cNvPr id="14" name="Box14"/>
          <p:cNvSpPr/>
          <p:nvPr/>
        </p:nvSpPr>
        <p:spPr>
          <a:xfrm>
            <a:off x="5460000" y="1320000"/>
            <a:ext cx="1550000" cy="27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500"/>
          </a:p>
        </p:txBody>
      </p:sp>
      <p:sp>
        <p:nvSpPr>
          <p:cNvPr id="15" name="TB15"/>
          <p:cNvSpPr txBox="1"/>
          <p:nvPr/>
        </p:nvSpPr>
        <p:spPr>
          <a:xfrm>
            <a:off x="5540000" y="1400000"/>
            <a:ext cx="1430000" cy="170816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500" b="1">
                <a:solidFill>
                  <a:srgbClr val="006DAE"/>
                </a:solidFill>
                <a:latin typeface="Garamond"/>
              </a:rPr>
              <a:t>A</a:t>
            </a:r>
          </a:p>
          <a:p>
            <a:pPr algn="l"/>
            <a:r>
              <a:rPr sz="1500" b="1">
                <a:solidFill>
                  <a:srgbClr val="002B5C"/>
                </a:solidFill>
                <a:latin typeface="Garamond"/>
              </a:rPr>
              <a:t>Authority</a:t>
            </a:r>
          </a:p>
          <a:p>
            <a:pPr algn="l"/>
            <a:r>
              <a:rPr sz="1500">
                <a:solidFill>
                  <a:srgbClr val="1A1A1A"/>
                </a:solidFill>
                <a:latin typeface="Garamond"/>
              </a:rPr>
              <a:t>Who wrote it? Do they have genuine expertise in this area?</a:t>
            </a:r>
          </a:p>
        </p:txBody>
      </p:sp>
      <p:sp>
        <p:nvSpPr>
          <p:cNvPr id="16" name="Box16"/>
          <p:cNvSpPr/>
          <p:nvPr/>
        </p:nvSpPr>
        <p:spPr>
          <a:xfrm>
            <a:off x="7190000" y="1320000"/>
            <a:ext cx="1700000" cy="270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500"/>
          </a:p>
        </p:txBody>
      </p:sp>
      <p:sp>
        <p:nvSpPr>
          <p:cNvPr id="17" name="TB17"/>
          <p:cNvSpPr txBox="1"/>
          <p:nvPr/>
        </p:nvSpPr>
        <p:spPr>
          <a:xfrm>
            <a:off x="7270000" y="1400000"/>
            <a:ext cx="1550000" cy="170816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500" b="1">
                <a:solidFill>
                  <a:srgbClr val="006DAE"/>
                </a:solidFill>
                <a:latin typeface="Garamond"/>
              </a:rPr>
              <a:t>S</a:t>
            </a:r>
          </a:p>
          <a:p>
            <a:pPr algn="l"/>
            <a:r>
              <a:rPr sz="1500" b="1">
                <a:solidFill>
                  <a:srgbClr val="002B5C"/>
                </a:solidFill>
                <a:latin typeface="Garamond"/>
              </a:rPr>
              <a:t>Stability</a:t>
            </a:r>
          </a:p>
          <a:p>
            <a:pPr algn="l"/>
            <a:r>
              <a:rPr sz="1500">
                <a:solidFill>
                  <a:srgbClr val="1A1A1A"/>
                </a:solidFill>
                <a:latin typeface="Garamond"/>
              </a:rPr>
              <a:t>Is this info stable over time, or is it volatile and frequently changed?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6400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600" b="1">
                <a:solidFill>
                  <a:srgbClr val="FFFFFF"/>
                </a:solidFill>
                <a:latin typeface="Garamond"/>
              </a:rPr>
              <a:t>Activity: Evaluate This Article — CRAAS (5 min)</a:t>
            </a:r>
          </a:p>
        </p:txBody>
      </p:sp>
      <p:sp>
        <p:nvSpPr>
          <p:cNvPr id="7" name="TB7"/>
          <p:cNvSpPr txBox="1"/>
          <p:nvPr/>
        </p:nvSpPr>
        <p:spPr>
          <a:xfrm>
            <a:off x="228600" y="850392"/>
            <a:ext cx="8686800" cy="615553"/>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700" i="1" dirty="0">
                <a:solidFill>
                  <a:srgbClr val="006DAE"/>
                </a:solidFill>
                <a:latin typeface="Garamond"/>
              </a:rPr>
              <a:t>The Ethics of ChatGPT in Medicine and Healthcare: A Systematic Review on Large Language Models  (</a:t>
            </a:r>
            <a:r>
              <a:rPr sz="1700" i="1" dirty="0" err="1">
                <a:solidFill>
                  <a:srgbClr val="006DAE"/>
                </a:solidFill>
                <a:latin typeface="Garamond"/>
              </a:rPr>
              <a:t>Haltaufderheide</a:t>
            </a:r>
            <a:r>
              <a:rPr sz="1700" i="1" dirty="0">
                <a:solidFill>
                  <a:srgbClr val="006DAE"/>
                </a:solidFill>
                <a:latin typeface="Garamond"/>
              </a:rPr>
              <a:t> &amp; </a:t>
            </a:r>
            <a:r>
              <a:rPr sz="1700" i="1" dirty="0" err="1">
                <a:solidFill>
                  <a:srgbClr val="006DAE"/>
                </a:solidFill>
                <a:latin typeface="Garamond"/>
              </a:rPr>
              <a:t>Ranisch</a:t>
            </a:r>
            <a:r>
              <a:rPr sz="1700" i="1" dirty="0">
                <a:solidFill>
                  <a:srgbClr val="006DAE"/>
                </a:solidFill>
                <a:latin typeface="Garamond"/>
              </a:rPr>
              <a:t>, 2024)</a:t>
            </a:r>
          </a:p>
        </p:txBody>
      </p:sp>
      <p:sp>
        <p:nvSpPr>
          <p:cNvPr id="8" name="ActBox8"/>
          <p:cNvSpPr/>
          <p:nvPr/>
        </p:nvSpPr>
        <p:spPr>
          <a:xfrm>
            <a:off x="274320" y="1547960"/>
            <a:ext cx="8503920" cy="1550000"/>
          </a:xfrm>
          <a:prstGeom prst="rect">
            <a:avLst/>
          </a:prstGeom>
          <a:solidFill>
            <a:srgbClr val="E8F7FD"/>
          </a:solidFill>
          <a:ln w="19050">
            <a:noFill/>
          </a:ln>
        </p:spPr>
        <p:style>
          <a:lnRef idx="1">
            <a:schemeClr val="accent1"/>
          </a:lnRef>
          <a:fillRef idx="3">
            <a:schemeClr val="accent1"/>
          </a:fillRef>
          <a:effectRef idx="0">
            <a:schemeClr val="accent1"/>
          </a:effectRef>
          <a:fontRef idx="minor">
            <a:schemeClr val="lt1"/>
          </a:fontRef>
        </p:style>
        <p:txBody>
          <a:bodyPr lIns="91440" tIns="45720" rIns="91440" bIns="45720" rtlCol="0" anchor="t">
            <a:normAutofit/>
          </a:bodyPr>
          <a:lstStyle/>
          <a:p>
            <a:pPr algn="l"/>
            <a:r>
              <a:rPr sz="1400" b="1" dirty="0">
                <a:solidFill>
                  <a:srgbClr val="002B5C"/>
                </a:solidFill>
                <a:latin typeface="Garamond"/>
              </a:rPr>
              <a:t>👥 Pair Activity — Apply CRAAS to the article above</a:t>
            </a:r>
          </a:p>
          <a:p>
            <a:pPr marL="182880" indent="-182880">
              <a:buChar char="→"/>
            </a:pPr>
            <a:r>
              <a:rPr sz="1500" dirty="0">
                <a:solidFill>
                  <a:srgbClr val="002B5C"/>
                </a:solidFill>
                <a:latin typeface="Garamond"/>
              </a:rPr>
              <a:t>With a partner, rate this article on each of the 5 CRAAS dimensions (Strong / Moderate / Weak)</a:t>
            </a:r>
          </a:p>
          <a:p>
            <a:pPr marL="182880" indent="-182880">
              <a:buChar char="→"/>
            </a:pPr>
            <a:r>
              <a:rPr sz="1500" dirty="0">
                <a:solidFill>
                  <a:srgbClr val="002B5C"/>
                </a:solidFill>
                <a:latin typeface="Garamond"/>
              </a:rPr>
              <a:t>Be ready to justify your rating for at least 2 dimensions to the class</a:t>
            </a:r>
          </a:p>
          <a:p>
            <a:pPr marL="182880" indent="-182880">
              <a:buChar char="→"/>
            </a:pPr>
            <a:r>
              <a:rPr sz="1500" dirty="0">
                <a:solidFill>
                  <a:srgbClr val="002B5C"/>
                </a:solidFill>
                <a:latin typeface="Garamond"/>
              </a:rPr>
              <a:t>Think about: Is 2024 current enough? Is the journal credible? Is it open access?</a:t>
            </a:r>
          </a:p>
        </p:txBody>
      </p:sp>
      <p:sp>
        <p:nvSpPr>
          <p:cNvPr id="9" name="TB9"/>
          <p:cNvSpPr txBox="1"/>
          <p:nvPr/>
        </p:nvSpPr>
        <p:spPr>
          <a:xfrm>
            <a:off x="274320" y="3220000"/>
            <a:ext cx="8503920" cy="1477328"/>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500" b="1" dirty="0">
                <a:solidFill>
                  <a:srgbClr val="002B5C"/>
                </a:solidFill>
                <a:latin typeface="Garamond"/>
              </a:rPr>
              <a:t>Model Answer</a:t>
            </a:r>
          </a:p>
          <a:p>
            <a:pPr marL="182880" indent="-182880">
              <a:buChar char="▪"/>
            </a:pPr>
            <a:r>
              <a:rPr sz="1500" dirty="0">
                <a:solidFill>
                  <a:srgbClr val="1A1A1A"/>
                </a:solidFill>
                <a:latin typeface="Garamond"/>
              </a:rPr>
              <a:t>Currency: ✓ Published 2024 — very current</a:t>
            </a:r>
          </a:p>
          <a:p>
            <a:pPr marL="182880" indent="-182880">
              <a:buChar char="▪"/>
            </a:pPr>
            <a:r>
              <a:rPr sz="1500" dirty="0">
                <a:solidFill>
                  <a:srgbClr val="1A1A1A"/>
                </a:solidFill>
                <a:latin typeface="Garamond"/>
              </a:rPr>
              <a:t>Accuracy: ✓ References are in top-tier journals, peer-reviewed</a:t>
            </a:r>
          </a:p>
          <a:p>
            <a:pPr marL="182880" indent="-182880">
              <a:buChar char="▪"/>
            </a:pPr>
            <a:r>
              <a:rPr sz="1500" dirty="0">
                <a:solidFill>
                  <a:srgbClr val="1A1A1A"/>
                </a:solidFill>
                <a:latin typeface="Garamond"/>
              </a:rPr>
              <a:t>Authority: ✓ Authors have expertise in AI ethics in medicine</a:t>
            </a:r>
          </a:p>
          <a:p>
            <a:pPr marL="182880" indent="-182880">
              <a:buChar char="▪"/>
            </a:pPr>
            <a:r>
              <a:rPr sz="1500" dirty="0">
                <a:solidFill>
                  <a:srgbClr val="1A1A1A"/>
                </a:solidFill>
                <a:latin typeface="Garamond"/>
              </a:rPr>
              <a:t>Accessibility: ✓ Open journal — freely accessible</a:t>
            </a:r>
          </a:p>
          <a:p>
            <a:pPr marL="182880" indent="-182880">
              <a:buChar char="▪"/>
            </a:pPr>
            <a:r>
              <a:rPr sz="1500" dirty="0">
                <a:solidFill>
                  <a:srgbClr val="1A1A1A"/>
                </a:solidFill>
                <a:latin typeface="Garamond"/>
              </a:rPr>
              <a:t>Stability: ✓ Stable peer-reviewed paper, not a volatile news article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6400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600" b="1">
                <a:solidFill>
                  <a:srgbClr val="FFFFFF"/>
                </a:solidFill>
                <a:latin typeface="Garamond"/>
              </a:rPr>
              <a:t>Stage 4: Integrating Sources &amp; Finding Patterns</a:t>
            </a:r>
          </a:p>
        </p:txBody>
      </p:sp>
      <p:sp>
        <p:nvSpPr>
          <p:cNvPr id="7" name="TB7"/>
          <p:cNvSpPr txBox="1"/>
          <p:nvPr/>
        </p:nvSpPr>
        <p:spPr>
          <a:xfrm>
            <a:off x="228600" y="900000"/>
            <a:ext cx="8686800" cy="353943"/>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700" i="1" dirty="0">
                <a:solidFill>
                  <a:srgbClr val="006DAE"/>
                </a:solidFill>
                <a:latin typeface="Garamond"/>
              </a:rPr>
              <a:t>Analysis = evaluating + integrating + identifying patterns across multiple sources.</a:t>
            </a:r>
          </a:p>
        </p:txBody>
      </p:sp>
      <p:sp>
        <p:nvSpPr>
          <p:cNvPr id="8" name="TB8"/>
          <p:cNvSpPr txBox="1"/>
          <p:nvPr/>
        </p:nvSpPr>
        <p:spPr>
          <a:xfrm>
            <a:off x="274320" y="1380000"/>
            <a:ext cx="8503920" cy="3139321"/>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700" b="1" dirty="0">
                <a:solidFill>
                  <a:srgbClr val="002B5C"/>
                </a:solidFill>
                <a:latin typeface="Garamond"/>
              </a:rPr>
              <a:t>How to Integrate Sources</a:t>
            </a:r>
          </a:p>
          <a:p>
            <a:pPr marL="182880" indent="-182880">
              <a:buChar char="▪"/>
            </a:pPr>
            <a:r>
              <a:rPr sz="1600" dirty="0">
                <a:solidFill>
                  <a:srgbClr val="1A1A1A"/>
                </a:solidFill>
                <a:latin typeface="Garamond"/>
              </a:rPr>
              <a:t>Start with secondary sources — use their reference lists to find primary sources</a:t>
            </a:r>
          </a:p>
          <a:p>
            <a:pPr marL="182880" indent="-182880">
              <a:buChar char="▪"/>
            </a:pPr>
            <a:r>
              <a:rPr sz="1600" dirty="0">
                <a:solidFill>
                  <a:srgbClr val="1A1A1A"/>
                </a:solidFill>
                <a:latin typeface="Garamond"/>
              </a:rPr>
              <a:t>Highlight key findings that relate to your research objective</a:t>
            </a:r>
          </a:p>
          <a:p>
            <a:pPr marL="182880" indent="-182880">
              <a:buChar char="▪"/>
            </a:pPr>
            <a:r>
              <a:rPr sz="1600" dirty="0">
                <a:solidFill>
                  <a:srgbClr val="1A1A1A"/>
                </a:solidFill>
                <a:latin typeface="Garamond"/>
              </a:rPr>
              <a:t>Identify patterns: What are the common themes across sources?</a:t>
            </a:r>
          </a:p>
          <a:p>
            <a:pPr marL="182880" indent="-182880">
              <a:buChar char="▪"/>
            </a:pPr>
            <a:r>
              <a:rPr sz="1600" dirty="0">
                <a:solidFill>
                  <a:srgbClr val="1A1A1A"/>
                </a:solidFill>
                <a:latin typeface="Garamond"/>
              </a:rPr>
              <a:t>For our scenario: ChatGPT is used in medical notes, patient monitoring, triage, and diagnosis — improving efficiency BUT causing bias and hallucination risks</a:t>
            </a:r>
          </a:p>
          <a:p>
            <a:pPr algn="l"/>
            <a:r>
              <a:rPr sz="1600" dirty="0">
                <a:solidFill>
                  <a:srgbClr val="1A1A1A"/>
                </a:solidFill>
                <a:latin typeface="Garamond"/>
              </a:rPr>
              <a:t> </a:t>
            </a:r>
          </a:p>
          <a:p>
            <a:pPr algn="l"/>
            <a:r>
              <a:rPr sz="1700" b="1" dirty="0">
                <a:solidFill>
                  <a:srgbClr val="002B5C"/>
                </a:solidFill>
                <a:latin typeface="Garamond"/>
              </a:rPr>
              <a:t>Acknowledging Sources — APA-7 Citation</a:t>
            </a:r>
          </a:p>
          <a:p>
            <a:pPr marL="182880" indent="-182880">
              <a:buChar char="▪"/>
            </a:pPr>
            <a:r>
              <a:rPr sz="1700" dirty="0">
                <a:solidFill>
                  <a:srgbClr val="1A1A1A"/>
                </a:solidFill>
                <a:latin typeface="Garamond"/>
              </a:rPr>
              <a:t>All integrated sources must be cited — interpreted in your own words, but with attribution</a:t>
            </a:r>
          </a:p>
          <a:p>
            <a:pPr marL="182880" indent="-182880">
              <a:buChar char="▪"/>
            </a:pPr>
            <a:r>
              <a:rPr sz="1700" dirty="0">
                <a:solidFill>
                  <a:srgbClr val="1A1A1A"/>
                </a:solidFill>
                <a:latin typeface="Garamond"/>
              </a:rPr>
              <a:t>Use APA-7 format: Author(s), Year, Title, Source, DOI/URL</a:t>
            </a:r>
          </a:p>
          <a:p>
            <a:pPr algn="l"/>
            <a:r>
              <a:rPr sz="1700" i="1" dirty="0">
                <a:solidFill>
                  <a:srgbClr val="006DAE"/>
                </a:solidFill>
                <a:latin typeface="Garamond"/>
              </a:rPr>
              <a:t>Example: </a:t>
            </a:r>
            <a:r>
              <a:rPr sz="1700" i="1" dirty="0" err="1">
                <a:solidFill>
                  <a:srgbClr val="006DAE"/>
                </a:solidFill>
                <a:latin typeface="Garamond"/>
              </a:rPr>
              <a:t>Haltaufderheide</a:t>
            </a:r>
            <a:r>
              <a:rPr sz="1700" i="1" dirty="0">
                <a:solidFill>
                  <a:srgbClr val="006DAE"/>
                </a:solidFill>
                <a:latin typeface="Garamond"/>
              </a:rPr>
              <a:t>, J., &amp; </a:t>
            </a:r>
            <a:r>
              <a:rPr sz="1700" i="1" dirty="0" err="1">
                <a:solidFill>
                  <a:srgbClr val="006DAE"/>
                </a:solidFill>
                <a:latin typeface="Garamond"/>
              </a:rPr>
              <a:t>Ranisch</a:t>
            </a:r>
            <a:r>
              <a:rPr sz="1700" i="1" dirty="0">
                <a:solidFill>
                  <a:srgbClr val="006DAE"/>
                </a:solidFill>
                <a:latin typeface="Garamond"/>
              </a:rPr>
              <a:t>, R. (2024). The ethics of ChatGPT in medicine and healthcare. Digital Health, 10(1). https://doi.org/...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5583DD5-64E2-A8C0-E040-A46618485F84}"/>
            </a:ext>
          </a:extLst>
        </p:cNvPr>
        <p:cNvGrpSpPr/>
        <p:nvPr/>
      </p:nvGrpSpPr>
      <p:grpSpPr>
        <a:xfrm>
          <a:off x="0" y="0"/>
          <a:ext cx="0" cy="0"/>
          <a:chOff x="0" y="0"/>
          <a:chExt cx="0" cy="0"/>
        </a:xfrm>
      </p:grpSpPr>
      <p:sp>
        <p:nvSpPr>
          <p:cNvPr id="2" name="NavyBar">
            <a:extLst>
              <a:ext uri="{FF2B5EF4-FFF2-40B4-BE49-F238E27FC236}">
                <a16:creationId xmlns:a16="http://schemas.microsoft.com/office/drawing/2014/main" id="{182D3DB7-24C5-1E6D-C910-AF331B4EA913}"/>
              </a:ext>
            </a:extLst>
          </p:cNvP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a:extLst>
              <a:ext uri="{FF2B5EF4-FFF2-40B4-BE49-F238E27FC236}">
                <a16:creationId xmlns:a16="http://schemas.microsoft.com/office/drawing/2014/main" id="{323B3FA7-8D85-6FB9-4FFB-2E7B8FF18F99}"/>
              </a:ext>
            </a:extLst>
          </p:cNvP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a:extLst>
              <a:ext uri="{FF2B5EF4-FFF2-40B4-BE49-F238E27FC236}">
                <a16:creationId xmlns:a16="http://schemas.microsoft.com/office/drawing/2014/main" id="{A1E754A5-0C90-AADF-2A53-626D3AB8F530}"/>
              </a:ext>
            </a:extLst>
          </p:cNvP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a:extLst>
              <a:ext uri="{FF2B5EF4-FFF2-40B4-BE49-F238E27FC236}">
                <a16:creationId xmlns:a16="http://schemas.microsoft.com/office/drawing/2014/main" id="{821189CC-0AE2-4A8B-4D24-D2DA29FD0B39}"/>
              </a:ext>
            </a:extLst>
          </p:cNvP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a:extLst>
              <a:ext uri="{FF2B5EF4-FFF2-40B4-BE49-F238E27FC236}">
                <a16:creationId xmlns:a16="http://schemas.microsoft.com/office/drawing/2014/main" id="{139B6E14-613C-5BEF-FAE9-6F16A56175EA}"/>
              </a:ext>
            </a:extLst>
          </p:cNvPr>
          <p:cNvSpPr txBox="1"/>
          <p:nvPr/>
        </p:nvSpPr>
        <p:spPr>
          <a:xfrm>
            <a:off x="228600" y="73152"/>
            <a:ext cx="8686800" cy="52322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lang="en-US" sz="2800" b="1" dirty="0">
                <a:solidFill>
                  <a:srgbClr val="FFFFFF"/>
                </a:solidFill>
                <a:latin typeface="Garamond" pitchFamily="34" charset="0"/>
                <a:ea typeface="Garamond" pitchFamily="34" charset="-122"/>
                <a:cs typeface="Garamond" pitchFamily="34" charset="-120"/>
              </a:rPr>
              <a:t>APA-7 Citation Quick Guide</a:t>
            </a:r>
            <a:endParaRPr lang="en-US" sz="2800" dirty="0"/>
          </a:p>
        </p:txBody>
      </p:sp>
      <p:sp>
        <p:nvSpPr>
          <p:cNvPr id="10" name="Text 3">
            <a:extLst>
              <a:ext uri="{FF2B5EF4-FFF2-40B4-BE49-F238E27FC236}">
                <a16:creationId xmlns:a16="http://schemas.microsoft.com/office/drawing/2014/main" id="{9613831E-B686-A6F5-F959-47E6AF0A1CED}"/>
              </a:ext>
            </a:extLst>
          </p:cNvPr>
          <p:cNvSpPr/>
          <p:nvPr/>
        </p:nvSpPr>
        <p:spPr>
          <a:xfrm>
            <a:off x="292608" y="822959"/>
            <a:ext cx="8791986" cy="291559"/>
          </a:xfrm>
          <a:prstGeom prst="rect">
            <a:avLst/>
          </a:prstGeom>
          <a:noFill/>
          <a:ln/>
        </p:spPr>
        <p:txBody>
          <a:bodyPr wrap="square" rtlCol="0" anchor="ctr"/>
          <a:lstStyle/>
          <a:p>
            <a:pPr marL="0" indent="0">
              <a:buNone/>
            </a:pPr>
            <a:r>
              <a:rPr lang="en-US" sz="1400" i="1" dirty="0">
                <a:solidFill>
                  <a:srgbClr val="006DAE"/>
                </a:solidFill>
                <a:latin typeface="Garamond" pitchFamily="34" charset="0"/>
                <a:ea typeface="Garamond" pitchFamily="34" charset="-122"/>
                <a:cs typeface="Garamond" pitchFamily="34" charset="-120"/>
              </a:rPr>
              <a:t>Format:   Author(s), Last, F. M.   (Year).   Title of work.   Source.   DOI/URL</a:t>
            </a:r>
            <a:endParaRPr lang="en-US" sz="1400" dirty="0"/>
          </a:p>
        </p:txBody>
      </p:sp>
      <p:sp>
        <p:nvSpPr>
          <p:cNvPr id="11" name="Shape 4">
            <a:extLst>
              <a:ext uri="{FF2B5EF4-FFF2-40B4-BE49-F238E27FC236}">
                <a16:creationId xmlns:a16="http://schemas.microsoft.com/office/drawing/2014/main" id="{159FD8E9-C7D0-A5D1-BC97-33D996B377B7}"/>
              </a:ext>
            </a:extLst>
          </p:cNvPr>
          <p:cNvSpPr/>
          <p:nvPr/>
        </p:nvSpPr>
        <p:spPr>
          <a:xfrm>
            <a:off x="256032" y="1336747"/>
            <a:ext cx="2862072" cy="1185672"/>
          </a:xfrm>
          <a:prstGeom prst="rect">
            <a:avLst/>
          </a:prstGeom>
          <a:solidFill>
            <a:srgbClr val="FFFFFF"/>
          </a:solidFill>
          <a:ln w="10160">
            <a:solidFill>
              <a:srgbClr val="D0D8E4"/>
            </a:solidFill>
            <a:prstDash val="solid"/>
          </a:ln>
          <a:effectLst>
            <a:outerShdw blurRad="50800" dist="25400" dir="8100000" algn="bl" rotWithShape="0">
              <a:srgbClr val="000000">
                <a:alpha val="7000"/>
              </a:srgbClr>
            </a:outerShdw>
          </a:effectLst>
        </p:spPr>
        <p:txBody>
          <a:bodyPr/>
          <a:lstStyle/>
          <a:p>
            <a:endParaRPr lang="en-US" sz="1200"/>
          </a:p>
        </p:txBody>
      </p:sp>
      <p:sp>
        <p:nvSpPr>
          <p:cNvPr id="12" name="Shape 5">
            <a:extLst>
              <a:ext uri="{FF2B5EF4-FFF2-40B4-BE49-F238E27FC236}">
                <a16:creationId xmlns:a16="http://schemas.microsoft.com/office/drawing/2014/main" id="{868D9FBF-6D2A-7C8A-2776-ED58B0292A85}"/>
              </a:ext>
            </a:extLst>
          </p:cNvPr>
          <p:cNvSpPr/>
          <p:nvPr/>
        </p:nvSpPr>
        <p:spPr>
          <a:xfrm>
            <a:off x="256031" y="1336747"/>
            <a:ext cx="56119" cy="1185672"/>
          </a:xfrm>
          <a:prstGeom prst="rect">
            <a:avLst/>
          </a:prstGeom>
          <a:solidFill>
            <a:srgbClr val="006DAE"/>
          </a:solidFill>
          <a:ln w="12700">
            <a:solidFill>
              <a:srgbClr val="006DAE"/>
            </a:solidFill>
            <a:prstDash val="solid"/>
          </a:ln>
        </p:spPr>
        <p:txBody>
          <a:bodyPr/>
          <a:lstStyle/>
          <a:p>
            <a:endParaRPr lang="en-US" sz="1200"/>
          </a:p>
        </p:txBody>
      </p:sp>
      <p:sp>
        <p:nvSpPr>
          <p:cNvPr id="13" name="Text 6">
            <a:extLst>
              <a:ext uri="{FF2B5EF4-FFF2-40B4-BE49-F238E27FC236}">
                <a16:creationId xmlns:a16="http://schemas.microsoft.com/office/drawing/2014/main" id="{C611E07A-3230-26BF-17EF-02F0F1405887}"/>
              </a:ext>
            </a:extLst>
          </p:cNvPr>
          <p:cNvSpPr/>
          <p:nvPr/>
        </p:nvSpPr>
        <p:spPr>
          <a:xfrm>
            <a:off x="365759" y="1391610"/>
            <a:ext cx="2693715" cy="262403"/>
          </a:xfrm>
          <a:prstGeom prst="rect">
            <a:avLst/>
          </a:prstGeom>
          <a:noFill/>
          <a:ln/>
        </p:spPr>
        <p:txBody>
          <a:bodyPr wrap="square" lIns="0" tIns="0" rIns="0" bIns="0" rtlCol="0" anchor="ctr"/>
          <a:lstStyle/>
          <a:p>
            <a:pPr marL="0" indent="0">
              <a:buNone/>
            </a:pPr>
            <a:r>
              <a:rPr lang="en-US" sz="1200" b="1" dirty="0">
                <a:solidFill>
                  <a:srgbClr val="006DAE"/>
                </a:solidFill>
                <a:latin typeface="Garamond" pitchFamily="34" charset="0"/>
                <a:ea typeface="Garamond" pitchFamily="34" charset="-122"/>
                <a:cs typeface="Garamond" pitchFamily="34" charset="-120"/>
              </a:rPr>
              <a:t>📄  Journal Article</a:t>
            </a:r>
            <a:endParaRPr lang="en-US" sz="1200" dirty="0"/>
          </a:p>
        </p:txBody>
      </p:sp>
      <p:sp>
        <p:nvSpPr>
          <p:cNvPr id="14" name="Text 7">
            <a:extLst>
              <a:ext uri="{FF2B5EF4-FFF2-40B4-BE49-F238E27FC236}">
                <a16:creationId xmlns:a16="http://schemas.microsoft.com/office/drawing/2014/main" id="{FEEE23C1-7923-4A1B-D421-9E0CD77B60B5}"/>
              </a:ext>
            </a:extLst>
          </p:cNvPr>
          <p:cNvSpPr/>
          <p:nvPr/>
        </p:nvSpPr>
        <p:spPr>
          <a:xfrm>
            <a:off x="365759" y="1638499"/>
            <a:ext cx="2693715" cy="242966"/>
          </a:xfrm>
          <a:prstGeom prst="rect">
            <a:avLst/>
          </a:prstGeom>
          <a:noFill/>
          <a:ln/>
        </p:spPr>
        <p:txBody>
          <a:bodyPr wrap="square" lIns="0" tIns="0" rIns="0" bIns="0" rtlCol="0" anchor="ctr"/>
          <a:lstStyle/>
          <a:p>
            <a:pPr marL="0" indent="0">
              <a:buNone/>
            </a:pPr>
            <a:r>
              <a:rPr lang="en-US" sz="1200" dirty="0">
                <a:solidFill>
                  <a:srgbClr val="444444"/>
                </a:solidFill>
                <a:latin typeface="Garamond" pitchFamily="34" charset="0"/>
                <a:ea typeface="Garamond" pitchFamily="34" charset="-122"/>
                <a:cs typeface="Garamond" pitchFamily="34" charset="-120"/>
              </a:rPr>
              <a:t>Author(s). (Year). Title. Journal, Vol(Issue), pp-pp. DOI</a:t>
            </a:r>
            <a:endParaRPr lang="en-US" sz="1200" dirty="0"/>
          </a:p>
        </p:txBody>
      </p:sp>
      <p:sp>
        <p:nvSpPr>
          <p:cNvPr id="15" name="Shape 8">
            <a:extLst>
              <a:ext uri="{FF2B5EF4-FFF2-40B4-BE49-F238E27FC236}">
                <a16:creationId xmlns:a16="http://schemas.microsoft.com/office/drawing/2014/main" id="{8F7FCAC6-57C5-B2FA-517D-B4D421CE0AC5}"/>
              </a:ext>
            </a:extLst>
          </p:cNvPr>
          <p:cNvSpPr/>
          <p:nvPr/>
        </p:nvSpPr>
        <p:spPr>
          <a:xfrm>
            <a:off x="335281" y="1961853"/>
            <a:ext cx="2609088" cy="607336"/>
          </a:xfrm>
          <a:prstGeom prst="rect">
            <a:avLst/>
          </a:prstGeom>
          <a:solidFill>
            <a:srgbClr val="EEF4FB"/>
          </a:solidFill>
          <a:ln w="6350">
            <a:solidFill>
              <a:srgbClr val="C9D9EE"/>
            </a:solidFill>
            <a:prstDash val="solid"/>
          </a:ln>
        </p:spPr>
        <p:txBody>
          <a:bodyPr/>
          <a:lstStyle/>
          <a:p>
            <a:endParaRPr lang="en-US" sz="1200"/>
          </a:p>
        </p:txBody>
      </p:sp>
      <p:sp>
        <p:nvSpPr>
          <p:cNvPr id="16" name="Text 9">
            <a:extLst>
              <a:ext uri="{FF2B5EF4-FFF2-40B4-BE49-F238E27FC236}">
                <a16:creationId xmlns:a16="http://schemas.microsoft.com/office/drawing/2014/main" id="{83883A43-5181-3B4C-671E-AB36A0408FDA}"/>
              </a:ext>
            </a:extLst>
          </p:cNvPr>
          <p:cNvSpPr/>
          <p:nvPr/>
        </p:nvSpPr>
        <p:spPr>
          <a:xfrm>
            <a:off x="362892" y="2018924"/>
            <a:ext cx="2581477" cy="466494"/>
          </a:xfrm>
          <a:prstGeom prst="rect">
            <a:avLst/>
          </a:prstGeom>
          <a:noFill/>
          <a:ln/>
        </p:spPr>
        <p:txBody>
          <a:bodyPr wrap="square" lIns="0" tIns="0" rIns="0" bIns="0" rtlCol="0" anchor="t"/>
          <a:lstStyle/>
          <a:p>
            <a:pPr marL="0" indent="0">
              <a:buNone/>
            </a:pPr>
            <a:r>
              <a:rPr lang="en-US" sz="1200" i="1" dirty="0">
                <a:solidFill>
                  <a:srgbClr val="333333"/>
                </a:solidFill>
                <a:latin typeface="Garamond" pitchFamily="34" charset="0"/>
                <a:ea typeface="Garamond" pitchFamily="34" charset="-122"/>
                <a:cs typeface="Garamond" pitchFamily="34" charset="-120"/>
              </a:rPr>
              <a:t>Haltaufderheide, J., &amp; Ranisch, R. (2024). The ethics of ChatGPT in medicine and healthcare. Digital Health, 10(1). https://doi.org/...</a:t>
            </a:r>
            <a:endParaRPr lang="en-US" sz="1200" dirty="0"/>
          </a:p>
        </p:txBody>
      </p:sp>
      <p:sp>
        <p:nvSpPr>
          <p:cNvPr id="17" name="Shape 10">
            <a:extLst>
              <a:ext uri="{FF2B5EF4-FFF2-40B4-BE49-F238E27FC236}">
                <a16:creationId xmlns:a16="http://schemas.microsoft.com/office/drawing/2014/main" id="{70FDF6D7-08A2-F70C-B36D-EAEB8B94CE9F}"/>
              </a:ext>
            </a:extLst>
          </p:cNvPr>
          <p:cNvSpPr/>
          <p:nvPr/>
        </p:nvSpPr>
        <p:spPr>
          <a:xfrm>
            <a:off x="3154680" y="1336747"/>
            <a:ext cx="2862072" cy="1185672"/>
          </a:xfrm>
          <a:prstGeom prst="rect">
            <a:avLst/>
          </a:prstGeom>
          <a:solidFill>
            <a:srgbClr val="FFFFFF"/>
          </a:solidFill>
          <a:ln w="10160">
            <a:solidFill>
              <a:srgbClr val="D0D8E4"/>
            </a:solidFill>
            <a:prstDash val="solid"/>
          </a:ln>
          <a:effectLst>
            <a:outerShdw blurRad="50800" dist="25400" dir="8100000" algn="bl" rotWithShape="0">
              <a:srgbClr val="000000">
                <a:alpha val="7000"/>
              </a:srgbClr>
            </a:outerShdw>
          </a:effectLst>
        </p:spPr>
        <p:txBody>
          <a:bodyPr/>
          <a:lstStyle/>
          <a:p>
            <a:endParaRPr lang="en-US" sz="1200"/>
          </a:p>
        </p:txBody>
      </p:sp>
      <p:sp>
        <p:nvSpPr>
          <p:cNvPr id="18" name="Shape 11">
            <a:extLst>
              <a:ext uri="{FF2B5EF4-FFF2-40B4-BE49-F238E27FC236}">
                <a16:creationId xmlns:a16="http://schemas.microsoft.com/office/drawing/2014/main" id="{FCAFCB0B-C972-D967-22E0-0DA8072E85EE}"/>
              </a:ext>
            </a:extLst>
          </p:cNvPr>
          <p:cNvSpPr/>
          <p:nvPr/>
        </p:nvSpPr>
        <p:spPr>
          <a:xfrm>
            <a:off x="3154679" y="1336747"/>
            <a:ext cx="56119" cy="1185672"/>
          </a:xfrm>
          <a:prstGeom prst="rect">
            <a:avLst/>
          </a:prstGeom>
          <a:solidFill>
            <a:srgbClr val="00A887"/>
          </a:solidFill>
          <a:ln w="12700">
            <a:solidFill>
              <a:srgbClr val="00A887"/>
            </a:solidFill>
            <a:prstDash val="solid"/>
          </a:ln>
        </p:spPr>
        <p:txBody>
          <a:bodyPr/>
          <a:lstStyle/>
          <a:p>
            <a:endParaRPr lang="en-US" sz="1200"/>
          </a:p>
        </p:txBody>
      </p:sp>
      <p:sp>
        <p:nvSpPr>
          <p:cNvPr id="19" name="Text 12">
            <a:extLst>
              <a:ext uri="{FF2B5EF4-FFF2-40B4-BE49-F238E27FC236}">
                <a16:creationId xmlns:a16="http://schemas.microsoft.com/office/drawing/2014/main" id="{8D4FE4AB-9283-5E70-91E5-7FEAEF72A75F}"/>
              </a:ext>
            </a:extLst>
          </p:cNvPr>
          <p:cNvSpPr/>
          <p:nvPr/>
        </p:nvSpPr>
        <p:spPr>
          <a:xfrm>
            <a:off x="3264407" y="1391610"/>
            <a:ext cx="2693715" cy="262403"/>
          </a:xfrm>
          <a:prstGeom prst="rect">
            <a:avLst/>
          </a:prstGeom>
          <a:noFill/>
          <a:ln/>
        </p:spPr>
        <p:txBody>
          <a:bodyPr wrap="square" lIns="0" tIns="0" rIns="0" bIns="0" rtlCol="0" anchor="ctr"/>
          <a:lstStyle/>
          <a:p>
            <a:pPr marL="0" indent="0">
              <a:buNone/>
            </a:pPr>
            <a:r>
              <a:rPr lang="en-US" sz="1200" b="1" dirty="0">
                <a:solidFill>
                  <a:srgbClr val="00A887"/>
                </a:solidFill>
                <a:latin typeface="Garamond" pitchFamily="34" charset="0"/>
                <a:ea typeface="Garamond" pitchFamily="34" charset="-122"/>
                <a:cs typeface="Garamond" pitchFamily="34" charset="-120"/>
              </a:rPr>
              <a:t>🎤  Conference Paper</a:t>
            </a:r>
            <a:endParaRPr lang="en-US" sz="1200" dirty="0"/>
          </a:p>
        </p:txBody>
      </p:sp>
      <p:sp>
        <p:nvSpPr>
          <p:cNvPr id="20" name="Text 13">
            <a:extLst>
              <a:ext uri="{FF2B5EF4-FFF2-40B4-BE49-F238E27FC236}">
                <a16:creationId xmlns:a16="http://schemas.microsoft.com/office/drawing/2014/main" id="{C397C6E2-542A-19B4-E2AB-216F50ADB635}"/>
              </a:ext>
            </a:extLst>
          </p:cNvPr>
          <p:cNvSpPr/>
          <p:nvPr/>
        </p:nvSpPr>
        <p:spPr>
          <a:xfrm>
            <a:off x="3264407" y="1638499"/>
            <a:ext cx="2693715" cy="242966"/>
          </a:xfrm>
          <a:prstGeom prst="rect">
            <a:avLst/>
          </a:prstGeom>
          <a:noFill/>
          <a:ln/>
        </p:spPr>
        <p:txBody>
          <a:bodyPr wrap="square" lIns="0" tIns="0" rIns="0" bIns="0" rtlCol="0" anchor="ctr"/>
          <a:lstStyle/>
          <a:p>
            <a:pPr marL="0" indent="0">
              <a:buNone/>
            </a:pPr>
            <a:r>
              <a:rPr lang="en-US" sz="1200" dirty="0">
                <a:solidFill>
                  <a:srgbClr val="444444"/>
                </a:solidFill>
                <a:latin typeface="Garamond" pitchFamily="34" charset="0"/>
                <a:ea typeface="Garamond" pitchFamily="34" charset="-122"/>
                <a:cs typeface="Garamond" pitchFamily="34" charset="-120"/>
              </a:rPr>
              <a:t>Author(s). (Year, Month). Title. In Proceedings (pp. xx-xx). Publisher.</a:t>
            </a:r>
            <a:endParaRPr lang="en-US" sz="1200" dirty="0"/>
          </a:p>
        </p:txBody>
      </p:sp>
      <p:sp>
        <p:nvSpPr>
          <p:cNvPr id="21" name="Shape 14">
            <a:extLst>
              <a:ext uri="{FF2B5EF4-FFF2-40B4-BE49-F238E27FC236}">
                <a16:creationId xmlns:a16="http://schemas.microsoft.com/office/drawing/2014/main" id="{B3DB5E7F-EB5C-4839-4334-79E78EDF138A}"/>
              </a:ext>
            </a:extLst>
          </p:cNvPr>
          <p:cNvSpPr/>
          <p:nvPr/>
        </p:nvSpPr>
        <p:spPr>
          <a:xfrm>
            <a:off x="3284728" y="2009685"/>
            <a:ext cx="2648476" cy="567597"/>
          </a:xfrm>
          <a:prstGeom prst="rect">
            <a:avLst/>
          </a:prstGeom>
          <a:solidFill>
            <a:srgbClr val="EEF4FB"/>
          </a:solidFill>
          <a:ln w="6350">
            <a:solidFill>
              <a:srgbClr val="C9D9EE"/>
            </a:solidFill>
            <a:prstDash val="solid"/>
          </a:ln>
        </p:spPr>
        <p:txBody>
          <a:bodyPr/>
          <a:lstStyle/>
          <a:p>
            <a:endParaRPr lang="en-US" sz="1200"/>
          </a:p>
        </p:txBody>
      </p:sp>
      <p:sp>
        <p:nvSpPr>
          <p:cNvPr id="22" name="Text 15">
            <a:extLst>
              <a:ext uri="{FF2B5EF4-FFF2-40B4-BE49-F238E27FC236}">
                <a16:creationId xmlns:a16="http://schemas.microsoft.com/office/drawing/2014/main" id="{1F5C065A-EEE1-03FE-5254-A416BA7F76C6}"/>
              </a:ext>
            </a:extLst>
          </p:cNvPr>
          <p:cNvSpPr/>
          <p:nvPr/>
        </p:nvSpPr>
        <p:spPr>
          <a:xfrm>
            <a:off x="3300983" y="2010381"/>
            <a:ext cx="2581477" cy="466494"/>
          </a:xfrm>
          <a:prstGeom prst="rect">
            <a:avLst/>
          </a:prstGeom>
          <a:noFill/>
          <a:ln/>
        </p:spPr>
        <p:txBody>
          <a:bodyPr wrap="square" lIns="0" tIns="0" rIns="0" bIns="0" rtlCol="0" anchor="t"/>
          <a:lstStyle/>
          <a:p>
            <a:pPr marL="0" indent="0">
              <a:buNone/>
            </a:pPr>
            <a:r>
              <a:rPr lang="en-US" sz="1200" i="1" dirty="0">
                <a:solidFill>
                  <a:srgbClr val="333333"/>
                </a:solidFill>
                <a:latin typeface="Garamond" pitchFamily="34" charset="0"/>
                <a:ea typeface="Garamond" pitchFamily="34" charset="-122"/>
                <a:cs typeface="Garamond" pitchFamily="34" charset="-120"/>
              </a:rPr>
              <a:t>Vaswani, A., et al. (2017, December). Attention is all you need. In Proceedings of NeurIPS 2017 (pp. 5998-6008). Curran Associates.</a:t>
            </a:r>
            <a:endParaRPr lang="en-US" sz="1200" dirty="0"/>
          </a:p>
        </p:txBody>
      </p:sp>
      <p:sp>
        <p:nvSpPr>
          <p:cNvPr id="23" name="Shape 16">
            <a:extLst>
              <a:ext uri="{FF2B5EF4-FFF2-40B4-BE49-F238E27FC236}">
                <a16:creationId xmlns:a16="http://schemas.microsoft.com/office/drawing/2014/main" id="{5AA8D389-D3C6-F454-D99A-881A9FEB572D}"/>
              </a:ext>
            </a:extLst>
          </p:cNvPr>
          <p:cNvSpPr/>
          <p:nvPr/>
        </p:nvSpPr>
        <p:spPr>
          <a:xfrm>
            <a:off x="6053328" y="1336747"/>
            <a:ext cx="2862072" cy="1185672"/>
          </a:xfrm>
          <a:prstGeom prst="rect">
            <a:avLst/>
          </a:prstGeom>
          <a:solidFill>
            <a:srgbClr val="FFFFFF"/>
          </a:solidFill>
          <a:ln w="10160">
            <a:solidFill>
              <a:srgbClr val="D0D8E4"/>
            </a:solidFill>
            <a:prstDash val="solid"/>
          </a:ln>
          <a:effectLst>
            <a:outerShdw blurRad="50800" dist="25400" dir="8100000" algn="bl" rotWithShape="0">
              <a:srgbClr val="000000">
                <a:alpha val="7000"/>
              </a:srgbClr>
            </a:outerShdw>
          </a:effectLst>
        </p:spPr>
        <p:txBody>
          <a:bodyPr/>
          <a:lstStyle/>
          <a:p>
            <a:endParaRPr lang="en-US" sz="1200"/>
          </a:p>
        </p:txBody>
      </p:sp>
      <p:sp>
        <p:nvSpPr>
          <p:cNvPr id="24" name="Shape 17">
            <a:extLst>
              <a:ext uri="{FF2B5EF4-FFF2-40B4-BE49-F238E27FC236}">
                <a16:creationId xmlns:a16="http://schemas.microsoft.com/office/drawing/2014/main" id="{0199CA50-99F3-33C1-19E5-0BF0942955B2}"/>
              </a:ext>
            </a:extLst>
          </p:cNvPr>
          <p:cNvSpPr/>
          <p:nvPr/>
        </p:nvSpPr>
        <p:spPr>
          <a:xfrm>
            <a:off x="6053327" y="1336747"/>
            <a:ext cx="56119" cy="1185672"/>
          </a:xfrm>
          <a:prstGeom prst="rect">
            <a:avLst/>
          </a:prstGeom>
          <a:solidFill>
            <a:srgbClr val="7B5EA7"/>
          </a:solidFill>
          <a:ln w="12700">
            <a:solidFill>
              <a:srgbClr val="7B5EA7"/>
            </a:solidFill>
            <a:prstDash val="solid"/>
          </a:ln>
        </p:spPr>
        <p:txBody>
          <a:bodyPr/>
          <a:lstStyle/>
          <a:p>
            <a:endParaRPr lang="en-US" sz="1200"/>
          </a:p>
        </p:txBody>
      </p:sp>
      <p:sp>
        <p:nvSpPr>
          <p:cNvPr id="25" name="Text 18">
            <a:extLst>
              <a:ext uri="{FF2B5EF4-FFF2-40B4-BE49-F238E27FC236}">
                <a16:creationId xmlns:a16="http://schemas.microsoft.com/office/drawing/2014/main" id="{67310C4E-8DAE-CA26-2C35-74DC8D2452B3}"/>
              </a:ext>
            </a:extLst>
          </p:cNvPr>
          <p:cNvSpPr/>
          <p:nvPr/>
        </p:nvSpPr>
        <p:spPr>
          <a:xfrm>
            <a:off x="6163055" y="1391610"/>
            <a:ext cx="2693715" cy="262403"/>
          </a:xfrm>
          <a:prstGeom prst="rect">
            <a:avLst/>
          </a:prstGeom>
          <a:noFill/>
          <a:ln/>
        </p:spPr>
        <p:txBody>
          <a:bodyPr wrap="square" lIns="0" tIns="0" rIns="0" bIns="0" rtlCol="0" anchor="ctr"/>
          <a:lstStyle/>
          <a:p>
            <a:pPr marL="0" indent="0">
              <a:buNone/>
            </a:pPr>
            <a:r>
              <a:rPr lang="en-US" sz="1200" b="1" dirty="0">
                <a:solidFill>
                  <a:srgbClr val="7B5EA7"/>
                </a:solidFill>
                <a:latin typeface="Garamond" pitchFamily="34" charset="0"/>
                <a:ea typeface="Garamond" pitchFamily="34" charset="-122"/>
                <a:cs typeface="Garamond" pitchFamily="34" charset="-120"/>
              </a:rPr>
              <a:t>📘  Book</a:t>
            </a:r>
            <a:endParaRPr lang="en-US" sz="1200" dirty="0"/>
          </a:p>
        </p:txBody>
      </p:sp>
      <p:sp>
        <p:nvSpPr>
          <p:cNvPr id="26" name="Text 19">
            <a:extLst>
              <a:ext uri="{FF2B5EF4-FFF2-40B4-BE49-F238E27FC236}">
                <a16:creationId xmlns:a16="http://schemas.microsoft.com/office/drawing/2014/main" id="{253689EE-4806-8DAD-E802-FD32CE2ABA8C}"/>
              </a:ext>
            </a:extLst>
          </p:cNvPr>
          <p:cNvSpPr/>
          <p:nvPr/>
        </p:nvSpPr>
        <p:spPr>
          <a:xfrm>
            <a:off x="6163055" y="1638499"/>
            <a:ext cx="2693715" cy="242966"/>
          </a:xfrm>
          <a:prstGeom prst="rect">
            <a:avLst/>
          </a:prstGeom>
          <a:noFill/>
          <a:ln/>
        </p:spPr>
        <p:txBody>
          <a:bodyPr wrap="square" lIns="0" tIns="0" rIns="0" bIns="0" rtlCol="0" anchor="ctr"/>
          <a:lstStyle/>
          <a:p>
            <a:pPr marL="0" indent="0">
              <a:buNone/>
            </a:pPr>
            <a:r>
              <a:rPr lang="en-US" sz="1200" dirty="0">
                <a:solidFill>
                  <a:srgbClr val="444444"/>
                </a:solidFill>
                <a:latin typeface="Garamond" pitchFamily="34" charset="0"/>
                <a:ea typeface="Garamond" pitchFamily="34" charset="-122"/>
                <a:cs typeface="Garamond" pitchFamily="34" charset="-120"/>
              </a:rPr>
              <a:t>Author(s). (Year). Title of book (Ed. if applicable). Publisher.</a:t>
            </a:r>
            <a:endParaRPr lang="en-US" sz="1200" dirty="0"/>
          </a:p>
        </p:txBody>
      </p:sp>
      <p:sp>
        <p:nvSpPr>
          <p:cNvPr id="27" name="Shape 20">
            <a:extLst>
              <a:ext uri="{FF2B5EF4-FFF2-40B4-BE49-F238E27FC236}">
                <a16:creationId xmlns:a16="http://schemas.microsoft.com/office/drawing/2014/main" id="{A7188BA4-1733-92D8-217C-8477FAA873B2}"/>
              </a:ext>
            </a:extLst>
          </p:cNvPr>
          <p:cNvSpPr/>
          <p:nvPr/>
        </p:nvSpPr>
        <p:spPr>
          <a:xfrm>
            <a:off x="6174919" y="2024410"/>
            <a:ext cx="2663145" cy="542354"/>
          </a:xfrm>
          <a:prstGeom prst="rect">
            <a:avLst/>
          </a:prstGeom>
          <a:solidFill>
            <a:srgbClr val="EEF4FB"/>
          </a:solidFill>
          <a:ln w="6350">
            <a:solidFill>
              <a:srgbClr val="C9D9EE"/>
            </a:solidFill>
            <a:prstDash val="solid"/>
          </a:ln>
        </p:spPr>
        <p:txBody>
          <a:bodyPr/>
          <a:lstStyle/>
          <a:p>
            <a:endParaRPr lang="en-US" sz="1200"/>
          </a:p>
        </p:txBody>
      </p:sp>
      <p:sp>
        <p:nvSpPr>
          <p:cNvPr id="28" name="Text 21">
            <a:extLst>
              <a:ext uri="{FF2B5EF4-FFF2-40B4-BE49-F238E27FC236}">
                <a16:creationId xmlns:a16="http://schemas.microsoft.com/office/drawing/2014/main" id="{6CBB6C96-0CB4-212E-617B-BBB6DE871007}"/>
              </a:ext>
            </a:extLst>
          </p:cNvPr>
          <p:cNvSpPr/>
          <p:nvPr/>
        </p:nvSpPr>
        <p:spPr>
          <a:xfrm>
            <a:off x="6199631" y="2018924"/>
            <a:ext cx="2581477" cy="466494"/>
          </a:xfrm>
          <a:prstGeom prst="rect">
            <a:avLst/>
          </a:prstGeom>
          <a:noFill/>
          <a:ln/>
        </p:spPr>
        <p:txBody>
          <a:bodyPr wrap="square" lIns="0" tIns="0" rIns="0" bIns="0" rtlCol="0" anchor="t"/>
          <a:lstStyle/>
          <a:p>
            <a:pPr marL="0" indent="0">
              <a:buNone/>
            </a:pPr>
            <a:r>
              <a:rPr lang="en-US" sz="1200" i="1" dirty="0">
                <a:solidFill>
                  <a:srgbClr val="333333"/>
                </a:solidFill>
                <a:latin typeface="Garamond" pitchFamily="34" charset="0"/>
                <a:ea typeface="Garamond" pitchFamily="34" charset="-122"/>
                <a:cs typeface="Garamond" pitchFamily="34" charset="-120"/>
              </a:rPr>
              <a:t>Floridi, L. (2019). The logic of information: A theory of philosophy as conceptual design. Oxford University Press.</a:t>
            </a:r>
            <a:endParaRPr lang="en-US" sz="1200" dirty="0"/>
          </a:p>
        </p:txBody>
      </p:sp>
      <p:sp>
        <p:nvSpPr>
          <p:cNvPr id="29" name="Shape 22">
            <a:extLst>
              <a:ext uri="{FF2B5EF4-FFF2-40B4-BE49-F238E27FC236}">
                <a16:creationId xmlns:a16="http://schemas.microsoft.com/office/drawing/2014/main" id="{177B22DA-448E-5700-A928-7245B5AB465F}"/>
              </a:ext>
            </a:extLst>
          </p:cNvPr>
          <p:cNvSpPr/>
          <p:nvPr/>
        </p:nvSpPr>
        <p:spPr>
          <a:xfrm>
            <a:off x="256032" y="2674572"/>
            <a:ext cx="2862072" cy="1185672"/>
          </a:xfrm>
          <a:prstGeom prst="rect">
            <a:avLst/>
          </a:prstGeom>
          <a:solidFill>
            <a:srgbClr val="FFFFFF"/>
          </a:solidFill>
          <a:ln w="10160">
            <a:solidFill>
              <a:srgbClr val="D0D8E4"/>
            </a:solidFill>
            <a:prstDash val="solid"/>
          </a:ln>
          <a:effectLst>
            <a:outerShdw blurRad="50800" dist="25400" dir="8100000" algn="bl" rotWithShape="0">
              <a:srgbClr val="000000">
                <a:alpha val="7000"/>
              </a:srgbClr>
            </a:outerShdw>
          </a:effectLst>
        </p:spPr>
        <p:txBody>
          <a:bodyPr/>
          <a:lstStyle/>
          <a:p>
            <a:endParaRPr lang="en-US" sz="1200"/>
          </a:p>
        </p:txBody>
      </p:sp>
      <p:sp>
        <p:nvSpPr>
          <p:cNvPr id="30" name="Shape 23">
            <a:extLst>
              <a:ext uri="{FF2B5EF4-FFF2-40B4-BE49-F238E27FC236}">
                <a16:creationId xmlns:a16="http://schemas.microsoft.com/office/drawing/2014/main" id="{60E2D279-A3D8-A824-68B1-5CA2B4D67BEA}"/>
              </a:ext>
            </a:extLst>
          </p:cNvPr>
          <p:cNvSpPr/>
          <p:nvPr/>
        </p:nvSpPr>
        <p:spPr>
          <a:xfrm>
            <a:off x="256031" y="2674572"/>
            <a:ext cx="56119" cy="1185672"/>
          </a:xfrm>
          <a:prstGeom prst="rect">
            <a:avLst/>
          </a:prstGeom>
          <a:solidFill>
            <a:srgbClr val="D4820A"/>
          </a:solidFill>
          <a:ln w="12700">
            <a:solidFill>
              <a:srgbClr val="D4820A"/>
            </a:solidFill>
            <a:prstDash val="solid"/>
          </a:ln>
        </p:spPr>
        <p:txBody>
          <a:bodyPr/>
          <a:lstStyle/>
          <a:p>
            <a:endParaRPr lang="en-US" sz="1200"/>
          </a:p>
        </p:txBody>
      </p:sp>
      <p:sp>
        <p:nvSpPr>
          <p:cNvPr id="31" name="Text 24">
            <a:extLst>
              <a:ext uri="{FF2B5EF4-FFF2-40B4-BE49-F238E27FC236}">
                <a16:creationId xmlns:a16="http://schemas.microsoft.com/office/drawing/2014/main" id="{F63C39F0-54C0-4D98-B65F-AB9A774AC973}"/>
              </a:ext>
            </a:extLst>
          </p:cNvPr>
          <p:cNvSpPr/>
          <p:nvPr/>
        </p:nvSpPr>
        <p:spPr>
          <a:xfrm>
            <a:off x="365759" y="2729435"/>
            <a:ext cx="2693715" cy="262403"/>
          </a:xfrm>
          <a:prstGeom prst="rect">
            <a:avLst/>
          </a:prstGeom>
          <a:noFill/>
          <a:ln/>
        </p:spPr>
        <p:txBody>
          <a:bodyPr wrap="square" lIns="0" tIns="0" rIns="0" bIns="0" rtlCol="0" anchor="ctr"/>
          <a:lstStyle/>
          <a:p>
            <a:pPr marL="0" indent="0">
              <a:buNone/>
            </a:pPr>
            <a:r>
              <a:rPr lang="en-US" sz="1200" b="1" dirty="0">
                <a:solidFill>
                  <a:srgbClr val="D4820A"/>
                </a:solidFill>
                <a:latin typeface="Garamond" pitchFamily="34" charset="0"/>
                <a:ea typeface="Garamond" pitchFamily="34" charset="-122"/>
                <a:cs typeface="Garamond" pitchFamily="34" charset="-120"/>
              </a:rPr>
              <a:t>🌐  Website</a:t>
            </a:r>
            <a:endParaRPr lang="en-US" sz="1200" dirty="0"/>
          </a:p>
        </p:txBody>
      </p:sp>
      <p:sp>
        <p:nvSpPr>
          <p:cNvPr id="32" name="Text 25">
            <a:extLst>
              <a:ext uri="{FF2B5EF4-FFF2-40B4-BE49-F238E27FC236}">
                <a16:creationId xmlns:a16="http://schemas.microsoft.com/office/drawing/2014/main" id="{1233520B-4E95-EF29-1CEB-FB17FFAC92D4}"/>
              </a:ext>
            </a:extLst>
          </p:cNvPr>
          <p:cNvSpPr/>
          <p:nvPr/>
        </p:nvSpPr>
        <p:spPr>
          <a:xfrm>
            <a:off x="365759" y="2976324"/>
            <a:ext cx="2693715" cy="242966"/>
          </a:xfrm>
          <a:prstGeom prst="rect">
            <a:avLst/>
          </a:prstGeom>
          <a:noFill/>
          <a:ln/>
        </p:spPr>
        <p:txBody>
          <a:bodyPr wrap="square" lIns="0" tIns="0" rIns="0" bIns="0" rtlCol="0" anchor="ctr"/>
          <a:lstStyle/>
          <a:p>
            <a:pPr marL="0" indent="0">
              <a:buNone/>
            </a:pPr>
            <a:r>
              <a:rPr lang="en-US" sz="1200" dirty="0">
                <a:solidFill>
                  <a:srgbClr val="444444"/>
                </a:solidFill>
                <a:latin typeface="Garamond" pitchFamily="34" charset="0"/>
                <a:ea typeface="Garamond" pitchFamily="34" charset="-122"/>
                <a:cs typeface="Garamond" pitchFamily="34" charset="-120"/>
              </a:rPr>
              <a:t>Author(s) or Org. (Year, Month Day). Title of page. Site Name. URL</a:t>
            </a:r>
            <a:endParaRPr lang="en-US" sz="1200" dirty="0"/>
          </a:p>
        </p:txBody>
      </p:sp>
      <p:sp>
        <p:nvSpPr>
          <p:cNvPr id="33" name="Shape 26">
            <a:extLst>
              <a:ext uri="{FF2B5EF4-FFF2-40B4-BE49-F238E27FC236}">
                <a16:creationId xmlns:a16="http://schemas.microsoft.com/office/drawing/2014/main" id="{F37FF387-092B-D3B2-BD51-6A7D36C20CFA}"/>
              </a:ext>
            </a:extLst>
          </p:cNvPr>
          <p:cNvSpPr/>
          <p:nvPr/>
        </p:nvSpPr>
        <p:spPr>
          <a:xfrm>
            <a:off x="335281" y="3362337"/>
            <a:ext cx="2609088" cy="539009"/>
          </a:xfrm>
          <a:prstGeom prst="rect">
            <a:avLst/>
          </a:prstGeom>
          <a:solidFill>
            <a:srgbClr val="EEF4FB"/>
          </a:solidFill>
          <a:ln w="6350">
            <a:solidFill>
              <a:srgbClr val="C9D9EE"/>
            </a:solidFill>
            <a:prstDash val="solid"/>
          </a:ln>
        </p:spPr>
        <p:txBody>
          <a:bodyPr/>
          <a:lstStyle/>
          <a:p>
            <a:endParaRPr lang="en-US" sz="1200"/>
          </a:p>
        </p:txBody>
      </p:sp>
      <p:sp>
        <p:nvSpPr>
          <p:cNvPr id="34" name="Text 27">
            <a:extLst>
              <a:ext uri="{FF2B5EF4-FFF2-40B4-BE49-F238E27FC236}">
                <a16:creationId xmlns:a16="http://schemas.microsoft.com/office/drawing/2014/main" id="{90FDC00A-D922-4E44-016A-26CF7DDB2FF6}"/>
              </a:ext>
            </a:extLst>
          </p:cNvPr>
          <p:cNvSpPr/>
          <p:nvPr/>
        </p:nvSpPr>
        <p:spPr>
          <a:xfrm>
            <a:off x="362892" y="3356628"/>
            <a:ext cx="2581477" cy="466494"/>
          </a:xfrm>
          <a:prstGeom prst="rect">
            <a:avLst/>
          </a:prstGeom>
          <a:noFill/>
          <a:ln/>
        </p:spPr>
        <p:txBody>
          <a:bodyPr wrap="square" lIns="0" tIns="0" rIns="0" bIns="0" rtlCol="0" anchor="t"/>
          <a:lstStyle/>
          <a:p>
            <a:pPr marL="0" indent="0">
              <a:buNone/>
            </a:pPr>
            <a:r>
              <a:rPr lang="en-US" sz="1200" i="1" dirty="0">
                <a:solidFill>
                  <a:srgbClr val="333333"/>
                </a:solidFill>
                <a:latin typeface="Garamond" pitchFamily="34" charset="0"/>
                <a:ea typeface="Garamond" pitchFamily="34" charset="-122"/>
                <a:cs typeface="Garamond" pitchFamily="34" charset="-120"/>
              </a:rPr>
              <a:t>Australian Computer Society. (2023, March 15). ACS code of ethics. ACS. https://www.acs.org.au/code-of-ethics</a:t>
            </a:r>
            <a:endParaRPr lang="en-US" sz="1200" dirty="0"/>
          </a:p>
        </p:txBody>
      </p:sp>
      <p:sp>
        <p:nvSpPr>
          <p:cNvPr id="35" name="Shape 28">
            <a:extLst>
              <a:ext uri="{FF2B5EF4-FFF2-40B4-BE49-F238E27FC236}">
                <a16:creationId xmlns:a16="http://schemas.microsoft.com/office/drawing/2014/main" id="{083E88E1-91B6-779F-A47E-CA7705B809DE}"/>
              </a:ext>
            </a:extLst>
          </p:cNvPr>
          <p:cNvSpPr/>
          <p:nvPr/>
        </p:nvSpPr>
        <p:spPr>
          <a:xfrm>
            <a:off x="3154680" y="2674572"/>
            <a:ext cx="2862072" cy="1185672"/>
          </a:xfrm>
          <a:prstGeom prst="rect">
            <a:avLst/>
          </a:prstGeom>
          <a:solidFill>
            <a:srgbClr val="FFFFFF"/>
          </a:solidFill>
          <a:ln w="10160">
            <a:solidFill>
              <a:srgbClr val="D0D8E4"/>
            </a:solidFill>
            <a:prstDash val="solid"/>
          </a:ln>
          <a:effectLst>
            <a:outerShdw blurRad="50800" dist="25400" dir="8100000" algn="bl" rotWithShape="0">
              <a:srgbClr val="000000">
                <a:alpha val="7000"/>
              </a:srgbClr>
            </a:outerShdw>
          </a:effectLst>
        </p:spPr>
        <p:txBody>
          <a:bodyPr/>
          <a:lstStyle/>
          <a:p>
            <a:endParaRPr lang="en-US" sz="1200"/>
          </a:p>
        </p:txBody>
      </p:sp>
      <p:sp>
        <p:nvSpPr>
          <p:cNvPr id="36" name="Shape 29">
            <a:extLst>
              <a:ext uri="{FF2B5EF4-FFF2-40B4-BE49-F238E27FC236}">
                <a16:creationId xmlns:a16="http://schemas.microsoft.com/office/drawing/2014/main" id="{AEBF12B1-42FD-91CF-E5BC-BDA77D624C51}"/>
              </a:ext>
            </a:extLst>
          </p:cNvPr>
          <p:cNvSpPr/>
          <p:nvPr/>
        </p:nvSpPr>
        <p:spPr>
          <a:xfrm>
            <a:off x="3154679" y="2674572"/>
            <a:ext cx="56119" cy="1185672"/>
          </a:xfrm>
          <a:prstGeom prst="rect">
            <a:avLst/>
          </a:prstGeom>
          <a:solidFill>
            <a:srgbClr val="C0392B"/>
          </a:solidFill>
          <a:ln w="12700">
            <a:solidFill>
              <a:srgbClr val="C0392B"/>
            </a:solidFill>
            <a:prstDash val="solid"/>
          </a:ln>
        </p:spPr>
        <p:txBody>
          <a:bodyPr/>
          <a:lstStyle/>
          <a:p>
            <a:endParaRPr lang="en-US" sz="1200"/>
          </a:p>
        </p:txBody>
      </p:sp>
      <p:sp>
        <p:nvSpPr>
          <p:cNvPr id="37" name="Text 30">
            <a:extLst>
              <a:ext uri="{FF2B5EF4-FFF2-40B4-BE49-F238E27FC236}">
                <a16:creationId xmlns:a16="http://schemas.microsoft.com/office/drawing/2014/main" id="{238C6206-9DEA-8299-65B2-9A2CBFA9A816}"/>
              </a:ext>
            </a:extLst>
          </p:cNvPr>
          <p:cNvSpPr/>
          <p:nvPr/>
        </p:nvSpPr>
        <p:spPr>
          <a:xfrm>
            <a:off x="3264407" y="2729435"/>
            <a:ext cx="2693715" cy="262403"/>
          </a:xfrm>
          <a:prstGeom prst="rect">
            <a:avLst/>
          </a:prstGeom>
          <a:noFill/>
          <a:ln/>
        </p:spPr>
        <p:txBody>
          <a:bodyPr wrap="square" lIns="0" tIns="0" rIns="0" bIns="0" rtlCol="0" anchor="ctr"/>
          <a:lstStyle/>
          <a:p>
            <a:pPr marL="0" indent="0">
              <a:buNone/>
            </a:pPr>
            <a:r>
              <a:rPr lang="en-US" sz="1200" b="1" dirty="0">
                <a:solidFill>
                  <a:srgbClr val="C0392B"/>
                </a:solidFill>
                <a:latin typeface="Garamond" pitchFamily="34" charset="0"/>
                <a:ea typeface="Garamond" pitchFamily="34" charset="-122"/>
                <a:cs typeface="Garamond" pitchFamily="34" charset="-120"/>
              </a:rPr>
              <a:t>📰  News Article (Online)</a:t>
            </a:r>
            <a:endParaRPr lang="en-US" sz="1200" dirty="0"/>
          </a:p>
        </p:txBody>
      </p:sp>
      <p:sp>
        <p:nvSpPr>
          <p:cNvPr id="38" name="Text 31">
            <a:extLst>
              <a:ext uri="{FF2B5EF4-FFF2-40B4-BE49-F238E27FC236}">
                <a16:creationId xmlns:a16="http://schemas.microsoft.com/office/drawing/2014/main" id="{BA3A7844-DD9C-D963-DAA3-E34951865937}"/>
              </a:ext>
            </a:extLst>
          </p:cNvPr>
          <p:cNvSpPr/>
          <p:nvPr/>
        </p:nvSpPr>
        <p:spPr>
          <a:xfrm>
            <a:off x="3264407" y="2976324"/>
            <a:ext cx="2693715" cy="242966"/>
          </a:xfrm>
          <a:prstGeom prst="rect">
            <a:avLst/>
          </a:prstGeom>
          <a:noFill/>
          <a:ln/>
        </p:spPr>
        <p:txBody>
          <a:bodyPr wrap="square" lIns="0" tIns="0" rIns="0" bIns="0" rtlCol="0" anchor="ctr"/>
          <a:lstStyle/>
          <a:p>
            <a:pPr marL="0" indent="0">
              <a:buNone/>
            </a:pPr>
            <a:r>
              <a:rPr lang="en-US" sz="1200" dirty="0">
                <a:solidFill>
                  <a:srgbClr val="444444"/>
                </a:solidFill>
                <a:latin typeface="Garamond" pitchFamily="34" charset="0"/>
                <a:ea typeface="Garamond" pitchFamily="34" charset="-122"/>
                <a:cs typeface="Garamond" pitchFamily="34" charset="-120"/>
              </a:rPr>
              <a:t>Author(s). (Year, Month Day). Title of article. Outlet. URL</a:t>
            </a:r>
            <a:endParaRPr lang="en-US" sz="1200" dirty="0"/>
          </a:p>
        </p:txBody>
      </p:sp>
      <p:sp>
        <p:nvSpPr>
          <p:cNvPr id="39" name="Shape 32">
            <a:extLst>
              <a:ext uri="{FF2B5EF4-FFF2-40B4-BE49-F238E27FC236}">
                <a16:creationId xmlns:a16="http://schemas.microsoft.com/office/drawing/2014/main" id="{2BE53FDE-45D3-1932-DF7D-565BC6559730}"/>
              </a:ext>
            </a:extLst>
          </p:cNvPr>
          <p:cNvSpPr/>
          <p:nvPr/>
        </p:nvSpPr>
        <p:spPr>
          <a:xfrm>
            <a:off x="3276541" y="3335927"/>
            <a:ext cx="2605919" cy="487195"/>
          </a:xfrm>
          <a:prstGeom prst="rect">
            <a:avLst/>
          </a:prstGeom>
          <a:solidFill>
            <a:srgbClr val="EEF4FB"/>
          </a:solidFill>
          <a:ln w="6350">
            <a:solidFill>
              <a:srgbClr val="C9D9EE"/>
            </a:solidFill>
            <a:prstDash val="solid"/>
          </a:ln>
        </p:spPr>
        <p:txBody>
          <a:bodyPr/>
          <a:lstStyle/>
          <a:p>
            <a:endParaRPr lang="en-US" sz="1200"/>
          </a:p>
        </p:txBody>
      </p:sp>
      <p:sp>
        <p:nvSpPr>
          <p:cNvPr id="40" name="Text 33">
            <a:extLst>
              <a:ext uri="{FF2B5EF4-FFF2-40B4-BE49-F238E27FC236}">
                <a16:creationId xmlns:a16="http://schemas.microsoft.com/office/drawing/2014/main" id="{8A472A9E-2A38-8300-5F98-C3AEF9E7BB0B}"/>
              </a:ext>
            </a:extLst>
          </p:cNvPr>
          <p:cNvSpPr/>
          <p:nvPr/>
        </p:nvSpPr>
        <p:spPr>
          <a:xfrm>
            <a:off x="3300983" y="3320968"/>
            <a:ext cx="2581477" cy="466494"/>
          </a:xfrm>
          <a:prstGeom prst="rect">
            <a:avLst/>
          </a:prstGeom>
          <a:noFill/>
          <a:ln/>
        </p:spPr>
        <p:txBody>
          <a:bodyPr wrap="square" lIns="0" tIns="0" rIns="0" bIns="0" rtlCol="0" anchor="t"/>
          <a:lstStyle/>
          <a:p>
            <a:pPr marL="0" indent="0">
              <a:buNone/>
            </a:pPr>
            <a:r>
              <a:rPr lang="en-US" sz="1200" i="1" dirty="0">
                <a:solidFill>
                  <a:srgbClr val="333333"/>
                </a:solidFill>
                <a:latin typeface="Garamond" pitchFamily="34" charset="0"/>
                <a:ea typeface="Garamond" pitchFamily="34" charset="-122"/>
                <a:cs typeface="Garamond" pitchFamily="34" charset="-120"/>
              </a:rPr>
              <a:t>Metz, C. (2024, February 8). OpenAI tests AI agent that can take over your computer. The New York Times. https://www.nytimes.com/...</a:t>
            </a:r>
            <a:endParaRPr lang="en-US" sz="1200" dirty="0"/>
          </a:p>
        </p:txBody>
      </p:sp>
      <p:sp>
        <p:nvSpPr>
          <p:cNvPr id="41" name="Shape 34">
            <a:extLst>
              <a:ext uri="{FF2B5EF4-FFF2-40B4-BE49-F238E27FC236}">
                <a16:creationId xmlns:a16="http://schemas.microsoft.com/office/drawing/2014/main" id="{6FB829E1-D0A4-A655-9AAD-C6E38D791AE5}"/>
              </a:ext>
            </a:extLst>
          </p:cNvPr>
          <p:cNvSpPr/>
          <p:nvPr/>
        </p:nvSpPr>
        <p:spPr>
          <a:xfrm>
            <a:off x="6053328" y="2674572"/>
            <a:ext cx="2862072" cy="1185672"/>
          </a:xfrm>
          <a:prstGeom prst="rect">
            <a:avLst/>
          </a:prstGeom>
          <a:solidFill>
            <a:srgbClr val="FFFFFF"/>
          </a:solidFill>
          <a:ln w="10160">
            <a:solidFill>
              <a:srgbClr val="D0D8E4"/>
            </a:solidFill>
            <a:prstDash val="solid"/>
          </a:ln>
          <a:effectLst>
            <a:outerShdw blurRad="50800" dist="25400" dir="8100000" algn="bl" rotWithShape="0">
              <a:srgbClr val="000000">
                <a:alpha val="7000"/>
              </a:srgbClr>
            </a:outerShdw>
          </a:effectLst>
        </p:spPr>
        <p:txBody>
          <a:bodyPr/>
          <a:lstStyle/>
          <a:p>
            <a:endParaRPr lang="en-US" sz="1200"/>
          </a:p>
        </p:txBody>
      </p:sp>
      <p:sp>
        <p:nvSpPr>
          <p:cNvPr id="42" name="Shape 35">
            <a:extLst>
              <a:ext uri="{FF2B5EF4-FFF2-40B4-BE49-F238E27FC236}">
                <a16:creationId xmlns:a16="http://schemas.microsoft.com/office/drawing/2014/main" id="{F65E0323-000C-9B0B-08B9-0664BFB79757}"/>
              </a:ext>
            </a:extLst>
          </p:cNvPr>
          <p:cNvSpPr/>
          <p:nvPr/>
        </p:nvSpPr>
        <p:spPr>
          <a:xfrm>
            <a:off x="6053327" y="2674572"/>
            <a:ext cx="56119" cy="1185672"/>
          </a:xfrm>
          <a:prstGeom prst="rect">
            <a:avLst/>
          </a:prstGeom>
          <a:solidFill>
            <a:srgbClr val="00838F"/>
          </a:solidFill>
          <a:ln w="12700">
            <a:solidFill>
              <a:srgbClr val="00838F"/>
            </a:solidFill>
            <a:prstDash val="solid"/>
          </a:ln>
        </p:spPr>
        <p:txBody>
          <a:bodyPr/>
          <a:lstStyle/>
          <a:p>
            <a:endParaRPr lang="en-US" sz="1200"/>
          </a:p>
        </p:txBody>
      </p:sp>
      <p:sp>
        <p:nvSpPr>
          <p:cNvPr id="43" name="Text 36">
            <a:extLst>
              <a:ext uri="{FF2B5EF4-FFF2-40B4-BE49-F238E27FC236}">
                <a16:creationId xmlns:a16="http://schemas.microsoft.com/office/drawing/2014/main" id="{39E80F81-872D-3509-D68B-0C5D6A9C7665}"/>
              </a:ext>
            </a:extLst>
          </p:cNvPr>
          <p:cNvSpPr/>
          <p:nvPr/>
        </p:nvSpPr>
        <p:spPr>
          <a:xfrm>
            <a:off x="6163055" y="2729435"/>
            <a:ext cx="2693715" cy="262403"/>
          </a:xfrm>
          <a:prstGeom prst="rect">
            <a:avLst/>
          </a:prstGeom>
          <a:noFill/>
          <a:ln/>
        </p:spPr>
        <p:txBody>
          <a:bodyPr wrap="square" lIns="0" tIns="0" rIns="0" bIns="0" rtlCol="0" anchor="ctr"/>
          <a:lstStyle/>
          <a:p>
            <a:pPr marL="0" indent="0">
              <a:buNone/>
            </a:pPr>
            <a:r>
              <a:rPr lang="en-US" sz="1200" b="1" dirty="0">
                <a:solidFill>
                  <a:srgbClr val="00838F"/>
                </a:solidFill>
                <a:latin typeface="Garamond" pitchFamily="34" charset="0"/>
                <a:ea typeface="Garamond" pitchFamily="34" charset="-122"/>
                <a:cs typeface="Garamond" pitchFamily="34" charset="-120"/>
              </a:rPr>
              <a:t>📋  Report / Government Doc</a:t>
            </a:r>
            <a:endParaRPr lang="en-US" sz="1200" dirty="0"/>
          </a:p>
        </p:txBody>
      </p:sp>
      <p:sp>
        <p:nvSpPr>
          <p:cNvPr id="44" name="Text 37">
            <a:extLst>
              <a:ext uri="{FF2B5EF4-FFF2-40B4-BE49-F238E27FC236}">
                <a16:creationId xmlns:a16="http://schemas.microsoft.com/office/drawing/2014/main" id="{A7540EBE-ED15-C8A2-672F-4E4370631CDF}"/>
              </a:ext>
            </a:extLst>
          </p:cNvPr>
          <p:cNvSpPr/>
          <p:nvPr/>
        </p:nvSpPr>
        <p:spPr>
          <a:xfrm>
            <a:off x="6163055" y="2976324"/>
            <a:ext cx="2693715" cy="242966"/>
          </a:xfrm>
          <a:prstGeom prst="rect">
            <a:avLst/>
          </a:prstGeom>
          <a:noFill/>
          <a:ln/>
        </p:spPr>
        <p:txBody>
          <a:bodyPr wrap="square" lIns="0" tIns="0" rIns="0" bIns="0" rtlCol="0" anchor="ctr"/>
          <a:lstStyle/>
          <a:p>
            <a:pPr marL="0" indent="0">
              <a:buNone/>
            </a:pPr>
            <a:r>
              <a:rPr lang="en-US" sz="1200" dirty="0">
                <a:solidFill>
                  <a:srgbClr val="444444"/>
                </a:solidFill>
                <a:latin typeface="Garamond" pitchFamily="34" charset="0"/>
                <a:ea typeface="Garamond" pitchFamily="34" charset="-122"/>
                <a:cs typeface="Garamond" pitchFamily="34" charset="-120"/>
              </a:rPr>
              <a:t>Author(s) or Dept. (Year). Title (Report No.). Publisher. URL</a:t>
            </a:r>
            <a:endParaRPr lang="en-US" sz="1200" dirty="0"/>
          </a:p>
        </p:txBody>
      </p:sp>
      <p:sp>
        <p:nvSpPr>
          <p:cNvPr id="45" name="Shape 38">
            <a:extLst>
              <a:ext uri="{FF2B5EF4-FFF2-40B4-BE49-F238E27FC236}">
                <a16:creationId xmlns:a16="http://schemas.microsoft.com/office/drawing/2014/main" id="{1C7D6844-FCE8-1BFA-C883-1FEEBFF468ED}"/>
              </a:ext>
            </a:extLst>
          </p:cNvPr>
          <p:cNvSpPr/>
          <p:nvPr/>
        </p:nvSpPr>
        <p:spPr>
          <a:xfrm>
            <a:off x="6163056" y="3335927"/>
            <a:ext cx="2675008" cy="605663"/>
          </a:xfrm>
          <a:prstGeom prst="rect">
            <a:avLst/>
          </a:prstGeom>
          <a:solidFill>
            <a:srgbClr val="EEF4FB"/>
          </a:solidFill>
          <a:ln w="6350">
            <a:solidFill>
              <a:srgbClr val="C9D9EE"/>
            </a:solidFill>
            <a:prstDash val="solid"/>
          </a:ln>
        </p:spPr>
        <p:txBody>
          <a:bodyPr/>
          <a:lstStyle/>
          <a:p>
            <a:endParaRPr lang="en-US" sz="1200"/>
          </a:p>
        </p:txBody>
      </p:sp>
      <p:sp>
        <p:nvSpPr>
          <p:cNvPr id="46" name="Text 39">
            <a:extLst>
              <a:ext uri="{FF2B5EF4-FFF2-40B4-BE49-F238E27FC236}">
                <a16:creationId xmlns:a16="http://schemas.microsoft.com/office/drawing/2014/main" id="{53263451-9130-3F18-87FF-B8CCD1D1F77E}"/>
              </a:ext>
            </a:extLst>
          </p:cNvPr>
          <p:cNvSpPr/>
          <p:nvPr/>
        </p:nvSpPr>
        <p:spPr>
          <a:xfrm>
            <a:off x="6199631" y="3345645"/>
            <a:ext cx="2581477" cy="466494"/>
          </a:xfrm>
          <a:prstGeom prst="rect">
            <a:avLst/>
          </a:prstGeom>
          <a:noFill/>
          <a:ln/>
        </p:spPr>
        <p:txBody>
          <a:bodyPr wrap="square" lIns="0" tIns="0" rIns="0" bIns="0" rtlCol="0" anchor="t"/>
          <a:lstStyle/>
          <a:p>
            <a:pPr marL="0" indent="0">
              <a:buNone/>
            </a:pPr>
            <a:r>
              <a:rPr lang="en-US" sz="1200" i="1" dirty="0">
                <a:solidFill>
                  <a:srgbClr val="333333"/>
                </a:solidFill>
                <a:latin typeface="Garamond" pitchFamily="34" charset="0"/>
                <a:ea typeface="Garamond" pitchFamily="34" charset="-122"/>
                <a:cs typeface="Garamond" pitchFamily="34" charset="-120"/>
              </a:rPr>
              <a:t>Australian Government. (2023). Safe and responsible AI in Australia: Discussion paper. Department of Industry. https://...</a:t>
            </a:r>
            <a:endParaRPr lang="en-US" sz="1200" dirty="0"/>
          </a:p>
        </p:txBody>
      </p:sp>
      <p:sp>
        <p:nvSpPr>
          <p:cNvPr id="47" name="Shape 40">
            <a:extLst>
              <a:ext uri="{FF2B5EF4-FFF2-40B4-BE49-F238E27FC236}">
                <a16:creationId xmlns:a16="http://schemas.microsoft.com/office/drawing/2014/main" id="{19CD5B98-2A65-1E79-A8E1-9DFAF304D199}"/>
              </a:ext>
            </a:extLst>
          </p:cNvPr>
          <p:cNvSpPr/>
          <p:nvPr/>
        </p:nvSpPr>
        <p:spPr>
          <a:xfrm>
            <a:off x="242315" y="4110953"/>
            <a:ext cx="8659369" cy="699741"/>
          </a:xfrm>
          <a:prstGeom prst="rect">
            <a:avLst/>
          </a:prstGeom>
          <a:solidFill>
            <a:srgbClr val="002B5C"/>
          </a:solidFill>
          <a:ln w="12700">
            <a:solidFill>
              <a:srgbClr val="002B5C"/>
            </a:solidFill>
            <a:prstDash val="solid"/>
          </a:ln>
        </p:spPr>
        <p:txBody>
          <a:bodyPr/>
          <a:lstStyle/>
          <a:p>
            <a:endParaRPr lang="en-US" sz="1200"/>
          </a:p>
        </p:txBody>
      </p:sp>
      <p:sp>
        <p:nvSpPr>
          <p:cNvPr id="48" name="Text 41">
            <a:extLst>
              <a:ext uri="{FF2B5EF4-FFF2-40B4-BE49-F238E27FC236}">
                <a16:creationId xmlns:a16="http://schemas.microsoft.com/office/drawing/2014/main" id="{CF91098E-3C55-8447-2B78-CB483757494D}"/>
              </a:ext>
            </a:extLst>
          </p:cNvPr>
          <p:cNvSpPr/>
          <p:nvPr/>
        </p:nvSpPr>
        <p:spPr>
          <a:xfrm>
            <a:off x="242317" y="4094790"/>
            <a:ext cx="2226056" cy="621992"/>
          </a:xfrm>
          <a:prstGeom prst="rect">
            <a:avLst/>
          </a:prstGeom>
          <a:noFill/>
          <a:ln/>
        </p:spPr>
        <p:txBody>
          <a:bodyPr wrap="square" lIns="0" tIns="0" rIns="0" bIns="0" rtlCol="0" anchor="ctr"/>
          <a:lstStyle/>
          <a:p>
            <a:pPr marL="0" indent="0">
              <a:buNone/>
            </a:pPr>
            <a:r>
              <a:rPr lang="en-US" sz="1200" b="1" dirty="0">
                <a:solidFill>
                  <a:srgbClr val="00A887"/>
                </a:solidFill>
                <a:latin typeface="Garamond" pitchFamily="34" charset="0"/>
                <a:ea typeface="Garamond" pitchFamily="34" charset="-122"/>
                <a:cs typeface="Garamond" pitchFamily="34" charset="-120"/>
              </a:rPr>
              <a:t>✦  </a:t>
            </a:r>
            <a:r>
              <a:rPr lang="en-US" sz="1200" dirty="0">
                <a:solidFill>
                  <a:srgbClr val="C8D8EE"/>
                </a:solidFill>
                <a:latin typeface="Garamond" pitchFamily="34" charset="0"/>
                <a:ea typeface="Garamond" pitchFamily="34" charset="-122"/>
                <a:cs typeface="Garamond" pitchFamily="34" charset="-120"/>
              </a:rPr>
              <a:t>Hanging indent: first line flush, rest indented 0.5"</a:t>
            </a:r>
            <a:endParaRPr lang="en-US" sz="1200" dirty="0"/>
          </a:p>
        </p:txBody>
      </p:sp>
      <p:sp>
        <p:nvSpPr>
          <p:cNvPr id="49" name="Text 42">
            <a:extLst>
              <a:ext uri="{FF2B5EF4-FFF2-40B4-BE49-F238E27FC236}">
                <a16:creationId xmlns:a16="http://schemas.microsoft.com/office/drawing/2014/main" id="{EFFE4B98-B37F-1841-F2C1-30CD3B25D21B}"/>
              </a:ext>
            </a:extLst>
          </p:cNvPr>
          <p:cNvSpPr/>
          <p:nvPr/>
        </p:nvSpPr>
        <p:spPr>
          <a:xfrm>
            <a:off x="2482597" y="4094790"/>
            <a:ext cx="2226056" cy="621992"/>
          </a:xfrm>
          <a:prstGeom prst="rect">
            <a:avLst/>
          </a:prstGeom>
          <a:noFill/>
          <a:ln/>
        </p:spPr>
        <p:txBody>
          <a:bodyPr wrap="square" lIns="0" tIns="0" rIns="0" bIns="0" rtlCol="0" anchor="ctr"/>
          <a:lstStyle/>
          <a:p>
            <a:pPr marL="0" indent="0">
              <a:buNone/>
            </a:pPr>
            <a:r>
              <a:rPr lang="en-US" sz="1200" b="1" dirty="0">
                <a:solidFill>
                  <a:srgbClr val="00A887"/>
                </a:solidFill>
                <a:latin typeface="Garamond" pitchFamily="34" charset="0"/>
                <a:ea typeface="Garamond" pitchFamily="34" charset="-122"/>
                <a:cs typeface="Garamond" pitchFamily="34" charset="-120"/>
              </a:rPr>
              <a:t>✦  </a:t>
            </a:r>
            <a:r>
              <a:rPr lang="en-US" sz="1200" dirty="0">
                <a:solidFill>
                  <a:srgbClr val="C8D8EE"/>
                </a:solidFill>
                <a:latin typeface="Garamond" pitchFamily="34" charset="0"/>
                <a:ea typeface="Garamond" pitchFamily="34" charset="-122"/>
                <a:cs typeface="Garamond" pitchFamily="34" charset="-120"/>
              </a:rPr>
              <a:t>Alphabetical order by first author's surname</a:t>
            </a:r>
            <a:endParaRPr lang="en-US" sz="1200" dirty="0"/>
          </a:p>
        </p:txBody>
      </p:sp>
      <p:sp>
        <p:nvSpPr>
          <p:cNvPr id="50" name="Text 43">
            <a:extLst>
              <a:ext uri="{FF2B5EF4-FFF2-40B4-BE49-F238E27FC236}">
                <a16:creationId xmlns:a16="http://schemas.microsoft.com/office/drawing/2014/main" id="{641948B1-53EE-19EE-6ADD-A51FBCAB4419}"/>
              </a:ext>
            </a:extLst>
          </p:cNvPr>
          <p:cNvSpPr/>
          <p:nvPr/>
        </p:nvSpPr>
        <p:spPr>
          <a:xfrm>
            <a:off x="4722877" y="4094790"/>
            <a:ext cx="2226056" cy="621992"/>
          </a:xfrm>
          <a:prstGeom prst="rect">
            <a:avLst/>
          </a:prstGeom>
          <a:noFill/>
          <a:ln/>
        </p:spPr>
        <p:txBody>
          <a:bodyPr wrap="square" lIns="0" tIns="0" rIns="0" bIns="0" rtlCol="0" anchor="ctr"/>
          <a:lstStyle/>
          <a:p>
            <a:pPr marL="0" indent="0">
              <a:buNone/>
            </a:pPr>
            <a:r>
              <a:rPr lang="en-US" sz="1200" b="1" dirty="0">
                <a:solidFill>
                  <a:srgbClr val="00A887"/>
                </a:solidFill>
                <a:latin typeface="Garamond" pitchFamily="34" charset="0"/>
                <a:ea typeface="Garamond" pitchFamily="34" charset="-122"/>
                <a:cs typeface="Garamond" pitchFamily="34" charset="-120"/>
              </a:rPr>
              <a:t>✦  </a:t>
            </a:r>
            <a:r>
              <a:rPr lang="en-US" sz="1200" dirty="0">
                <a:solidFill>
                  <a:srgbClr val="C8D8EE"/>
                </a:solidFill>
                <a:latin typeface="Garamond" pitchFamily="34" charset="0"/>
                <a:ea typeface="Garamond" pitchFamily="34" charset="-122"/>
                <a:cs typeface="Garamond" pitchFamily="34" charset="-120"/>
              </a:rPr>
              <a:t>DOI preferred over URL; omit if unavailable</a:t>
            </a:r>
            <a:endParaRPr lang="en-US" sz="1200" dirty="0"/>
          </a:p>
        </p:txBody>
      </p:sp>
      <p:sp>
        <p:nvSpPr>
          <p:cNvPr id="51" name="Text 44">
            <a:extLst>
              <a:ext uri="{FF2B5EF4-FFF2-40B4-BE49-F238E27FC236}">
                <a16:creationId xmlns:a16="http://schemas.microsoft.com/office/drawing/2014/main" id="{D079F58D-FDC4-2321-4908-777F274F5483}"/>
              </a:ext>
            </a:extLst>
          </p:cNvPr>
          <p:cNvSpPr/>
          <p:nvPr/>
        </p:nvSpPr>
        <p:spPr>
          <a:xfrm>
            <a:off x="6963157" y="4094790"/>
            <a:ext cx="1804236" cy="621992"/>
          </a:xfrm>
          <a:prstGeom prst="rect">
            <a:avLst/>
          </a:prstGeom>
          <a:noFill/>
          <a:ln/>
        </p:spPr>
        <p:txBody>
          <a:bodyPr wrap="square" lIns="0" tIns="0" rIns="0" bIns="0" rtlCol="0" anchor="ctr"/>
          <a:lstStyle/>
          <a:p>
            <a:pPr marL="0" indent="0">
              <a:buNone/>
            </a:pPr>
            <a:r>
              <a:rPr lang="en-US" sz="1200" b="1" dirty="0">
                <a:solidFill>
                  <a:srgbClr val="00A887"/>
                </a:solidFill>
                <a:latin typeface="Garamond" pitchFamily="34" charset="0"/>
                <a:ea typeface="Garamond" pitchFamily="34" charset="-122"/>
                <a:cs typeface="Garamond" pitchFamily="34" charset="-120"/>
              </a:rPr>
              <a:t>✦  </a:t>
            </a:r>
            <a:r>
              <a:rPr lang="en-US" sz="1200" dirty="0">
                <a:solidFill>
                  <a:srgbClr val="C8D8EE"/>
                </a:solidFill>
                <a:latin typeface="Garamond" pitchFamily="34" charset="0"/>
                <a:ea typeface="Garamond" pitchFamily="34" charset="-122"/>
                <a:cs typeface="Garamond" pitchFamily="34" charset="-120"/>
              </a:rPr>
              <a:t>No 'Retrieved from' unless content changes over time</a:t>
            </a:r>
            <a:endParaRPr lang="en-US" sz="1200" dirty="0"/>
          </a:p>
        </p:txBody>
      </p:sp>
    </p:spTree>
    <p:extLst>
      <p:ext uri="{BB962C8B-B14F-4D97-AF65-F5344CB8AC3E}">
        <p14:creationId xmlns:p14="http://schemas.microsoft.com/office/powerpoint/2010/main" val="1056527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6400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600" b="1">
                <a:solidFill>
                  <a:srgbClr val="FFFFFF"/>
                </a:solidFill>
                <a:latin typeface="Garamond"/>
              </a:rPr>
              <a:t>Stage 5 &amp; 6: Dissemination &amp; Feedback</a:t>
            </a:r>
          </a:p>
        </p:txBody>
      </p:sp>
      <p:sp>
        <p:nvSpPr>
          <p:cNvPr id="7" name="TB7"/>
          <p:cNvSpPr txBox="1"/>
          <p:nvPr/>
        </p:nvSpPr>
        <p:spPr>
          <a:xfrm>
            <a:off x="228600" y="900000"/>
            <a:ext cx="8686800" cy="353943"/>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700" i="1" dirty="0">
                <a:solidFill>
                  <a:srgbClr val="006DAE"/>
                </a:solidFill>
                <a:latin typeface="Garamond"/>
              </a:rPr>
              <a:t>Dissemination: passing the finished intelligence product to stakeholders. Feedback: iterating based on their response.</a:t>
            </a:r>
          </a:p>
        </p:txBody>
      </p:sp>
      <p:sp>
        <p:nvSpPr>
          <p:cNvPr id="8" name="Box8"/>
          <p:cNvSpPr/>
          <p:nvPr/>
        </p:nvSpPr>
        <p:spPr>
          <a:xfrm>
            <a:off x="274320" y="1350000"/>
            <a:ext cx="2600000" cy="135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600"/>
          </a:p>
        </p:txBody>
      </p:sp>
      <p:sp>
        <p:nvSpPr>
          <p:cNvPr id="9" name="TB9"/>
          <p:cNvSpPr txBox="1"/>
          <p:nvPr/>
        </p:nvSpPr>
        <p:spPr>
          <a:xfrm>
            <a:off x="370000" y="1420000"/>
            <a:ext cx="2420000" cy="1323439"/>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a:solidFill>
                  <a:srgbClr val="002B5C"/>
                </a:solidFill>
                <a:latin typeface="Garamond"/>
              </a:rPr>
              <a:t>Research Reports</a:t>
            </a:r>
          </a:p>
          <a:p>
            <a:pPr algn="l"/>
            <a:r>
              <a:rPr sz="1600">
                <a:solidFill>
                  <a:srgbClr val="1A1A1A"/>
                </a:solidFill>
                <a:latin typeface="Garamond"/>
              </a:rPr>
              <a:t>Written documents for management review and decision-making (e.g. Assignment 1)</a:t>
            </a:r>
          </a:p>
        </p:txBody>
      </p:sp>
      <p:sp>
        <p:nvSpPr>
          <p:cNvPr id="10" name="Box10"/>
          <p:cNvSpPr/>
          <p:nvPr/>
        </p:nvSpPr>
        <p:spPr>
          <a:xfrm>
            <a:off x="3200000" y="1350000"/>
            <a:ext cx="2600000" cy="135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600"/>
          </a:p>
        </p:txBody>
      </p:sp>
      <p:sp>
        <p:nvSpPr>
          <p:cNvPr id="11" name="TB11"/>
          <p:cNvSpPr txBox="1"/>
          <p:nvPr/>
        </p:nvSpPr>
        <p:spPr>
          <a:xfrm>
            <a:off x="3290000" y="1420000"/>
            <a:ext cx="2450000" cy="1077218"/>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a:solidFill>
                  <a:srgbClr val="002B5C"/>
                </a:solidFill>
                <a:latin typeface="Garamond"/>
              </a:rPr>
              <a:t>A Tool or System</a:t>
            </a:r>
          </a:p>
          <a:p>
            <a:pPr algn="l"/>
            <a:r>
              <a:rPr sz="1600">
                <a:solidFill>
                  <a:srgbClr val="1A1A1A"/>
                </a:solidFill>
                <a:latin typeface="Garamond"/>
              </a:rPr>
              <a:t>Software, dashboard, or prototype that implements research findings</a:t>
            </a:r>
          </a:p>
        </p:txBody>
      </p:sp>
      <p:sp>
        <p:nvSpPr>
          <p:cNvPr id="12" name="Box12"/>
          <p:cNvSpPr/>
          <p:nvPr/>
        </p:nvSpPr>
        <p:spPr>
          <a:xfrm>
            <a:off x="6100000" y="1350000"/>
            <a:ext cx="2700000" cy="1350000"/>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600"/>
          </a:p>
        </p:txBody>
      </p:sp>
      <p:sp>
        <p:nvSpPr>
          <p:cNvPr id="13" name="TB13"/>
          <p:cNvSpPr txBox="1"/>
          <p:nvPr/>
        </p:nvSpPr>
        <p:spPr>
          <a:xfrm>
            <a:off x="6190000" y="1420000"/>
            <a:ext cx="2530000" cy="1077218"/>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a:solidFill>
                  <a:srgbClr val="002B5C"/>
                </a:solidFill>
                <a:latin typeface="Garamond"/>
              </a:rPr>
              <a:t>Recommended Process</a:t>
            </a:r>
          </a:p>
          <a:p>
            <a:pPr algn="l"/>
            <a:r>
              <a:rPr sz="1600">
                <a:solidFill>
                  <a:srgbClr val="1A1A1A"/>
                </a:solidFill>
                <a:latin typeface="Garamond"/>
              </a:rPr>
              <a:t>A proposed new workflow or policy for the organisation to adopt</a:t>
            </a:r>
          </a:p>
        </p:txBody>
      </p:sp>
      <p:sp>
        <p:nvSpPr>
          <p:cNvPr id="14" name="TB14"/>
          <p:cNvSpPr txBox="1"/>
          <p:nvPr/>
        </p:nvSpPr>
        <p:spPr>
          <a:xfrm>
            <a:off x="274320" y="3000000"/>
            <a:ext cx="8503920" cy="156966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dirty="0">
                <a:solidFill>
                  <a:srgbClr val="002B5C"/>
                </a:solidFill>
                <a:latin typeface="Garamond"/>
              </a:rPr>
              <a:t>Why does feedback matter?</a:t>
            </a:r>
          </a:p>
          <a:p>
            <a:pPr algn="l"/>
            <a:r>
              <a:rPr sz="1600" dirty="0">
                <a:solidFill>
                  <a:srgbClr val="1A1A1A"/>
                </a:solidFill>
                <a:latin typeface="Garamond"/>
              </a:rPr>
              <a:t>Feedback closes the loop. It tells you whether your intelligence was actionable, what was missing, and where to refine. Good researchers are not defensive — they use feedback to improve.</a:t>
            </a:r>
          </a:p>
          <a:p>
            <a:pPr algn="l"/>
            <a:r>
              <a:rPr sz="1600" dirty="0">
                <a:solidFill>
                  <a:srgbClr val="1A1A1A"/>
                </a:solidFill>
                <a:latin typeface="Garamond"/>
              </a:rPr>
              <a:t> </a:t>
            </a:r>
          </a:p>
          <a:p>
            <a:pPr algn="l"/>
            <a:r>
              <a:rPr sz="1600" i="1" dirty="0">
                <a:solidFill>
                  <a:srgbClr val="006DAE"/>
                </a:solidFill>
                <a:latin typeface="Garamond"/>
              </a:rPr>
              <a:t>In Assignment 1: Your report is a dissemination output. Markers provide feedback — use it to improve for future assignments.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SideBar"/>
          <p:cNvSpPr/>
          <p:nvPr/>
        </p:nvSpPr>
        <p:spPr>
          <a:xfrm>
            <a:off x="0" y="0"/>
            <a:ext cx="27432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Accent"/>
          <p:cNvSpPr/>
          <p:nvPr/>
        </p:nvSpPr>
        <p:spPr>
          <a:xfrm>
            <a:off x="457200" y="2900000"/>
            <a:ext cx="3657600" cy="54864"/>
          </a:xfrm>
          <a:prstGeom prst="rect">
            <a:avLst/>
          </a:prstGeom>
          <a:solidFill>
            <a:srgbClr val="5BC2E7"/>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TB4"/>
          <p:cNvSpPr txBox="1"/>
          <p:nvPr/>
        </p:nvSpPr>
        <p:spPr>
          <a:xfrm>
            <a:off x="457200" y="1371600"/>
            <a:ext cx="8229600" cy="10972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3600" b="1">
                <a:solidFill>
                  <a:srgbClr val="FFFFFF"/>
                </a:solidFill>
                <a:latin typeface="Garamond"/>
              </a:rPr>
              <a:t>Part 4: Writing a Good Research Report</a:t>
            </a:r>
          </a:p>
        </p:txBody>
      </p:sp>
      <p:sp>
        <p:nvSpPr>
          <p:cNvPr id="5" name="TB5"/>
          <p:cNvSpPr txBox="1"/>
          <p:nvPr/>
        </p:nvSpPr>
        <p:spPr>
          <a:xfrm>
            <a:off x="457200" y="3050000"/>
            <a:ext cx="8229600" cy="430887"/>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200" i="1">
                <a:solidFill>
                  <a:srgbClr val="5BC2E7"/>
                </a:solidFill>
                <a:latin typeface="Garamond"/>
              </a:rPr>
              <a:t>Structure, narrative, and evidence — for Assignment 1</a:t>
            </a:r>
          </a:p>
        </p:txBody>
      </p:sp>
      <p:sp>
        <p:nvSpPr>
          <p:cNvPr id="6" name="TB6"/>
          <p:cNvSpPr txBox="1"/>
          <p:nvPr/>
        </p:nvSpPr>
        <p:spPr>
          <a:xfrm>
            <a:off x="457200" y="4846320"/>
            <a:ext cx="8229600" cy="2286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900">
                <a:solidFill>
                  <a:srgbClr val="5BC2E7"/>
                </a:solidFill>
                <a:latin typeface="Garamond"/>
              </a:rPr>
              <a:t>FIT1055: IT Professional Practice and Ethics  |  Week 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6400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600" b="1" dirty="0">
                <a:solidFill>
                  <a:srgbClr val="FFFFFF"/>
                </a:solidFill>
                <a:latin typeface="Garamond"/>
              </a:rPr>
              <a:t>Report Structure Overview</a:t>
            </a:r>
          </a:p>
        </p:txBody>
      </p:sp>
      <p:sp>
        <p:nvSpPr>
          <p:cNvPr id="7" name="TB7"/>
          <p:cNvSpPr txBox="1"/>
          <p:nvPr/>
        </p:nvSpPr>
        <p:spPr>
          <a:xfrm>
            <a:off x="228600" y="900000"/>
            <a:ext cx="8686800" cy="32316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500" i="1">
                <a:solidFill>
                  <a:srgbClr val="006DAE"/>
                </a:solidFill>
                <a:latin typeface="Garamond"/>
              </a:rPr>
              <a:t>A strong report has a logical, narrative structure that flows from context → evidence → conclusion.</a:t>
            </a:r>
          </a:p>
        </p:txBody>
      </p:sp>
      <p:sp>
        <p:nvSpPr>
          <p:cNvPr id="8" name="Box8"/>
          <p:cNvSpPr/>
          <p:nvPr/>
        </p:nvSpPr>
        <p:spPr>
          <a:xfrm>
            <a:off x="274320" y="1320000"/>
            <a:ext cx="1550000" cy="2800000"/>
          </a:xfrm>
          <a:prstGeom prst="rect">
            <a:avLst/>
          </a:prstGeom>
          <a:solidFill>
            <a:srgbClr val="F0F8FF"/>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500"/>
          </a:p>
        </p:txBody>
      </p:sp>
      <p:sp>
        <p:nvSpPr>
          <p:cNvPr id="9" name="TB9"/>
          <p:cNvSpPr txBox="1"/>
          <p:nvPr/>
        </p:nvSpPr>
        <p:spPr>
          <a:xfrm>
            <a:off x="340000" y="1400000"/>
            <a:ext cx="1430000" cy="124649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500" b="1">
                <a:solidFill>
                  <a:srgbClr val="006DAE"/>
                </a:solidFill>
                <a:latin typeface="Garamond"/>
              </a:rPr>
              <a:t>1</a:t>
            </a:r>
          </a:p>
          <a:p>
            <a:pPr algn="l"/>
            <a:r>
              <a:rPr sz="1500" b="1">
                <a:solidFill>
                  <a:srgbClr val="002B5C"/>
                </a:solidFill>
                <a:latin typeface="Garamond"/>
              </a:rPr>
              <a:t>Introduction</a:t>
            </a:r>
          </a:p>
          <a:p>
            <a:pPr algn="l"/>
            <a:r>
              <a:rPr sz="1500">
                <a:solidFill>
                  <a:srgbClr val="1A1A1A"/>
                </a:solidFill>
                <a:latin typeface="Garamond"/>
              </a:rPr>
              <a:t>Context, definitions, preview of paper</a:t>
            </a:r>
          </a:p>
        </p:txBody>
      </p:sp>
      <p:sp>
        <p:nvSpPr>
          <p:cNvPr id="10" name="Box10"/>
          <p:cNvSpPr/>
          <p:nvPr/>
        </p:nvSpPr>
        <p:spPr>
          <a:xfrm>
            <a:off x="2100000" y="1320000"/>
            <a:ext cx="1550000" cy="2800000"/>
          </a:xfrm>
          <a:prstGeom prst="rect">
            <a:avLst/>
          </a:prstGeom>
          <a:solidFill>
            <a:srgbClr val="F0F8FF"/>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500"/>
          </a:p>
        </p:txBody>
      </p:sp>
      <p:sp>
        <p:nvSpPr>
          <p:cNvPr id="11" name="TB11"/>
          <p:cNvSpPr txBox="1"/>
          <p:nvPr/>
        </p:nvSpPr>
        <p:spPr>
          <a:xfrm>
            <a:off x="2170000" y="1400000"/>
            <a:ext cx="1430000" cy="1938992"/>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500" b="1">
                <a:solidFill>
                  <a:srgbClr val="006DAE"/>
                </a:solidFill>
                <a:latin typeface="Garamond"/>
              </a:rPr>
              <a:t>2</a:t>
            </a:r>
          </a:p>
          <a:p>
            <a:pPr algn="l"/>
            <a:r>
              <a:rPr sz="1500" b="1">
                <a:solidFill>
                  <a:srgbClr val="002B5C"/>
                </a:solidFill>
                <a:latin typeface="Garamond"/>
              </a:rPr>
              <a:t>Literature Review</a:t>
            </a:r>
          </a:p>
          <a:p>
            <a:pPr algn="l"/>
            <a:r>
              <a:rPr sz="1500">
                <a:solidFill>
                  <a:srgbClr val="1A1A1A"/>
                </a:solidFill>
                <a:latin typeface="Garamond"/>
              </a:rPr>
              <a:t>What others have found — integrated analysis of sources</a:t>
            </a:r>
          </a:p>
        </p:txBody>
      </p:sp>
      <p:sp>
        <p:nvSpPr>
          <p:cNvPr id="12" name="Box12"/>
          <p:cNvSpPr/>
          <p:nvPr/>
        </p:nvSpPr>
        <p:spPr>
          <a:xfrm>
            <a:off x="3930000" y="1320000"/>
            <a:ext cx="1550000" cy="2800000"/>
          </a:xfrm>
          <a:prstGeom prst="rect">
            <a:avLst/>
          </a:prstGeom>
          <a:solidFill>
            <a:srgbClr val="F0F8FF"/>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500"/>
          </a:p>
        </p:txBody>
      </p:sp>
      <p:sp>
        <p:nvSpPr>
          <p:cNvPr id="13" name="TB13"/>
          <p:cNvSpPr txBox="1"/>
          <p:nvPr/>
        </p:nvSpPr>
        <p:spPr>
          <a:xfrm>
            <a:off x="4000000" y="1400000"/>
            <a:ext cx="1430000" cy="170816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500" b="1">
                <a:solidFill>
                  <a:srgbClr val="006DAE"/>
                </a:solidFill>
                <a:latin typeface="Garamond"/>
              </a:rPr>
              <a:t>3</a:t>
            </a:r>
          </a:p>
          <a:p>
            <a:pPr algn="l"/>
            <a:r>
              <a:rPr sz="1500" b="1">
                <a:solidFill>
                  <a:srgbClr val="002B5C"/>
                </a:solidFill>
                <a:latin typeface="Garamond"/>
              </a:rPr>
              <a:t>Problem Statement</a:t>
            </a:r>
          </a:p>
          <a:p>
            <a:pPr algn="l"/>
            <a:r>
              <a:rPr sz="1500">
                <a:solidFill>
                  <a:srgbClr val="1A1A1A"/>
                </a:solidFill>
                <a:latin typeface="Garamond"/>
              </a:rPr>
              <a:t>Define the problem, why it matters, attempts to fix it</a:t>
            </a:r>
          </a:p>
        </p:txBody>
      </p:sp>
      <p:sp>
        <p:nvSpPr>
          <p:cNvPr id="14" name="Box14"/>
          <p:cNvSpPr/>
          <p:nvPr/>
        </p:nvSpPr>
        <p:spPr>
          <a:xfrm>
            <a:off x="5760000" y="1320000"/>
            <a:ext cx="1550000" cy="2800000"/>
          </a:xfrm>
          <a:prstGeom prst="rect">
            <a:avLst/>
          </a:prstGeom>
          <a:solidFill>
            <a:srgbClr val="F0F8FF"/>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500"/>
          </a:p>
        </p:txBody>
      </p:sp>
      <p:sp>
        <p:nvSpPr>
          <p:cNvPr id="15" name="TB15"/>
          <p:cNvSpPr txBox="1"/>
          <p:nvPr/>
        </p:nvSpPr>
        <p:spPr>
          <a:xfrm>
            <a:off x="5830000" y="1400000"/>
            <a:ext cx="1430000" cy="1477328"/>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500" b="1">
                <a:solidFill>
                  <a:srgbClr val="006DAE"/>
                </a:solidFill>
                <a:latin typeface="Garamond"/>
              </a:rPr>
              <a:t>4</a:t>
            </a:r>
          </a:p>
          <a:p>
            <a:pPr algn="l"/>
            <a:r>
              <a:rPr sz="1500" b="1">
                <a:solidFill>
                  <a:srgbClr val="002B5C"/>
                </a:solidFill>
                <a:latin typeface="Garamond"/>
              </a:rPr>
              <a:t>Conclusion</a:t>
            </a:r>
          </a:p>
          <a:p>
            <a:pPr algn="l"/>
            <a:r>
              <a:rPr sz="1500">
                <a:solidFill>
                  <a:srgbClr val="1A1A1A"/>
                </a:solidFill>
                <a:latin typeface="Garamond"/>
              </a:rPr>
              <a:t>Restate problem, summarise findings, key takeaways</a:t>
            </a:r>
          </a:p>
        </p:txBody>
      </p:sp>
      <p:sp>
        <p:nvSpPr>
          <p:cNvPr id="16" name="Box16"/>
          <p:cNvSpPr/>
          <p:nvPr/>
        </p:nvSpPr>
        <p:spPr>
          <a:xfrm>
            <a:off x="7590000" y="1320000"/>
            <a:ext cx="1300000" cy="2800000"/>
          </a:xfrm>
          <a:prstGeom prst="rect">
            <a:avLst/>
          </a:prstGeom>
          <a:solidFill>
            <a:srgbClr val="F0F8FF"/>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500"/>
          </a:p>
        </p:txBody>
      </p:sp>
      <p:sp>
        <p:nvSpPr>
          <p:cNvPr id="17" name="TB17"/>
          <p:cNvSpPr txBox="1"/>
          <p:nvPr/>
        </p:nvSpPr>
        <p:spPr>
          <a:xfrm>
            <a:off x="7660000" y="1400000"/>
            <a:ext cx="1180000" cy="124649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500" b="1">
                <a:solidFill>
                  <a:srgbClr val="006DAE"/>
                </a:solidFill>
                <a:latin typeface="Garamond"/>
              </a:rPr>
              <a:t>5</a:t>
            </a:r>
          </a:p>
          <a:p>
            <a:pPr algn="l"/>
            <a:r>
              <a:rPr sz="1500" b="1">
                <a:solidFill>
                  <a:srgbClr val="002B5C"/>
                </a:solidFill>
                <a:latin typeface="Garamond"/>
              </a:rPr>
              <a:t>References</a:t>
            </a:r>
          </a:p>
          <a:p>
            <a:pPr algn="l"/>
            <a:r>
              <a:rPr sz="1500">
                <a:solidFill>
                  <a:srgbClr val="1A1A1A"/>
                </a:solidFill>
                <a:latin typeface="Garamond"/>
              </a:rPr>
              <a:t>APA-7 format, all cited sources</a:t>
            </a:r>
          </a:p>
        </p:txBody>
      </p:sp>
      <p:sp>
        <p:nvSpPr>
          <p:cNvPr id="18" name="TB18"/>
          <p:cNvSpPr txBox="1"/>
          <p:nvPr/>
        </p:nvSpPr>
        <p:spPr>
          <a:xfrm>
            <a:off x="274320" y="4243500"/>
            <a:ext cx="8503920" cy="58477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i="1" dirty="0">
                <a:solidFill>
                  <a:srgbClr val="006DAE"/>
                </a:solidFill>
                <a:latin typeface="Garamond"/>
              </a:rPr>
              <a:t>The title of your investigation should reflect your MAJOR FINDING — not just the topic. E.g. ChatGPT's potential impact in healthcare: Ethical considerations in choosing Large Generative Models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6400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600" b="1">
                <a:solidFill>
                  <a:srgbClr val="FFFFFF"/>
                </a:solidFill>
                <a:latin typeface="Garamond"/>
              </a:rPr>
              <a:t>Section: Introduction</a:t>
            </a:r>
          </a:p>
        </p:txBody>
      </p:sp>
      <p:sp>
        <p:nvSpPr>
          <p:cNvPr id="7" name="TB7"/>
          <p:cNvSpPr txBox="1"/>
          <p:nvPr/>
        </p:nvSpPr>
        <p:spPr>
          <a:xfrm>
            <a:off x="228600" y="900000"/>
            <a:ext cx="8686800" cy="3500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i="1">
                <a:solidFill>
                  <a:srgbClr val="006DAE"/>
                </a:solidFill>
                <a:latin typeface="Garamond"/>
              </a:rPr>
              <a:t>The introduction contextualises your work so that even a reader without background can understand why it matters.</a:t>
            </a:r>
          </a:p>
        </p:txBody>
      </p:sp>
      <p:sp>
        <p:nvSpPr>
          <p:cNvPr id="8" name="TB8"/>
          <p:cNvSpPr txBox="1"/>
          <p:nvPr/>
        </p:nvSpPr>
        <p:spPr>
          <a:xfrm>
            <a:off x="274320" y="1380000"/>
            <a:ext cx="8503920" cy="2308324"/>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dirty="0">
                <a:solidFill>
                  <a:srgbClr val="002B5C"/>
                </a:solidFill>
                <a:latin typeface="Garamond"/>
              </a:rPr>
              <a:t>What to include:</a:t>
            </a:r>
          </a:p>
          <a:p>
            <a:pPr marL="182880" indent="-182880">
              <a:buChar char="▪"/>
            </a:pPr>
            <a:r>
              <a:rPr sz="1600" dirty="0">
                <a:solidFill>
                  <a:srgbClr val="1A1A1A"/>
                </a:solidFill>
                <a:latin typeface="Garamond"/>
              </a:rPr>
              <a:t>Define all key concepts (e.g. Ethical AI, Artificial Intelligence, LLMs)</a:t>
            </a:r>
          </a:p>
          <a:p>
            <a:pPr marL="182880" indent="-182880">
              <a:buChar char="▪"/>
            </a:pPr>
            <a:r>
              <a:rPr sz="1600" dirty="0">
                <a:solidFill>
                  <a:srgbClr val="1A1A1A"/>
                </a:solidFill>
                <a:latin typeface="Garamond"/>
              </a:rPr>
              <a:t>State the significance: Why does this topic matter? Who is affected?</a:t>
            </a:r>
          </a:p>
          <a:p>
            <a:pPr marL="182880" indent="-182880">
              <a:buChar char="▪"/>
            </a:pPr>
            <a:r>
              <a:rPr sz="1600" dirty="0">
                <a:solidFill>
                  <a:srgbClr val="1A1A1A"/>
                </a:solidFill>
                <a:latin typeface="Garamond"/>
              </a:rPr>
              <a:t>Provide 1-2 compelling examples or case studies to motivate the investigation</a:t>
            </a:r>
          </a:p>
          <a:p>
            <a:pPr marL="182880" indent="-182880">
              <a:buChar char="▪"/>
            </a:pPr>
            <a:r>
              <a:rPr sz="1600" dirty="0">
                <a:solidFill>
                  <a:srgbClr val="1A1A1A"/>
                </a:solidFill>
                <a:latin typeface="Garamond"/>
              </a:rPr>
              <a:t>End with a preview: 'In this report, we will first review… then… and conclude with…'</a:t>
            </a:r>
          </a:p>
          <a:p>
            <a:pPr algn="l"/>
            <a:r>
              <a:rPr sz="1600" dirty="0">
                <a:solidFill>
                  <a:srgbClr val="1A1A1A"/>
                </a:solidFill>
                <a:latin typeface="Garamond"/>
              </a:rPr>
              <a:t> </a:t>
            </a:r>
          </a:p>
          <a:p>
            <a:pPr algn="l"/>
            <a:r>
              <a:rPr sz="1600" b="1" dirty="0">
                <a:solidFill>
                  <a:srgbClr val="002B5C"/>
                </a:solidFill>
                <a:latin typeface="Garamond"/>
              </a:rPr>
              <a:t>Good intro structure (from our scenario):</a:t>
            </a:r>
          </a:p>
          <a:p>
            <a:pPr algn="l"/>
            <a:r>
              <a:rPr sz="1600" i="1" dirty="0">
                <a:solidFill>
                  <a:srgbClr val="006DAE"/>
                </a:solidFill>
                <a:latin typeface="Garamond"/>
              </a:rPr>
              <a:t>1. Define Ethical AI and LLMs  →  2. State healthcare applications  →  3. Show evidence of real harm (case studies with citations)  →  4. Preview the paper's structure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6400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600" b="1">
                <a:solidFill>
                  <a:srgbClr val="FFFFFF"/>
                </a:solidFill>
                <a:latin typeface="Garamond"/>
              </a:rPr>
              <a:t>Section: Literature Review</a:t>
            </a:r>
          </a:p>
        </p:txBody>
      </p:sp>
      <p:sp>
        <p:nvSpPr>
          <p:cNvPr id="7" name="TB7"/>
          <p:cNvSpPr txBox="1"/>
          <p:nvPr/>
        </p:nvSpPr>
        <p:spPr>
          <a:xfrm>
            <a:off x="228600" y="900000"/>
            <a:ext cx="8686800" cy="353943"/>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700" i="1">
                <a:solidFill>
                  <a:srgbClr val="006DAE"/>
                </a:solidFill>
                <a:latin typeface="Garamond"/>
              </a:rPr>
              <a:t>A literature review synthesises what others have found — it is analysis, not just summary.</a:t>
            </a:r>
          </a:p>
        </p:txBody>
      </p:sp>
      <p:sp>
        <p:nvSpPr>
          <p:cNvPr id="8" name="TB8"/>
          <p:cNvSpPr txBox="1"/>
          <p:nvPr/>
        </p:nvSpPr>
        <p:spPr>
          <a:xfrm>
            <a:off x="274320" y="1380000"/>
            <a:ext cx="4200000" cy="2446824"/>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700" b="1" dirty="0">
                <a:solidFill>
                  <a:srgbClr val="002B5C"/>
                </a:solidFill>
                <a:latin typeface="Garamond"/>
              </a:rPr>
              <a:t>Purpose</a:t>
            </a:r>
          </a:p>
          <a:p>
            <a:pPr marL="182880" indent="-182880">
              <a:buChar char="▪"/>
            </a:pPr>
            <a:r>
              <a:rPr sz="1700" dirty="0">
                <a:solidFill>
                  <a:srgbClr val="1A1A1A"/>
                </a:solidFill>
                <a:latin typeface="Garamond"/>
              </a:rPr>
              <a:t>Show familiarity with existing scholarship on your topic</a:t>
            </a:r>
          </a:p>
          <a:p>
            <a:pPr marL="182880" indent="-182880">
              <a:buChar char="▪"/>
            </a:pPr>
            <a:r>
              <a:rPr sz="1700" dirty="0">
                <a:solidFill>
                  <a:srgbClr val="1A1A1A"/>
                </a:solidFill>
                <a:latin typeface="Garamond"/>
              </a:rPr>
              <a:t>Identify gaps, contradictions, and consensus in the research</a:t>
            </a:r>
          </a:p>
          <a:p>
            <a:pPr marL="182880" indent="-182880">
              <a:buChar char="▪"/>
            </a:pPr>
            <a:r>
              <a:rPr sz="1700" dirty="0">
                <a:solidFill>
                  <a:srgbClr val="1A1A1A"/>
                </a:solidFill>
                <a:latin typeface="Garamond"/>
              </a:rPr>
              <a:t>Build the theoretical foundation for your Problem Statement</a:t>
            </a:r>
          </a:p>
          <a:p>
            <a:pPr marL="182880" indent="-182880">
              <a:buChar char="▪"/>
            </a:pPr>
            <a:r>
              <a:rPr sz="1700" dirty="0">
                <a:solidFill>
                  <a:srgbClr val="1A1A1A"/>
                </a:solidFill>
                <a:latin typeface="Garamond"/>
              </a:rPr>
              <a:t>Develop your own analytical narrative (synthesis)</a:t>
            </a:r>
          </a:p>
        </p:txBody>
      </p:sp>
      <p:sp>
        <p:nvSpPr>
          <p:cNvPr id="9" name="TB9"/>
          <p:cNvSpPr txBox="1"/>
          <p:nvPr/>
        </p:nvSpPr>
        <p:spPr>
          <a:xfrm>
            <a:off x="4700000" y="1380000"/>
            <a:ext cx="4200000" cy="2800767"/>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dirty="0">
                <a:solidFill>
                  <a:srgbClr val="002B5C"/>
                </a:solidFill>
                <a:latin typeface="Garamond"/>
              </a:rPr>
              <a:t>How to write it</a:t>
            </a:r>
          </a:p>
          <a:p>
            <a:pPr marL="182880" indent="-182880">
              <a:buChar char="▪"/>
            </a:pPr>
            <a:r>
              <a:rPr sz="1600" dirty="0">
                <a:solidFill>
                  <a:srgbClr val="1A1A1A"/>
                </a:solidFill>
                <a:latin typeface="Garamond"/>
              </a:rPr>
              <a:t>Select studies with compelling evidence for your argument</a:t>
            </a:r>
          </a:p>
          <a:p>
            <a:pPr marL="182880" indent="-182880">
              <a:buChar char="▪"/>
            </a:pPr>
            <a:r>
              <a:rPr sz="1600" dirty="0">
                <a:solidFill>
                  <a:srgbClr val="1A1A1A"/>
                </a:solidFill>
                <a:latin typeface="Garamond"/>
              </a:rPr>
              <a:t>Describe findings + limitations in your own words</a:t>
            </a:r>
          </a:p>
          <a:p>
            <a:pPr marL="182880" indent="-182880">
              <a:buChar char="▪"/>
            </a:pPr>
            <a:r>
              <a:rPr sz="1600" dirty="0">
                <a:solidFill>
                  <a:srgbClr val="1A1A1A"/>
                </a:solidFill>
                <a:latin typeface="Garamond"/>
              </a:rPr>
              <a:t>Connect studies to each other — show how they relate</a:t>
            </a:r>
          </a:p>
          <a:p>
            <a:pPr marL="182880" indent="-182880">
              <a:buChar char="▪"/>
            </a:pPr>
            <a:r>
              <a:rPr sz="1600" dirty="0">
                <a:solidFill>
                  <a:srgbClr val="1A1A1A"/>
                </a:solidFill>
                <a:latin typeface="Garamond"/>
              </a:rPr>
              <a:t>If explaining how a technology works (e.g. LLMs), paraphrase at a high level accessible to any reader</a:t>
            </a:r>
          </a:p>
          <a:p>
            <a:pPr marL="182880" indent="-182880">
              <a:buChar char="▪"/>
            </a:pPr>
            <a:r>
              <a:rPr sz="1600" dirty="0">
                <a:solidFill>
                  <a:srgbClr val="1A1A1A"/>
                </a:solidFill>
                <a:latin typeface="Garamond"/>
              </a:rPr>
              <a:t>Always cite — every claim needs a source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6400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600" b="1">
                <a:solidFill>
                  <a:srgbClr val="FFFFFF"/>
                </a:solidFill>
                <a:latin typeface="Garamond"/>
              </a:rPr>
              <a:t>Section: Problem Statement</a:t>
            </a:r>
          </a:p>
        </p:txBody>
      </p:sp>
      <p:sp>
        <p:nvSpPr>
          <p:cNvPr id="7" name="TB7"/>
          <p:cNvSpPr txBox="1"/>
          <p:nvPr/>
        </p:nvSpPr>
        <p:spPr>
          <a:xfrm>
            <a:off x="228600" y="900000"/>
            <a:ext cx="8686800" cy="646331"/>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i="1" dirty="0">
                <a:solidFill>
                  <a:srgbClr val="006DAE"/>
                </a:solidFill>
                <a:latin typeface="Garamond"/>
              </a:rPr>
              <a:t>The problem statement addresses what the problem is, who is affected, why it matters, and why existing solutions are insufficient.</a:t>
            </a:r>
          </a:p>
        </p:txBody>
      </p:sp>
      <p:sp>
        <p:nvSpPr>
          <p:cNvPr id="8" name="Box8"/>
          <p:cNvSpPr/>
          <p:nvPr/>
        </p:nvSpPr>
        <p:spPr>
          <a:xfrm>
            <a:off x="292060" y="1732173"/>
            <a:ext cx="2515680" cy="2913044"/>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600"/>
          </a:p>
        </p:txBody>
      </p:sp>
      <p:sp>
        <p:nvSpPr>
          <p:cNvPr id="9" name="TB9"/>
          <p:cNvSpPr txBox="1"/>
          <p:nvPr/>
        </p:nvSpPr>
        <p:spPr>
          <a:xfrm>
            <a:off x="377740" y="1812173"/>
            <a:ext cx="2430000" cy="255454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dirty="0">
                <a:solidFill>
                  <a:srgbClr val="006DAE"/>
                </a:solidFill>
                <a:latin typeface="Garamond"/>
              </a:rPr>
              <a:t>Part 1</a:t>
            </a:r>
            <a:r>
              <a:rPr lang="en-US" sz="1600" b="1" dirty="0">
                <a:solidFill>
                  <a:srgbClr val="006DAE"/>
                </a:solidFill>
                <a:latin typeface="Garamond"/>
              </a:rPr>
              <a:t> -  HOW</a:t>
            </a:r>
            <a:endParaRPr sz="1600" b="1" dirty="0">
              <a:solidFill>
                <a:srgbClr val="006DAE"/>
              </a:solidFill>
              <a:latin typeface="Garamond"/>
            </a:endParaRPr>
          </a:p>
          <a:p>
            <a:pPr algn="l"/>
            <a:r>
              <a:rPr sz="1600" b="1" dirty="0">
                <a:solidFill>
                  <a:srgbClr val="002B5C"/>
                </a:solidFill>
                <a:latin typeface="Garamond"/>
              </a:rPr>
              <a:t>How things SHOULD work</a:t>
            </a:r>
            <a:r>
              <a:rPr lang="en-US" sz="1600" b="1" dirty="0">
                <a:solidFill>
                  <a:srgbClr val="002B5C"/>
                </a:solidFill>
                <a:latin typeface="Garamond"/>
              </a:rPr>
              <a:t> under ideal situations?</a:t>
            </a:r>
            <a:endParaRPr sz="1600" b="1" dirty="0">
              <a:solidFill>
                <a:srgbClr val="002B5C"/>
              </a:solidFill>
              <a:latin typeface="Garamond"/>
            </a:endParaRPr>
          </a:p>
          <a:p>
            <a:pPr algn="l"/>
            <a:r>
              <a:rPr sz="1600" dirty="0">
                <a:solidFill>
                  <a:srgbClr val="1A1A1A"/>
                </a:solidFill>
                <a:latin typeface="Garamond"/>
              </a:rPr>
              <a:t> </a:t>
            </a:r>
          </a:p>
          <a:p>
            <a:pPr algn="l"/>
            <a:r>
              <a:rPr sz="1600" i="1" dirty="0">
                <a:solidFill>
                  <a:srgbClr val="1A1A1A"/>
                </a:solidFill>
                <a:latin typeface="Garamond"/>
              </a:rPr>
              <a:t>"ChatGPT, ideally, would improve ER waiting times by helping practitioners triage patient notes in real-time, saving up to 20% of waiting time."</a:t>
            </a:r>
          </a:p>
        </p:txBody>
      </p:sp>
      <p:sp>
        <p:nvSpPr>
          <p:cNvPr id="10" name="Box10"/>
          <p:cNvSpPr/>
          <p:nvPr/>
        </p:nvSpPr>
        <p:spPr>
          <a:xfrm>
            <a:off x="3217740" y="1732172"/>
            <a:ext cx="2540680" cy="2913045"/>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600"/>
          </a:p>
        </p:txBody>
      </p:sp>
      <p:sp>
        <p:nvSpPr>
          <p:cNvPr id="11" name="TB11"/>
          <p:cNvSpPr txBox="1"/>
          <p:nvPr/>
        </p:nvSpPr>
        <p:spPr>
          <a:xfrm>
            <a:off x="3217740" y="1793154"/>
            <a:ext cx="2430000" cy="2852063"/>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dirty="0">
                <a:solidFill>
                  <a:srgbClr val="006DAE"/>
                </a:solidFill>
                <a:latin typeface="Garamond"/>
              </a:rPr>
              <a:t>Part 2</a:t>
            </a:r>
            <a:r>
              <a:rPr lang="en-US" sz="1600" b="1" dirty="0">
                <a:solidFill>
                  <a:srgbClr val="006DAE"/>
                </a:solidFill>
                <a:latin typeface="Garamond"/>
              </a:rPr>
              <a:t> - WHAT</a:t>
            </a:r>
            <a:endParaRPr sz="1600" b="1" dirty="0">
              <a:solidFill>
                <a:srgbClr val="006DAE"/>
              </a:solidFill>
              <a:latin typeface="Garamond"/>
            </a:endParaRPr>
          </a:p>
          <a:p>
            <a:pPr>
              <a:spcAft>
                <a:spcPts val="400"/>
              </a:spcAft>
            </a:pPr>
            <a:r>
              <a:rPr lang="en-US" sz="1600" b="1" dirty="0">
                <a:solidFill>
                  <a:schemeClr val="tx2">
                    <a:lumMod val="75000"/>
                  </a:schemeClr>
                </a:solidFill>
                <a:latin typeface="Garamond" panose="02020404030301010803" pitchFamily="18" charset="0"/>
                <a:ea typeface="Calibri" pitchFamily="34" charset="-122"/>
                <a:cs typeface="Calibri" pitchFamily="34" charset="-120"/>
              </a:rPr>
              <a:t>What are the specific ethical issues that arose from the real-world AI deployment?</a:t>
            </a:r>
            <a:endParaRPr lang="en-US" sz="1600" b="1" dirty="0">
              <a:solidFill>
                <a:schemeClr val="tx2">
                  <a:lumMod val="75000"/>
                </a:schemeClr>
              </a:solidFill>
              <a:latin typeface="Garamond" panose="02020404030301010803" pitchFamily="18" charset="0"/>
            </a:endParaRPr>
          </a:p>
          <a:p>
            <a:pPr algn="l"/>
            <a:r>
              <a:rPr sz="1600" dirty="0">
                <a:solidFill>
                  <a:srgbClr val="1A1A1A"/>
                </a:solidFill>
                <a:latin typeface="Garamond"/>
              </a:rPr>
              <a:t> </a:t>
            </a:r>
          </a:p>
          <a:p>
            <a:pPr algn="l"/>
            <a:r>
              <a:rPr sz="1600" i="1" dirty="0">
                <a:solidFill>
                  <a:srgbClr val="1A1A1A"/>
                </a:solidFill>
                <a:latin typeface="Garamond"/>
              </a:rPr>
              <a:t>"However, ChatGPT has shown bias in triage, affecting patient outcomes and posing danger — particularly for minority populations."</a:t>
            </a:r>
          </a:p>
        </p:txBody>
      </p:sp>
      <p:sp>
        <p:nvSpPr>
          <p:cNvPr id="12" name="Box12"/>
          <p:cNvSpPr/>
          <p:nvPr/>
        </p:nvSpPr>
        <p:spPr>
          <a:xfrm>
            <a:off x="6117740" y="1732173"/>
            <a:ext cx="2630000" cy="2913044"/>
          </a:xfrm>
          <a:prstGeom prst="rect">
            <a:avLst/>
          </a:prstGeom>
          <a:solidFill>
            <a:srgbClr val="EBF5FB"/>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sz="1600"/>
          </a:p>
        </p:txBody>
      </p:sp>
      <p:sp>
        <p:nvSpPr>
          <p:cNvPr id="13" name="TB13"/>
          <p:cNvSpPr txBox="1"/>
          <p:nvPr/>
        </p:nvSpPr>
        <p:spPr>
          <a:xfrm>
            <a:off x="6207740" y="1762662"/>
            <a:ext cx="2540000" cy="2852063"/>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600" b="1" dirty="0">
                <a:solidFill>
                  <a:srgbClr val="006DAE"/>
                </a:solidFill>
                <a:latin typeface="Garamond"/>
              </a:rPr>
              <a:t>Part 3</a:t>
            </a:r>
            <a:r>
              <a:rPr lang="en-US" sz="1600" b="1" dirty="0">
                <a:solidFill>
                  <a:srgbClr val="006DAE"/>
                </a:solidFill>
                <a:latin typeface="Garamond"/>
              </a:rPr>
              <a:t> - WHY</a:t>
            </a:r>
            <a:endParaRPr sz="1600" b="1" dirty="0">
              <a:solidFill>
                <a:srgbClr val="006DAE"/>
              </a:solidFill>
              <a:latin typeface="Garamond"/>
            </a:endParaRPr>
          </a:p>
          <a:p>
            <a:pPr>
              <a:spcAft>
                <a:spcPts val="400"/>
              </a:spcAft>
            </a:pPr>
            <a:r>
              <a:rPr lang="en-US" sz="1600" b="1" dirty="0">
                <a:solidFill>
                  <a:schemeClr val="tx2">
                    <a:lumMod val="75000"/>
                  </a:schemeClr>
                </a:solidFill>
                <a:latin typeface="Garamond" panose="02020404030301010803" pitchFamily="18" charset="0"/>
                <a:ea typeface="Calibri" pitchFamily="34" charset="-122"/>
                <a:cs typeface="Calibri" pitchFamily="34" charset="-120"/>
              </a:rPr>
              <a:t>Why did these ethical issues arise from the AI implementation? What is the root cause?</a:t>
            </a:r>
            <a:endParaRPr lang="en-US" sz="1600" b="1" dirty="0">
              <a:solidFill>
                <a:schemeClr val="tx2">
                  <a:lumMod val="75000"/>
                </a:schemeClr>
              </a:solidFill>
              <a:latin typeface="Garamond" panose="02020404030301010803" pitchFamily="18" charset="0"/>
            </a:endParaRPr>
          </a:p>
          <a:p>
            <a:pPr algn="l"/>
            <a:r>
              <a:rPr sz="1600" dirty="0">
                <a:solidFill>
                  <a:srgbClr val="1A1A1A"/>
                </a:solidFill>
                <a:latin typeface="Garamond"/>
              </a:rPr>
              <a:t> </a:t>
            </a:r>
          </a:p>
          <a:p>
            <a:pPr algn="l"/>
            <a:r>
              <a:rPr sz="1600" i="1" dirty="0">
                <a:solidFill>
                  <a:srgbClr val="1A1A1A"/>
                </a:solidFill>
                <a:latin typeface="Garamond"/>
              </a:rPr>
              <a:t>"Although efforts address hallucinations and bias, issues remain in how data is processed — careful ethical consideration is required before deployment."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6400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600" b="1">
                <a:solidFill>
                  <a:srgbClr val="FFFFFF"/>
                </a:solidFill>
                <a:latin typeface="Garamond"/>
              </a:rPr>
              <a:t>Section: Conclusion</a:t>
            </a:r>
          </a:p>
        </p:txBody>
      </p:sp>
      <p:sp>
        <p:nvSpPr>
          <p:cNvPr id="7" name="TB7"/>
          <p:cNvSpPr txBox="1"/>
          <p:nvPr/>
        </p:nvSpPr>
        <p:spPr>
          <a:xfrm>
            <a:off x="228600" y="900000"/>
            <a:ext cx="8686800" cy="369332"/>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i="1" dirty="0">
                <a:solidFill>
                  <a:srgbClr val="006DAE"/>
                </a:solidFill>
                <a:latin typeface="Garamond"/>
              </a:rPr>
              <a:t>The conclusion wraps up your investigation and leaves the reader with a strong final impression.</a:t>
            </a:r>
          </a:p>
        </p:txBody>
      </p:sp>
      <p:sp>
        <p:nvSpPr>
          <p:cNvPr id="8" name="TB8"/>
          <p:cNvSpPr txBox="1"/>
          <p:nvPr/>
        </p:nvSpPr>
        <p:spPr>
          <a:xfrm>
            <a:off x="274320" y="1380000"/>
            <a:ext cx="8503920" cy="2708434"/>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sz="1700" b="1" dirty="0">
                <a:solidFill>
                  <a:srgbClr val="002B5C"/>
                </a:solidFill>
                <a:latin typeface="Garamond"/>
              </a:rPr>
              <a:t>What to include:</a:t>
            </a:r>
          </a:p>
          <a:p>
            <a:pPr marL="228600" indent="-228600">
              <a:buNone/>
            </a:pPr>
            <a:r>
              <a:rPr sz="1700" b="1" dirty="0">
                <a:solidFill>
                  <a:srgbClr val="006DAE"/>
                </a:solidFill>
                <a:latin typeface="Garamond"/>
              </a:rPr>
              <a:t>1. </a:t>
            </a:r>
            <a:r>
              <a:rPr sz="1700" dirty="0">
                <a:solidFill>
                  <a:srgbClr val="1A1A1A"/>
                </a:solidFill>
                <a:latin typeface="Garamond"/>
              </a:rPr>
              <a:t>Restate the problem statement addressed in the paper</a:t>
            </a:r>
          </a:p>
          <a:p>
            <a:pPr marL="228600" indent="-228600">
              <a:buNone/>
            </a:pPr>
            <a:r>
              <a:rPr sz="1700" b="1" dirty="0">
                <a:solidFill>
                  <a:srgbClr val="006DAE"/>
                </a:solidFill>
                <a:latin typeface="Garamond"/>
              </a:rPr>
              <a:t>2. </a:t>
            </a:r>
            <a:r>
              <a:rPr sz="1700" dirty="0" err="1">
                <a:solidFill>
                  <a:srgbClr val="1A1A1A"/>
                </a:solidFill>
                <a:latin typeface="Garamond"/>
              </a:rPr>
              <a:t>Summarise</a:t>
            </a:r>
            <a:r>
              <a:rPr sz="1700" dirty="0">
                <a:solidFill>
                  <a:srgbClr val="1A1A1A"/>
                </a:solidFill>
                <a:latin typeface="Garamond"/>
              </a:rPr>
              <a:t> your main findings from the literature review</a:t>
            </a:r>
          </a:p>
          <a:p>
            <a:pPr marL="228600" indent="-228600">
              <a:buNone/>
            </a:pPr>
            <a:r>
              <a:rPr sz="1700" b="1" dirty="0">
                <a:solidFill>
                  <a:srgbClr val="006DAE"/>
                </a:solidFill>
                <a:latin typeface="Garamond"/>
              </a:rPr>
              <a:t>3. </a:t>
            </a:r>
            <a:r>
              <a:rPr sz="1700" dirty="0">
                <a:solidFill>
                  <a:srgbClr val="1A1A1A"/>
                </a:solidFill>
                <a:latin typeface="Garamond"/>
              </a:rPr>
              <a:t>State the key takeaways: why is this topic significant? What technical AI issue must developers consider?</a:t>
            </a:r>
          </a:p>
          <a:p>
            <a:pPr algn="l"/>
            <a:r>
              <a:rPr sz="1700" dirty="0">
                <a:solidFill>
                  <a:srgbClr val="1A1A1A"/>
                </a:solidFill>
                <a:latin typeface="Garamond"/>
              </a:rPr>
              <a:t> </a:t>
            </a:r>
          </a:p>
          <a:p>
            <a:pPr algn="l"/>
            <a:r>
              <a:rPr sz="1700" b="1" dirty="0">
                <a:solidFill>
                  <a:srgbClr val="002B5C"/>
                </a:solidFill>
                <a:latin typeface="Garamond"/>
              </a:rPr>
              <a:t>From our scenario:</a:t>
            </a:r>
          </a:p>
          <a:p>
            <a:pPr algn="l"/>
            <a:r>
              <a:rPr sz="1700" i="1" dirty="0">
                <a:solidFill>
                  <a:srgbClr val="006DAE"/>
                </a:solidFill>
                <a:latin typeface="Garamond"/>
              </a:rPr>
              <a:t>"We highlighted studies on ChatGPT in healthcare — showing how it can improve emergency department efficiency when used ideally, but given the current limitations (hallucination, bias), ethical consequences are significant. Future developers should understand the problem domain and technical specifics before deploying AI in critical settings."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SideBar"/>
          <p:cNvSpPr/>
          <p:nvPr/>
        </p:nvSpPr>
        <p:spPr>
          <a:xfrm>
            <a:off x="0" y="0"/>
            <a:ext cx="274320" cy="5143500"/>
          </a:xfrm>
          <a:prstGeom prst="rect">
            <a:avLst/>
          </a:prstGeom>
          <a:solidFill>
            <a:srgbClr val="5BC2E7"/>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TB3"/>
          <p:cNvSpPr txBox="1"/>
          <p:nvPr/>
        </p:nvSpPr>
        <p:spPr>
          <a:xfrm>
            <a:off x="457200" y="1200000"/>
            <a:ext cx="8229600" cy="8000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4000" b="1">
                <a:solidFill>
                  <a:srgbClr val="5BC2E7"/>
                </a:solidFill>
                <a:latin typeface="Garamond"/>
              </a:rPr>
              <a:t>⚡ Quiz 2: Intelligent Research Cycle</a:t>
            </a:r>
          </a:p>
        </p:txBody>
      </p:sp>
      <p:sp>
        <p:nvSpPr>
          <p:cNvPr id="4" name="TB4"/>
          <p:cNvSpPr txBox="1"/>
          <p:nvPr/>
        </p:nvSpPr>
        <p:spPr>
          <a:xfrm>
            <a:off x="457200" y="2200000"/>
            <a:ext cx="8229600" cy="6000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400">
                <a:solidFill>
                  <a:srgbClr val="FFFFFF"/>
                </a:solidFill>
                <a:latin typeface="Garamond"/>
              </a:rPr>
              <a:t>Test your understanding of the full research cycle!</a:t>
            </a:r>
          </a:p>
        </p:txBody>
      </p:sp>
      <p:sp>
        <p:nvSpPr>
          <p:cNvPr id="6" name="TB6"/>
          <p:cNvSpPr txBox="1"/>
          <p:nvPr/>
        </p:nvSpPr>
        <p:spPr>
          <a:xfrm>
            <a:off x="457200" y="4700000"/>
            <a:ext cx="8229600" cy="300000"/>
          </a:xfrm>
          <a:prstGeom prst="rect">
            <a:avLst/>
          </a:prstGeom>
          <a:noFill/>
        </p:spPr>
        <p:style>
          <a:lnRef idx="1">
            <a:schemeClr val="accent1"/>
          </a:lnRef>
          <a:fillRef idx="3">
            <a:schemeClr val="accent1"/>
          </a:fillRef>
          <a:effectRef idx="0">
            <a:schemeClr val="accent1"/>
          </a:effectRef>
          <a:fontRef idx="minor">
            <a:schemeClr val="lt1"/>
          </a:fontRef>
        </p:style>
        <p:txBody>
          <a:bodyPr wrap="square">
            <a:spAutoFit/>
          </a:bodyPr>
          <a:lstStyle/>
          <a:p>
            <a:r>
              <a:rPr sz="900">
                <a:solidFill>
                  <a:srgbClr val="5BC2E7"/>
                </a:solidFill>
                <a:latin typeface="Garamond"/>
              </a:rPr>
              <a:t>FIT1055: IT Professional Practice and Ethics  |  Week 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6400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sz="2600" b="1">
                <a:solidFill>
                  <a:srgbClr val="FFFFFF"/>
                </a:solidFill>
                <a:latin typeface="Garamond"/>
              </a:rPr>
              <a:t>Summary: Week 3 Key Takeaways</a:t>
            </a:r>
          </a:p>
        </p:txBody>
      </p:sp>
      <p:sp>
        <p:nvSpPr>
          <p:cNvPr id="8" name="TB8"/>
          <p:cNvSpPr txBox="1"/>
          <p:nvPr/>
        </p:nvSpPr>
        <p:spPr>
          <a:xfrm>
            <a:off x="274320" y="950000"/>
            <a:ext cx="8503920" cy="2554545"/>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marL="182880" indent="-182880">
              <a:buChar char="✔"/>
            </a:pPr>
            <a:r>
              <a:rPr sz="1600" dirty="0">
                <a:solidFill>
                  <a:schemeClr val="tx1"/>
                </a:solidFill>
                <a:latin typeface="Garamond"/>
              </a:rPr>
              <a:t>There are three types of research sources: primary, secondary, and tertiary — each serves a different purpose in your research</a:t>
            </a:r>
          </a:p>
          <a:p>
            <a:pPr marL="182880" indent="-182880">
              <a:buChar char="✔"/>
            </a:pPr>
            <a:r>
              <a:rPr sz="1600" dirty="0">
                <a:solidFill>
                  <a:schemeClr val="tx1"/>
                </a:solidFill>
                <a:latin typeface="Garamond"/>
              </a:rPr>
              <a:t>The Intelligent Research Cycle (6 stages) converts raw data into professional intelligence through systematic inquiry</a:t>
            </a:r>
          </a:p>
          <a:p>
            <a:pPr marL="182880" indent="-182880">
              <a:buChar char="✔"/>
            </a:pPr>
            <a:r>
              <a:rPr sz="1600" dirty="0">
                <a:solidFill>
                  <a:schemeClr val="tx1"/>
                </a:solidFill>
                <a:latin typeface="Garamond"/>
              </a:rPr>
              <a:t>Use the CRAAS framework (Currency, Relevance, Accuracy, Authority, Stability) to evaluate source quality</a:t>
            </a:r>
          </a:p>
          <a:p>
            <a:pPr marL="182880" indent="-182880">
              <a:buChar char="✔"/>
            </a:pPr>
            <a:r>
              <a:rPr sz="1600" dirty="0">
                <a:solidFill>
                  <a:schemeClr val="tx1"/>
                </a:solidFill>
                <a:latin typeface="Garamond"/>
              </a:rPr>
              <a:t>Integrate and acknowledge all sources using APA-7 — synthesis (in your own words + citation) is the foundation of good analysis</a:t>
            </a:r>
          </a:p>
          <a:p>
            <a:pPr marL="182880" indent="-182880">
              <a:buChar char="✔"/>
            </a:pPr>
            <a:r>
              <a:rPr sz="1600" dirty="0">
                <a:solidFill>
                  <a:schemeClr val="tx1"/>
                </a:solidFill>
                <a:latin typeface="Garamond"/>
              </a:rPr>
              <a:t>A strong research report has logical structure: Introduction → Literature Review → Problem Statement → Conclusion → References (APA-7)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NavyBar"/>
          <p:cNvSpPr/>
          <p:nvPr/>
        </p:nvSpPr>
        <p:spPr>
          <a:xfrm>
            <a:off x="0" y="0"/>
            <a:ext cx="9144000" cy="777240"/>
          </a:xfrm>
          <a:prstGeom prst="rect">
            <a:avLst/>
          </a:prstGeom>
          <a:solidFill>
            <a:srgbClr val="002B5C"/>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3" name="BlueBar"/>
          <p:cNvSpPr/>
          <p:nvPr/>
        </p:nvSpPr>
        <p:spPr>
          <a:xfrm>
            <a:off x="0" y="0"/>
            <a:ext cx="137160" cy="5143500"/>
          </a:xfrm>
          <a:prstGeom prst="rect">
            <a:avLst/>
          </a:prstGeom>
          <a:solidFill>
            <a:srgbClr val="006DAE"/>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4" name="FooterBar"/>
          <p:cNvSpPr/>
          <p:nvPr/>
        </p:nvSpPr>
        <p:spPr>
          <a:xfrm>
            <a:off x="0" y="4892040"/>
            <a:ext cx="9144000" cy="251460"/>
          </a:xfrm>
          <a:prstGeom prst="rect">
            <a:avLst/>
          </a:prstGeom>
          <a:solidFill>
            <a:srgbClr val="F5F5F5"/>
          </a:solidFill>
          <a:ln>
            <a:noFill/>
          </a:ln>
        </p:spPr>
        <p:style>
          <a:lnRef idx="1">
            <a:schemeClr val="accent1"/>
          </a:lnRef>
          <a:fillRef idx="3">
            <a:schemeClr val="accent1"/>
          </a:fillRef>
          <a:effectRef idx="0">
            <a:schemeClr val="accent1"/>
          </a:effectRef>
          <a:fontRef idx="minor">
            <a:schemeClr val="lt1"/>
          </a:fontRef>
        </p:style>
        <p:txBody>
          <a:bodyPr rtlCol="0" anchor="ctr"/>
          <a:lstStyle/>
          <a:p>
            <a:endParaRPr/>
          </a:p>
        </p:txBody>
      </p:sp>
      <p:sp>
        <p:nvSpPr>
          <p:cNvPr id="5" name="Footer"/>
          <p:cNvSpPr txBox="1"/>
          <p:nvPr/>
        </p:nvSpPr>
        <p:spPr>
          <a:xfrm>
            <a:off x="228600" y="4910328"/>
            <a:ext cx="7000000" cy="18288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none">
            <a:spAutoFit/>
          </a:bodyPr>
          <a:lstStyle/>
          <a:p>
            <a:r>
              <a:rPr sz="800">
                <a:solidFill>
                  <a:srgbClr val="027EB5"/>
                </a:solidFill>
                <a:latin typeface="Garamond"/>
              </a:rPr>
              <a:t>FIT1055: IT Professional Practice and Ethics  |  Week 3</a:t>
            </a:r>
          </a:p>
        </p:txBody>
      </p:sp>
      <p:sp>
        <p:nvSpPr>
          <p:cNvPr id="6" name="Title"/>
          <p:cNvSpPr txBox="1"/>
          <p:nvPr/>
        </p:nvSpPr>
        <p:spPr>
          <a:xfrm>
            <a:off x="228600" y="73152"/>
            <a:ext cx="8686800" cy="492443"/>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r>
              <a:rPr lang="en-US" sz="2600" b="1" dirty="0">
                <a:solidFill>
                  <a:srgbClr val="FFFFFF"/>
                </a:solidFill>
                <a:latin typeface="Garamond"/>
              </a:rPr>
              <a:t>Reminder: </a:t>
            </a:r>
            <a:r>
              <a:rPr sz="2600" b="1" dirty="0">
                <a:solidFill>
                  <a:srgbClr val="FFFFFF"/>
                </a:solidFill>
                <a:latin typeface="Garamond"/>
              </a:rPr>
              <a:t>Things To Do This Week</a:t>
            </a:r>
          </a:p>
        </p:txBody>
      </p:sp>
      <p:sp>
        <p:nvSpPr>
          <p:cNvPr id="7" name="TB7"/>
          <p:cNvSpPr txBox="1"/>
          <p:nvPr/>
        </p:nvSpPr>
        <p:spPr>
          <a:xfrm>
            <a:off x="228600" y="900000"/>
            <a:ext cx="8686800" cy="350000"/>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algn="l"/>
            <a:r>
              <a:rPr lang="en-US" sz="1600" i="1" dirty="0">
                <a:solidFill>
                  <a:srgbClr val="006DAE"/>
                </a:solidFill>
                <a:latin typeface="Garamond"/>
              </a:rPr>
              <a:t>No week 4 workshop</a:t>
            </a:r>
            <a:endParaRPr sz="1600" i="1" dirty="0">
              <a:solidFill>
                <a:srgbClr val="006DAE"/>
              </a:solidFill>
              <a:latin typeface="Garamond"/>
            </a:endParaRPr>
          </a:p>
        </p:txBody>
      </p:sp>
      <p:sp>
        <p:nvSpPr>
          <p:cNvPr id="8" name="TB8"/>
          <p:cNvSpPr txBox="1"/>
          <p:nvPr/>
        </p:nvSpPr>
        <p:spPr>
          <a:xfrm>
            <a:off x="274320" y="1380000"/>
            <a:ext cx="8503920" cy="615553"/>
          </a:xfrm>
          <a:prstGeom prst="rect">
            <a:avLst/>
          </a:prstGeom>
          <a:noFill/>
          <a:ln>
            <a:noFill/>
          </a:ln>
        </p:spPr>
        <p:style>
          <a:lnRef idx="1">
            <a:schemeClr val="accent1"/>
          </a:lnRef>
          <a:fillRef idx="3">
            <a:schemeClr val="accent1"/>
          </a:fillRef>
          <a:effectRef idx="0">
            <a:schemeClr val="accent1"/>
          </a:effectRef>
          <a:fontRef idx="minor">
            <a:schemeClr val="lt1"/>
          </a:fontRef>
        </p:style>
        <p:txBody>
          <a:bodyPr wrap="square">
            <a:spAutoFit/>
          </a:bodyPr>
          <a:lstStyle/>
          <a:p>
            <a:pPr marL="228600" indent="-228600">
              <a:buChar char="□"/>
            </a:pPr>
            <a:r>
              <a:rPr lang="en-US" sz="1700" dirty="0">
                <a:solidFill>
                  <a:srgbClr val="1A1A1A"/>
                </a:solidFill>
                <a:latin typeface="Garamond"/>
              </a:rPr>
              <a:t>Attend Week 3 applied session where we will learn how to apply techniques learned from Week 3 and 4, in view of no class for workshop and applied session in Week 4 (Raya holiday)</a:t>
            </a:r>
            <a:endParaRPr sz="1700" dirty="0">
              <a:solidFill>
                <a:srgbClr val="1A1A1A"/>
              </a:solidFill>
              <a:latin typeface="Garamon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55_Week1_Introduction to Unit_S1_2026" id="{CEE5EA5A-3DAE-AD4E-9B71-C76C29F39667}" vid="{4EA15DC1-AAFD-BA4B-A5CE-EEEEBFBF3F8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727</TotalTime>
  <Words>3310</Words>
  <Application>Microsoft Macintosh PowerPoint</Application>
  <PresentationFormat>On-screen Show (16:9)</PresentationFormat>
  <Paragraphs>327</Paragraphs>
  <Slides>28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Arial</vt:lpstr>
      <vt:lpstr>Calibri</vt:lpstr>
      <vt:lpstr>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nik nailah abdullah</cp:lastModifiedBy>
  <cp:revision>17</cp:revision>
  <dcterms:created xsi:type="dcterms:W3CDTF">2013-01-27T09:14:16Z</dcterms:created>
  <dcterms:modified xsi:type="dcterms:W3CDTF">2026-03-16T12:56:55Z</dcterms:modified>
  <cp:category/>
</cp:coreProperties>
</file>