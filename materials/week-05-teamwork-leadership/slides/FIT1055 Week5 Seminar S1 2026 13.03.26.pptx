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78" r:id="rId2"/>
    <p:sldId id="279" r:id="rId3"/>
    <p:sldId id="258" r:id="rId4"/>
    <p:sldId id="285" r:id="rId5"/>
    <p:sldId id="286" r:id="rId6"/>
    <p:sldId id="261" r:id="rId7"/>
    <p:sldId id="260" r:id="rId8"/>
    <p:sldId id="290" r:id="rId9"/>
    <p:sldId id="291" r:id="rId10"/>
    <p:sldId id="327" r:id="rId11"/>
    <p:sldId id="262" r:id="rId12"/>
    <p:sldId id="298" r:id="rId13"/>
    <p:sldId id="295" r:id="rId14"/>
    <p:sldId id="263" r:id="rId15"/>
    <p:sldId id="265" r:id="rId16"/>
    <p:sldId id="274" r:id="rId17"/>
    <p:sldId id="299" r:id="rId18"/>
    <p:sldId id="300" r:id="rId19"/>
    <p:sldId id="277" r:id="rId20"/>
    <p:sldId id="272" r:id="rId21"/>
    <p:sldId id="328" r:id="rId22"/>
    <p:sldId id="282" r:id="rId23"/>
    <p:sldId id="304" r:id="rId24"/>
    <p:sldId id="267" r:id="rId25"/>
    <p:sldId id="266" r:id="rId26"/>
    <p:sldId id="308" r:id="rId27"/>
    <p:sldId id="268" r:id="rId28"/>
    <p:sldId id="329" r:id="rId29"/>
    <p:sldId id="270" r:id="rId30"/>
    <p:sldId id="330" r:id="rId31"/>
    <p:sldId id="271" r:id="rId32"/>
    <p:sldId id="280" r:id="rId33"/>
    <p:sldId id="331" r:id="rId34"/>
    <p:sldId id="321" r:id="rId35"/>
    <p:sldId id="322" r:id="rId36"/>
    <p:sldId id="323" r:id="rId37"/>
    <p:sldId id="324" r:id="rId38"/>
    <p:sldId id="332" r:id="rId39"/>
    <p:sldId id="276" r:id="rId40"/>
    <p:sldId id="32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102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60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7D34F-CDB5-A20F-3721-2E8B1E42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F442A-BC89-408E-4E42-63F7C8472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FB3280-B0E2-BF8E-657C-2702140B3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68960-C1E5-C6E6-AF45-CD7A410E67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26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483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58942-0371-3E5F-CE9D-D8FC050B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088C9-4C19-0538-7BF4-2C58DB3F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60D56-7F61-8EA6-595F-57E78976D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24C0E-9267-629A-00D3-434D11C2E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998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01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85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08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F746-ADA4-2053-537C-4CBC9FE1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F538E-2058-F49F-0881-A2A028B14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9A2D0-06C1-9E37-49A8-284E09C8E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7B3A4-36D3-40C2-95B6-797DD634B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32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4E7BB-DB3D-4C49-07CE-923A879B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CDF2B-CB87-9D73-3AF2-3F68C9EB6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D3AF5-B688-55B6-3655-9847769C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869C7-E9E0-F751-3405-02AB2ED9A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63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B42F-218B-B2F2-578A-923A7FF5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ED194-D49C-D922-19AC-D441BC72D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283B7-8BAB-ADA7-0D1D-BA65B07A4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EBED6-C011-FE79-E2EE-3072AC8C1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8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BD52-909F-9127-AA28-5D8EB96B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9F9659-DEB2-24BB-FFC9-0B9A19AB3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2DEF7-174B-EDBA-F5EE-42C01B46E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C226-ACC1-A585-3FB4-06C055842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03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 anchor="ctr"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 anchor="ctr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 anchor="ctr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lack.com/" TargetMode="External"/><Relationship Id="rId4" Type="http://schemas.openxmlformats.org/officeDocument/2006/relationships/hyperlink" Target="https://www.notion.so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body" sz="quarter" idx="4294967295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>
              <a:solidFill>
                <a:schemeClr val="tx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138584" y="296276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11BF76-DB46-7723-5F8E-28A996E100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18" r="2096" b="651"/>
          <a:stretch/>
        </p:blipFill>
        <p:spPr>
          <a:xfrm>
            <a:off x="6552395" y="315310"/>
            <a:ext cx="2591605" cy="3142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E6D076-9D84-ED2A-EF7B-28B6955C20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180" b="81278"/>
          <a:stretch/>
        </p:blipFill>
        <p:spPr>
          <a:xfrm>
            <a:off x="1249489" y="4135389"/>
            <a:ext cx="2250885" cy="9361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64201-B955-51AD-3BF7-A8B0B0E0B8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504" r="77476"/>
          <a:stretch/>
        </p:blipFill>
        <p:spPr>
          <a:xfrm>
            <a:off x="2924310" y="4167987"/>
            <a:ext cx="1426973" cy="975513"/>
          </a:xfrm>
          <a:prstGeom prst="rect">
            <a:avLst/>
          </a:prstGeom>
        </p:spPr>
      </p:pic>
      <p:sp>
        <p:nvSpPr>
          <p:cNvPr id="3" name="Title 4">
            <a:extLst>
              <a:ext uri="{FF2B5EF4-FFF2-40B4-BE49-F238E27FC236}">
                <a16:creationId xmlns:a16="http://schemas.microsoft.com/office/drawing/2014/main" id="{DC9E5B37-550E-BDDA-20D9-6A0D119A6118}"/>
              </a:ext>
            </a:extLst>
          </p:cNvPr>
          <p:cNvSpPr txBox="1">
            <a:spLocks/>
          </p:cNvSpPr>
          <p:nvPr/>
        </p:nvSpPr>
        <p:spPr>
          <a:xfrm>
            <a:off x="557811" y="541128"/>
            <a:ext cx="5994584" cy="14700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/>
                </a:solidFill>
                <a:latin typeface="Garamond" panose="02020404030301010803" pitchFamily="18" charset="0"/>
              </a:rPr>
              <a:t>FIT1055: IT professional practice and Ethics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79ECFDF-A608-7E14-41A8-8AB52BCC43FC}"/>
              </a:ext>
            </a:extLst>
          </p:cNvPr>
          <p:cNvSpPr/>
          <p:nvPr/>
        </p:nvSpPr>
        <p:spPr>
          <a:xfrm>
            <a:off x="667118" y="2234253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Week 5: Teamwork and leadership</a:t>
            </a:r>
            <a:endParaRPr lang="en-US" sz="32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You Will Learn This Week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By the end of Week 5, you will be able to: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  <a:ln w="190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endParaRPr lang="en-US" sz="1500" b="1" dirty="0">
              <a:solidFill>
                <a:srgbClr val="002B5C"/>
              </a:solidFill>
              <a:latin typeface="Garamond" pitchFamily="34" charset="0"/>
            </a:endParaRPr>
          </a:p>
          <a:p>
            <a:pPr marL="0" indent="0">
              <a:spcAft>
                <a:spcPts val="1000"/>
              </a:spcAft>
              <a:buNone/>
            </a:pPr>
            <a:endParaRPr lang="en-US" sz="1500" b="1" dirty="0">
              <a:solidFill>
                <a:srgbClr val="002B5C"/>
              </a:solidFill>
              <a:latin typeface="Garamond" pitchFamily="34" charset="0"/>
            </a:endParaRPr>
          </a:p>
          <a:p>
            <a:pPr marL="0" indent="0"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10" name="BlueBar">
            <a:extLst>
              <a:ext uri="{FF2B5EF4-FFF2-40B4-BE49-F238E27FC236}">
                <a16:creationId xmlns:a16="http://schemas.microsoft.com/office/drawing/2014/main" id="{5F290378-4AB8-C736-7B42-8ED68C083C52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E4AF33A-E093-19CC-5CF4-497EE9901B1F}"/>
              </a:ext>
            </a:extLst>
          </p:cNvPr>
          <p:cNvSpPr/>
          <p:nvPr/>
        </p:nvSpPr>
        <p:spPr>
          <a:xfrm>
            <a:off x="502920" y="12984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teamwork roles, responsibilities, and task coordination</a:t>
            </a:r>
            <a:endParaRPr lang="en-US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A7CEB2E-AF1A-6ACB-0FCE-100EC3EBEA3B}"/>
              </a:ext>
            </a:extLst>
          </p:cNvPr>
          <p:cNvSpPr/>
          <p:nvPr/>
        </p:nvSpPr>
        <p:spPr>
          <a:xfrm>
            <a:off x="502920" y="17922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Tuckman's five stages of team development and leadership strategies for each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ADA942E-3D14-7F46-D1AE-9BD74C029783}"/>
              </a:ext>
            </a:extLst>
          </p:cNvPr>
          <p:cNvSpPr/>
          <p:nvPr/>
        </p:nvSpPr>
        <p:spPr>
          <a:xfrm>
            <a:off x="502920" y="22860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leadership and teamwork integrate in IT project environments</a:t>
            </a:r>
            <a:endParaRPr lang="en-US" sz="16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70C8E156-CCAF-4695-0282-ABA6A6F67D6F}"/>
              </a:ext>
            </a:extLst>
          </p:cNvPr>
          <p:cNvSpPr/>
          <p:nvPr/>
        </p:nvSpPr>
        <p:spPr>
          <a:xfrm>
            <a:off x="502920" y="27797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ground rules, values, and conflict management to maintain a healthy team dynamic</a:t>
            </a:r>
            <a:endParaRPr lang="en-US" sz="16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51EF812-7B13-80B9-33C7-D2521281F553}"/>
              </a:ext>
            </a:extLst>
          </p:cNvPr>
          <p:cNvSpPr/>
          <p:nvPr/>
        </p:nvSpPr>
        <p:spPr>
          <a:xfrm>
            <a:off x="502920" y="3273552"/>
            <a:ext cx="8641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effective use of AI tools (Zapier, Copilot, ChatGPT) to improve teamwork processes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1: What Makes an Effective Team?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674621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Definition, structure, and why teams outperform individuals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Defines an Effective Team?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team is more than people working in the same room.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Definition: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small group with complementary skills committed to a common purpose — holding themselves and each other accountable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Four Key Characteristics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Deliverables: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Both individual results AND collective work products — the team produces what no single member could alone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Skills: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Complementary abilities with mutual accountability — technical, problem-solving, and interpersonal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Purpose: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Committed to common goals and a shared approach to achieving them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Leadership: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Shared responsibility among members — not concentrated in one person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Teams Matter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Teams consistently outperform individuals on complex, interdependent tasks.</a:t>
            </a:r>
            <a:endParaRPr lang="en-US" sz="1400" dirty="0"/>
          </a:p>
        </p:txBody>
      </p:sp>
      <p:sp>
        <p:nvSpPr>
          <p:cNvPr id="20" name="LeftColHdr"/>
          <p:cNvSpPr/>
          <p:nvPr/>
        </p:nvSpPr>
        <p:spPr>
          <a:xfrm>
            <a:off x="27432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Enhanced Performance</a:t>
            </a:r>
            <a:endParaRPr lang="en-US" sz="1600" dirty="0"/>
          </a:p>
        </p:txBody>
      </p:sp>
      <p:sp>
        <p:nvSpPr>
          <p:cNvPr id="21" name="LeftColBody"/>
          <p:cNvSpPr/>
          <p:nvPr/>
        </p:nvSpPr>
        <p:spPr>
          <a:xfrm>
            <a:off x="27432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Teams outperform individuals on complex, interdependent tasks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Cross-functional teams reduce handoffs and coordination overhead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Diverse skills enable creative problem-solving impossible for a single person</a:t>
            </a:r>
            <a:endParaRPr lang="en-US" sz="1400" dirty="0"/>
          </a:p>
        </p:txBody>
      </p:sp>
      <p:sp>
        <p:nvSpPr>
          <p:cNvPr id="30" name="RightColHdr"/>
          <p:cNvSpPr/>
          <p:nvPr/>
        </p:nvSpPr>
        <p:spPr>
          <a:xfrm>
            <a:off x="466368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Organisational Benefits</a:t>
            </a:r>
            <a:endParaRPr lang="en-US" sz="1600" dirty="0"/>
          </a:p>
        </p:txBody>
      </p:sp>
      <p:sp>
        <p:nvSpPr>
          <p:cNvPr id="31" name="RightColBody"/>
          <p:cNvSpPr/>
          <p:nvPr/>
        </p:nvSpPr>
        <p:spPr>
          <a:xfrm>
            <a:off x="466368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Flexibility: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Teams can be formed, disbanded, or maintained as project needs change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Efficiency: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Coordinated effort achieves more results in less time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Innovation: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Diverse skill sets combine to solve problems in novel ways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Teams build individual careers by developing communication, leadership, and collaboration skills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2: Effective Team Structure and Value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Size, skills, commitment, approach, and accountability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Structure — Four Key Elements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Without clear structure, even talented teams fail to reach their potential.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1719072"/>
          </a:xfrm>
          <a:prstGeom prst="rect">
            <a:avLst/>
          </a:prstGeom>
          <a:solidFill>
            <a:srgbClr val="EEF4FB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👥  Size &amp; Skills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4048" y="1517904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Keep teams small — easier coordination, stronger accountability.</a:t>
            </a:r>
            <a:endParaRPr lang="en-US" sz="1400" dirty="0">
              <a:latin typeface="Garamond" panose="02020404030301010803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Required skills: technical expertise, problem-solving, and interpersonal communication.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160520" cy="1719072"/>
          </a:xfrm>
          <a:prstGeom prst="rect">
            <a:avLst/>
          </a:prstGeom>
          <a:solidFill>
            <a:srgbClr val="EBF7F4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73168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🎯  Commitment &amp; Purpose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73168" y="1517904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Shared meaningful purpose sets direction and aspirations.</a:t>
            </a:r>
            <a:endParaRPr lang="en-US" sz="1400" dirty="0">
              <a:latin typeface="Garamond" panose="02020404030301010803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Measurable milestones focus effort and small victories build momentum.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160520" cy="1719072"/>
          </a:xfrm>
          <a:prstGeom prst="rect">
            <a:avLst/>
          </a:prstGeom>
          <a:solidFill>
            <a:srgbClr val="F3EEF9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📋  Common Approach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4048" y="3346704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Agree on: behavioural standards, task methodology, role clarity, decision-making process, and schedule management.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2944368"/>
            <a:ext cx="4160520" cy="1719072"/>
          </a:xfrm>
          <a:prstGeom prst="rect">
            <a:avLst/>
          </a:prstGeom>
          <a:solidFill>
            <a:srgbClr val="FEF5E7"/>
          </a:solidFill>
          <a:ln w="15240">
            <a:solidFill>
              <a:srgbClr val="D4820A"/>
            </a:solidFill>
            <a:prstDash val="solid"/>
          </a:ln>
        </p:spPr>
        <p:txBody>
          <a:bodyPr/>
          <a:lstStyle/>
          <a:p>
            <a:endParaRPr lang="en-US" sz="140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73168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A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🤝  Mutual Accountability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73168" y="3346704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Shared responsibility for goals AND individual clarity on personal tasks.</a:t>
            </a:r>
            <a:endParaRPr lang="en-US" sz="1400" dirty="0">
              <a:latin typeface="Garamond" panose="02020404030301010803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Peer accountability — members hold each other answerable.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20" name="BlueBar">
            <a:extLst>
              <a:ext uri="{FF2B5EF4-FFF2-40B4-BE49-F238E27FC236}">
                <a16:creationId xmlns:a16="http://schemas.microsoft.com/office/drawing/2014/main" id="{4245707B-F72A-83FA-FC11-38016F6E52BF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Common Approach and Standards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Teams must agree on HOW they will work, not just WHAT they will produce.</a:t>
            </a:r>
            <a:endParaRPr lang="en-US" sz="16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Essential Agreements </a:t>
            </a:r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Behavioural standards: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team members interact — respect norms, feedback style, meeting conduct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Task methodology: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Approach to completing work — which tools, review process, quality bar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Role clarity: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Who performs which tasks — explicitly assigned, not assumed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Decision-making process: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choices are made — authority, majority vote, or consensus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Schedule management: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 frequency, response time expectations, deadline commitments</a:t>
            </a: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All team members must agree on these operational details BEFORE effective collaboration can begin.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Mutual Accountability Framework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Accountability is what converts commitment into performance.</a:t>
            </a:r>
            <a:endParaRPr lang="en-US" sz="1600" dirty="0"/>
          </a:p>
        </p:txBody>
      </p:sp>
      <p:sp>
        <p:nvSpPr>
          <p:cNvPr id="20" name="LeftColHdr"/>
          <p:cNvSpPr/>
          <p:nvPr/>
        </p:nvSpPr>
        <p:spPr>
          <a:xfrm>
            <a:off x="27432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Accountability Components</a:t>
            </a:r>
            <a:endParaRPr lang="en-US" sz="1600" dirty="0"/>
          </a:p>
        </p:txBody>
      </p:sp>
      <p:sp>
        <p:nvSpPr>
          <p:cNvPr id="21" name="LeftColBody"/>
          <p:cNvSpPr/>
          <p:nvPr/>
        </p:nvSpPr>
        <p:spPr>
          <a:xfrm>
            <a:off x="27432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Shared responsibility: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Everyone owns team goals and outcomes — not just the lead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Individual clarity: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person knows their specific responsibilities with no ambiguity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Collective ownership: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performance is everyone's business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Peer accountability: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Members hold each other answerable — not just reporting up</a:t>
            </a:r>
            <a:endParaRPr lang="en-US" sz="1400" dirty="0"/>
          </a:p>
        </p:txBody>
      </p:sp>
      <p:sp>
        <p:nvSpPr>
          <p:cNvPr id="30" name="RightColHdr"/>
          <p:cNvSpPr/>
          <p:nvPr/>
        </p:nvSpPr>
        <p:spPr>
          <a:xfrm>
            <a:off x="466368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Value of Proper Structure</a:t>
            </a:r>
            <a:endParaRPr lang="en-US" sz="1600" dirty="0"/>
          </a:p>
        </p:txBody>
      </p:sp>
      <p:sp>
        <p:nvSpPr>
          <p:cNvPr id="31" name="RightColBody"/>
          <p:cNvSpPr/>
          <p:nvPr/>
        </p:nvSpPr>
        <p:spPr>
          <a:xfrm>
            <a:off x="466368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Enhanced cooperation and reduced territorial behaviour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Fewer handoffs between functions — less lost in translation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Faster results through genuinely coordinated effort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Organisational flexibility — teams can scale, pivot, or dissolve as needed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Without clear size, skills, commitment, approach, and accountability — teams cannot reach their potential.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C6C90-55E0-075D-48DD-75F5247C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36D0D6-A454-0511-75F7-72F28ED11B9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17C641A-CAA8-552C-CAC0-A48357554B45}"/>
              </a:ext>
            </a:extLst>
          </p:cNvPr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3: Tuckman's Team Development Theory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E4A223-E6A3-7722-487A-C411F3D9D78A}"/>
              </a:ext>
            </a:extLst>
          </p:cNvPr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724EEC-443F-7683-2713-C96042560D3C}"/>
              </a:ext>
            </a:extLst>
          </p:cNvPr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Five stages every team goes through — and how to navigate them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117A1F-AC22-2436-6CD4-883AC10BD8FF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693D9E-AF94-DA7C-AC79-427D563E34AF}"/>
              </a:ext>
            </a:extLst>
          </p:cNvPr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9627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Tuckman's Five Stages of Team Development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Bruce Tuckman (1965) — all teams progress through these stages before reaching peak performance.</a:t>
            </a:r>
            <a:endParaRPr lang="en-US" sz="15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664208" cy="3017520"/>
          </a:xfrm>
          <a:prstGeom prst="rect">
            <a:avLst/>
          </a:prstGeom>
          <a:solidFill>
            <a:srgbClr val="E8EEF5"/>
          </a:solidFill>
          <a:ln w="1524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1664208" cy="47548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" y="111556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Forming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Behaviour: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149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Cautious, polite, exploring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Focus: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257860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Getting acquainted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026761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Leadership: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2608" y="3218104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Directive — provide clear structure and guidance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02536" y="1115568"/>
            <a:ext cx="1664208" cy="3017520"/>
          </a:xfrm>
          <a:prstGeom prst="rect">
            <a:avLst/>
          </a:prstGeom>
          <a:solidFill>
            <a:srgbClr val="EEF4FB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002536" y="1115568"/>
            <a:ext cx="1664208" cy="475488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02536" y="1115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50008" y="111556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Storming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93976" y="1645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Behaviour: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93976" y="1847088"/>
            <a:ext cx="149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Conflict, disagreement, power struggles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93976" y="24643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Focus: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29968" y="2699766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Establishing roles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93976" y="304495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Leadership: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093976" y="3257550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Supportive coaching — facilitate conflict resolution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30752" y="1115568"/>
            <a:ext cx="1664208" cy="3017520"/>
          </a:xfrm>
          <a:prstGeom prst="rect">
            <a:avLst/>
          </a:prstGeom>
          <a:solidFill>
            <a:srgbClr val="EBF7F4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730752" y="1115568"/>
            <a:ext cx="1664208" cy="475488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30752" y="1115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078224" y="111556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Norming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822192" y="1645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Behaviour: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22192" y="1847088"/>
            <a:ext cx="149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Cooperating, establishing standards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22192" y="2377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Focus: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822192" y="257860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Process definition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822192" y="309222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Leadership: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813048" y="3257550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Collaborative facilitation — help establish norms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58968" y="1115568"/>
            <a:ext cx="1664208" cy="30175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58968" y="1115568"/>
            <a:ext cx="1664208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58968" y="1115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06440" y="111556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Performing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50408" y="1645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Behaviour: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550408" y="1847088"/>
            <a:ext cx="149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Collaborative, anticipating needs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550408" y="2377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Focus: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550408" y="257860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Goal achievement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550408" y="303809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Leadership: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521225" y="3257550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Delegative oversight — empower and step back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187184" y="1115568"/>
            <a:ext cx="1664208" cy="3017520"/>
          </a:xfrm>
          <a:prstGeom prst="rect">
            <a:avLst/>
          </a:prstGeom>
          <a:solidFill>
            <a:srgbClr val="F3EEF9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187184" y="1115568"/>
            <a:ext cx="1664208" cy="47548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187184" y="11155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534656" y="1115568"/>
            <a:ext cx="1316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Adjourning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278624" y="1645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Behaviour: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278624" y="1847088"/>
            <a:ext cx="14996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Reflecting, separating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278624" y="237744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Focus: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278624" y="257860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Closure &amp; evaluation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278624" y="3026761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Leadership: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278624" y="3264505"/>
            <a:ext cx="14996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Reflective leadership — celebrate and evaluate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60" name="BlueBar">
            <a:extLst>
              <a:ext uri="{FF2B5EF4-FFF2-40B4-BE49-F238E27FC236}">
                <a16:creationId xmlns:a16="http://schemas.microsoft.com/office/drawing/2014/main" id="{2BD7DBAB-4E00-F15F-7363-6C35EEF85D31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Applying Tuckman's Model in Practice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Use the model as a diagnostic tool — not just a framework to memorise.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Diagnose your stage: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Honestly assess where your team is right now based on actual behaviour — not intentions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Set realistic expectations: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Development takes time; don't expect Performing-level output in Forming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Plan targeted interventions: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Stuck in Storming? Run a structured values discussion. Missing Norming? Create a team charter this week.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Normalise conflict: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Storming is development, not failure — suppressing it delays rather than prevents the issues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Monitor for regression: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Membership changes, scope shifts, or stress can send a Performing team back to Storming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Build psychological safety: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Teams can't reach peak performance unless members feel safe to speak up, fail, and challenge ideas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Leadership Strategies by Stage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Match your leadership style to what the team actually needs right now.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Forming — Directive: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Provide clear structure and guidance; define goals, roles, and expectations explicitly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Storming — Coaching: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Facilitate conflict resolution; acknowledge tension, separate people from problems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Norming — Collaborative: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Help establish shared processes and norms; encourage team ownership of decisions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Performing — Delegative: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Empower the team; step back from task direction and focus on removing obstacles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Adjourning — Reflective: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Celebrate achievements; run genuine retrospectives; capture lessons for future teams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Tuckman in Practice — Challenges &amp; Critical Elements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Understanding why teams stall — and what to address to move forward.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EEF4FB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The Three Critical Elements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49961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For teams to become productive, all three must be addressed: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1901952"/>
            <a:ext cx="385876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675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📄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Content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What the team does — tasks and goals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385876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615184"/>
            <a:ext cx="3675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⚙️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Process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How the team works — methods and procedures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255264"/>
            <a:ext cx="3858768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3675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Feelings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How team members relate to each other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950208"/>
            <a:ext cx="3858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⚠️  Problem: </a:t>
            </a:r>
            <a:r>
              <a:rPr lang="en-US" sz="1300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Most teams focus only on Content, neglecting Process and Feelings — explaining why technically strong teams often underperform.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FEF5E7"/>
          </a:solidFill>
          <a:ln w="12700">
            <a:solidFill>
              <a:srgbClr val="D4820A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Common Team Challenges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15361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Many teams get stuck in Storming — accept conflict as normal and never move forward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0" y="20299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Some never progress beyond Forming — lack of clear direction or leadership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252374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Incomplete Norming leads to regression — processes not fully established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30175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Teams only reach full effectiveness at Performing stage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351129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Timeline varies significantly — don't rush; address process AND feelings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4005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820A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Monitor for regression during team changes or external stress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26" name="BlueBar">
            <a:extLst>
              <a:ext uri="{FF2B5EF4-FFF2-40B4-BE49-F238E27FC236}">
                <a16:creationId xmlns:a16="http://schemas.microsoft.com/office/drawing/2014/main" id="{59D6B7BF-31F0-8FE8-26FF-7D74DAB33271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4: Working as a Team in Projects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Roles, responsibilities, and team process for Assignment 2a &amp; 2b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Determine Team Roles and Responsibilities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Start with the project outcomes — then design the roles to match.</a:t>
            </a:r>
            <a:endParaRPr lang="en-US" sz="16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Process: Three Steps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1 — Understand: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Project objectives, instructions, scope, and expected outcomes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2 — Identify: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Required tasks and their outputs — break the project into concrete deliverables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3 — Create: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Roles and responsibilities suited to those tasks — not generic job titles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 Tasks for Your Project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Assignment 2a: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Research, critical analysis, requirements categorisation, solution brainstorming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Assignment 2b: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Ideation process, mockup creation, prototyping to demonstrate AI solutions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Common IT Team Roles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Adapt the task specific to project roles— flexibility beats rigid job titles.</a:t>
            </a:r>
            <a:endParaRPr lang="en-US" sz="1400" dirty="0"/>
          </a:p>
        </p:txBody>
      </p:sp>
      <p:sp>
        <p:nvSpPr>
          <p:cNvPr id="20" name="C1H"/>
          <p:cNvSpPr/>
          <p:nvPr/>
        </p:nvSpPr>
        <p:spPr>
          <a:xfrm>
            <a:off x="274320" y="1115568"/>
            <a:ext cx="2743200" cy="365760"/>
          </a:xfrm>
          <a:prstGeom prst="rect">
            <a:avLst/>
          </a:prstGeom>
          <a:solidFill>
            <a:srgbClr val="002B5C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Lead</a:t>
            </a:r>
            <a:endParaRPr lang="en-US" sz="1400" dirty="0"/>
          </a:p>
        </p:txBody>
      </p:sp>
      <p:sp>
        <p:nvSpPr>
          <p:cNvPr id="21" name="C1B"/>
          <p:cNvSpPr/>
          <p:nvPr/>
        </p:nvSpPr>
        <p:spPr>
          <a:xfrm>
            <a:off x="274320" y="1481328"/>
            <a:ext cx="274320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Coordinates the team and ensures processes run smoothly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Responsibilities: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Organise requests, manage tasks, monitor workflows, host meetings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 Scrum: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role is the Scrum Master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skill: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Facilitation and follow-through</a:t>
            </a:r>
            <a:endParaRPr lang="en-US" sz="1300" dirty="0"/>
          </a:p>
        </p:txBody>
      </p:sp>
      <p:sp>
        <p:nvSpPr>
          <p:cNvPr id="30" name="C2H"/>
          <p:cNvSpPr/>
          <p:nvPr/>
        </p:nvSpPr>
        <p:spPr>
          <a:xfrm>
            <a:off x="3108960" y="1115568"/>
            <a:ext cx="2743200" cy="365760"/>
          </a:xfrm>
          <a:prstGeom prst="rect">
            <a:avLst/>
          </a:prstGeom>
          <a:solidFill>
            <a:srgbClr val="002B5C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31" name="C2B"/>
          <p:cNvSpPr/>
          <p:nvPr/>
        </p:nvSpPr>
        <p:spPr>
          <a:xfrm>
            <a:off x="3108960" y="1481328"/>
            <a:ext cx="274320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Defines requirements and ensures they are met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Responsibilities: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Communicates with team, provides feature guidance, sets priorities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skill: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Translating the brief into actionable tasks</a:t>
            </a:r>
            <a:endParaRPr lang="en-US" sz="1300" dirty="0"/>
          </a:p>
        </p:txBody>
      </p:sp>
      <p:sp>
        <p:nvSpPr>
          <p:cNvPr id="40" name="C3H"/>
          <p:cNvSpPr/>
          <p:nvPr/>
        </p:nvSpPr>
        <p:spPr>
          <a:xfrm>
            <a:off x="5943600" y="1115568"/>
            <a:ext cx="2743200" cy="365760"/>
          </a:xfrm>
          <a:prstGeom prst="rect">
            <a:avLst/>
          </a:prstGeom>
          <a:solidFill>
            <a:srgbClr val="002B5C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41" name="C3B"/>
          <p:cNvSpPr/>
          <p:nvPr/>
        </p:nvSpPr>
        <p:spPr>
          <a:xfrm>
            <a:off x="5943600" y="1481328"/>
            <a:ext cx="274320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Execute the actual work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Dev/Design: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Programmers, UX designers, software developers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QA/Review: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Quality assurance and testing roles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2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principle: Adapt roles to your specific project needs</a:t>
            </a:r>
            <a:endParaRPr lang="en-US" sz="12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Teamwork Process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lightweight Agile-inspired weekly cycle keeps teams aligned without heavy overhead.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Weekly Cycle — Three Phases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Planning (Weekly/Bi-weekly):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Set clear deliverables; ensure all members understand goals; focus on collaboration over competition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Progress Updates (1–3 days):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lead facilitates 15-min check-ins; identify blockers; share daily/weekly plans — sync or async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Progress Review (1–3 days):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Product owner showcases completed work; gather feedback; adjust deliverables if needed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cycle mirrors Agile sprint ceremonies — planning, standup, and review — adapted for student project scale.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Planning Best Practices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Good planning prevents the two most common failures: unclear ownership and missed deadlines.</a:t>
            </a:r>
            <a:endParaRPr lang="en-US" sz="1400" dirty="0"/>
          </a:p>
        </p:txBody>
      </p:sp>
      <p:sp>
        <p:nvSpPr>
          <p:cNvPr id="20" name="C1H"/>
          <p:cNvSpPr/>
          <p:nvPr/>
        </p:nvSpPr>
        <p:spPr>
          <a:xfrm>
            <a:off x="274320" y="1115568"/>
            <a:ext cx="2743200" cy="365760"/>
          </a:xfrm>
          <a:prstGeom prst="rect">
            <a:avLst/>
          </a:prstGeom>
          <a:solidFill>
            <a:srgbClr val="002B5C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Purpose</a:t>
            </a:r>
            <a:endParaRPr lang="en-US" sz="1400" dirty="0"/>
          </a:p>
        </p:txBody>
      </p:sp>
      <p:sp>
        <p:nvSpPr>
          <p:cNvPr id="21" name="C1B"/>
          <p:cNvSpPr/>
          <p:nvPr/>
        </p:nvSpPr>
        <p:spPr>
          <a:xfrm>
            <a:off x="274320" y="1481328"/>
            <a:ext cx="274320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Ensure all team members understand project goals and deliverables before work begins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Everyone should be able to state what they are doing, why it matters, and what success looks like</a:t>
            </a:r>
            <a:endParaRPr lang="en-US" sz="1300" dirty="0"/>
          </a:p>
        </p:txBody>
      </p:sp>
      <p:sp>
        <p:nvSpPr>
          <p:cNvPr id="30" name="C2H"/>
          <p:cNvSpPr/>
          <p:nvPr/>
        </p:nvSpPr>
        <p:spPr>
          <a:xfrm>
            <a:off x="3108960" y="1115568"/>
            <a:ext cx="2743200" cy="365760"/>
          </a:xfrm>
          <a:prstGeom prst="rect">
            <a:avLst/>
          </a:prstGeom>
          <a:solidFill>
            <a:srgbClr val="002B5C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31" name="C2B"/>
          <p:cNvSpPr/>
          <p:nvPr/>
        </p:nvSpPr>
        <p:spPr>
          <a:xfrm>
            <a:off x="3108960" y="1481328"/>
            <a:ext cx="274320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Clear decision: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Weekly/bi-weekly work commitments confirmed by all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Complete increments: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Plan work that can be fully finished in the period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Confidence: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Everyone feels sure about their commitments</a:t>
            </a:r>
            <a:endParaRPr lang="en-US" sz="1300" dirty="0"/>
          </a:p>
        </p:txBody>
      </p:sp>
      <p:sp>
        <p:nvSpPr>
          <p:cNvPr id="40" name="C3H"/>
          <p:cNvSpPr/>
          <p:nvPr/>
        </p:nvSpPr>
        <p:spPr>
          <a:xfrm>
            <a:off x="5943600" y="1115568"/>
            <a:ext cx="2743200" cy="365760"/>
          </a:xfrm>
          <a:prstGeom prst="rect">
            <a:avLst/>
          </a:prstGeom>
          <a:solidFill>
            <a:srgbClr val="002B5C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 Tips</a:t>
            </a:r>
            <a:endParaRPr lang="en-US" sz="1400" dirty="0"/>
          </a:p>
        </p:txBody>
      </p:sp>
      <p:sp>
        <p:nvSpPr>
          <p:cNvPr id="41" name="C3B"/>
          <p:cNvSpPr/>
          <p:nvPr/>
        </p:nvSpPr>
        <p:spPr>
          <a:xfrm>
            <a:off x="5943600" y="1481328"/>
            <a:ext cx="274320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Collaborate: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Focus on team wins, not individual credit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Break it down: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Smaller tasks are easier to complete and check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 realistic: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Factor in other assessments, work, and availability</a:t>
            </a:r>
            <a:endParaRPr lang="en-US" sz="13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Essential Collaboration Tools for IT Teams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Choose tools that resolve roadblocks, enable open communication, and support sync + async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" y="1161288"/>
            <a:ext cx="2743200" cy="3493008"/>
          </a:xfrm>
          <a:prstGeom prst="rect">
            <a:avLst/>
          </a:prstGeom>
          <a:solidFill>
            <a:srgbClr val="EEF4FB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743200" cy="420624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1155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📋  Trello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Project Management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6616" y="1467320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Visual boards for task organisation and progress tracking. Drag-and-drop cards between columns to show status.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502920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Visit Website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27248" y="1115568"/>
            <a:ext cx="2743200" cy="3493008"/>
          </a:xfrm>
          <a:prstGeom prst="rect">
            <a:avLst/>
          </a:prstGeom>
          <a:solidFill>
            <a:srgbClr val="EBF7F4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27248" y="1115568"/>
            <a:ext cx="2743200" cy="42062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11155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📓  Notion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18688" y="157276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Documentation &amp; Planning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18688" y="1467320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All-in-one workspace for wikis, to-do lists, and project management. Great for shared research notes.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55848" y="3017520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9" name="Text 17">
            <a:hlinkClick r:id="rId4"/>
          </p:cNvPr>
          <p:cNvSpPr/>
          <p:nvPr/>
        </p:nvSpPr>
        <p:spPr>
          <a:xfrm>
            <a:off x="3355848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Visit Website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80176" y="1115568"/>
            <a:ext cx="2743200" cy="3493008"/>
          </a:xfrm>
          <a:prstGeom prst="rect">
            <a:avLst/>
          </a:prstGeom>
          <a:solidFill>
            <a:srgbClr val="F3EEF9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80176" y="1115568"/>
            <a:ext cx="2743200" cy="42062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71616" y="111556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💬  Slack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71616" y="1572768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7B5EA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Communication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53328" y="1536192"/>
            <a:ext cx="257860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Team communication with channels and tool integrations. Supports both synchronous and asynchronous collaboration.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31636" y="2990088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26" name="Text 24">
            <a:hlinkClick r:id="rId5"/>
          </p:cNvPr>
          <p:cNvSpPr/>
          <p:nvPr/>
        </p:nvSpPr>
        <p:spPr>
          <a:xfrm>
            <a:off x="6208776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u="sng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Visit Website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29" name="BlueBar">
            <a:extLst>
              <a:ext uri="{FF2B5EF4-FFF2-40B4-BE49-F238E27FC236}">
                <a16:creationId xmlns:a16="http://schemas.microsoft.com/office/drawing/2014/main" id="{E61EDBFD-39DC-E240-DA4F-D5A534CF2481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4394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32C40-F39A-6611-2A11-6C347DE3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3CCE52-D458-26B4-8507-44EFD76A8F5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F00D9B-E3DC-F2FF-3484-03427D6D14BF}"/>
              </a:ext>
            </a:extLst>
          </p:cNvPr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5: How to Build a High-Performing Team Dynamic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3A69B5-ACBE-28CB-B91A-15B91582A451}"/>
              </a:ext>
            </a:extLst>
          </p:cNvPr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CE57D9-3D9E-C926-F46B-537979B0DBD4}"/>
              </a:ext>
            </a:extLst>
          </p:cNvPr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Foundation, values, meetings and problem solving 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A0C95C2-7C0A-6581-CECB-5B7D1B3288CD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9AB447-0DF6-94DA-3564-A630CDB3A552}"/>
              </a:ext>
            </a:extLst>
          </p:cNvPr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94573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Foundation Elements for Effective Teams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Seven essential components — establish these early, not after problems emerge.</a:t>
            </a:r>
            <a:endParaRPr lang="en-US" sz="16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Select appropriate members: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Match skills and personalities to project requirements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clear objectives: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Everyone must agree on what success looks like before starting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Determine roles: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Assign responsibilities explicitly — avoid 'someone will do it'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Hold effective meetings: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Structured agendas, decisions documented, action items assigned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Respect team members: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Treat all contributions as valuable — diverse perspectives improve outcomes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Manage conflict constructively: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Address issues early before they become resentment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Establish ground rules: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Communication norms, response times, and meeting schedules — agree in first team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Setup and Ground Rules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 minutes of setup in first meeting saves hours of confusion across the semester.</a:t>
            </a:r>
            <a:endParaRPr lang="en-US" sz="1600" dirty="0"/>
          </a:p>
        </p:txBody>
      </p:sp>
      <p:sp>
        <p:nvSpPr>
          <p:cNvPr id="20" name="LeftColHdr"/>
          <p:cNvSpPr/>
          <p:nvPr/>
        </p:nvSpPr>
        <p:spPr>
          <a:xfrm>
            <a:off x="27432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Shared Goals &amp; Decisions</a:t>
            </a:r>
            <a:endParaRPr lang="en-US" sz="1600" dirty="0"/>
          </a:p>
        </p:txBody>
      </p:sp>
      <p:sp>
        <p:nvSpPr>
          <p:cNvPr id="21" name="LeftColBody"/>
          <p:cNvSpPr/>
          <p:nvPr/>
        </p:nvSpPr>
        <p:spPr>
          <a:xfrm>
            <a:off x="27432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Define what success looks like specifically for your team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Decision-making methods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Authority-based: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Leader decides after hearing input — fast, clear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Majority vote: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Democratic — good for lower-stakes choices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Consensus: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Everyone can live with it — slower but builds buy-in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Average opinion: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Aggregated input — useful for estimates</a:t>
            </a:r>
            <a:endParaRPr lang="en-US" sz="1300" dirty="0"/>
          </a:p>
        </p:txBody>
      </p:sp>
      <p:sp>
        <p:nvSpPr>
          <p:cNvPr id="30" name="RightColHdr"/>
          <p:cNvSpPr/>
          <p:nvPr/>
        </p:nvSpPr>
        <p:spPr>
          <a:xfrm>
            <a:off x="466368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Communication &amp; Meeting Norms</a:t>
            </a:r>
            <a:endParaRPr lang="en-US" sz="1600" dirty="0"/>
          </a:p>
        </p:txBody>
      </p:sp>
      <p:sp>
        <p:nvSpPr>
          <p:cNvPr id="31" name="RightColBody"/>
          <p:cNvSpPr/>
          <p:nvPr/>
        </p:nvSpPr>
        <p:spPr>
          <a:xfrm>
            <a:off x="466368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Choose your tools: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Pick ONE primary channel (Slack, Teams, WhatsApp) — don't split across multiple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Set meeting cadence: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Fix regular times now rather than renegotiating every week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Respect and feedback: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Agree on how you'll give feedback and handle disagreement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3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Write this up as a short team charter — it becomes your reference when tensions arise.</a:t>
            </a:r>
            <a:endParaRPr lang="en-US" sz="13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Team Process &amp; Ground Rules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consistent weekly cycle and shared values are what separate high-performing teams from struggling ones.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EEF4FB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Weekly Teamwork Cycle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517904"/>
            <a:ext cx="385876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📅 Planning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3675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Set deliverables, ensure everyone understands goals, focus on collaboration over competition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414016"/>
            <a:ext cx="385876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245059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🔄 Progress Updates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688336"/>
            <a:ext cx="3675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Team lead facilitates 15-min check-ins. Identify blockers. Can be sync or async.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3310128"/>
            <a:ext cx="3858768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334670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✅ Progress Review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3584448"/>
            <a:ext cx="3675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Product owner showcases completed work. Gather feedback and adjust if needed.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BF7F4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1188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Team Values &amp; Ground Rules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0" y="151790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🤔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Respond thoughtfully — consider others' views before reacting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20116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Criticise ideas, not people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0600" y="25054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🙏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Respect absent team members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29992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📢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Communicate openly and proactively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349300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⚖️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Manage conflict constructively — seek mediation if needed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39867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📋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Use structured agendas and document meeting minutes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27" name="BlueBar">
            <a:extLst>
              <a:ext uri="{FF2B5EF4-FFF2-40B4-BE49-F238E27FC236}">
                <a16:creationId xmlns:a16="http://schemas.microsoft.com/office/drawing/2014/main" id="{80318C85-A07A-5BA3-325E-CCE3AD0B7806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2307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Roles &amp; Responsibilities — Assignment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Understand project objectives first, then identify tasks and create roles that fit.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19456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" y="111556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Role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0" y="1115568"/>
            <a:ext cx="393192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23744" y="11155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Responsibilities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" y="1426464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68880" y="1426464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42032" y="1426464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Coordinates team, manages tasks, monitors workflows, hosts meetings, ensures process compliance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1901952"/>
            <a:ext cx="2194560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" y="1901952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68880" y="1901952"/>
            <a:ext cx="3931920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42032" y="1901952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Defines requirements, guides features and priorities, communicates with team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" y="2377440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Researchers / Analysts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468880" y="2377440"/>
            <a:ext cx="3931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542032" y="2377440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Gathers sources, critical analysis, requirements categorisation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852928"/>
            <a:ext cx="2194560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" y="285292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Designers / Builders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68880" y="2852928"/>
            <a:ext cx="3931920" cy="475488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42032" y="2852928"/>
            <a:ext cx="38039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Mockup creation, prototyping, ideation process for AI solutions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83680" y="1115568"/>
            <a:ext cx="2286000" cy="3493008"/>
          </a:xfrm>
          <a:prstGeom prst="rect">
            <a:avLst/>
          </a:prstGeom>
          <a:solidFill>
            <a:srgbClr val="FEF5E7"/>
          </a:solidFill>
          <a:ln w="12700">
            <a:solidFill>
              <a:srgbClr val="D4820A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20A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Your Assignment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1536192"/>
            <a:ext cx="2103120" cy="2962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Assignment 2a:</a:t>
            </a:r>
            <a:endParaRPr lang="en-US" sz="12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Research, critical analysis, requirements categorisation, solution brainstorming</a:t>
            </a:r>
            <a:endParaRPr lang="en-US" sz="12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2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Assignment 2b:</a:t>
            </a:r>
            <a:endParaRPr lang="en-US" sz="12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Ideation process, mockup creation, prototyping to demonstrate AI solutions</a:t>
            </a:r>
            <a:endParaRPr lang="en-US" sz="12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2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💡 Adapt roles to your specific project needs.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1" name="BlueBar">
            <a:extLst>
              <a:ext uri="{FF2B5EF4-FFF2-40B4-BE49-F238E27FC236}">
                <a16:creationId xmlns:a16="http://schemas.microsoft.com/office/drawing/2014/main" id="{736268FD-2540-F335-2974-DE7C3E8CA768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7019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Common Team Problems and Solutions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Naming the specific behaviour makes it easier to address without feeling personal.</a:t>
            </a:r>
            <a:endParaRPr lang="en-US" sz="1700" dirty="0"/>
          </a:p>
        </p:txBody>
      </p:sp>
      <p:sp>
        <p:nvSpPr>
          <p:cNvPr id="20" name="LeftColHdr"/>
          <p:cNvSpPr/>
          <p:nvPr/>
        </p:nvSpPr>
        <p:spPr>
          <a:xfrm>
            <a:off x="27432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Individual Behaviours</a:t>
            </a:r>
            <a:endParaRPr lang="en-US" sz="1600" dirty="0"/>
          </a:p>
        </p:txBody>
      </p:sp>
      <p:sp>
        <p:nvSpPr>
          <p:cNvPr id="21" name="LeftColBody"/>
          <p:cNvSpPr/>
          <p:nvPr/>
        </p:nvSpPr>
        <p:spPr>
          <a:xfrm>
            <a:off x="27432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Ego conflicts: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Competing for credit rather than contributing to team success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Self vs. group interest: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Optimising individual grade at the expense of team quality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Poor self-awareness: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 seeing how one's communication style lands with others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These usually surface in Storming — address them directly rather than hoping they resolve themselves.</a:t>
            </a:r>
            <a:endParaRPr lang="en-US" sz="1400" dirty="0"/>
          </a:p>
        </p:txBody>
      </p:sp>
      <p:sp>
        <p:nvSpPr>
          <p:cNvPr id="30" name="RightColHdr"/>
          <p:cNvSpPr/>
          <p:nvPr/>
        </p:nvSpPr>
        <p:spPr>
          <a:xfrm>
            <a:off x="4663680" y="1115568"/>
            <a:ext cx="4206480" cy="365760"/>
          </a:xfrm>
          <a:prstGeom prst="rect">
            <a:avLst/>
          </a:prstGeom>
          <a:solidFill>
            <a:srgbClr val="00A887"/>
          </a:solidFill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Behaviours</a:t>
            </a:r>
            <a:endParaRPr lang="en-US" sz="1600" dirty="0"/>
          </a:p>
        </p:txBody>
      </p:sp>
      <p:sp>
        <p:nvSpPr>
          <p:cNvPr id="31" name="RightColBody"/>
          <p:cNvSpPr/>
          <p:nvPr/>
        </p:nvSpPr>
        <p:spPr>
          <a:xfrm>
            <a:off x="4663680" y="1481328"/>
            <a:ext cx="4206480" cy="3251832"/>
          </a:xfrm>
          <a:prstGeom prst="rect">
            <a:avLst/>
          </a:prstGeom>
          <a:solidFill>
            <a:srgbClr val="E8EDF3"/>
          </a:solidFill>
        </p:spPr>
        <p:txBody>
          <a:bodyPr wrap="square" lIns="91440" tIns="91440" rIns="91440" bIns="9144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Defensive attitudes: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Treating feedback as personal attack — fragile teams can't improve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Getting off-task: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Social conversation and tangents consume meeting time without advancing the work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Unclear role boundaries: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people assume someone else is handling something — nothing gets done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Establishing ground rules in first meeting prevents most of these patterns from forming.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Handling Difficult Team Behaviours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Every team will face these — knowing how to respond is what makes the difference.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042416"/>
            <a:ext cx="292608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1042416"/>
            <a:ext cx="28163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Problem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0" y="1042416"/>
            <a:ext cx="5394960" cy="310896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73552" y="1042416"/>
            <a:ext cx="5285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Solution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35331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" y="13533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Talkative member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1353312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73552" y="13533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Use assertiveness skills — redirect with 'That's a great point, let's hear from others'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292608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" y="18105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Quiet / withdrawn member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1810512"/>
            <a:ext cx="5394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73552" y="18105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Apply good questioning techniques — use directed, open questions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" y="22677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Argumentative member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2267712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73552" y="22677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Use assertiveness and SBI feedback skills — focus on impact, not intent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292608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" y="27249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Free rider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0" y="2724912"/>
            <a:ext cx="5394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73552" y="27249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Set clear ground rules from the start; make individual accountability visible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318211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" y="31821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Group getting lost or digressing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0" y="3182112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73552" y="31821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Use structured agendas and assertiveness to redirect: 'Let's park that and return to...'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3639312"/>
            <a:ext cx="292608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47472" y="36393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Indecisive group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0" y="3639312"/>
            <a:ext cx="5394960" cy="457200"/>
          </a:xfrm>
          <a:prstGeom prst="rect">
            <a:avLst/>
          </a:prstGeom>
          <a:solidFill>
            <a:srgbClr val="EEF4FB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73552" y="36393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Use a facilitator; vote, use consensus, or delegate to team lead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4320" y="409651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47472" y="4096512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Feuding members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0" y="4096512"/>
            <a:ext cx="5394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5D8EF"/>
            </a:solidFill>
            <a:prstDash val="solid"/>
          </a:ln>
        </p:spPr>
        <p:txBody>
          <a:bodyPr/>
          <a:lstStyle/>
          <a:p>
            <a:endParaRPr lang="en-US" sz="1200">
              <a:latin typeface="Garamond" panose="02020404030301010803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73552" y="4096512"/>
            <a:ext cx="5266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Seek third-party mediation; separate content conflict from personal conflict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74320" y="4562856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B5C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🚧  Common meeting traps: </a:t>
            </a:r>
            <a:r>
              <a:rPr lang="en-US" sz="1200" dirty="0">
                <a:solidFill>
                  <a:srgbClr val="4A556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Hogging (talking too much)  ·  Flogging (beating issues to death)  ·  Frogging (topic jumping)  ·  Bogging (getting stuck)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41" name="BlueBar">
            <a:extLst>
              <a:ext uri="{FF2B5EF4-FFF2-40B4-BE49-F238E27FC236}">
                <a16:creationId xmlns:a16="http://schemas.microsoft.com/office/drawing/2014/main" id="{777BAD34-4035-6E38-7798-6DE3594E00EA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5754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0838A-459F-F470-3A4C-8489E2C74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C7229A-5EC9-C74E-9A66-5029D0780A35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6F6A1D-4D66-0CA8-4F1C-802C1FC18E84}"/>
              </a:ext>
            </a:extLst>
          </p:cNvPr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6: Leadership in team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7F8DC8-9154-A1A0-CFB5-7332EB3CFF75}"/>
              </a:ext>
            </a:extLst>
          </p:cNvPr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396462-818B-E1D6-DE87-4BD23AA968D7}"/>
              </a:ext>
            </a:extLst>
          </p:cNvPr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Styles, principles, and qualities that drive effective teams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E52FB2-0339-C742-B018-3FABB67B7B05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085F26-066F-93D4-6D5D-89E736B69751}"/>
              </a:ext>
            </a:extLst>
          </p:cNvPr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08763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Leadership in IT Teams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Leadership is getting cooperation from others to accomplish desired goals — and it starts with you.</a:t>
            </a:r>
            <a:endParaRPr lang="en-US" sz="16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160520" cy="3493008"/>
          </a:xfrm>
          <a:prstGeom prst="rect">
            <a:avLst/>
          </a:prstGeom>
          <a:solidFill>
            <a:srgbClr val="EEF4FB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IT Leadership Principles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🧭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Self-organising teams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Trust individuals to make good decisions with autonomy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231136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🔭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Clear vision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Provide direction while encouraging collaboration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926080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🚧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Obstacle removal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Focus on clearing blockers rather than micromanaging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621024"/>
            <a:ext cx="38587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🌱  </a:t>
            </a:r>
            <a:r>
              <a:rPr lang="en-US" sz="1300" b="1" dirty="0">
                <a:solidFill>
                  <a:srgbClr val="006DAE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Learning culture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Commit to continuous improvement and evolving better ways of working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4160520" cy="3493008"/>
          </a:xfrm>
          <a:prstGeom prst="rect">
            <a:avLst/>
          </a:prstGeom>
          <a:solidFill>
            <a:srgbClr val="EBF7F4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11887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Key Leadership Qualities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1517904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🔄  </a:t>
            </a: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Adaptability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Respond to change; listen to team input and adjust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2121408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🤝  </a:t>
            </a: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People over Process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Prioritise relationships and human factors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272491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🌫️  </a:t>
            </a: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Comfort with uncertainty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Navigate complexity through collective intelligence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3328416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🪞  </a:t>
            </a: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Be the change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Model the behaviours you want to see in your team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💬  </a:t>
            </a:r>
            <a:r>
              <a:rPr lang="en-US" sz="1300" b="1" dirty="0">
                <a:solidFill>
                  <a:srgbClr val="00A887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Responsibility  </a:t>
            </a: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— Take accountability for actions and create environments where people come first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21" name="BlueBar">
            <a:extLst>
              <a:ext uri="{FF2B5EF4-FFF2-40B4-BE49-F238E27FC236}">
                <a16:creationId xmlns:a16="http://schemas.microsoft.com/office/drawing/2014/main" id="{34706982-9B2E-EFC5-F6A8-F96884074829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E1999-1975-39D8-5E0B-461047D0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EE050C-5AF0-A57C-B69E-5E3A6AA8005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661C62-F98F-D62A-CAEF-C9829A2AC569}"/>
              </a:ext>
            </a:extLst>
          </p:cNvPr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Quiz Teamwork and Leadership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6CF002E-92F3-D7D6-3648-502FB008C1A9}"/>
              </a:ext>
            </a:extLst>
          </p:cNvPr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BBFCB2-03A5-4789-B0D4-7E2FCBB30D7B}"/>
              </a:ext>
            </a:extLst>
          </p:cNvPr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Let's test </a:t>
            </a:r>
            <a:r>
              <a:rPr lang="en-US" sz="1600" i="1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understanding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81CBA18-FDE4-0881-F100-E1724CD00774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BF4A4A-7799-8CBC-38B3-3C61E32E57C1}"/>
              </a:ext>
            </a:extLst>
          </p:cNvPr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99165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7: AI Tools for Teamwork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Automating coordination to spend more time on what matters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Active Learning — Build Your Own AI Personal Study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DAE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30-minute activity: Individual + pairs. Use AI to solve a real problem you face RIGHT NOW as a student.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B5C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🎯  Scenario: You have 3 assignments due in the next 2 weeks, weekly readings to keep up with, and no reliable system for tracking what needs to be done — and when.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743200" cy="2962656"/>
          </a:xfrm>
          <a:prstGeom prst="rect">
            <a:avLst/>
          </a:prstGeom>
          <a:solidFill>
            <a:srgbClr val="EEF4FB"/>
          </a:solidFill>
          <a:ln w="1524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2743200" cy="347472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7472" y="16002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Phase 1 · Map Your Chaos (5 min)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57860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Individually: Write down the 3 biggest friction points in managing your study workload right now.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Examples: forgetting deadlines, not knowing what to prioritise, no reminders for Moodle tasks.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27248" y="1600200"/>
            <a:ext cx="2743200" cy="2962656"/>
          </a:xfrm>
          <a:prstGeom prst="rect">
            <a:avLst/>
          </a:prstGeom>
          <a:solidFill>
            <a:srgbClr val="EBF7F4"/>
          </a:solidFill>
          <a:ln w="1524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27248" y="1600200"/>
            <a:ext cx="2743200" cy="34747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0" y="16002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Phase 2 · Design the Agent (8 min)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1993392"/>
            <a:ext cx="257860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In pairs: Pick ONE friction point. Design an AI agent that would solve it.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Define: What is its trigger? What should it do? What should it output?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Sketch the workflow on paper first.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0176" y="1600200"/>
            <a:ext cx="2743200" cy="2962656"/>
          </a:xfrm>
          <a:prstGeom prst="rect">
            <a:avLst/>
          </a:prstGeom>
          <a:solidFill>
            <a:srgbClr val="F3EEF9"/>
          </a:solidFill>
          <a:ln w="1524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80176" y="1600200"/>
            <a:ext cx="2743200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 sz="1300">
              <a:latin typeface="Garamond" panose="02020404030301010803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53328" y="160020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Phase 3 · Build &amp; Demo (15 min)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71616" y="1993392"/>
            <a:ext cx="2578608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Use one of these tools to build it: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Zapier AI — automated deadline reminder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ChatGPT Custom GPT — weekly study planner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▸  Copilot Studio — assignment tracker agent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Share with your peer: Compare notes, What does it do? Would you actually use it?</a:t>
            </a:r>
            <a:endParaRPr lang="en-US" sz="1200" dirty="0">
              <a:latin typeface="Garamond" panose="02020404030301010803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sp>
        <p:nvSpPr>
          <p:cNvPr id="22" name="BlueBar">
            <a:extLst>
              <a:ext uri="{FF2B5EF4-FFF2-40B4-BE49-F238E27FC236}">
                <a16:creationId xmlns:a16="http://schemas.microsoft.com/office/drawing/2014/main" id="{F488542F-86C5-3684-B320-DE29A67AB39B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DB723E-B1FE-78BF-18A7-567D656F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4767EC-B99D-4228-6C48-2CE83E753A8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E453E8-5EB1-324F-E0BB-BB47C92914FD}"/>
              </a:ext>
            </a:extLst>
          </p:cNvPr>
          <p:cNvSpPr/>
          <p:nvPr/>
        </p:nvSpPr>
        <p:spPr>
          <a:xfrm>
            <a:off x="50292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 8: Team Productivity Assessment Framework</a:t>
            </a:r>
            <a:endParaRPr lang="en-US" sz="4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5E80B3-1BCC-9DE7-1E7E-50CD91A8A959}"/>
              </a:ext>
            </a:extLst>
          </p:cNvPr>
          <p:cNvSpPr/>
          <p:nvPr/>
        </p:nvSpPr>
        <p:spPr>
          <a:xfrm>
            <a:off x="502920" y="2542032"/>
            <a:ext cx="201168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4053BB-28E8-A004-234D-9830E2F250AA}"/>
              </a:ext>
            </a:extLst>
          </p:cNvPr>
          <p:cNvSpPr/>
          <p:nvPr/>
        </p:nvSpPr>
        <p:spPr>
          <a:xfrm>
            <a:off x="502920" y="26334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Core question: Do AI-enhanced processes actually improve team performance?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6B835BD-B2AC-CE8E-F9BE-ED825D3C17FA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0A3334-38C1-5A5B-000B-745CF02D82D6}"/>
              </a:ext>
            </a:extLst>
          </p:cNvPr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61253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Productivity Assessment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effectively do our AI-enhanced processes improve team performance and output quality?</a:t>
            </a:r>
            <a:endParaRPr lang="en-US" sz="16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Quantitative Indicators — What to Measure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Time efficiency: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Meeting duration vs. outcomes achieved; preparation time reduction with AI assistance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Output metrics: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Deliverable completion rates, quality scores, and revision cycles required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Decision velocity: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Time from problem identification to consensus and action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Resource optimisation: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Effective use of team expertise and available tools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Track these over the semester — improvement is the goal, not a perfect score from day one.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Productivity Assessment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Qualitative assessment captures what metrics alone cannot.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Qualitative Indicators — What to Reflect On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Process evolution: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Evidence of iterative improvement in team workflows over time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Knowledge integration: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well insights from meetings translate into actionable outcomes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Collaboration quality: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Balance of participation, constructive conflict resolution, shared accountability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Adaptive capacity: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Team's ability to modify processes based on what works — and what doesn't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Run a 10-minute retrospective at the end of each project cycle: What worked? What didn't? What will we change?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Productivity Assessment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Evidence collection methods — capture evidence throughout, not just at submission.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Evidence Collection Methods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Before/after comparisons: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Baseline measurements at start vs. end — what changed?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Team self-assessment surveys: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Short pulse-checks after each sprint — track trends, not one-off snapshots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Process documentation: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Record modifications made and the rationale — this IS professional practice in action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 FIT1055 assessments: your meeting minutes, team charter, and retrospective notes are your evidence artefacts. Keep them from your initial first meeting.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Summary of This Week's Topic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you should now be able to do.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Master teamwork fundamentals — roles, responsibilities, and task coordination for IT project teams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Apply Tuckman's five stages to diagnose your team's development and intervene appropriately at each stage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Integrate leadership with teamwork — understand how leadership style must shift across the five stages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Establish team ground rules, values, and meeting discipline from Week 1 of your project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Apply AI tools (Trello, Notion, Slack, Zapier) to automate coordination and improve team efficiency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Your team charter, role assignments, and first planning meeting should be completed this week.</a:t>
            </a:r>
            <a:endParaRPr lang="en-US" sz="14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5D98C8-3FEC-4F2C-CF26-FEDEB3EA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816789-3DF4-BFFD-C038-BB114864BAC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D02394-B2A6-499F-7088-DC1FA7DC7EC8}"/>
              </a:ext>
            </a:extLst>
          </p:cNvPr>
          <p:cNvSpPr/>
          <p:nvPr/>
        </p:nvSpPr>
        <p:spPr>
          <a:xfrm>
            <a:off x="365760" y="164592"/>
            <a:ext cx="61726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C2E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⭐  Participation Mark — 2 Points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74FC90-AA47-522B-2DA9-F98C791017FC}"/>
              </a:ext>
            </a:extLst>
          </p:cNvPr>
          <p:cNvSpPr/>
          <p:nvPr/>
        </p:nvSpPr>
        <p:spPr>
          <a:xfrm>
            <a:off x="365760" y="69494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Dr Steinhaus Forum 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6F550B2-FB59-8982-A11D-B50E7521E5FF}"/>
              </a:ext>
            </a:extLst>
          </p:cNvPr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8D881DA-6146-2E16-B91F-9EE20D8AB702}"/>
              </a:ext>
            </a:extLst>
          </p:cNvPr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9BF26E8-C1A8-76FB-97CD-A00B55859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522" y="671940"/>
            <a:ext cx="2781672" cy="393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84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BC2E7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⭐  For ALL FIT1055 students</a:t>
            </a: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873252"/>
            <a:ext cx="4206240" cy="2606040"/>
          </a:xfrm>
          <a:prstGeom prst="rect">
            <a:avLst/>
          </a:prstGeom>
          <a:solidFill>
            <a:srgbClr val="003D2C"/>
          </a:solidFill>
          <a:ln w="1905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873252"/>
            <a:ext cx="4206240" cy="42062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8328" y="873252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🎤  Attend Dr Steinhaus's Forum</a:t>
            </a:r>
            <a:endParaRPr lang="en-US" sz="12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56616" y="1348740"/>
            <a:ext cx="3950208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You are required to attend the forum session with Dr Steinhaus.</a:t>
            </a:r>
            <a:endParaRPr lang="en-US" sz="1400" dirty="0">
              <a:latin typeface="Garamond" panose="02020404030301010803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400" dirty="0">
              <a:latin typeface="Garamond" panose="02020404030301010803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This is an industry practitioner, a walking example of leadership.</a:t>
            </a:r>
            <a:endParaRPr lang="en-US" sz="1400" dirty="0">
              <a:latin typeface="Garamond" panose="020204040303010108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873252"/>
            <a:ext cx="4206240" cy="2606040"/>
          </a:xfrm>
          <a:prstGeom prst="rect">
            <a:avLst/>
          </a:prstGeom>
          <a:solidFill>
            <a:srgbClr val="002244"/>
          </a:solidFill>
          <a:ln w="1905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>
              <a:latin typeface="Garamond" panose="020204040303010108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873252"/>
            <a:ext cx="4206240" cy="420624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73168" y="873252"/>
            <a:ext cx="3986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💡  Your Two Tasks During the Forum</a:t>
            </a:r>
            <a:endParaRPr lang="en-US" sz="12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91456" y="1348740"/>
            <a:ext cx="3950208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1️⃣  Identify and note at least TWO elements of leadership demonstrated by Dr Steinhaus’s talk in his former VP role at Medtronic.</a:t>
            </a: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300" dirty="0">
              <a:latin typeface="Garamond" panose="02020404030301010803" pitchFamily="18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2️⃣  Prepare and ask at least ONE question about teamwork dynamics, conflict, or collaboration during the forum Q&amp;A.</a:t>
            </a:r>
            <a:endParaRPr lang="en-US" sz="1300" dirty="0">
              <a:latin typeface="Garamond" panose="020204040303010108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8600" y="3561588"/>
            <a:ext cx="8595360" cy="713232"/>
          </a:xfrm>
          <a:prstGeom prst="rect">
            <a:avLst/>
          </a:prstGeom>
          <a:solidFill>
            <a:srgbClr val="001A3D"/>
          </a:solidFill>
          <a:ln w="12700">
            <a:solidFill>
              <a:srgbClr val="5BC2E7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36164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Garamond" panose="02020404030301010803" pitchFamily="18" charset="0"/>
                <a:ea typeface="Garamond" pitchFamily="34" charset="-122"/>
                <a:cs typeface="Garamond" pitchFamily="34" charset="-120"/>
              </a:rPr>
              <a:t>🏆  Participation Marks:</a:t>
            </a:r>
            <a:endParaRPr lang="en-US" sz="13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97480" y="3694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  +1 mark</a:t>
            </a:r>
            <a:r>
              <a:rPr lang="en-US" sz="1300" dirty="0">
                <a:solidFill>
                  <a:schemeClr val="bg1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  — Attend the forum</a:t>
            </a:r>
            <a:endParaRPr lang="en-US" sz="13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97880" y="37536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  + 1 mark</a:t>
            </a:r>
            <a:r>
              <a:rPr lang="en-US" sz="1300" dirty="0">
                <a:solidFill>
                  <a:schemeClr val="bg1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  — Ask a question during the Q&amp;A</a:t>
            </a:r>
            <a:endParaRPr lang="en-US" sz="13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968496"/>
            <a:ext cx="822960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Garamond" panose="02020404030301010803" pitchFamily="18" charset="0"/>
                <a:ea typeface="Calibri" pitchFamily="34" charset="-122"/>
                <a:cs typeface="Calibri" pitchFamily="34" charset="-120"/>
              </a:rPr>
              <a:t>⚠️  Attendance is recorded. This mark is in addition to your regular Week 5 participation.</a:t>
            </a:r>
            <a:endParaRPr lang="en-US" sz="13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eaderTitle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Before We End the Class...</a:t>
            </a:r>
            <a:endParaRPr lang="en-US" sz="2200" dirty="0"/>
          </a:p>
        </p:txBody>
      </p:sp>
      <p:sp>
        <p:nvSpPr>
          <p:cNvPr id="4" name="TealStripe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274320" y="768096"/>
            <a:ext cx="85953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Bad vs. Good Teamwork — a visual comparison</a:t>
            </a:r>
            <a:endParaRPr lang="en-US" sz="1400" dirty="0"/>
          </a:p>
        </p:txBody>
      </p:sp>
      <p:sp>
        <p:nvSpPr>
          <p:cNvPr id="8" name="ContentBg"/>
          <p:cNvSpPr/>
          <p:nvPr/>
        </p:nvSpPr>
        <p:spPr>
          <a:xfrm>
            <a:off x="274320" y="1115568"/>
            <a:ext cx="8595360" cy="349300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ContentText"/>
          <p:cNvSpPr/>
          <p:nvPr/>
        </p:nvSpPr>
        <p:spPr>
          <a:xfrm>
            <a:off x="502920" y="1207008"/>
            <a:ext cx="8229600" cy="3291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This Week's Takeaway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difference between bad and good teamwork is rarely about talent — it's almost always about structure, communication, and accountability.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to Do This Week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Form your team: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Introduce yourselves, exchange contacts, and set up your communication channel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Write a team charter: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Roles, ground rules, decision process, meeting schedule — one page maximum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▪  </a:t>
            </a:r>
            <a:r>
              <a:rPr lang="en-US" sz="1400" b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Run your first planning session:</a:t>
            </a:r>
            <a:r>
              <a:rPr lang="en-US" sz="1400" dirty="0">
                <a:solidFill>
                  <a:srgbClr val="22222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Assign initial tasks for Assignment 2a with names and deadlines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600" dirty="0"/>
          </a:p>
        </p:txBody>
      </p:sp>
      <p:sp>
        <p:nvSpPr>
          <p:cNvPr id="92" name="BlueBar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6DAE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ooterBar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ooterText"/>
          <p:cNvSpPr/>
          <p:nvPr/>
        </p:nvSpPr>
        <p:spPr>
          <a:xfrm>
            <a:off x="274320" y="4910328"/>
            <a:ext cx="859536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6DA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FIT1055: IT Professional Practice and Ethics  |  Week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4168</Words>
  <Application>Microsoft Macintosh PowerPoint</Application>
  <PresentationFormat>On-screen Show (16:9)</PresentationFormat>
  <Paragraphs>474</Paragraphs>
  <Slides>40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 nailah abdullah</cp:lastModifiedBy>
  <cp:revision>18</cp:revision>
  <dcterms:created xsi:type="dcterms:W3CDTF">2026-03-13T14:57:44Z</dcterms:created>
  <dcterms:modified xsi:type="dcterms:W3CDTF">2026-03-30T07:14:26Z</dcterms:modified>
</cp:coreProperties>
</file>