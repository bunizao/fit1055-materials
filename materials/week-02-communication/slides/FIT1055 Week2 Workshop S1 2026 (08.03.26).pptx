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60" r:id="rId4"/>
    <p:sldId id="974" r:id="rId5"/>
    <p:sldId id="975" r:id="rId6"/>
    <p:sldId id="979" r:id="rId7"/>
    <p:sldId id="977" r:id="rId8"/>
    <p:sldId id="978" r:id="rId9"/>
    <p:sldId id="980" r:id="rId10"/>
    <p:sldId id="981" r:id="rId11"/>
    <p:sldId id="982" r:id="rId12"/>
    <p:sldId id="984" r:id="rId13"/>
    <p:sldId id="986" r:id="rId14"/>
    <p:sldId id="989" r:id="rId15"/>
    <p:sldId id="292" r:id="rId16"/>
    <p:sldId id="990" r:id="rId17"/>
    <p:sldId id="991" r:id="rId18"/>
    <p:sldId id="992" r:id="rId19"/>
    <p:sldId id="993" r:id="rId20"/>
    <p:sldId id="994" r:id="rId21"/>
    <p:sldId id="291" r:id="rId22"/>
    <p:sldId id="995" r:id="rId23"/>
    <p:sldId id="996" r:id="rId24"/>
    <p:sldId id="997" r:id="rId25"/>
    <p:sldId id="998" r:id="rId26"/>
    <p:sldId id="1000" r:id="rId27"/>
    <p:sldId id="1001" r:id="rId28"/>
    <p:sldId id="1002" r:id="rId29"/>
    <p:sldId id="1003" r:id="rId30"/>
    <p:sldId id="1004" r:id="rId31"/>
    <p:sldId id="1005" r:id="rId32"/>
    <p:sldId id="1006" r:id="rId33"/>
    <p:sldId id="295" r:id="rId34"/>
    <p:sldId id="294" r:id="rId35"/>
    <p:sldId id="1007" r:id="rId36"/>
    <p:sldId id="1008" r:id="rId37"/>
    <p:sldId id="296" r:id="rId38"/>
    <p:sldId id="1009" r:id="rId39"/>
    <p:sldId id="1010" r:id="rId40"/>
    <p:sldId id="1011" r:id="rId41"/>
    <p:sldId id="1012" r:id="rId42"/>
    <p:sldId id="1013" r:id="rId43"/>
    <p:sldId id="1014" r:id="rId44"/>
    <p:sldId id="1015" r:id="rId45"/>
    <p:sldId id="1016" r:id="rId46"/>
    <p:sldId id="301" r:id="rId47"/>
    <p:sldId id="300" r:id="rId48"/>
    <p:sldId id="297" r:id="rId49"/>
    <p:sldId id="1018" r:id="rId50"/>
    <p:sldId id="299" r:id="rId51"/>
    <p:sldId id="1020" r:id="rId52"/>
    <p:sldId id="1022" r:id="rId53"/>
    <p:sldId id="1017" r:id="rId54"/>
    <p:sldId id="304" r:id="rId55"/>
    <p:sldId id="305" r:id="rId5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16"/>
    <p:restoredTop sz="94603"/>
  </p:normalViewPr>
  <p:slideViewPr>
    <p:cSldViewPr snapToGrid="0" snapToObjects="1">
      <p:cViewPr varScale="1">
        <p:scale>
          <a:sx n="121" d="100"/>
          <a:sy n="121" d="100"/>
        </p:scale>
        <p:origin x="640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3" d="100"/>
        <a:sy n="113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D7D34C-B8C9-4F3C-87CB-CCDAD8EF87C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52B705F7-6ECB-4D19-B2C0-D7A981806F4A}">
      <dgm:prSet phldrT="[Text]" custT="1"/>
      <dgm:spPr>
        <a:solidFill>
          <a:schemeClr val="accent1"/>
        </a:solidFill>
      </dgm:spPr>
      <dgm:t>
        <a:bodyPr/>
        <a:lstStyle/>
        <a:p>
          <a:r>
            <a:rPr lang="en-US" sz="1800" dirty="0">
              <a:solidFill>
                <a:schemeClr val="bg1"/>
              </a:solidFill>
              <a:latin typeface="Garamond" panose="02020404030301010803" pitchFamily="18" charset="0"/>
            </a:rPr>
            <a:t>Planning</a:t>
          </a:r>
          <a:endParaRPr lang="en-MY" sz="1800" dirty="0">
            <a:solidFill>
              <a:schemeClr val="bg1"/>
            </a:solidFill>
            <a:latin typeface="Garamond" panose="02020404030301010803" pitchFamily="18" charset="0"/>
          </a:endParaRPr>
        </a:p>
      </dgm:t>
    </dgm:pt>
    <dgm:pt modelId="{1D692223-45DF-461C-AF8A-7116ACB2DD51}" type="parTrans" cxnId="{DAC8C022-C6F7-429F-97E2-831C5ACE0C2B}">
      <dgm:prSet/>
      <dgm:spPr/>
      <dgm:t>
        <a:bodyPr/>
        <a:lstStyle/>
        <a:p>
          <a:endParaRPr lang="en-MY"/>
        </a:p>
      </dgm:t>
    </dgm:pt>
    <dgm:pt modelId="{439678C9-18EB-4515-AA45-CF9753E674CC}" type="sibTrans" cxnId="{DAC8C022-C6F7-429F-97E2-831C5ACE0C2B}">
      <dgm:prSet/>
      <dgm:spPr/>
      <dgm:t>
        <a:bodyPr/>
        <a:lstStyle/>
        <a:p>
          <a:endParaRPr lang="en-MY"/>
        </a:p>
      </dgm:t>
    </dgm:pt>
    <dgm:pt modelId="{846B9DB0-80EC-4456-B11E-E44D75B7822D}">
      <dgm:prSet phldrT="[Text]"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  <a:latin typeface="Garamond" panose="02020404030301010803" pitchFamily="18" charset="0"/>
            </a:rPr>
            <a:t>Development</a:t>
          </a:r>
          <a:endParaRPr lang="en-MY" sz="1800" dirty="0">
            <a:solidFill>
              <a:schemeClr val="bg1"/>
            </a:solidFill>
            <a:latin typeface="Garamond" panose="02020404030301010803" pitchFamily="18" charset="0"/>
          </a:endParaRPr>
        </a:p>
      </dgm:t>
    </dgm:pt>
    <dgm:pt modelId="{7F15C570-A88D-4666-A937-87BF18245C62}" type="parTrans" cxnId="{A1936BD8-0664-4BEF-88C5-456C6CC70223}">
      <dgm:prSet/>
      <dgm:spPr/>
      <dgm:t>
        <a:bodyPr/>
        <a:lstStyle/>
        <a:p>
          <a:endParaRPr lang="en-MY"/>
        </a:p>
      </dgm:t>
    </dgm:pt>
    <dgm:pt modelId="{C26A11DE-EF2F-41FE-A729-CC215D33E37E}" type="sibTrans" cxnId="{A1936BD8-0664-4BEF-88C5-456C6CC70223}">
      <dgm:prSet/>
      <dgm:spPr/>
      <dgm:t>
        <a:bodyPr/>
        <a:lstStyle/>
        <a:p>
          <a:endParaRPr lang="en-MY"/>
        </a:p>
      </dgm:t>
    </dgm:pt>
    <dgm:pt modelId="{B0F0D5F2-5C8D-4EC1-9C1F-B43CB5AB9557}">
      <dgm:prSet phldrT="[Text]"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  <a:latin typeface="Garamond" panose="02020404030301010803" pitchFamily="18" charset="0"/>
            </a:rPr>
            <a:t>Writing (Narratives) </a:t>
          </a:r>
          <a:endParaRPr lang="en-MY" sz="1800" dirty="0">
            <a:solidFill>
              <a:schemeClr val="bg1"/>
            </a:solidFill>
            <a:latin typeface="Garamond" panose="02020404030301010803" pitchFamily="18" charset="0"/>
          </a:endParaRPr>
        </a:p>
      </dgm:t>
    </dgm:pt>
    <dgm:pt modelId="{D8422BD6-C159-4B34-A0F6-7891B61F108F}" type="parTrans" cxnId="{ABBF122A-5F66-4D61-910B-66DC936114B8}">
      <dgm:prSet/>
      <dgm:spPr/>
      <dgm:t>
        <a:bodyPr/>
        <a:lstStyle/>
        <a:p>
          <a:endParaRPr lang="en-MY"/>
        </a:p>
      </dgm:t>
    </dgm:pt>
    <dgm:pt modelId="{335BA645-51FB-4D21-AE43-EDF1B633F279}" type="sibTrans" cxnId="{ABBF122A-5F66-4D61-910B-66DC936114B8}">
      <dgm:prSet/>
      <dgm:spPr/>
      <dgm:t>
        <a:bodyPr/>
        <a:lstStyle/>
        <a:p>
          <a:endParaRPr lang="en-MY"/>
        </a:p>
      </dgm:t>
    </dgm:pt>
    <dgm:pt modelId="{1B91BD61-CC6A-4638-BE68-D28DC49E86B5}">
      <dgm:prSet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  <a:latin typeface="Garamond" panose="02020404030301010803" pitchFamily="18" charset="0"/>
            </a:rPr>
            <a:t>Delivery</a:t>
          </a:r>
          <a:endParaRPr lang="en-MY" sz="1800" dirty="0">
            <a:solidFill>
              <a:schemeClr val="bg1"/>
            </a:solidFill>
            <a:latin typeface="Garamond" panose="02020404030301010803" pitchFamily="18" charset="0"/>
          </a:endParaRPr>
        </a:p>
      </dgm:t>
    </dgm:pt>
    <dgm:pt modelId="{DDC3C811-84E3-4331-A820-3111333FF2A6}" type="parTrans" cxnId="{C2B58A54-061A-4D6A-853A-E30A982D6D56}">
      <dgm:prSet/>
      <dgm:spPr/>
      <dgm:t>
        <a:bodyPr/>
        <a:lstStyle/>
        <a:p>
          <a:endParaRPr lang="en-MY"/>
        </a:p>
      </dgm:t>
    </dgm:pt>
    <dgm:pt modelId="{48E2DDD8-637D-494D-96C2-1CDCAF705420}" type="sibTrans" cxnId="{C2B58A54-061A-4D6A-853A-E30A982D6D56}">
      <dgm:prSet/>
      <dgm:spPr/>
      <dgm:t>
        <a:bodyPr/>
        <a:lstStyle/>
        <a:p>
          <a:endParaRPr lang="en-MY"/>
        </a:p>
      </dgm:t>
    </dgm:pt>
    <dgm:pt modelId="{DE8D1613-B3FA-44E6-9A83-3C237E6BE131}" type="pres">
      <dgm:prSet presAssocID="{06D7D34C-B8C9-4F3C-87CB-CCDAD8EF87CE}" presName="Name0" presStyleCnt="0">
        <dgm:presLayoutVars>
          <dgm:dir/>
          <dgm:animLvl val="lvl"/>
          <dgm:resizeHandles val="exact"/>
        </dgm:presLayoutVars>
      </dgm:prSet>
      <dgm:spPr/>
    </dgm:pt>
    <dgm:pt modelId="{6A82576A-9EC1-43A8-BCEE-9A481FE453B1}" type="pres">
      <dgm:prSet presAssocID="{52B705F7-6ECB-4D19-B2C0-D7A981806F4A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5144E5D-EF79-465E-8CD3-878D1C354D46}" type="pres">
      <dgm:prSet presAssocID="{439678C9-18EB-4515-AA45-CF9753E674CC}" presName="parTxOnlySpace" presStyleCnt="0"/>
      <dgm:spPr/>
    </dgm:pt>
    <dgm:pt modelId="{93C0274D-A432-4794-8F1D-5D8908957CA0}" type="pres">
      <dgm:prSet presAssocID="{846B9DB0-80EC-4456-B11E-E44D75B7822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8037169-BFAD-434E-9431-B779EFB40EF9}" type="pres">
      <dgm:prSet presAssocID="{C26A11DE-EF2F-41FE-A729-CC215D33E37E}" presName="parTxOnlySpace" presStyleCnt="0"/>
      <dgm:spPr/>
    </dgm:pt>
    <dgm:pt modelId="{0C3DE313-06BD-4F5E-B772-BBA082D3CBE1}" type="pres">
      <dgm:prSet presAssocID="{B0F0D5F2-5C8D-4EC1-9C1F-B43CB5AB9557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2A81CC3-27A8-4C72-AD05-7299B8EA1348}" type="pres">
      <dgm:prSet presAssocID="{335BA645-51FB-4D21-AE43-EDF1B633F279}" presName="parTxOnlySpace" presStyleCnt="0"/>
      <dgm:spPr/>
    </dgm:pt>
    <dgm:pt modelId="{E15630BF-615D-4F21-AF50-F5FBA628571A}" type="pres">
      <dgm:prSet presAssocID="{1B91BD61-CC6A-4638-BE68-D28DC49E86B5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AC8C022-C6F7-429F-97E2-831C5ACE0C2B}" srcId="{06D7D34C-B8C9-4F3C-87CB-CCDAD8EF87CE}" destId="{52B705F7-6ECB-4D19-B2C0-D7A981806F4A}" srcOrd="0" destOrd="0" parTransId="{1D692223-45DF-461C-AF8A-7116ACB2DD51}" sibTransId="{439678C9-18EB-4515-AA45-CF9753E674CC}"/>
    <dgm:cxn modelId="{ABBF122A-5F66-4D61-910B-66DC936114B8}" srcId="{06D7D34C-B8C9-4F3C-87CB-CCDAD8EF87CE}" destId="{B0F0D5F2-5C8D-4EC1-9C1F-B43CB5AB9557}" srcOrd="2" destOrd="0" parTransId="{D8422BD6-C159-4B34-A0F6-7891B61F108F}" sibTransId="{335BA645-51FB-4D21-AE43-EDF1B633F279}"/>
    <dgm:cxn modelId="{57D41B3D-7A42-4BA9-A71A-1DF384CD644E}" type="presOf" srcId="{06D7D34C-B8C9-4F3C-87CB-CCDAD8EF87CE}" destId="{DE8D1613-B3FA-44E6-9A83-3C237E6BE131}" srcOrd="0" destOrd="0" presId="urn:microsoft.com/office/officeart/2005/8/layout/chevron1"/>
    <dgm:cxn modelId="{C2B58A54-061A-4D6A-853A-E30A982D6D56}" srcId="{06D7D34C-B8C9-4F3C-87CB-CCDAD8EF87CE}" destId="{1B91BD61-CC6A-4638-BE68-D28DC49E86B5}" srcOrd="3" destOrd="0" parTransId="{DDC3C811-84E3-4331-A820-3111333FF2A6}" sibTransId="{48E2DDD8-637D-494D-96C2-1CDCAF705420}"/>
    <dgm:cxn modelId="{62B5335F-6BF4-467E-BE17-237FD495F2E8}" type="presOf" srcId="{1B91BD61-CC6A-4638-BE68-D28DC49E86B5}" destId="{E15630BF-615D-4F21-AF50-F5FBA628571A}" srcOrd="0" destOrd="0" presId="urn:microsoft.com/office/officeart/2005/8/layout/chevron1"/>
    <dgm:cxn modelId="{C0421AD5-D0F2-41B1-A613-30ED664880E3}" type="presOf" srcId="{B0F0D5F2-5C8D-4EC1-9C1F-B43CB5AB9557}" destId="{0C3DE313-06BD-4F5E-B772-BBA082D3CBE1}" srcOrd="0" destOrd="0" presId="urn:microsoft.com/office/officeart/2005/8/layout/chevron1"/>
    <dgm:cxn modelId="{A1936BD8-0664-4BEF-88C5-456C6CC70223}" srcId="{06D7D34C-B8C9-4F3C-87CB-CCDAD8EF87CE}" destId="{846B9DB0-80EC-4456-B11E-E44D75B7822D}" srcOrd="1" destOrd="0" parTransId="{7F15C570-A88D-4666-A937-87BF18245C62}" sibTransId="{C26A11DE-EF2F-41FE-A729-CC215D33E37E}"/>
    <dgm:cxn modelId="{A43FDBF4-CCFC-407D-BCEB-3CB49A5ED995}" type="presOf" srcId="{52B705F7-6ECB-4D19-B2C0-D7A981806F4A}" destId="{6A82576A-9EC1-43A8-BCEE-9A481FE453B1}" srcOrd="0" destOrd="0" presId="urn:microsoft.com/office/officeart/2005/8/layout/chevron1"/>
    <dgm:cxn modelId="{75B92EF6-07D3-4773-ADCE-2AC9E045338F}" type="presOf" srcId="{846B9DB0-80EC-4456-B11E-E44D75B7822D}" destId="{93C0274D-A432-4794-8F1D-5D8908957CA0}" srcOrd="0" destOrd="0" presId="urn:microsoft.com/office/officeart/2005/8/layout/chevron1"/>
    <dgm:cxn modelId="{79C5630D-BC7D-4E63-A988-EBB117621BD6}" type="presParOf" srcId="{DE8D1613-B3FA-44E6-9A83-3C237E6BE131}" destId="{6A82576A-9EC1-43A8-BCEE-9A481FE453B1}" srcOrd="0" destOrd="0" presId="urn:microsoft.com/office/officeart/2005/8/layout/chevron1"/>
    <dgm:cxn modelId="{51E70770-0B7D-4DB5-8EC9-4834FA8514AF}" type="presParOf" srcId="{DE8D1613-B3FA-44E6-9A83-3C237E6BE131}" destId="{B5144E5D-EF79-465E-8CD3-878D1C354D46}" srcOrd="1" destOrd="0" presId="urn:microsoft.com/office/officeart/2005/8/layout/chevron1"/>
    <dgm:cxn modelId="{D0ABD7D7-6550-44F5-B069-E7C40B77C56A}" type="presParOf" srcId="{DE8D1613-B3FA-44E6-9A83-3C237E6BE131}" destId="{93C0274D-A432-4794-8F1D-5D8908957CA0}" srcOrd="2" destOrd="0" presId="urn:microsoft.com/office/officeart/2005/8/layout/chevron1"/>
    <dgm:cxn modelId="{F2F50E0B-DFB1-4ACA-B4B6-1ED93B4B77C5}" type="presParOf" srcId="{DE8D1613-B3FA-44E6-9A83-3C237E6BE131}" destId="{A8037169-BFAD-434E-9431-B779EFB40EF9}" srcOrd="3" destOrd="0" presId="urn:microsoft.com/office/officeart/2005/8/layout/chevron1"/>
    <dgm:cxn modelId="{DF3415E7-3686-4981-ACE3-B97FF9DE2F52}" type="presParOf" srcId="{DE8D1613-B3FA-44E6-9A83-3C237E6BE131}" destId="{0C3DE313-06BD-4F5E-B772-BBA082D3CBE1}" srcOrd="4" destOrd="0" presId="urn:microsoft.com/office/officeart/2005/8/layout/chevron1"/>
    <dgm:cxn modelId="{6C655434-D9FB-45B0-BF38-4608AA374226}" type="presParOf" srcId="{DE8D1613-B3FA-44E6-9A83-3C237E6BE131}" destId="{62A81CC3-27A8-4C72-AD05-7299B8EA1348}" srcOrd="5" destOrd="0" presId="urn:microsoft.com/office/officeart/2005/8/layout/chevron1"/>
    <dgm:cxn modelId="{A92068F8-0DDB-47E7-AB23-A4596B2CA855}" type="presParOf" srcId="{DE8D1613-B3FA-44E6-9A83-3C237E6BE131}" destId="{E15630BF-615D-4F21-AF50-F5FBA628571A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82576A-9EC1-43A8-BCEE-9A481FE453B1}">
      <dsp:nvSpPr>
        <dsp:cNvPr id="0" name=""/>
        <dsp:cNvSpPr/>
      </dsp:nvSpPr>
      <dsp:spPr>
        <a:xfrm>
          <a:off x="4080" y="1442146"/>
          <a:ext cx="2375334" cy="950133"/>
        </a:xfrm>
        <a:prstGeom prst="chevron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Garamond" panose="02020404030301010803" pitchFamily="18" charset="0"/>
            </a:rPr>
            <a:t>Planning</a:t>
          </a:r>
          <a:endParaRPr lang="en-MY" sz="1800" kern="1200" dirty="0">
            <a:solidFill>
              <a:schemeClr val="bg1"/>
            </a:solidFill>
            <a:latin typeface="Garamond" panose="02020404030301010803" pitchFamily="18" charset="0"/>
          </a:endParaRPr>
        </a:p>
      </dsp:txBody>
      <dsp:txXfrm>
        <a:off x="479147" y="1442146"/>
        <a:ext cx="1425201" cy="950133"/>
      </dsp:txXfrm>
    </dsp:sp>
    <dsp:sp modelId="{93C0274D-A432-4794-8F1D-5D8908957CA0}">
      <dsp:nvSpPr>
        <dsp:cNvPr id="0" name=""/>
        <dsp:cNvSpPr/>
      </dsp:nvSpPr>
      <dsp:spPr>
        <a:xfrm>
          <a:off x="2141881" y="1442146"/>
          <a:ext cx="2375334" cy="9501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Garamond" panose="02020404030301010803" pitchFamily="18" charset="0"/>
            </a:rPr>
            <a:t>Development</a:t>
          </a:r>
          <a:endParaRPr lang="en-MY" sz="1800" kern="1200" dirty="0">
            <a:solidFill>
              <a:schemeClr val="bg1"/>
            </a:solidFill>
            <a:latin typeface="Garamond" panose="02020404030301010803" pitchFamily="18" charset="0"/>
          </a:endParaRPr>
        </a:p>
      </dsp:txBody>
      <dsp:txXfrm>
        <a:off x="2616948" y="1442146"/>
        <a:ext cx="1425201" cy="950133"/>
      </dsp:txXfrm>
    </dsp:sp>
    <dsp:sp modelId="{0C3DE313-06BD-4F5E-B772-BBA082D3CBE1}">
      <dsp:nvSpPr>
        <dsp:cNvPr id="0" name=""/>
        <dsp:cNvSpPr/>
      </dsp:nvSpPr>
      <dsp:spPr>
        <a:xfrm>
          <a:off x="4279681" y="1442146"/>
          <a:ext cx="2375334" cy="9501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Garamond" panose="02020404030301010803" pitchFamily="18" charset="0"/>
            </a:rPr>
            <a:t>Writing (Narratives) </a:t>
          </a:r>
          <a:endParaRPr lang="en-MY" sz="1800" kern="1200" dirty="0">
            <a:solidFill>
              <a:schemeClr val="bg1"/>
            </a:solidFill>
            <a:latin typeface="Garamond" panose="02020404030301010803" pitchFamily="18" charset="0"/>
          </a:endParaRPr>
        </a:p>
      </dsp:txBody>
      <dsp:txXfrm>
        <a:off x="4754748" y="1442146"/>
        <a:ext cx="1425201" cy="950133"/>
      </dsp:txXfrm>
    </dsp:sp>
    <dsp:sp modelId="{E15630BF-615D-4F21-AF50-F5FBA628571A}">
      <dsp:nvSpPr>
        <dsp:cNvPr id="0" name=""/>
        <dsp:cNvSpPr/>
      </dsp:nvSpPr>
      <dsp:spPr>
        <a:xfrm>
          <a:off x="6417482" y="1442146"/>
          <a:ext cx="2375334" cy="9501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Garamond" panose="02020404030301010803" pitchFamily="18" charset="0"/>
            </a:rPr>
            <a:t>Delivery</a:t>
          </a:r>
          <a:endParaRPr lang="en-MY" sz="1800" kern="1200" dirty="0">
            <a:solidFill>
              <a:schemeClr val="bg1"/>
            </a:solidFill>
            <a:latin typeface="Garamond" panose="02020404030301010803" pitchFamily="18" charset="0"/>
          </a:endParaRPr>
        </a:p>
      </dsp:txBody>
      <dsp:txXfrm>
        <a:off x="6892549" y="1442146"/>
        <a:ext cx="1425201" cy="9501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9EE65-F103-B142-A5B1-729B108678CF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7F44E-784E-D443-830D-2EAADE4C7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09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7F44E-784E-D443-830D-2EAADE4C7DB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562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A0A4D-A3FB-6FB1-91DB-C38F5D9D0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E79B8-F95B-C3D2-897C-4CD3D9746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70B24A-F0F8-3AE5-D4A2-94AE5F3E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CE121-E312-418C-CDC5-F81655BAD0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7F44E-784E-D443-830D-2EAADE4C7DB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138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quizizz.com/join?gc=38003928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quizizz.com/join?gc=63694040" TargetMode="Externa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MnrJzXM7a6o" TargetMode="External"/><Relationship Id="rId4" Type="http://schemas.openxmlformats.org/officeDocument/2006/relationships/image" Target="../media/image18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werusersoftwares.com/single-post/2016/07/31/Give-a-brilliant-structure-to-your-presentations-with-the-Pyramid-Principle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onash.hosted.exlibrisgroup.com/MON:au_everything:catau21181765940001751" TargetMode="Externa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s://quizizz.com/join?gc=30926040" TargetMode="Externa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youtube.com/watch?v=H14bBuluwB8" TargetMode="Externa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 idx="4294967295"/>
          </p:nvPr>
        </p:nvSpPr>
        <p:spPr>
          <a:xfrm>
            <a:off x="767408" y="764704"/>
            <a:ext cx="6984776" cy="147002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>
                <a:latin typeface="Garamond" panose="02020404030301010803" pitchFamily="18" charset="0"/>
              </a:rPr>
              <a:t>FIT1055: IT professional practice and Ethics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body" sz="quarter" idx="4294967295"/>
          </p:nvPr>
        </p:nvSpPr>
        <p:spPr>
          <a:xfrm>
            <a:off x="767408" y="2427496"/>
            <a:ext cx="5696454" cy="1439863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Garamond" panose="02020404030301010803" pitchFamily="18" charset="0"/>
              </a:rPr>
              <a:t>Week 2: Effective Communications and Oral Presentations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Garamond" panose="02020404030301010803" pitchFamily="18" charset="0"/>
              </a:rPr>
              <a:t>in the context of IT Professional Practice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138584" y="296276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11BF76-DB46-7723-5F8E-28A996E100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618" r="2096" b="651"/>
          <a:stretch/>
        </p:blipFill>
        <p:spPr>
          <a:xfrm>
            <a:off x="6552395" y="315310"/>
            <a:ext cx="2591605" cy="31425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E6D076-9D84-ED2A-EF7B-28B6955C20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180" b="81278"/>
          <a:stretch/>
        </p:blipFill>
        <p:spPr>
          <a:xfrm>
            <a:off x="1249489" y="4135389"/>
            <a:ext cx="2250885" cy="9361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364201-B955-51AD-3BF7-A8B0B0E0B8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9504" r="77476"/>
          <a:stretch/>
        </p:blipFill>
        <p:spPr>
          <a:xfrm>
            <a:off x="2924310" y="4167987"/>
            <a:ext cx="1426973" cy="9755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aramond"/>
              </a:rPr>
              <a:t>What You Will Learn This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868680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 dirty="0">
                <a:solidFill>
                  <a:srgbClr val="027EB5"/>
                </a:solidFill>
                <a:latin typeface="Garamond"/>
              </a:rPr>
              <a:t>By the end of Week 2, you will be able to: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80160"/>
            <a:ext cx="85039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buChar char="▪"/>
            </a:pPr>
            <a:r>
              <a:rPr sz="2000" b="0" i="0" dirty="0">
                <a:solidFill>
                  <a:srgbClr val="1A1A1A"/>
                </a:solidFill>
                <a:latin typeface="Garamond"/>
              </a:rPr>
              <a:t>Comprehend the theory of communication and its relevance to computing professionals</a:t>
            </a:r>
          </a:p>
          <a:p>
            <a:pPr marL="182880" indent="-182880">
              <a:buChar char="▪"/>
            </a:pPr>
            <a:r>
              <a:rPr sz="2000" b="0" i="0" dirty="0">
                <a:solidFill>
                  <a:srgbClr val="1A1A1A"/>
                </a:solidFill>
                <a:latin typeface="Garamond"/>
              </a:rPr>
              <a:t>Recognize and apply intrapersonal and interpersonal communication techniques (assertiveness, active listening, questioning, feedback)</a:t>
            </a:r>
          </a:p>
          <a:p>
            <a:pPr marL="182880" indent="-182880">
              <a:buChar char="▪"/>
            </a:pPr>
            <a:r>
              <a:rPr sz="2000" b="0" i="0" dirty="0">
                <a:solidFill>
                  <a:srgbClr val="1A1A1A"/>
                </a:solidFill>
                <a:latin typeface="Garamond"/>
              </a:rPr>
              <a:t>Use the Minto Pyramid Principle as a framework for structuring effective oral presentations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3657600" cy="54864"/>
          </a:xfrm>
          <a:prstGeom prst="rect">
            <a:avLst/>
          </a:prstGeom>
          <a:solidFill>
            <a:srgbClr val="5BC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Garamond"/>
              </a:rPr>
              <a:t>Part 1: Theory of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350955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i="1" dirty="0">
                <a:solidFill>
                  <a:srgbClr val="5BC2E7"/>
                </a:solidFill>
                <a:latin typeface="Garamond"/>
              </a:rPr>
              <a:t>Speech Acts · Common Ground · Relevance to IT Professionals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C2E7"/>
                </a:solidFill>
                <a:latin typeface="Garamond"/>
              </a:rPr>
              <a:t>FIT1055: IT Professional Practice and Ethics  |  Week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5C87B-5188-734C-9F3B-1FBD12039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A15A7B-B7D1-BC16-9732-C0AEE24CBCD4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4D90DA-0FCC-0EF6-29ED-321F9C3EA299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D1A875-4F24-679D-B2E9-5C2428E88DF1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EE1E18-E7EC-D1C8-707A-2AB2F7BF365D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37A10A-72BC-6B2F-61C7-FAD0C282A951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Garamond"/>
              </a:rPr>
              <a:t>Speech Act Theory by J.L Austin and John Searle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4ABAF4-3AAF-C989-BD81-FB72A9DDD08E}"/>
              </a:ext>
            </a:extLst>
          </p:cNvPr>
          <p:cNvSpPr txBox="1"/>
          <p:nvPr/>
        </p:nvSpPr>
        <p:spPr>
          <a:xfrm>
            <a:off x="460353" y="3220462"/>
            <a:ext cx="7584962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006DAE"/>
                </a:solidFill>
                <a:latin typeface="Garamond"/>
              </a:rPr>
              <a:t>Why does this matter for IT professionals?</a:t>
            </a:r>
            <a:endParaRPr lang="en-US" sz="1600" b="1" dirty="0">
              <a:solidFill>
                <a:srgbClr val="006DAE"/>
              </a:solidFill>
              <a:latin typeface="Garamond"/>
            </a:endParaRPr>
          </a:p>
          <a:p>
            <a:pPr marL="182880" indent="-182880">
              <a:buChar char="▪"/>
            </a:pPr>
            <a:r>
              <a:rPr lang="en-US" sz="1600" dirty="0">
                <a:solidFill>
                  <a:srgbClr val="1A1A1A"/>
                </a:solidFill>
                <a:latin typeface="Garamond"/>
              </a:rPr>
              <a:t>Every email, meeting, and presentation is a speech act</a:t>
            </a:r>
          </a:p>
          <a:p>
            <a:pPr marL="182880" indent="-182880">
              <a:buChar char="▪"/>
            </a:pPr>
            <a:r>
              <a:rPr lang="en-US" sz="1600" dirty="0">
                <a:solidFill>
                  <a:srgbClr val="1A1A1A"/>
                </a:solidFill>
                <a:latin typeface="Garamond"/>
              </a:rPr>
              <a:t>Understanding intent helps you communicate more effectively with colleagues and clients</a:t>
            </a:r>
            <a:endParaRPr lang="en-US" sz="1600" b="1" dirty="0">
              <a:solidFill>
                <a:srgbClr val="006DAE"/>
              </a:solidFill>
              <a:latin typeface="Garamond"/>
            </a:endParaRPr>
          </a:p>
          <a:p>
            <a:endParaRPr sz="1600" b="1" dirty="0">
              <a:solidFill>
                <a:srgbClr val="006DAE"/>
              </a:solidFill>
              <a:latin typeface="Garamond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3AB918-1DEF-2211-62C8-FAE0BA37BA0C}"/>
              </a:ext>
            </a:extLst>
          </p:cNvPr>
          <p:cNvSpPr/>
          <p:nvPr/>
        </p:nvSpPr>
        <p:spPr>
          <a:xfrm>
            <a:off x="297180" y="1502635"/>
            <a:ext cx="8686800" cy="140553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57175" indent="-257175">
              <a:buFont typeface="Arial" panose="020B0604020202020204" pitchFamily="34" charset="0"/>
              <a:buChar char="•"/>
            </a:pPr>
            <a:endParaRPr lang="en-US" sz="1700" dirty="0">
              <a:latin typeface="Garamond" panose="02020404030301010803" pitchFamily="18" charset="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700" dirty="0">
                <a:latin typeface="Garamond" panose="02020404030301010803" pitchFamily="18" charset="0"/>
              </a:rPr>
              <a:t>Speech acts are the speaker’s utterances that convey meaning and make listeners do specific things (Austin, 1962).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700" dirty="0">
                <a:latin typeface="Garamond" panose="02020404030301010803" pitchFamily="18" charset="0"/>
              </a:rPr>
              <a:t>According to Austin (1962), when saying a </a:t>
            </a:r>
            <a:r>
              <a:rPr lang="en-US" sz="1700" i="1" dirty="0">
                <a:latin typeface="Garamond" panose="02020404030301010803" pitchFamily="18" charset="0"/>
              </a:rPr>
              <a:t>performative utterance</a:t>
            </a:r>
            <a:r>
              <a:rPr lang="en-US" sz="1700" dirty="0">
                <a:latin typeface="Garamond" panose="02020404030301010803" pitchFamily="18" charset="0"/>
              </a:rPr>
              <a:t>, a speaker is simultaneously doing something.</a:t>
            </a:r>
            <a:endParaRPr lang="en-US" sz="1700" kern="0" dirty="0">
              <a:latin typeface="Garamond" panose="02020404030301010803" pitchFamily="18" charset="0"/>
            </a:endParaRPr>
          </a:p>
          <a:p>
            <a:pPr algn="ctr"/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C0CCD7-9FB0-F8F6-FF28-7C65B6BD318C}"/>
              </a:ext>
            </a:extLst>
          </p:cNvPr>
          <p:cNvSpPr/>
          <p:nvPr/>
        </p:nvSpPr>
        <p:spPr>
          <a:xfrm>
            <a:off x="228600" y="868680"/>
            <a:ext cx="868680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5BC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80C300-F170-B0B5-571F-1799B87BB9F8}"/>
              </a:ext>
            </a:extLst>
          </p:cNvPr>
          <p:cNvSpPr txBox="1"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002B5C"/>
                </a:solidFill>
                <a:latin typeface="Garamond"/>
              </a:rPr>
              <a:t>📖  Key Insight: When we speak, we simultaneously DO something. Every utterance has a purpose.</a:t>
            </a:r>
          </a:p>
        </p:txBody>
      </p:sp>
    </p:spTree>
    <p:extLst>
      <p:ext uri="{BB962C8B-B14F-4D97-AF65-F5344CB8AC3E}">
        <p14:creationId xmlns:p14="http://schemas.microsoft.com/office/powerpoint/2010/main" val="3614187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2C10C-C6BF-00FF-08C4-4FEDB667A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8BC223-CCEA-6661-1C75-C124FDFD722F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5FC78F-A0C0-B4DF-A7E6-0CBD75BA4E6C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A1C66E-7655-317A-A63F-F2289AF505C6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821A9-B50F-E896-EC1E-E5911573192A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7DD2A9-6D6D-EBEC-C66B-75C2AE0EC916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Garamond"/>
              </a:rPr>
              <a:t>Performative Utterance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8216F3-94B1-A8F7-5818-3CCA8C8C81A7}"/>
              </a:ext>
            </a:extLst>
          </p:cNvPr>
          <p:cNvSpPr txBox="1"/>
          <p:nvPr/>
        </p:nvSpPr>
        <p:spPr>
          <a:xfrm>
            <a:off x="590419" y="2953355"/>
            <a:ext cx="810032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Garamond" panose="02020404030301010803" pitchFamily="18" charset="0"/>
              </a:rPr>
              <a:t>That is why communication is important (verbal or non-verbal (e.g., writing and gestures) because it is the way people express what they need, want, and need to get things done</a:t>
            </a:r>
          </a:p>
          <a:p>
            <a:endParaRPr lang="en-US" sz="1600" dirty="0">
              <a:latin typeface="Garamond" panose="02020404030301010803" pitchFamily="18" charset="0"/>
            </a:endParaRPr>
          </a:p>
          <a:p>
            <a:r>
              <a:rPr lang="en-US" sz="1600" dirty="0">
                <a:latin typeface="Garamond" panose="02020404030301010803" pitchFamily="18" charset="0"/>
              </a:rPr>
              <a:t>Language is central to everything – it makes us uniquely human</a:t>
            </a:r>
            <a:endParaRPr lang="en-MY" sz="1600" dirty="0">
              <a:latin typeface="Garamond" panose="02020404030301010803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450FF5-05CC-A597-3D54-E1817B0B8B73}"/>
              </a:ext>
            </a:extLst>
          </p:cNvPr>
          <p:cNvSpPr/>
          <p:nvPr/>
        </p:nvSpPr>
        <p:spPr>
          <a:xfrm>
            <a:off x="274320" y="1096398"/>
            <a:ext cx="8686800" cy="140553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kern="0" dirty="0">
              <a:latin typeface="Garamond" panose="02020404030301010803" pitchFamily="18" charset="0"/>
            </a:endParaRPr>
          </a:p>
          <a:p>
            <a:r>
              <a:rPr lang="en-US" kern="0" dirty="0">
                <a:latin typeface="Garamond" panose="02020404030301010803" pitchFamily="18" charset="0"/>
              </a:rPr>
              <a:t>Utterances that are used to perform: requests, warnings, invitations, promises, predictions etcs.</a:t>
            </a:r>
          </a:p>
          <a:p>
            <a:r>
              <a:rPr lang="en-US" kern="0" dirty="0">
                <a:latin typeface="Garamond" panose="02020404030301010803" pitchFamily="18" charset="0"/>
              </a:rPr>
              <a:t>Example:</a:t>
            </a:r>
          </a:p>
          <a:p>
            <a:r>
              <a:rPr lang="en-US" dirty="0">
                <a:latin typeface="Garamond" panose="02020404030301010803" pitchFamily="18" charset="0"/>
              </a:rPr>
              <a:t>“I am hungry.”  expresses hunger, request for something to eat</a:t>
            </a:r>
            <a:endParaRPr lang="en-US" kern="0" dirty="0">
              <a:latin typeface="Garamond" panose="02020404030301010803" pitchFamily="18" charset="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700" dirty="0">
              <a:latin typeface="Garamond" panose="02020404030301010803" pitchFamily="18" charset="0"/>
            </a:endParaRPr>
          </a:p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5904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EF756-427A-FADD-2879-B76474917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3EE0BC-4C00-C7D6-9BBD-02BA1560495B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924CB0-52F0-044D-DE2A-6D37A52EDDB5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29DD1A-51EC-AF4E-DEDB-72317A8B1F67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18A988-7FB4-FDF0-83DC-5FD5D36E0B99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7AE56B-FA1E-3248-A64C-2C0031AF03FC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Garamond"/>
              </a:rPr>
              <a:t>Speech Act in Everyday Utterances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90F900-2694-9C2B-3BD2-F4BD5707E32D}"/>
              </a:ext>
            </a:extLst>
          </p:cNvPr>
          <p:cNvSpPr txBox="1"/>
          <p:nvPr/>
        </p:nvSpPr>
        <p:spPr>
          <a:xfrm>
            <a:off x="499241" y="795528"/>
            <a:ext cx="79826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0" kern="0" dirty="0">
              <a:latin typeface="Garamond" panose="02020404030301010803" pitchFamily="18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800" i="1" dirty="0">
                <a:latin typeface="Garamond" panose="02020404030301010803" pitchFamily="18" charset="0"/>
              </a:rPr>
              <a:t>"You're fired!“</a:t>
            </a:r>
          </a:p>
          <a:p>
            <a:r>
              <a:rPr lang="en-US" sz="1800" dirty="0">
                <a:latin typeface="Garamond" panose="02020404030301010803" pitchFamily="18" charset="0"/>
              </a:rPr>
              <a:t>Expresses both the employment status of the individual in question, as well as the action by which said person's employment is ended.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800" dirty="0">
              <a:latin typeface="Garamond" panose="02020404030301010803" pitchFamily="18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800" i="1" dirty="0">
                <a:latin typeface="Garamond" panose="02020404030301010803" pitchFamily="18" charset="0"/>
              </a:rPr>
              <a:t>"We ask that you extinguish your cigarettes at this time, and bring your tray tables and seatbacks to an upright position." </a:t>
            </a:r>
          </a:p>
          <a:p>
            <a:r>
              <a:rPr lang="en-US" sz="1800" dirty="0">
                <a:latin typeface="Garamond" panose="02020404030301010803" pitchFamily="18" charset="0"/>
              </a:rPr>
              <a:t>Describes the requirements of the current location, such as an airplane, while also issuing the command to stop smoking and to sit up straight.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800" dirty="0">
              <a:latin typeface="Garamond" panose="02020404030301010803" pitchFamily="18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800" i="1" dirty="0">
                <a:latin typeface="Garamond" panose="02020404030301010803" pitchFamily="18" charset="0"/>
              </a:rPr>
              <a:t>"Would it be too much trouble for me to ask you to hand me that wrench?" </a:t>
            </a:r>
            <a:r>
              <a:rPr lang="en-US" sz="1800" dirty="0">
                <a:latin typeface="Garamond" panose="02020404030301010803" pitchFamily="18" charset="0"/>
              </a:rPr>
              <a:t>functions t</a:t>
            </a:r>
          </a:p>
          <a:p>
            <a:r>
              <a:rPr lang="en-US" sz="1800" dirty="0">
                <a:latin typeface="Garamond" panose="02020404030301010803" pitchFamily="18" charset="0"/>
              </a:rPr>
              <a:t>Simultaneously ask two questions. The first is to ask the listener if they are capable of passing the wrench, while the second is an actual request.</a:t>
            </a:r>
          </a:p>
        </p:txBody>
      </p:sp>
    </p:spTree>
    <p:extLst>
      <p:ext uri="{BB962C8B-B14F-4D97-AF65-F5344CB8AC3E}">
        <p14:creationId xmlns:p14="http://schemas.microsoft.com/office/powerpoint/2010/main" val="276346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C8FA8-A7B0-B822-FFDF-ACEB2F3CF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021419-B883-36E0-B399-1A2FCDA24AF7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D79A69-9FF6-F1BD-3DB1-E5EA78E4CB70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795496-763A-A1C5-C335-860428979DF6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735641-0C33-FA1F-B0F0-9F5C1AA08AE7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371A7A-D4AF-78B5-13BE-4157F35B7762}"/>
              </a:ext>
            </a:extLst>
          </p:cNvPr>
          <p:cNvSpPr txBox="1"/>
          <p:nvPr/>
        </p:nvSpPr>
        <p:spPr>
          <a:xfrm>
            <a:off x="228600" y="7315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aramond"/>
              </a:rPr>
              <a:t>🎭  Quick Activity — Identify the Speech Act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A2077B-CD52-994C-918D-7B4828226250}"/>
              </a:ext>
            </a:extLst>
          </p:cNvPr>
          <p:cNvSpPr/>
          <p:nvPr/>
        </p:nvSpPr>
        <p:spPr>
          <a:xfrm>
            <a:off x="228600" y="868680"/>
            <a:ext cx="8686800" cy="4572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5FAE2D-FB1E-424D-0FE4-A810547D9CEA}"/>
              </a:ext>
            </a:extLst>
          </p:cNvPr>
          <p:cNvSpPr txBox="1"/>
          <p:nvPr/>
        </p:nvSpPr>
        <p:spPr>
          <a:xfrm>
            <a:off x="320040" y="886968"/>
            <a:ext cx="45736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1">
                <a:solidFill>
                  <a:srgbClr val="FFFFFF"/>
                </a:solidFill>
                <a:latin typeface="Garamond"/>
              </a:rPr>
              <a:t>3 minutes — analyse each utterance with a partner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8BC379-4E47-0DE0-6844-63ABFABC441B}"/>
              </a:ext>
            </a:extLst>
          </p:cNvPr>
          <p:cNvSpPr/>
          <p:nvPr/>
        </p:nvSpPr>
        <p:spPr>
          <a:xfrm>
            <a:off x="228600" y="1444752"/>
            <a:ext cx="292608" cy="292608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A3EEBC-07A5-75F4-725D-FC57E3787DB4}"/>
              </a:ext>
            </a:extLst>
          </p:cNvPr>
          <p:cNvSpPr txBox="1"/>
          <p:nvPr/>
        </p:nvSpPr>
        <p:spPr>
          <a:xfrm>
            <a:off x="241694" y="1444752"/>
            <a:ext cx="26642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Garamond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72330A-5920-BFFB-B635-D38B385C4BF3}"/>
              </a:ext>
            </a:extLst>
          </p:cNvPr>
          <p:cNvSpPr txBox="1"/>
          <p:nvPr/>
        </p:nvSpPr>
        <p:spPr>
          <a:xfrm>
            <a:off x="594360" y="1435608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1A"/>
                </a:solidFill>
                <a:latin typeface="Garamond"/>
              </a:rPr>
              <a:t>“You're fired!” — What is the illocutionary act? What effect does it have?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EC60EC-0ED3-5E30-9354-BF16BD85CF76}"/>
              </a:ext>
            </a:extLst>
          </p:cNvPr>
          <p:cNvSpPr/>
          <p:nvPr/>
        </p:nvSpPr>
        <p:spPr>
          <a:xfrm>
            <a:off x="228600" y="2039112"/>
            <a:ext cx="292608" cy="292608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F3BBC5-F366-CB0C-2100-F6D1A4A3F360}"/>
              </a:ext>
            </a:extLst>
          </p:cNvPr>
          <p:cNvSpPr txBox="1"/>
          <p:nvPr/>
        </p:nvSpPr>
        <p:spPr>
          <a:xfrm>
            <a:off x="234481" y="2039112"/>
            <a:ext cx="2808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B8CFCC-F313-81D1-26F1-C881601C5CDF}"/>
              </a:ext>
            </a:extLst>
          </p:cNvPr>
          <p:cNvSpPr txBox="1"/>
          <p:nvPr/>
        </p:nvSpPr>
        <p:spPr>
          <a:xfrm>
            <a:off x="594360" y="2029968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1A"/>
                </a:solidFill>
                <a:latin typeface="Garamond"/>
              </a:rPr>
              <a:t>“Could you send me that report by end of day?” — Is this a question or a request?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49E0DE-53B1-6910-2A1B-7C1C3D3B0E09}"/>
              </a:ext>
            </a:extLst>
          </p:cNvPr>
          <p:cNvSpPr/>
          <p:nvPr/>
        </p:nvSpPr>
        <p:spPr>
          <a:xfrm>
            <a:off x="228600" y="2633472"/>
            <a:ext cx="292608" cy="292608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0730B8-D59C-34A7-4C30-244EBB0A07AA}"/>
              </a:ext>
            </a:extLst>
          </p:cNvPr>
          <p:cNvSpPr txBox="1"/>
          <p:nvPr/>
        </p:nvSpPr>
        <p:spPr>
          <a:xfrm>
            <a:off x="234481" y="2633472"/>
            <a:ext cx="2808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C97901-4C05-350C-3875-C82A0A51AC39}"/>
              </a:ext>
            </a:extLst>
          </p:cNvPr>
          <p:cNvSpPr txBox="1"/>
          <p:nvPr/>
        </p:nvSpPr>
        <p:spPr>
          <a:xfrm>
            <a:off x="594360" y="2624328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1A"/>
                </a:solidFill>
                <a:latin typeface="Garamond"/>
              </a:rPr>
              <a:t>Think of a message you sent this week — what was the speech act behind it?</a:t>
            </a:r>
          </a:p>
        </p:txBody>
      </p:sp>
    </p:spTree>
    <p:extLst>
      <p:ext uri="{BB962C8B-B14F-4D97-AF65-F5344CB8AC3E}">
        <p14:creationId xmlns:p14="http://schemas.microsoft.com/office/powerpoint/2010/main" val="1919043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86386-4A83-8DF5-F315-E685116C0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3C304D-1B9E-EF3C-AC92-3E5A2BA34274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DF96CB-4016-E249-E0D0-9AA75A1767DA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D28B33-2B9E-1832-CF43-20E38B609301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58D63F-10B9-38D0-A477-477803CCCF32}"/>
              </a:ext>
            </a:extLst>
          </p:cNvPr>
          <p:cNvSpPr txBox="1"/>
          <p:nvPr/>
        </p:nvSpPr>
        <p:spPr>
          <a:xfrm>
            <a:off x="521701" y="4871825"/>
            <a:ext cx="412933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36A37E-38E5-19CA-1C6C-E85CF7BA9ACA}"/>
              </a:ext>
            </a:extLst>
          </p:cNvPr>
          <p:cNvSpPr txBox="1"/>
          <p:nvPr/>
        </p:nvSpPr>
        <p:spPr>
          <a:xfrm>
            <a:off x="228600" y="7315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aramond"/>
              </a:rPr>
              <a:t>Common Ground — Herbert H. Clark (1996)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5116A9-75E2-ECD4-A3E3-5D8A4E7A814E}"/>
              </a:ext>
            </a:extLst>
          </p:cNvPr>
          <p:cNvSpPr txBox="1"/>
          <p:nvPr/>
        </p:nvSpPr>
        <p:spPr>
          <a:xfrm>
            <a:off x="228600" y="822960"/>
            <a:ext cx="674306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dirty="0">
                <a:solidFill>
                  <a:srgbClr val="027EB5"/>
                </a:solidFill>
                <a:latin typeface="Garamond"/>
              </a:rPr>
              <a:t>Goal of communication: achieving mutual understanding between speaker and listener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2281A9-6A43-7CA2-9AB8-D17BDE710355}"/>
              </a:ext>
            </a:extLst>
          </p:cNvPr>
          <p:cNvSpPr/>
          <p:nvPr/>
        </p:nvSpPr>
        <p:spPr>
          <a:xfrm>
            <a:off x="228600" y="1143000"/>
            <a:ext cx="420624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B966EE-B7A6-3F38-2955-0C62287F9E97}"/>
              </a:ext>
            </a:extLst>
          </p:cNvPr>
          <p:cNvSpPr/>
          <p:nvPr/>
        </p:nvSpPr>
        <p:spPr>
          <a:xfrm>
            <a:off x="228600" y="1143000"/>
            <a:ext cx="320040" cy="118872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97422-73C1-0191-AE4D-9B31867FAF31}"/>
              </a:ext>
            </a:extLst>
          </p:cNvPr>
          <p:cNvSpPr txBox="1"/>
          <p:nvPr/>
        </p:nvSpPr>
        <p:spPr>
          <a:xfrm>
            <a:off x="207320" y="1554480"/>
            <a:ext cx="36260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6696A2-3838-4A90-46B8-9A744BD0A243}"/>
              </a:ext>
            </a:extLst>
          </p:cNvPr>
          <p:cNvSpPr txBox="1"/>
          <p:nvPr/>
        </p:nvSpPr>
        <p:spPr>
          <a:xfrm>
            <a:off x="612647" y="1207008"/>
            <a:ext cx="3749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2B5C"/>
                </a:solidFill>
                <a:latin typeface="Garamond"/>
              </a:rPr>
              <a:t>What is Grounding?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803CAF-A21E-831F-5396-72C81A088A07}"/>
              </a:ext>
            </a:extLst>
          </p:cNvPr>
          <p:cNvSpPr txBox="1"/>
          <p:nvPr/>
        </p:nvSpPr>
        <p:spPr>
          <a:xfrm>
            <a:off x="612647" y="1523143"/>
            <a:ext cx="37490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1A1A1A"/>
                </a:solidFill>
                <a:latin typeface="Garamond"/>
              </a:rPr>
              <a:t>Ensuring both speaker and listener reach shared understanding of what was said and meant.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3D890E-D6A2-8B71-20B0-0CBB1C0DA4CA}"/>
              </a:ext>
            </a:extLst>
          </p:cNvPr>
          <p:cNvSpPr/>
          <p:nvPr/>
        </p:nvSpPr>
        <p:spPr>
          <a:xfrm>
            <a:off x="4526280" y="1143000"/>
            <a:ext cx="420624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233793-8A71-E99C-78BF-E56D90A9275B}"/>
              </a:ext>
            </a:extLst>
          </p:cNvPr>
          <p:cNvSpPr/>
          <p:nvPr/>
        </p:nvSpPr>
        <p:spPr>
          <a:xfrm>
            <a:off x="4526280" y="1143000"/>
            <a:ext cx="320040" cy="118872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EA2E00-433F-3218-0AF1-2FC72722A8B4}"/>
              </a:ext>
            </a:extLst>
          </p:cNvPr>
          <p:cNvSpPr txBox="1"/>
          <p:nvPr/>
        </p:nvSpPr>
        <p:spPr>
          <a:xfrm>
            <a:off x="4497788" y="1554480"/>
            <a:ext cx="3770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4A0874-936C-AABB-DA25-C2A4E01189FD}"/>
              </a:ext>
            </a:extLst>
          </p:cNvPr>
          <p:cNvSpPr txBox="1"/>
          <p:nvPr/>
        </p:nvSpPr>
        <p:spPr>
          <a:xfrm>
            <a:off x="4910328" y="1207008"/>
            <a:ext cx="3749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2B5C"/>
                </a:solidFill>
                <a:latin typeface="Garamond"/>
              </a:rPr>
              <a:t>Listener Must...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ABC76-33EC-5AD3-4E3B-049EEB3302F7}"/>
              </a:ext>
            </a:extLst>
          </p:cNvPr>
          <p:cNvSpPr txBox="1"/>
          <p:nvPr/>
        </p:nvSpPr>
        <p:spPr>
          <a:xfrm>
            <a:off x="4910328" y="1618488"/>
            <a:ext cx="37490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1A"/>
                </a:solidFill>
                <a:latin typeface="Garamond"/>
              </a:rPr>
              <a:t>Notice · Hear · Understand what was said · Understand what was MEANT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F8298E-470A-BEC1-07FE-490C300BCF8C}"/>
              </a:ext>
            </a:extLst>
          </p:cNvPr>
          <p:cNvSpPr/>
          <p:nvPr/>
        </p:nvSpPr>
        <p:spPr>
          <a:xfrm>
            <a:off x="228600" y="2560320"/>
            <a:ext cx="420624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5392E0-C972-C0EA-66EE-333A301C52E9}"/>
              </a:ext>
            </a:extLst>
          </p:cNvPr>
          <p:cNvSpPr/>
          <p:nvPr/>
        </p:nvSpPr>
        <p:spPr>
          <a:xfrm>
            <a:off x="228600" y="2560320"/>
            <a:ext cx="320040" cy="118872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7859CC-6B1E-5E9A-0B39-4278A2D969BD}"/>
              </a:ext>
            </a:extLst>
          </p:cNvPr>
          <p:cNvSpPr txBox="1"/>
          <p:nvPr/>
        </p:nvSpPr>
        <p:spPr>
          <a:xfrm>
            <a:off x="200108" y="2971800"/>
            <a:ext cx="3770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833196-E25A-F9C8-4955-859DE4814F6B}"/>
              </a:ext>
            </a:extLst>
          </p:cNvPr>
          <p:cNvSpPr txBox="1"/>
          <p:nvPr/>
        </p:nvSpPr>
        <p:spPr>
          <a:xfrm>
            <a:off x="612647" y="2624327"/>
            <a:ext cx="3749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2B5C"/>
                </a:solidFill>
                <a:latin typeface="Garamond"/>
              </a:rPr>
              <a:t>Common Ground Accumulates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AE10FA-9625-86C5-410A-4687C0C780D5}"/>
              </a:ext>
            </a:extLst>
          </p:cNvPr>
          <p:cNvSpPr txBox="1"/>
          <p:nvPr/>
        </p:nvSpPr>
        <p:spPr>
          <a:xfrm>
            <a:off x="612647" y="2910228"/>
            <a:ext cx="37490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1A1A1A"/>
                </a:solidFill>
                <a:latin typeface="Garamond"/>
              </a:rPr>
              <a:t>Shared history, cultural context, and interaction history all contribute to common ground over time.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AA6CB7-1149-5FC5-F050-FB1ADB18AA2B}"/>
              </a:ext>
            </a:extLst>
          </p:cNvPr>
          <p:cNvSpPr/>
          <p:nvPr/>
        </p:nvSpPr>
        <p:spPr>
          <a:xfrm>
            <a:off x="4526280" y="2560320"/>
            <a:ext cx="420624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57A974-6F94-7541-ACC5-0F29402BDA40}"/>
              </a:ext>
            </a:extLst>
          </p:cNvPr>
          <p:cNvSpPr/>
          <p:nvPr/>
        </p:nvSpPr>
        <p:spPr>
          <a:xfrm>
            <a:off x="4526280" y="2560320"/>
            <a:ext cx="320040" cy="118872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AAFD16-8259-C3EB-4FB9-184A2D7F3ACE}"/>
              </a:ext>
            </a:extLst>
          </p:cNvPr>
          <p:cNvSpPr txBox="1"/>
          <p:nvPr/>
        </p:nvSpPr>
        <p:spPr>
          <a:xfrm>
            <a:off x="4497788" y="2971800"/>
            <a:ext cx="3770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37CC4E-753A-94AD-BA16-AF1F74C89B9C}"/>
              </a:ext>
            </a:extLst>
          </p:cNvPr>
          <p:cNvSpPr txBox="1"/>
          <p:nvPr/>
        </p:nvSpPr>
        <p:spPr>
          <a:xfrm>
            <a:off x="4910328" y="2624327"/>
            <a:ext cx="3749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2B5C"/>
                </a:solidFill>
                <a:latin typeface="Garamond"/>
              </a:rPr>
              <a:t>Why Real Conversation is Messy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EDDE34-CB73-CFA0-57D1-76094B0A43B3}"/>
              </a:ext>
            </a:extLst>
          </p:cNvPr>
          <p:cNvSpPr txBox="1"/>
          <p:nvPr/>
        </p:nvSpPr>
        <p:spPr>
          <a:xfrm>
            <a:off x="4910328" y="3035808"/>
            <a:ext cx="37490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1A"/>
                </a:solidFill>
                <a:latin typeface="Garamond"/>
              </a:rPr>
              <a:t>Incomplete sentences, pauses, overlapping turns, unintelligible utterances — all normal!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9E02D5-0A6E-BC01-4EDE-2E9B5575E209}"/>
              </a:ext>
            </a:extLst>
          </p:cNvPr>
          <p:cNvSpPr/>
          <p:nvPr/>
        </p:nvSpPr>
        <p:spPr>
          <a:xfrm>
            <a:off x="249514" y="3841584"/>
            <a:ext cx="8483006" cy="970446"/>
          </a:xfrm>
          <a:prstGeom prst="rect">
            <a:avLst/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5146D5-CB5C-F95C-330E-FCE15CCEF685}"/>
              </a:ext>
            </a:extLst>
          </p:cNvPr>
          <p:cNvSpPr/>
          <p:nvPr/>
        </p:nvSpPr>
        <p:spPr>
          <a:xfrm>
            <a:off x="249514" y="3829050"/>
            <a:ext cx="320040" cy="1006673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1C9425-332A-6BBD-FFB7-A882D1B75641}"/>
              </a:ext>
            </a:extLst>
          </p:cNvPr>
          <p:cNvSpPr txBox="1"/>
          <p:nvPr/>
        </p:nvSpPr>
        <p:spPr>
          <a:xfrm>
            <a:off x="200108" y="4187726"/>
            <a:ext cx="3770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Garamond"/>
              </a:rPr>
              <a:t>05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436763-3BC0-F356-D9AE-D4EB6688C750}"/>
              </a:ext>
            </a:extLst>
          </p:cNvPr>
          <p:cNvSpPr txBox="1"/>
          <p:nvPr/>
        </p:nvSpPr>
        <p:spPr>
          <a:xfrm>
            <a:off x="627677" y="3916653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2B5C"/>
                </a:solidFill>
                <a:latin typeface="Garamond"/>
              </a:rPr>
              <a:t>For IT Professionals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47C6DE-785D-6FAF-7424-97956BC00A8B}"/>
              </a:ext>
            </a:extLst>
          </p:cNvPr>
          <p:cNvSpPr txBox="1"/>
          <p:nvPr/>
        </p:nvSpPr>
        <p:spPr>
          <a:xfrm>
            <a:off x="612647" y="4315002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1A1A1A"/>
                </a:solidFill>
                <a:latin typeface="Garamond"/>
              </a:rPr>
              <a:t>Building common ground with clients and teams reduces misunderstandings and project failures.</a:t>
            </a:r>
          </a:p>
        </p:txBody>
      </p:sp>
    </p:spTree>
    <p:extLst>
      <p:ext uri="{BB962C8B-B14F-4D97-AF65-F5344CB8AC3E}">
        <p14:creationId xmlns:p14="http://schemas.microsoft.com/office/powerpoint/2010/main" val="4030969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56BA6-78BD-D0C2-22B2-324FC80ED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A2B4D8-AA05-AEBE-258D-5B771B4B7DD1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ACD180-0E46-774A-145D-C74D1D54BA2F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E28B17-8364-61BE-3006-4DF20B5CD595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FF44B4-3B7E-7CB3-E3D6-86873B105452}"/>
              </a:ext>
            </a:extLst>
          </p:cNvPr>
          <p:cNvSpPr txBox="1"/>
          <p:nvPr/>
        </p:nvSpPr>
        <p:spPr>
          <a:xfrm>
            <a:off x="521701" y="4871825"/>
            <a:ext cx="412933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0A11C4-7AE3-76DA-3AAD-6DB1F6D695E7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Garamond"/>
              </a:rPr>
              <a:t>What is Professional Communication?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175BC8-53B0-2990-533F-3CB8002EAF12}"/>
              </a:ext>
            </a:extLst>
          </p:cNvPr>
          <p:cNvSpPr txBox="1"/>
          <p:nvPr/>
        </p:nvSpPr>
        <p:spPr>
          <a:xfrm>
            <a:off x="207320" y="1554480"/>
            <a:ext cx="36260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01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B2E84D-6EFB-9637-5DB1-E8CDDC774368}"/>
              </a:ext>
            </a:extLst>
          </p:cNvPr>
          <p:cNvSpPr txBox="1"/>
          <p:nvPr/>
        </p:nvSpPr>
        <p:spPr>
          <a:xfrm>
            <a:off x="200108" y="4389120"/>
            <a:ext cx="3770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05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B47246-0E97-DB0B-FA8D-38D69BB401D9}"/>
              </a:ext>
            </a:extLst>
          </p:cNvPr>
          <p:cNvSpPr txBox="1"/>
          <p:nvPr/>
        </p:nvSpPr>
        <p:spPr>
          <a:xfrm>
            <a:off x="228600" y="1034006"/>
            <a:ext cx="883081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§"/>
            </a:pPr>
            <a:r>
              <a:rPr lang="en-US" dirty="0">
                <a:latin typeface="Garamond" panose="02020404030301010803" pitchFamily="18" charset="0"/>
              </a:rPr>
              <a:t>Communications that occur with your colleagues within an organization, professional society or organization and colleagues external to your organization</a:t>
            </a:r>
          </a:p>
          <a:p>
            <a:pPr marL="285750" indent="-285750" algn="just">
              <a:buFont typeface="Wingdings" pitchFamily="2" charset="2"/>
              <a:buChar char="§"/>
            </a:pPr>
            <a:r>
              <a:rPr lang="en-US" dirty="0">
                <a:latin typeface="Garamond" panose="02020404030301010803" pitchFamily="18" charset="0"/>
              </a:rPr>
              <a:t>Communication is defined as a:</a:t>
            </a:r>
          </a:p>
          <a:p>
            <a:pPr algn="just"/>
            <a:endParaRPr lang="en-US" sz="1600" i="1" dirty="0">
              <a:latin typeface="Garamond" panose="02020404030301010803" pitchFamily="18" charset="0"/>
            </a:endParaRPr>
          </a:p>
          <a:p>
            <a:pPr algn="just"/>
            <a:r>
              <a:rPr lang="en-US" sz="1600" dirty="0">
                <a:latin typeface="Garamond" panose="02020404030301010803" pitchFamily="18" charset="0"/>
              </a:rPr>
              <a:t>	Two-way process of reaching mutual understanding, in which participants not only exchange (encode-	decode) information, news, ideas and feelings but also create and share </a:t>
            </a:r>
            <a:r>
              <a:rPr lang="en-US" sz="1600" b="1" dirty="0">
                <a:latin typeface="Garamond" panose="02020404030301010803" pitchFamily="18" charset="0"/>
              </a:rPr>
              <a:t>meaning</a:t>
            </a:r>
            <a:r>
              <a:rPr lang="en-US" sz="1600" dirty="0">
                <a:latin typeface="Garamond" panose="02020404030301010803" pitchFamily="18" charset="0"/>
              </a:rPr>
              <a:t>. </a:t>
            </a:r>
          </a:p>
          <a:p>
            <a:pPr algn="just"/>
            <a:endParaRPr lang="en-US" sz="1600" i="1" dirty="0">
              <a:latin typeface="Garamond" panose="02020404030301010803" pitchFamily="18" charset="0"/>
            </a:endParaRPr>
          </a:p>
          <a:p>
            <a:pPr algn="just"/>
            <a:r>
              <a:rPr lang="en-US" sz="1600" dirty="0">
                <a:latin typeface="Garamond" panose="02020404030301010803" pitchFamily="18" charset="0"/>
              </a:rPr>
              <a:t>	In general, </a:t>
            </a:r>
            <a:r>
              <a:rPr lang="en-US" sz="1600" b="1" dirty="0">
                <a:latin typeface="Garamond" panose="02020404030301010803" pitchFamily="18" charset="0"/>
              </a:rPr>
              <a:t>communication</a:t>
            </a:r>
            <a:r>
              <a:rPr lang="en-US" sz="1600" dirty="0">
                <a:latin typeface="Garamond" panose="02020404030301010803" pitchFamily="18" charset="0"/>
              </a:rPr>
              <a:t> is a means of connecting people or places. </a:t>
            </a:r>
          </a:p>
          <a:p>
            <a:pPr algn="just"/>
            <a:endParaRPr lang="en-US" sz="1600" i="1" dirty="0">
              <a:latin typeface="Garamond" panose="02020404030301010803" pitchFamily="18" charset="0"/>
            </a:endParaRPr>
          </a:p>
          <a:p>
            <a:pPr algn="just"/>
            <a:r>
              <a:rPr lang="en-US" sz="1600" dirty="0">
                <a:latin typeface="Garamond" panose="02020404030301010803" pitchFamily="18" charset="0"/>
              </a:rPr>
              <a:t>	It can be categorized into verbal and non-verbal (includes gestures and writing)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en-MY" sz="1600" dirty="0">
              <a:latin typeface="Garamond" panose="02020404030301010803" pitchFamily="18" charset="0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884BDD2-3F62-75A1-B094-71586B6C8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84696"/>
            <a:ext cx="393700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16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9168A-C4E4-6279-42D7-8164BA2D3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1DCE7A-164D-745A-87BB-C5FEA92571EB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4EAE2B-133F-DCC8-6E12-43709282BA36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98D53A-7C11-5C2F-A783-8601CE179FFA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ED4C76-EBE1-AFE8-73C7-56DCF642A2AC}"/>
              </a:ext>
            </a:extLst>
          </p:cNvPr>
          <p:cNvSpPr txBox="1"/>
          <p:nvPr/>
        </p:nvSpPr>
        <p:spPr>
          <a:xfrm>
            <a:off x="521701" y="4871825"/>
            <a:ext cx="412933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532C8D-95D7-E438-CA87-C4DE7339DC74}"/>
              </a:ext>
            </a:extLst>
          </p:cNvPr>
          <p:cNvSpPr txBox="1"/>
          <p:nvPr/>
        </p:nvSpPr>
        <p:spPr>
          <a:xfrm>
            <a:off x="228600" y="73152"/>
            <a:ext cx="8915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Garamond"/>
              </a:rPr>
              <a:t>Situations where you will apply professional communication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0AB9A7-711A-0E83-D70F-93D07B451CB1}"/>
              </a:ext>
            </a:extLst>
          </p:cNvPr>
          <p:cNvSpPr/>
          <p:nvPr/>
        </p:nvSpPr>
        <p:spPr>
          <a:xfrm>
            <a:off x="228600" y="837035"/>
            <a:ext cx="3386713" cy="1663490"/>
          </a:xfrm>
          <a:prstGeom prst="rect">
            <a:avLst/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E21FE7-FB55-E2A4-8461-E7BF2FE78C42}"/>
              </a:ext>
            </a:extLst>
          </p:cNvPr>
          <p:cNvSpPr/>
          <p:nvPr/>
        </p:nvSpPr>
        <p:spPr>
          <a:xfrm>
            <a:off x="228600" y="837035"/>
            <a:ext cx="320040" cy="1638929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FBC49B-AEBE-D2BC-C7DB-AC658EF01404}"/>
              </a:ext>
            </a:extLst>
          </p:cNvPr>
          <p:cNvSpPr txBox="1"/>
          <p:nvPr/>
        </p:nvSpPr>
        <p:spPr>
          <a:xfrm>
            <a:off x="185895" y="1137720"/>
            <a:ext cx="36260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Garamond"/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A45B38-9584-9527-8109-4A2E01D60523}"/>
              </a:ext>
            </a:extLst>
          </p:cNvPr>
          <p:cNvSpPr/>
          <p:nvPr/>
        </p:nvSpPr>
        <p:spPr>
          <a:xfrm>
            <a:off x="3951348" y="895516"/>
            <a:ext cx="4157829" cy="1808954"/>
          </a:xfrm>
          <a:prstGeom prst="rect">
            <a:avLst/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D06B06-A9B4-C50D-6C4C-61B5573B3F60}"/>
              </a:ext>
            </a:extLst>
          </p:cNvPr>
          <p:cNvSpPr/>
          <p:nvPr/>
        </p:nvSpPr>
        <p:spPr>
          <a:xfrm>
            <a:off x="3951348" y="895516"/>
            <a:ext cx="320040" cy="1808953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ECF022-9829-377E-3A3D-C470542C04E9}"/>
              </a:ext>
            </a:extLst>
          </p:cNvPr>
          <p:cNvSpPr txBox="1"/>
          <p:nvPr/>
        </p:nvSpPr>
        <p:spPr>
          <a:xfrm>
            <a:off x="3922856" y="1306997"/>
            <a:ext cx="3770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Garamond"/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D178F4-25C3-A321-F7F9-974AA2E99721}"/>
              </a:ext>
            </a:extLst>
          </p:cNvPr>
          <p:cNvSpPr txBox="1"/>
          <p:nvPr/>
        </p:nvSpPr>
        <p:spPr>
          <a:xfrm>
            <a:off x="4335396" y="959525"/>
            <a:ext cx="3749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2B5C"/>
                </a:solidFill>
                <a:latin typeface="Garamond"/>
              </a:rPr>
              <a:t>Being in a meeting</a:t>
            </a:r>
            <a:endParaRPr sz="1600" b="1" dirty="0">
              <a:solidFill>
                <a:srgbClr val="002B5C"/>
              </a:solidFill>
              <a:latin typeface="Garamond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67DB63-91E4-9AB5-0A81-1678E35141AF}"/>
              </a:ext>
            </a:extLst>
          </p:cNvPr>
          <p:cNvSpPr/>
          <p:nvPr/>
        </p:nvSpPr>
        <p:spPr>
          <a:xfrm>
            <a:off x="228600" y="2730956"/>
            <a:ext cx="3386713" cy="1902634"/>
          </a:xfrm>
          <a:prstGeom prst="rect">
            <a:avLst/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CBE068-D1CF-3A04-E202-1B25C16A4CA3}"/>
              </a:ext>
            </a:extLst>
          </p:cNvPr>
          <p:cNvSpPr/>
          <p:nvPr/>
        </p:nvSpPr>
        <p:spPr>
          <a:xfrm>
            <a:off x="228600" y="2684796"/>
            <a:ext cx="320040" cy="1975085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B17BEB-2DD0-D5F4-761F-C5B26F20FBAD}"/>
              </a:ext>
            </a:extLst>
          </p:cNvPr>
          <p:cNvSpPr txBox="1"/>
          <p:nvPr/>
        </p:nvSpPr>
        <p:spPr>
          <a:xfrm>
            <a:off x="200108" y="3069714"/>
            <a:ext cx="3770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Garamond"/>
              </a:rPr>
              <a:t>03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F7C101-1312-6ACD-0665-D1CE5BC3B7A1}"/>
              </a:ext>
            </a:extLst>
          </p:cNvPr>
          <p:cNvSpPr/>
          <p:nvPr/>
        </p:nvSpPr>
        <p:spPr>
          <a:xfrm>
            <a:off x="3979842" y="2859171"/>
            <a:ext cx="4104593" cy="1757662"/>
          </a:xfrm>
          <a:prstGeom prst="rect">
            <a:avLst/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EC7D2D-D610-4A07-F80C-B978E446DE69}"/>
              </a:ext>
            </a:extLst>
          </p:cNvPr>
          <p:cNvSpPr/>
          <p:nvPr/>
        </p:nvSpPr>
        <p:spPr>
          <a:xfrm>
            <a:off x="3951348" y="2820179"/>
            <a:ext cx="320040" cy="1808953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F73A73-8925-1E2B-53FD-97AE995F2B3B}"/>
              </a:ext>
            </a:extLst>
          </p:cNvPr>
          <p:cNvSpPr txBox="1"/>
          <p:nvPr/>
        </p:nvSpPr>
        <p:spPr>
          <a:xfrm>
            <a:off x="3922856" y="3027485"/>
            <a:ext cx="3770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Garamond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1707E9-3F4B-B7BF-4A22-77221BD5E6E8}"/>
              </a:ext>
            </a:extLst>
          </p:cNvPr>
          <p:cNvSpPr txBox="1"/>
          <p:nvPr/>
        </p:nvSpPr>
        <p:spPr>
          <a:xfrm>
            <a:off x="4335396" y="2827222"/>
            <a:ext cx="3749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2B5C"/>
                </a:solidFill>
                <a:latin typeface="Garamond"/>
              </a:rPr>
              <a:t>Managing conflict</a:t>
            </a:r>
            <a:endParaRPr sz="1600" b="1" dirty="0">
              <a:solidFill>
                <a:srgbClr val="002B5C"/>
              </a:solidFill>
              <a:latin typeface="Garamond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B440DE-F0A7-16C6-CCCD-49AA0C0E0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451" y="1180263"/>
            <a:ext cx="1874940" cy="131245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B20DC43-F820-0FBC-D6EB-6E05C3FD089E}"/>
              </a:ext>
            </a:extLst>
          </p:cNvPr>
          <p:cNvSpPr txBox="1"/>
          <p:nvPr/>
        </p:nvSpPr>
        <p:spPr>
          <a:xfrm>
            <a:off x="586357" y="843816"/>
            <a:ext cx="3749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2B5C"/>
                </a:solidFill>
                <a:latin typeface="Garamond"/>
              </a:rPr>
              <a:t>Speaking with your boss</a:t>
            </a:r>
            <a:endParaRPr sz="1600" b="1" dirty="0">
              <a:solidFill>
                <a:srgbClr val="002B5C"/>
              </a:solidFill>
              <a:latin typeface="Garamond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34D5500-1D3D-1934-22E0-12FB695444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87" y="3062626"/>
            <a:ext cx="2331310" cy="155420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E695D34-0633-C28A-E40F-C55D4EDB59CC}"/>
              </a:ext>
            </a:extLst>
          </p:cNvPr>
          <p:cNvSpPr txBox="1"/>
          <p:nvPr/>
        </p:nvSpPr>
        <p:spPr>
          <a:xfrm>
            <a:off x="521701" y="2693434"/>
            <a:ext cx="30936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2B5C"/>
                </a:solidFill>
                <a:latin typeface="Garamond"/>
              </a:rPr>
              <a:t>Discussing with your colleagues</a:t>
            </a:r>
            <a:endParaRPr sz="1600" b="1" dirty="0">
              <a:solidFill>
                <a:srgbClr val="002B5C"/>
              </a:solidFill>
              <a:latin typeface="Garamond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C72EBC4-1FE0-731E-C217-959F3CBDB5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344" y="1321912"/>
            <a:ext cx="2042715" cy="136288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F0C3218-F2F0-1B5C-CB5A-9DFC6993D9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828" y="3148540"/>
            <a:ext cx="2116636" cy="137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64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FF2F4-33C5-E25F-7791-B94789613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1D1DE8-0D2D-9052-2BD6-A01B7AC53283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5539C8-D21A-5D6C-A251-535F7FE8B279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B8C558-F4C4-1568-A54D-E65786663A11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FBC23D-C2EC-74C2-6CB3-95C4FC052B35}"/>
              </a:ext>
            </a:extLst>
          </p:cNvPr>
          <p:cNvSpPr txBox="1"/>
          <p:nvPr/>
        </p:nvSpPr>
        <p:spPr>
          <a:xfrm>
            <a:off x="521701" y="4871825"/>
            <a:ext cx="412933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B399AB-0838-8760-C8C0-6D4469D98250}"/>
              </a:ext>
            </a:extLst>
          </p:cNvPr>
          <p:cNvSpPr/>
          <p:nvPr/>
        </p:nvSpPr>
        <p:spPr>
          <a:xfrm>
            <a:off x="228600" y="837034"/>
            <a:ext cx="6371897" cy="3823145"/>
          </a:xfrm>
          <a:prstGeom prst="rect">
            <a:avLst/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A38802-249D-7CEE-8017-22EC5028A1EB}"/>
              </a:ext>
            </a:extLst>
          </p:cNvPr>
          <p:cNvSpPr/>
          <p:nvPr/>
        </p:nvSpPr>
        <p:spPr>
          <a:xfrm>
            <a:off x="228600" y="837035"/>
            <a:ext cx="320040" cy="3823144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060557-1937-6E1B-7D1B-78A0E9806F7F}"/>
              </a:ext>
            </a:extLst>
          </p:cNvPr>
          <p:cNvSpPr txBox="1"/>
          <p:nvPr/>
        </p:nvSpPr>
        <p:spPr>
          <a:xfrm>
            <a:off x="185895" y="1137720"/>
            <a:ext cx="36260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Garamond"/>
              </a:rPr>
              <a:t>01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82A1DB-D71A-169B-68EF-A83347EE0560}"/>
              </a:ext>
            </a:extLst>
          </p:cNvPr>
          <p:cNvSpPr txBox="1"/>
          <p:nvPr/>
        </p:nvSpPr>
        <p:spPr>
          <a:xfrm>
            <a:off x="586357" y="843816"/>
            <a:ext cx="53309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2B5C"/>
                </a:solidFill>
                <a:latin typeface="Garamond"/>
              </a:rPr>
              <a:t>Professional emails to colleagues, boss, and clients</a:t>
            </a:r>
            <a:endParaRPr sz="1600" b="1" dirty="0">
              <a:solidFill>
                <a:srgbClr val="002B5C"/>
              </a:solidFill>
              <a:latin typeface="Garamon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1BC1F7-4269-0589-6C46-19FCA3528750}"/>
              </a:ext>
            </a:extLst>
          </p:cNvPr>
          <p:cNvSpPr txBox="1"/>
          <p:nvPr/>
        </p:nvSpPr>
        <p:spPr>
          <a:xfrm>
            <a:off x="228600" y="73152"/>
            <a:ext cx="8915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Garamond"/>
              </a:rPr>
              <a:t>Situations where you will apply professional communication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201CA0-CB27-76CD-1E9C-645503E14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90" y="1217010"/>
            <a:ext cx="5438811" cy="350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294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482B42-4E16-3D87-2D54-6F30C5763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B68879-7FB2-A99B-2975-B4F68F045D4C}"/>
              </a:ext>
            </a:extLst>
          </p:cNvPr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C55190-13DA-48A3-0ACA-474E8FD9A709}"/>
              </a:ext>
            </a:extLst>
          </p:cNvPr>
          <p:cNvSpPr/>
          <p:nvPr/>
        </p:nvSpPr>
        <p:spPr>
          <a:xfrm>
            <a:off x="457200" y="2286000"/>
            <a:ext cx="3657600" cy="54864"/>
          </a:xfrm>
          <a:prstGeom prst="rect">
            <a:avLst/>
          </a:prstGeom>
          <a:solidFill>
            <a:srgbClr val="5BC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DBBD1D-0EC9-1C94-CD4F-65A57CB3BDBE}"/>
              </a:ext>
            </a:extLst>
          </p:cNvPr>
          <p:cNvSpPr txBox="1"/>
          <p:nvPr/>
        </p:nvSpPr>
        <p:spPr>
          <a:xfrm>
            <a:off x="457200" y="1140535"/>
            <a:ext cx="822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rgbClr val="FFFFFF"/>
                </a:solidFill>
                <a:latin typeface="Garamond"/>
              </a:rPr>
              <a:t>Part </a:t>
            </a:r>
            <a:r>
              <a:rPr lang="en-US" sz="3600" b="1" dirty="0">
                <a:solidFill>
                  <a:srgbClr val="FFFFFF"/>
                </a:solidFill>
                <a:latin typeface="Garamond"/>
              </a:rPr>
              <a:t>2</a:t>
            </a:r>
            <a:r>
              <a:rPr sz="3600" b="1" dirty="0">
                <a:solidFill>
                  <a:srgbClr val="FFFFFF"/>
                </a:solidFill>
                <a:latin typeface="Garamond"/>
              </a:rPr>
              <a:t>: </a:t>
            </a:r>
            <a:r>
              <a:rPr lang="en-US" sz="3600" b="1" dirty="0">
                <a:solidFill>
                  <a:srgbClr val="FFFFFF"/>
                </a:solidFill>
                <a:latin typeface="Garamond"/>
              </a:rPr>
              <a:t>Professional Communication Skills</a:t>
            </a:r>
            <a:endParaRPr sz="36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35A7BB-C163-30C3-F8A6-9858D664DB3C}"/>
              </a:ext>
            </a:extLst>
          </p:cNvPr>
          <p:cNvSpPr txBox="1"/>
          <p:nvPr/>
        </p:nvSpPr>
        <p:spPr>
          <a:xfrm>
            <a:off x="457200" y="2560320"/>
            <a:ext cx="502240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200" i="1" dirty="0">
                <a:solidFill>
                  <a:srgbClr val="5BC2E7"/>
                </a:solidFill>
                <a:latin typeface="Garamond"/>
              </a:rPr>
              <a:t>Intrapersonal · Interpersonal · Effective Techniques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B9D3CB-B469-D3D3-6B3D-CAEAF95A9187}"/>
              </a:ext>
            </a:extLst>
          </p:cNvPr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C2E7"/>
                </a:solidFill>
                <a:latin typeface="Garamond"/>
              </a:rPr>
              <a:t>FIT1055: IT Professional Practice and Ethics  |  Week 2</a:t>
            </a:r>
          </a:p>
        </p:txBody>
      </p:sp>
    </p:spTree>
    <p:extLst>
      <p:ext uri="{BB962C8B-B14F-4D97-AF65-F5344CB8AC3E}">
        <p14:creationId xmlns:p14="http://schemas.microsoft.com/office/powerpoint/2010/main" val="4137515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698B0-4D53-870D-4560-335455474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3F25BC-A187-ED81-77DC-369D3960C5E7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868CA8-6FAC-166C-F4FC-979E33D027E7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125681-8260-54B4-ED73-027F2A1D077C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49E08A-CF0A-4D17-1A44-FBBB8EF2DDE5}"/>
              </a:ext>
            </a:extLst>
          </p:cNvPr>
          <p:cNvSpPr txBox="1"/>
          <p:nvPr/>
        </p:nvSpPr>
        <p:spPr>
          <a:xfrm>
            <a:off x="228600" y="4910328"/>
            <a:ext cx="328647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A95670-74E6-9A8E-697A-117C9E03AB02}"/>
              </a:ext>
            </a:extLst>
          </p:cNvPr>
          <p:cNvSpPr txBox="1"/>
          <p:nvPr/>
        </p:nvSpPr>
        <p:spPr>
          <a:xfrm>
            <a:off x="228600" y="7315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aramond"/>
              </a:rPr>
              <a:t>Intrapersonal vs Interpersonal Skills for IT Professionals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770988-A587-504E-1BF3-03ACAE62FDAC}"/>
              </a:ext>
            </a:extLst>
          </p:cNvPr>
          <p:cNvSpPr/>
          <p:nvPr/>
        </p:nvSpPr>
        <p:spPr>
          <a:xfrm>
            <a:off x="228600" y="868680"/>
            <a:ext cx="2011680" cy="3749039"/>
          </a:xfrm>
          <a:prstGeom prst="rect">
            <a:avLst/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02F3B1-8ABD-8F3B-8CB0-D039C157DAEB}"/>
              </a:ext>
            </a:extLst>
          </p:cNvPr>
          <p:cNvSpPr/>
          <p:nvPr/>
        </p:nvSpPr>
        <p:spPr>
          <a:xfrm>
            <a:off x="228600" y="868680"/>
            <a:ext cx="2011680" cy="201168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671195-9F4E-79A6-54CF-5E274DB500DE}"/>
              </a:ext>
            </a:extLst>
          </p:cNvPr>
          <p:cNvSpPr txBox="1"/>
          <p:nvPr/>
        </p:nvSpPr>
        <p:spPr>
          <a:xfrm>
            <a:off x="320040" y="1115568"/>
            <a:ext cx="158716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2B5C"/>
                </a:solidFill>
                <a:latin typeface="Garamond"/>
              </a:rPr>
              <a:t>Intrapersonal</a:t>
            </a:r>
            <a:r>
              <a:rPr lang="en-US" sz="1400" b="1" dirty="0">
                <a:solidFill>
                  <a:srgbClr val="002B5C"/>
                </a:solidFill>
                <a:latin typeface="Garamond"/>
              </a:rPr>
              <a:t> Skill</a:t>
            </a:r>
            <a:endParaRPr sz="1400" b="1" dirty="0">
              <a:solidFill>
                <a:srgbClr val="002B5C"/>
              </a:solidFill>
              <a:latin typeface="Garamon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4F3A63-87F1-8F0C-113F-1FE0A7B6EBEB}"/>
              </a:ext>
            </a:extLst>
          </p:cNvPr>
          <p:cNvSpPr txBox="1"/>
          <p:nvPr/>
        </p:nvSpPr>
        <p:spPr>
          <a:xfrm>
            <a:off x="320040" y="1389888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B5C"/>
                </a:solidFill>
                <a:latin typeface="Garamond"/>
              </a:rPr>
              <a:t>Communication with oneself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0C7859-03DD-0111-C75A-60B1A21A0DC5}"/>
              </a:ext>
            </a:extLst>
          </p:cNvPr>
          <p:cNvSpPr txBox="1"/>
          <p:nvPr/>
        </p:nvSpPr>
        <p:spPr>
          <a:xfrm>
            <a:off x="320040" y="1920240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1A"/>
                </a:solidFill>
                <a:latin typeface="Garamond"/>
              </a:rPr>
              <a:t>Self-talk, reflection, internal motivation and self-regulation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58FC7E-1B7F-3174-7402-E2BC158838AE}"/>
              </a:ext>
            </a:extLst>
          </p:cNvPr>
          <p:cNvSpPr/>
          <p:nvPr/>
        </p:nvSpPr>
        <p:spPr>
          <a:xfrm>
            <a:off x="320041" y="3063239"/>
            <a:ext cx="1783080" cy="7386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7ABAB0-C22B-D952-3C01-785088D1E47A}"/>
              </a:ext>
            </a:extLst>
          </p:cNvPr>
          <p:cNvSpPr txBox="1"/>
          <p:nvPr/>
        </p:nvSpPr>
        <p:spPr>
          <a:xfrm>
            <a:off x="365760" y="3053487"/>
            <a:ext cx="1737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002B5C"/>
                </a:solidFill>
                <a:latin typeface="Garamond"/>
              </a:rPr>
              <a:t>Self-discipline · Self-awareness · Open-mindedness · Patience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06A8FC-1578-29BF-7F71-9684A1D47F46}"/>
              </a:ext>
            </a:extLst>
          </p:cNvPr>
          <p:cNvSpPr/>
          <p:nvPr/>
        </p:nvSpPr>
        <p:spPr>
          <a:xfrm>
            <a:off x="2331720" y="868680"/>
            <a:ext cx="2011680" cy="3749039"/>
          </a:xfrm>
          <a:prstGeom prst="rect">
            <a:avLst/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8F7A3C-8BE9-2526-BAB0-4A1EFB2181F3}"/>
              </a:ext>
            </a:extLst>
          </p:cNvPr>
          <p:cNvSpPr/>
          <p:nvPr/>
        </p:nvSpPr>
        <p:spPr>
          <a:xfrm>
            <a:off x="2331720" y="868680"/>
            <a:ext cx="2011680" cy="201168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D5176E-83E4-06BF-75C3-0786D4723350}"/>
              </a:ext>
            </a:extLst>
          </p:cNvPr>
          <p:cNvSpPr txBox="1"/>
          <p:nvPr/>
        </p:nvSpPr>
        <p:spPr>
          <a:xfrm>
            <a:off x="2423160" y="1115568"/>
            <a:ext cx="159152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6DAE"/>
                </a:solidFill>
                <a:latin typeface="Garamond"/>
              </a:rPr>
              <a:t>Interpersonal</a:t>
            </a:r>
            <a:r>
              <a:rPr lang="en-US" sz="1400" b="1" dirty="0">
                <a:solidFill>
                  <a:srgbClr val="006DAE"/>
                </a:solidFill>
                <a:latin typeface="Garamond"/>
              </a:rPr>
              <a:t> Skill</a:t>
            </a:r>
            <a:endParaRPr sz="1400" b="1" dirty="0">
              <a:solidFill>
                <a:srgbClr val="006DAE"/>
              </a:solidFill>
              <a:latin typeface="Garamon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FF03B8-A974-4988-D560-BFC7A7AC9765}"/>
              </a:ext>
            </a:extLst>
          </p:cNvPr>
          <p:cNvSpPr txBox="1"/>
          <p:nvPr/>
        </p:nvSpPr>
        <p:spPr>
          <a:xfrm>
            <a:off x="2423160" y="1389888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B5C"/>
                </a:solidFill>
                <a:latin typeface="Garamond"/>
              </a:rPr>
              <a:t>Communication with others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8EA436-7F44-B654-D4DC-6EBF1F9BE806}"/>
              </a:ext>
            </a:extLst>
          </p:cNvPr>
          <p:cNvSpPr txBox="1"/>
          <p:nvPr/>
        </p:nvSpPr>
        <p:spPr>
          <a:xfrm>
            <a:off x="2423160" y="1920240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1A"/>
                </a:solidFill>
                <a:latin typeface="Garamond"/>
              </a:rPr>
              <a:t>Verbal and non-verbal exchanges with colleagues, clients and teams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78D6E5-44A5-AA8E-DFA6-92E9D870C574}"/>
              </a:ext>
            </a:extLst>
          </p:cNvPr>
          <p:cNvSpPr/>
          <p:nvPr/>
        </p:nvSpPr>
        <p:spPr>
          <a:xfrm>
            <a:off x="2423160" y="3063239"/>
            <a:ext cx="1783080" cy="738663"/>
          </a:xfrm>
          <a:prstGeom prst="rect">
            <a:avLst/>
          </a:prstGeom>
          <a:solidFill>
            <a:srgbClr val="FFFFFF"/>
          </a:solidFill>
          <a:ln w="12700">
            <a:solidFill>
              <a:srgbClr val="006D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8C171B-FF3E-87A3-2B6F-DC87ACFEE3AE}"/>
              </a:ext>
            </a:extLst>
          </p:cNvPr>
          <p:cNvSpPr txBox="1"/>
          <p:nvPr/>
        </p:nvSpPr>
        <p:spPr>
          <a:xfrm>
            <a:off x="2468880" y="3127248"/>
            <a:ext cx="1737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 dirty="0">
                <a:solidFill>
                  <a:srgbClr val="006DAE"/>
                </a:solidFill>
                <a:latin typeface="Garamond"/>
              </a:rPr>
              <a:t>Assertiveness · Active Listening · Questioning · Feedback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3F0DD1-71D2-2F09-A1F8-7EE29B77447B}"/>
              </a:ext>
            </a:extLst>
          </p:cNvPr>
          <p:cNvSpPr/>
          <p:nvPr/>
        </p:nvSpPr>
        <p:spPr>
          <a:xfrm>
            <a:off x="4434840" y="868680"/>
            <a:ext cx="2011680" cy="3749039"/>
          </a:xfrm>
          <a:prstGeom prst="rect">
            <a:avLst/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1A39E6-E76C-6D16-11C5-547F5121F4AE}"/>
              </a:ext>
            </a:extLst>
          </p:cNvPr>
          <p:cNvSpPr/>
          <p:nvPr/>
        </p:nvSpPr>
        <p:spPr>
          <a:xfrm>
            <a:off x="4434840" y="868680"/>
            <a:ext cx="2011680" cy="201168"/>
          </a:xfrm>
          <a:prstGeom prst="rect">
            <a:avLst/>
          </a:prstGeom>
          <a:solidFill>
            <a:srgbClr val="02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8FC41A-5E15-4A65-F8D0-C3EE805CD545}"/>
              </a:ext>
            </a:extLst>
          </p:cNvPr>
          <p:cNvSpPr txBox="1"/>
          <p:nvPr/>
        </p:nvSpPr>
        <p:spPr>
          <a:xfrm>
            <a:off x="4526280" y="1115568"/>
            <a:ext cx="16882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27EB5"/>
                </a:solidFill>
                <a:latin typeface="Garamond"/>
              </a:rPr>
              <a:t>Why It Matters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0A06EE-1A2E-3C85-46F3-F296C44D1055}"/>
              </a:ext>
            </a:extLst>
          </p:cNvPr>
          <p:cNvSpPr txBox="1"/>
          <p:nvPr/>
        </p:nvSpPr>
        <p:spPr>
          <a:xfrm>
            <a:off x="4526280" y="1389888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B5C"/>
                </a:solidFill>
                <a:latin typeface="Garamond"/>
              </a:rPr>
              <a:t>For your IT career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DFF7B8-6C12-B0B5-BE47-96BE07ED9293}"/>
              </a:ext>
            </a:extLst>
          </p:cNvPr>
          <p:cNvSpPr txBox="1"/>
          <p:nvPr/>
        </p:nvSpPr>
        <p:spPr>
          <a:xfrm>
            <a:off x="4526280" y="1920240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1A"/>
                </a:solidFill>
                <a:latin typeface="Garamond"/>
              </a:rPr>
              <a:t>Strong communication skills lead to better team outcomes and client relationships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39CA8C-EF77-3E08-9AE7-D8DADA21774D}"/>
              </a:ext>
            </a:extLst>
          </p:cNvPr>
          <p:cNvSpPr/>
          <p:nvPr/>
        </p:nvSpPr>
        <p:spPr>
          <a:xfrm>
            <a:off x="4526280" y="3063240"/>
            <a:ext cx="1783080" cy="738662"/>
          </a:xfrm>
          <a:prstGeom prst="rect">
            <a:avLst/>
          </a:prstGeom>
          <a:solidFill>
            <a:srgbClr val="FFFFFF"/>
          </a:solidFill>
          <a:ln w="12700">
            <a:solidFill>
              <a:srgbClr val="027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33C14-2C89-50E3-91D8-7A94CAFD4951}"/>
              </a:ext>
            </a:extLst>
          </p:cNvPr>
          <p:cNvSpPr txBox="1"/>
          <p:nvPr/>
        </p:nvSpPr>
        <p:spPr>
          <a:xfrm>
            <a:off x="4572000" y="3127248"/>
            <a:ext cx="1737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 dirty="0">
                <a:solidFill>
                  <a:srgbClr val="027EB5"/>
                </a:solidFill>
                <a:latin typeface="Garamond"/>
              </a:rPr>
              <a:t>Builds trust · Reduces conflict · Increases productivity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7B517D-B59D-1196-17E8-1CDA8B9F288C}"/>
              </a:ext>
            </a:extLst>
          </p:cNvPr>
          <p:cNvSpPr/>
          <p:nvPr/>
        </p:nvSpPr>
        <p:spPr>
          <a:xfrm>
            <a:off x="6537960" y="868680"/>
            <a:ext cx="2011680" cy="3749039"/>
          </a:xfrm>
          <a:prstGeom prst="rect">
            <a:avLst/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43E6E8-E49E-49B1-6FC5-4CC4091CD22C}"/>
              </a:ext>
            </a:extLst>
          </p:cNvPr>
          <p:cNvSpPr/>
          <p:nvPr/>
        </p:nvSpPr>
        <p:spPr>
          <a:xfrm>
            <a:off x="6537960" y="868680"/>
            <a:ext cx="2011680" cy="201168"/>
          </a:xfrm>
          <a:prstGeom prst="rect">
            <a:avLst/>
          </a:prstGeom>
          <a:solidFill>
            <a:srgbClr val="00A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ECD27E-CF5E-EB74-3E04-9225F78775D9}"/>
              </a:ext>
            </a:extLst>
          </p:cNvPr>
          <p:cNvSpPr txBox="1"/>
          <p:nvPr/>
        </p:nvSpPr>
        <p:spPr>
          <a:xfrm>
            <a:off x="6629400" y="1115568"/>
            <a:ext cx="171861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A887"/>
                </a:solidFill>
                <a:latin typeface="Garamond"/>
              </a:rPr>
              <a:t>In Action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349D59-7C85-6AE0-25CC-796B10F54A73}"/>
              </a:ext>
            </a:extLst>
          </p:cNvPr>
          <p:cNvSpPr txBox="1"/>
          <p:nvPr/>
        </p:nvSpPr>
        <p:spPr>
          <a:xfrm>
            <a:off x="6629400" y="1389888"/>
            <a:ext cx="182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B5C"/>
                </a:solidFill>
                <a:latin typeface="Garamond"/>
              </a:rPr>
              <a:t>Real examples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149B6D-F153-2918-94ED-C5792F4B74FF}"/>
              </a:ext>
            </a:extLst>
          </p:cNvPr>
          <p:cNvSpPr txBox="1"/>
          <p:nvPr/>
        </p:nvSpPr>
        <p:spPr>
          <a:xfrm>
            <a:off x="6629400" y="1920240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1A"/>
                </a:solidFill>
                <a:latin typeface="Garamond"/>
              </a:rPr>
              <a:t>Team standup meeting · Client requirements gathering · Code review feedback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258E70B-617D-4A10-4187-525F1595DC9D}"/>
              </a:ext>
            </a:extLst>
          </p:cNvPr>
          <p:cNvSpPr/>
          <p:nvPr/>
        </p:nvSpPr>
        <p:spPr>
          <a:xfrm>
            <a:off x="6629400" y="3063239"/>
            <a:ext cx="1783080" cy="738663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4467DA-3C93-D090-E3E1-3E60C5878CD2}"/>
              </a:ext>
            </a:extLst>
          </p:cNvPr>
          <p:cNvSpPr txBox="1"/>
          <p:nvPr/>
        </p:nvSpPr>
        <p:spPr>
          <a:xfrm>
            <a:off x="6675120" y="3127248"/>
            <a:ext cx="1737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00A887"/>
                </a:solidFill>
                <a:latin typeface="Garamond"/>
              </a:rPr>
              <a:t>All require BOTH intra and interpersonal skills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258E3C-FA9D-3F7B-73E6-0D876B1CDA4E}"/>
              </a:ext>
            </a:extLst>
          </p:cNvPr>
          <p:cNvSpPr txBox="1"/>
          <p:nvPr/>
        </p:nvSpPr>
        <p:spPr>
          <a:xfrm>
            <a:off x="0" y="4227647"/>
            <a:ext cx="759534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1" dirty="0">
                <a:solidFill>
                  <a:srgbClr val="002B5C"/>
                </a:solidFill>
                <a:latin typeface="Garamond"/>
              </a:rPr>
              <a:t>💡  Knowing your own strengths and limits (intrapersonal) helps you communicate your ideas with confidence (interpersonal)</a:t>
            </a:r>
          </a:p>
        </p:txBody>
      </p:sp>
    </p:spTree>
    <p:extLst>
      <p:ext uri="{BB962C8B-B14F-4D97-AF65-F5344CB8AC3E}">
        <p14:creationId xmlns:p14="http://schemas.microsoft.com/office/powerpoint/2010/main" val="118566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E0C21-81E0-C01C-6E8B-646C510D1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E8B17A-E652-EA72-4B8E-0FCE70326D65}"/>
              </a:ext>
            </a:extLst>
          </p:cNvPr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6423B0-9604-AAB9-CBD7-28FDDE859570}"/>
              </a:ext>
            </a:extLst>
          </p:cNvPr>
          <p:cNvSpPr/>
          <p:nvPr/>
        </p:nvSpPr>
        <p:spPr>
          <a:xfrm>
            <a:off x="457200" y="2286000"/>
            <a:ext cx="3657600" cy="54864"/>
          </a:xfrm>
          <a:prstGeom prst="rect">
            <a:avLst/>
          </a:prstGeom>
          <a:solidFill>
            <a:srgbClr val="5BC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C72496-60C7-DBA4-F267-49A90A95D26D}"/>
              </a:ext>
            </a:extLst>
          </p:cNvPr>
          <p:cNvSpPr txBox="1"/>
          <p:nvPr/>
        </p:nvSpPr>
        <p:spPr>
          <a:xfrm>
            <a:off x="457200" y="1140535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rgbClr val="FFFFFF"/>
                </a:solidFill>
                <a:latin typeface="Garamond"/>
              </a:rPr>
              <a:t>Part </a:t>
            </a:r>
            <a:r>
              <a:rPr lang="en-US" sz="3600" b="1" dirty="0">
                <a:solidFill>
                  <a:srgbClr val="FFFFFF"/>
                </a:solidFill>
                <a:latin typeface="Garamond"/>
              </a:rPr>
              <a:t>2.1</a:t>
            </a:r>
            <a:r>
              <a:rPr sz="3600" b="1" dirty="0">
                <a:solidFill>
                  <a:srgbClr val="FFFFFF"/>
                </a:solidFill>
                <a:latin typeface="Garamond"/>
              </a:rPr>
              <a:t>: </a:t>
            </a:r>
            <a:r>
              <a:rPr lang="en-US" sz="3600" b="1" dirty="0">
                <a:solidFill>
                  <a:srgbClr val="FFFFFF"/>
                </a:solidFill>
                <a:latin typeface="Garamond"/>
              </a:rPr>
              <a:t>Types of Interpersonal skills</a:t>
            </a:r>
            <a:endParaRPr sz="36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D28B82-1965-F60C-9228-2915D24D367B}"/>
              </a:ext>
            </a:extLst>
          </p:cNvPr>
          <p:cNvSpPr txBox="1"/>
          <p:nvPr/>
        </p:nvSpPr>
        <p:spPr>
          <a:xfrm>
            <a:off x="457200" y="2560320"/>
            <a:ext cx="473110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200" i="1" dirty="0">
                <a:solidFill>
                  <a:srgbClr val="5BC2E7"/>
                </a:solidFill>
                <a:latin typeface="Garamond"/>
              </a:rPr>
              <a:t>With non-graded quiz to test your understanding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9B68E2-371B-366A-0EE5-028B183A580F}"/>
              </a:ext>
            </a:extLst>
          </p:cNvPr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C2E7"/>
                </a:solidFill>
                <a:latin typeface="Garamond"/>
              </a:rPr>
              <a:t>FIT1055: IT Professional Practice and Ethics  |  Week 2</a:t>
            </a:r>
          </a:p>
        </p:txBody>
      </p:sp>
    </p:spTree>
    <p:extLst>
      <p:ext uri="{BB962C8B-B14F-4D97-AF65-F5344CB8AC3E}">
        <p14:creationId xmlns:p14="http://schemas.microsoft.com/office/powerpoint/2010/main" val="622054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Garamond"/>
              </a:rPr>
              <a:t>⚡  Assertiveness Techniques — IT Workplace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31495"/>
            <a:ext cx="8229600" cy="1107996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11580"/>
            <a:ext cx="8229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5BC2E7"/>
                </a:solidFill>
                <a:latin typeface="Garamond"/>
              </a:rPr>
              <a:t>Assertiveness = getting desired outcomes without contravening others' rights (Eunson, 2012)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93746"/>
            <a:ext cx="786537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002B5C"/>
                </a:solidFill>
                <a:latin typeface="Garamond"/>
              </a:rPr>
              <a:t>The Techniques:</a:t>
            </a:r>
          </a:p>
          <a:p>
            <a:pPr algn="ctr"/>
            <a:r>
              <a:rPr sz="2200" dirty="0">
                <a:solidFill>
                  <a:srgbClr val="002B5C"/>
                </a:solidFill>
                <a:latin typeface="Garamond"/>
              </a:rPr>
              <a:t>Workable Compromise · Fogging · Broken Record · Forcing a Choice · Threat · Ask for Specific</a:t>
            </a:r>
          </a:p>
        </p:txBody>
      </p:sp>
    </p:spTree>
    <p:extLst>
      <p:ext uri="{BB962C8B-B14F-4D97-AF65-F5344CB8AC3E}">
        <p14:creationId xmlns:p14="http://schemas.microsoft.com/office/powerpoint/2010/main" val="334469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BC537-0176-738F-4CCD-CB5D08418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D7988F-302D-59A0-1363-0CF88CBCAAB9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B5085E-17F5-D077-57EC-1E24E6534817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F266A7-FD50-04DD-65F2-69AA22533744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503754-A9B5-0C09-EF7E-C29511C2F076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4D9D6D-DB92-C3A0-8C88-0D24682EE6F9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Garamond"/>
              </a:rPr>
              <a:t>⚡  </a:t>
            </a:r>
            <a:r>
              <a:rPr lang="en-US" sz="2600" b="1" dirty="0">
                <a:solidFill>
                  <a:srgbClr val="FFFFFF"/>
                </a:solidFill>
                <a:latin typeface="Garamond"/>
              </a:rPr>
              <a:t>Flashcards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C1558C-6C10-1C56-15FE-E54A3C609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34" y="892582"/>
            <a:ext cx="5680214" cy="402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427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C04BD-3F44-4C5F-E159-C3773A75E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D64285-79A9-08FB-24C7-EB026F2A85E6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9544CA-3B61-2E12-A5C9-1074BA13AB23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54321-F5CC-AC88-5B4E-58FFA53ECE31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8AAF1-C2AE-056A-B97B-47E1F24DEC57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9959A-5559-CBFC-8CF0-F5DC03D8895E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Garamond"/>
              </a:rPr>
              <a:t>⚡  </a:t>
            </a:r>
            <a:r>
              <a:rPr lang="en-US" sz="2600" b="1" dirty="0">
                <a:solidFill>
                  <a:srgbClr val="FFFFFF"/>
                </a:solidFill>
                <a:latin typeface="Garamond"/>
              </a:rPr>
              <a:t>Flashcards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B2AC0A-52DC-247E-69A0-AD8E96BA7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708" y="795528"/>
            <a:ext cx="5488120" cy="394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65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1F9DE-82EC-07BF-F0E1-43C71DA78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54E3E9-C4B7-1D70-6D7D-9A45054CA382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89B2B9-A8A1-1CA8-0F17-F7848F5EC2B4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58DC73-85E1-CD13-1DD4-361B85B9EE77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3F4226-BE74-1C86-1321-0E33B6D8EE93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E63383-D61F-E34B-1BDD-82505AAF9B4B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Garamond"/>
              </a:rPr>
              <a:t>⚡  </a:t>
            </a:r>
            <a:r>
              <a:rPr lang="en-US" sz="2600" b="1" dirty="0">
                <a:solidFill>
                  <a:srgbClr val="FFFFFF"/>
                </a:solidFill>
                <a:latin typeface="Garamond"/>
              </a:rPr>
              <a:t>Flashcards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653BAB-8481-42C6-2761-649512704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474" y="825758"/>
            <a:ext cx="5778498" cy="409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902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91672-C259-9141-E66A-C75333AE1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98534B-724D-6F76-A2B5-EC77FC3F7499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EE20B9-B371-481A-7E46-5DA0B2B70CED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40696B-5535-6BB2-9072-BAC063E80B94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86A3B9-09DD-9420-918B-73A99DDD950A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908532-2C95-2470-2AAF-3A1786838F13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Garamond"/>
              </a:rPr>
              <a:t>⚡  </a:t>
            </a:r>
            <a:r>
              <a:rPr lang="en-US" sz="2600" b="1" dirty="0">
                <a:solidFill>
                  <a:srgbClr val="FFFFFF"/>
                </a:solidFill>
                <a:latin typeface="Garamond"/>
              </a:rPr>
              <a:t>Flashcards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63178C-4F33-D481-ADEE-91F4012F2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798374"/>
            <a:ext cx="6020908" cy="418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121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13E8C-6E2D-C989-D414-C52AB8B4D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A1ED1E-3D93-FEB1-4751-B6AD8A6A09C9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2B470C-2105-AF80-F652-C9C70BDF82CD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DA751C-460B-BF9B-32A8-146B79268B0A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5CFE2F-266E-6F48-F5B5-1B897CAF4B81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06A997-C442-56A1-3E10-0EA502D789B6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Garamond"/>
              </a:rPr>
              <a:t>⚡  </a:t>
            </a:r>
            <a:r>
              <a:rPr lang="en-US" sz="2600" b="1" dirty="0">
                <a:solidFill>
                  <a:srgbClr val="FFFFFF"/>
                </a:solidFill>
                <a:latin typeface="Garamond"/>
              </a:rPr>
              <a:t>Flashcards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96077B-7459-CDD9-E662-F10C907D0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17" y="936611"/>
            <a:ext cx="7707926" cy="37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300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aramond"/>
              </a:rPr>
              <a:t>🎭  Role Play — The Workplace Scenario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68680"/>
            <a:ext cx="8686800" cy="4572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886968"/>
            <a:ext cx="616950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1" dirty="0">
                <a:solidFill>
                  <a:srgbClr val="FFFFFF"/>
                </a:solidFill>
                <a:latin typeface="Garamond"/>
              </a:rPr>
              <a:t>5 minutes in pairs — one person plays Lin, the other plays Kamil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44752"/>
            <a:ext cx="292608" cy="292608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" y="1444752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Garamon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356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1A"/>
                </a:solidFill>
                <a:latin typeface="Garamond"/>
              </a:rPr>
              <a:t>Scenario: Kamil asks Lin to audit all equipment by end of month, but she is already finalising a major report. How should she respond?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039112"/>
            <a:ext cx="292608" cy="292608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" y="2039112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Garamon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048361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1A1A1A"/>
                </a:solidFill>
                <a:latin typeface="Garamond"/>
              </a:rPr>
              <a:t>Lin's goal: Use the Forcing a Choice assertiveness technique to manage the conflict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633472"/>
            <a:ext cx="292608" cy="292608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8600" y="2633472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Garamon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2432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1A"/>
                </a:solidFill>
                <a:latin typeface="Garamond"/>
              </a:rPr>
              <a:t>Debrief: What technique did you use? How did it feel? What would you do differently?</a:t>
            </a:r>
          </a:p>
        </p:txBody>
      </p:sp>
    </p:spTree>
    <p:extLst>
      <p:ext uri="{BB962C8B-B14F-4D97-AF65-F5344CB8AC3E}">
        <p14:creationId xmlns:p14="http://schemas.microsoft.com/office/powerpoint/2010/main" val="1266374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547A7-DE6F-1CFF-A216-ED70B9FA3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A2AA20-F3AE-325D-3F9D-5D099EE36086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2376FC-25AD-925B-575B-1D92A16EC81A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4C6F50-7677-8DB7-401A-1217342D4F9F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F2CF1F-D883-E883-7BA1-7D7A5ABF4DC7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FF6C1D-4568-B100-D26B-EADBDC98F225}"/>
              </a:ext>
            </a:extLst>
          </p:cNvPr>
          <p:cNvSpPr txBox="1"/>
          <p:nvPr/>
        </p:nvSpPr>
        <p:spPr>
          <a:xfrm>
            <a:off x="228600" y="10090"/>
            <a:ext cx="8915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b="1" dirty="0">
                <a:solidFill>
                  <a:schemeClr val="bg1"/>
                </a:solidFill>
                <a:latin typeface="Garamond"/>
              </a:rPr>
              <a:t>Quiz 1: </a:t>
            </a:r>
            <a:r>
              <a:rPr lang="en-US" sz="2300" b="1" dirty="0">
                <a:solidFill>
                  <a:schemeClr val="bg1"/>
                </a:solidFill>
                <a:latin typeface="Garamond" panose="02020404030301010803" pitchFamily="18" charset="0"/>
              </a:rPr>
              <a:t>Test your authentic learning in applying effective communication skills techniques</a:t>
            </a:r>
            <a:endParaRPr sz="2300" b="1" dirty="0">
              <a:solidFill>
                <a:schemeClr val="bg1"/>
              </a:solidFill>
              <a:latin typeface="Garamond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1546AB-D66E-6723-CD17-572A7A585CA7}"/>
              </a:ext>
            </a:extLst>
          </p:cNvPr>
          <p:cNvSpPr/>
          <p:nvPr/>
        </p:nvSpPr>
        <p:spPr>
          <a:xfrm>
            <a:off x="228600" y="868680"/>
            <a:ext cx="8686800" cy="4572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A3D5D9-6F33-CD80-3E89-E0DE343113DC}"/>
              </a:ext>
            </a:extLst>
          </p:cNvPr>
          <p:cNvSpPr txBox="1"/>
          <p:nvPr/>
        </p:nvSpPr>
        <p:spPr>
          <a:xfrm>
            <a:off x="320040" y="886968"/>
            <a:ext cx="380565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b="1" i="1" dirty="0">
                <a:solidFill>
                  <a:srgbClr val="FFFFFF"/>
                </a:solidFill>
                <a:latin typeface="Garamond"/>
              </a:rPr>
              <a:t>Before we begin, please do the following</a:t>
            </a:r>
            <a:endParaRPr b="1" i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833007-C3CF-7019-CD28-51F411042126}"/>
              </a:ext>
            </a:extLst>
          </p:cNvPr>
          <p:cNvSpPr/>
          <p:nvPr/>
        </p:nvSpPr>
        <p:spPr>
          <a:xfrm>
            <a:off x="228600" y="1444752"/>
            <a:ext cx="292608" cy="292608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277F93-29CD-5AC9-660F-7D3D1BDC8965}"/>
              </a:ext>
            </a:extLst>
          </p:cNvPr>
          <p:cNvSpPr txBox="1"/>
          <p:nvPr/>
        </p:nvSpPr>
        <p:spPr>
          <a:xfrm>
            <a:off x="241694" y="1444752"/>
            <a:ext cx="2664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2339EA-3986-E92F-8F5D-A8E666957BFE}"/>
              </a:ext>
            </a:extLst>
          </p:cNvPr>
          <p:cNvSpPr txBox="1"/>
          <p:nvPr/>
        </p:nvSpPr>
        <p:spPr>
          <a:xfrm>
            <a:off x="594360" y="1435608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A1A1A"/>
                </a:solidFill>
                <a:latin typeface="Garamond"/>
              </a:rPr>
              <a:t>Read through the flashcard for 5-10 minutes and the accompanied notes on Moodle </a:t>
            </a:r>
            <a:endParaRPr dirty="0">
              <a:solidFill>
                <a:srgbClr val="1A1A1A"/>
              </a:solidFill>
              <a:latin typeface="Garamond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BF839A-6633-15D7-D00B-B20CDBC0B1EF}"/>
              </a:ext>
            </a:extLst>
          </p:cNvPr>
          <p:cNvSpPr/>
          <p:nvPr/>
        </p:nvSpPr>
        <p:spPr>
          <a:xfrm>
            <a:off x="228600" y="2039112"/>
            <a:ext cx="292608" cy="292608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A22416-0364-23F6-DF3D-7077387B10A8}"/>
              </a:ext>
            </a:extLst>
          </p:cNvPr>
          <p:cNvSpPr txBox="1"/>
          <p:nvPr/>
        </p:nvSpPr>
        <p:spPr>
          <a:xfrm>
            <a:off x="234481" y="2039112"/>
            <a:ext cx="28084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6710F6-1032-B432-1762-F4F4E97BE11B}"/>
              </a:ext>
            </a:extLst>
          </p:cNvPr>
          <p:cNvSpPr txBox="1"/>
          <p:nvPr/>
        </p:nvSpPr>
        <p:spPr>
          <a:xfrm>
            <a:off x="594360" y="1977835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A1A1A"/>
                </a:solidFill>
                <a:latin typeface="Garamond"/>
              </a:rPr>
              <a:t>Attempt the quiz on this link: </a:t>
            </a:r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  <a:ea typeface="Arial" panose="020B0604020202020204" pitchFamily="34" charset="0"/>
                <a:hlinkClick r:id="rId2"/>
              </a:rPr>
              <a:t>https://quizizz.com/join?gc=38003928</a:t>
            </a:r>
            <a:endParaRPr lang="en-US" dirty="0">
              <a:solidFill>
                <a:srgbClr val="000000"/>
              </a:solidFill>
              <a:latin typeface="Garamond" panose="02020404030301010803" pitchFamily="18" charset="0"/>
              <a:ea typeface="Arial" panose="020B0604020202020204" pitchFamily="34" charset="0"/>
            </a:endParaRPr>
          </a:p>
          <a:p>
            <a:r>
              <a:rPr lang="en-US" dirty="0">
                <a:solidFill>
                  <a:srgbClr val="1A1A1A"/>
                </a:solidFill>
                <a:latin typeface="Garamond"/>
              </a:rPr>
              <a:t> </a:t>
            </a:r>
            <a:endParaRPr dirty="0">
              <a:solidFill>
                <a:srgbClr val="1A1A1A"/>
              </a:solidFill>
              <a:latin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22540472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09D4C-8071-EBE3-4AD6-7DB22D2EF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D0FC04-3025-62AF-33C9-21F9E5C1BB7E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908C3B-7177-0E98-096D-0C1114E7524D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1C60E7-4F9B-A177-F242-C4D5636AB3CE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CF346-C1CA-6959-56EC-F2FD42C5F864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55F32E-4E86-06C0-F66A-70EFF22EB4E8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Garamond"/>
              </a:rPr>
              <a:t>⚡  </a:t>
            </a:r>
            <a:r>
              <a:rPr lang="en-US" sz="2600" b="1" dirty="0">
                <a:solidFill>
                  <a:srgbClr val="FFFFFF"/>
                </a:solidFill>
                <a:latin typeface="Garamond"/>
              </a:rPr>
              <a:t>Listening and Active Listening Technique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C9CD21-9379-98D5-7AE2-FC74D680F763}"/>
              </a:ext>
            </a:extLst>
          </p:cNvPr>
          <p:cNvSpPr/>
          <p:nvPr/>
        </p:nvSpPr>
        <p:spPr>
          <a:xfrm>
            <a:off x="228600" y="1131495"/>
            <a:ext cx="8229600" cy="1107996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E2DC1F-050E-F357-ABB8-31E803189032}"/>
              </a:ext>
            </a:extLst>
          </p:cNvPr>
          <p:cNvSpPr txBox="1"/>
          <p:nvPr/>
        </p:nvSpPr>
        <p:spPr>
          <a:xfrm>
            <a:off x="457200" y="1211580"/>
            <a:ext cx="8229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5BC2E7"/>
                </a:solidFill>
                <a:latin typeface="Garamond"/>
              </a:rPr>
              <a:t>Good listening skills provides contexts for common ground</a:t>
            </a:r>
            <a:endParaRPr sz="2800" b="1" dirty="0">
              <a:solidFill>
                <a:srgbClr val="5BC2E7"/>
              </a:solidFill>
              <a:latin typeface="Garamon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7249C9-E2E7-1CFB-7662-4A2EFED028EE}"/>
              </a:ext>
            </a:extLst>
          </p:cNvPr>
          <p:cNvSpPr txBox="1"/>
          <p:nvPr/>
        </p:nvSpPr>
        <p:spPr>
          <a:xfrm>
            <a:off x="592830" y="2482047"/>
            <a:ext cx="7865370" cy="1619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6228">
              <a:lnSpc>
                <a:spcPct val="115000"/>
              </a:lnSpc>
              <a:spcBef>
                <a:spcPts val="840"/>
              </a:spcBef>
            </a:pPr>
            <a:r>
              <a:rPr lang="en-US" sz="2000" dirty="0">
                <a:solidFill>
                  <a:srgbClr val="000000"/>
                </a:solidFill>
                <a:latin typeface="Garamond" panose="02020404030301010803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                       Used the technique well, gets you to:</a:t>
            </a:r>
          </a:p>
          <a:p>
            <a:pPr marL="296228" algn="ctr">
              <a:lnSpc>
                <a:spcPct val="115000"/>
              </a:lnSpc>
              <a:spcBef>
                <a:spcPts val="840"/>
              </a:spcBef>
            </a:pPr>
            <a:r>
              <a:rPr lang="en-US" sz="2000" dirty="0">
                <a:solidFill>
                  <a:srgbClr val="000000"/>
                </a:solidFill>
                <a:latin typeface="Garamond" panose="02020404030301010803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Understand the full details of a situation  </a:t>
            </a:r>
            <a:r>
              <a:rPr lang="en-US" sz="2000" dirty="0">
                <a:latin typeface="Garamond" panose="02020404030301010803" pitchFamily="18" charset="0"/>
                <a:ea typeface="Book Antiqua" panose="02040602050305030304" pitchFamily="18" charset="0"/>
              </a:rPr>
              <a:t>- </a:t>
            </a:r>
            <a:r>
              <a:rPr lang="en-US" sz="2000" dirty="0">
                <a:solidFill>
                  <a:srgbClr val="000000"/>
                </a:solidFill>
                <a:latin typeface="Garamond" panose="02020404030301010803" pitchFamily="18" charset="0"/>
                <a:ea typeface="Noto Sans Symbols"/>
                <a:cs typeface="Noto Sans Symbols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Garamond" panose="02020404030301010803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Opportunity to learn and develop  </a:t>
            </a:r>
            <a:r>
              <a:rPr lang="en-US" sz="2000" dirty="0">
                <a:latin typeface="Garamond" panose="02020404030301010803" pitchFamily="18" charset="0"/>
                <a:ea typeface="Book Antiqua" panose="02040602050305030304" pitchFamily="18" charset="0"/>
              </a:rPr>
              <a:t>-</a:t>
            </a:r>
            <a:r>
              <a:rPr lang="en-US" sz="2000" dirty="0">
                <a:solidFill>
                  <a:srgbClr val="000000"/>
                </a:solidFill>
                <a:latin typeface="Garamond" panose="02020404030301010803" pitchFamily="18" charset="0"/>
                <a:ea typeface="Noto Sans Symbols"/>
                <a:cs typeface="Noto Sans Symbols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Garamond" panose="02020404030301010803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Let others work through and resolve their own issues  </a:t>
            </a:r>
            <a:r>
              <a:rPr lang="en-US" sz="2000" dirty="0">
                <a:latin typeface="Garamond" panose="02020404030301010803" pitchFamily="18" charset="0"/>
                <a:ea typeface="Book Antiqua" panose="02040602050305030304" pitchFamily="18" charset="0"/>
              </a:rPr>
              <a:t>-</a:t>
            </a:r>
            <a:r>
              <a:rPr lang="en-US" sz="2000" dirty="0">
                <a:solidFill>
                  <a:srgbClr val="000000"/>
                </a:solidFill>
                <a:latin typeface="Garamond" panose="02020404030301010803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Makes others more likely to listen to you</a:t>
            </a:r>
            <a:endParaRPr lang="en-US" sz="2000" dirty="0">
              <a:latin typeface="Garamond" panose="02020404030301010803" pitchFamily="18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1461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3DCAA-5F13-A7B4-3068-B0FA779A0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4C40A4-D4E8-0CA5-F720-344319951783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757BA4-9E86-CF6C-D7A0-2E44ABD629A6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623F9E-5F2B-0429-0088-479D917397B4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AF579C-6CEE-CAB7-8BE2-9A5C2EE3A55A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1C0FEF-594A-CDEB-A227-A918FA0C47C4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Garamond"/>
              </a:rPr>
              <a:t>⚡  </a:t>
            </a:r>
            <a:r>
              <a:rPr lang="en-US" sz="2600" b="1" dirty="0">
                <a:solidFill>
                  <a:srgbClr val="FFFFFF"/>
                </a:solidFill>
                <a:latin typeface="Garamond"/>
              </a:rPr>
              <a:t>Flashcards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A112A5-CEBB-EFCC-FE5F-A46481617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431" y="839310"/>
            <a:ext cx="5777748" cy="406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684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4BB7C-8C66-3F90-FE23-44E9BC81B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DD24A8-405A-6C46-A610-D0D93ABF34E5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C58219-7A71-57CA-C745-C2F075D3DE5C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999162-7DC2-46E8-0478-F3CE45931725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884EE-BEEC-8140-778F-C7752FF5B9A3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E42776-5565-8471-3AB0-E6A55696397A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Garamond"/>
              </a:rPr>
              <a:t>⚡  </a:t>
            </a:r>
            <a:r>
              <a:rPr lang="en-US" sz="2600" b="1" dirty="0">
                <a:solidFill>
                  <a:srgbClr val="FFFFFF"/>
                </a:solidFill>
                <a:latin typeface="Garamond"/>
              </a:rPr>
              <a:t>Flashcards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432775-30ED-CFE6-7EF0-AF7F6625F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53" y="1032579"/>
            <a:ext cx="7657694" cy="307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17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518D6-898F-FB13-F620-5922F5A5A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211CEE-CB1C-4515-543F-8840AC5D70CB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870E7D-8E72-0D9A-DD43-76B20349D22E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5D0702-5886-969A-89D8-C2ADEA89CDBC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FC644-89E0-BEAF-EAF1-658AD3A2AB37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55D179-7A71-8326-89FC-3ACE1AD38C35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Garamond"/>
              </a:rPr>
              <a:t>⚡  </a:t>
            </a:r>
            <a:r>
              <a:rPr lang="en-US" sz="2600" b="1" dirty="0">
                <a:solidFill>
                  <a:srgbClr val="FFFFFF"/>
                </a:solidFill>
                <a:latin typeface="Garamond"/>
              </a:rPr>
              <a:t>Flashcards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F3668E-68B8-3A78-57D2-EDB1B497E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53" y="1032579"/>
            <a:ext cx="7657694" cy="307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273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A27A0-FA63-38D7-83CC-36223935E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8B587A-6E8C-5CC2-439E-F2D66B468820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745ACB-747D-4B6A-F5D8-57CD4FE30641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E6F70C-2E4B-5DD1-27CF-B08C506432FA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F36116-4AD0-9DD0-D3E2-58518D7BB289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1D702C-6DD8-90BA-CD72-78549E989907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Garamond"/>
              </a:rPr>
              <a:t>⚡  </a:t>
            </a:r>
            <a:r>
              <a:rPr lang="en-US" sz="2600" b="1" dirty="0">
                <a:solidFill>
                  <a:srgbClr val="FFFFFF"/>
                </a:solidFill>
                <a:latin typeface="Garamond"/>
              </a:rPr>
              <a:t>Questioning Technique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598A59-077D-42D1-78F4-9DC639A773D6}"/>
              </a:ext>
            </a:extLst>
          </p:cNvPr>
          <p:cNvSpPr/>
          <p:nvPr/>
        </p:nvSpPr>
        <p:spPr>
          <a:xfrm>
            <a:off x="228600" y="1131495"/>
            <a:ext cx="8229600" cy="1107996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BC1846-EB46-7664-A4B1-DF65A9AC94EA}"/>
              </a:ext>
            </a:extLst>
          </p:cNvPr>
          <p:cNvSpPr txBox="1"/>
          <p:nvPr/>
        </p:nvSpPr>
        <p:spPr>
          <a:xfrm>
            <a:off x="457200" y="1211580"/>
            <a:ext cx="8229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5BC2E7"/>
                </a:solidFill>
                <a:latin typeface="Garamond"/>
              </a:rPr>
              <a:t>Asking questions is the key to understanding situations around us</a:t>
            </a:r>
            <a:endParaRPr sz="2800" b="1" dirty="0">
              <a:solidFill>
                <a:srgbClr val="5BC2E7"/>
              </a:solidFill>
              <a:latin typeface="Garamon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49A5AE-09F3-682E-142C-A0901B00A005}"/>
              </a:ext>
            </a:extLst>
          </p:cNvPr>
          <p:cNvSpPr txBox="1"/>
          <p:nvPr/>
        </p:nvSpPr>
        <p:spPr>
          <a:xfrm>
            <a:off x="592830" y="2482047"/>
            <a:ext cx="78653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Garamond" panose="02020404030301010803" pitchFamily="18" charset="0"/>
              </a:rPr>
              <a:t>Being curious and inquisitive is to be encouraged by questioning</a:t>
            </a:r>
          </a:p>
          <a:p>
            <a:pPr algn="ctr"/>
            <a:r>
              <a:rPr lang="en-GB" dirty="0">
                <a:latin typeface="Garamond" panose="02020404030301010803" pitchFamily="18" charset="0"/>
              </a:rPr>
              <a:t>Famously, Albert Einstein stated that. </a:t>
            </a:r>
            <a:r>
              <a:rPr lang="en-GB" i="1" dirty="0">
                <a:latin typeface="Garamond" panose="02020404030301010803" pitchFamily="18" charset="0"/>
              </a:rPr>
              <a:t>‘The important thing is not to stop questioning. Curiosity has its own reason for existing.’</a:t>
            </a:r>
            <a:endParaRPr lang="en-GB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1048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A75CD-B5BD-D842-227C-C22B7B5F9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8BD1A4-CDDF-8392-DCE2-488D90B21CA7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FF613A-77DC-BE42-5587-85E1498BF8C0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3EA80-AF39-5A72-FE01-0E51A20F04F0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BD68B-F35D-FE03-EC5E-B110416F26DB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1F864B-EA9E-C817-BB86-A99485FE2D06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Garamond"/>
              </a:rPr>
              <a:t>⚡  </a:t>
            </a:r>
            <a:r>
              <a:rPr lang="en-US" sz="2600" b="1" dirty="0">
                <a:solidFill>
                  <a:srgbClr val="FFFFFF"/>
                </a:solidFill>
                <a:latin typeface="Garamond"/>
              </a:rPr>
              <a:t>Flashcards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CADB9F-3F08-E669-B12C-DCB695E92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486" y="777240"/>
            <a:ext cx="5580521" cy="399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7520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81F47-8987-75D9-31A0-24DEDAEB3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C81A1F-B974-1473-09B2-B23947880435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027FD3-6520-99E1-FEC0-809BB4A43096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7059F5-59F4-D3D8-5533-9082CABF8129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5B5361-07C0-19A5-93F2-3854CC9AFCA9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13961A-1D4A-EF48-E217-DA799F5FE7B8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Garamond"/>
              </a:rPr>
              <a:t>⚡  </a:t>
            </a:r>
            <a:r>
              <a:rPr lang="en-US" sz="2600" b="1" dirty="0">
                <a:solidFill>
                  <a:srgbClr val="FFFFFF"/>
                </a:solidFill>
                <a:latin typeface="Garamond"/>
              </a:rPr>
              <a:t>Flashcards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E81E9E-44C6-C295-F620-089746C19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33" y="789552"/>
            <a:ext cx="8437562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6627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5BC57-2500-39D5-FB24-A15C8E02F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74E9CB-BB56-6FCD-FC7D-E98B5C160F49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6DDCEF-60A7-4E2E-5941-F15586E29B60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10A95C-ABA0-0A2A-E623-FBC7BDDF3028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6DE7D2-AFF3-2F41-A21F-004C84A28C10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A302C8-9AAE-FD1F-9CF1-DE036E331EA5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Garamond"/>
              </a:rPr>
              <a:t>⚡  </a:t>
            </a:r>
            <a:r>
              <a:rPr lang="en-US" sz="2600" b="1" dirty="0">
                <a:solidFill>
                  <a:srgbClr val="FFFFFF"/>
                </a:solidFill>
                <a:latin typeface="Garamond"/>
              </a:rPr>
              <a:t>Other questioning techniques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78EF52-939A-CBA9-EE28-A3615D1B5C53}"/>
              </a:ext>
            </a:extLst>
          </p:cNvPr>
          <p:cNvSpPr/>
          <p:nvPr/>
        </p:nvSpPr>
        <p:spPr>
          <a:xfrm>
            <a:off x="228600" y="1143000"/>
            <a:ext cx="420624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8BA4E4-48A4-1B02-DCE1-ACF828060976}"/>
              </a:ext>
            </a:extLst>
          </p:cNvPr>
          <p:cNvSpPr/>
          <p:nvPr/>
        </p:nvSpPr>
        <p:spPr>
          <a:xfrm>
            <a:off x="228600" y="1143000"/>
            <a:ext cx="320040" cy="118872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4C1960-5BF8-6BB4-39AD-61BB9F9E91EE}"/>
              </a:ext>
            </a:extLst>
          </p:cNvPr>
          <p:cNvSpPr txBox="1"/>
          <p:nvPr/>
        </p:nvSpPr>
        <p:spPr>
          <a:xfrm>
            <a:off x="207320" y="1554480"/>
            <a:ext cx="36260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18BB98-ECA2-A3FD-EBAE-7B78CF279E84}"/>
              </a:ext>
            </a:extLst>
          </p:cNvPr>
          <p:cNvSpPr txBox="1"/>
          <p:nvPr/>
        </p:nvSpPr>
        <p:spPr>
          <a:xfrm>
            <a:off x="612647" y="1207008"/>
            <a:ext cx="3749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2B5C"/>
                </a:solidFill>
                <a:latin typeface="Garamond"/>
              </a:rPr>
              <a:t>Objective criteria</a:t>
            </a:r>
            <a:endParaRPr sz="1600" b="1" dirty="0">
              <a:solidFill>
                <a:srgbClr val="002B5C"/>
              </a:solidFill>
              <a:latin typeface="Garamon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40FE9E-3446-046E-EE49-33FD445AA528}"/>
              </a:ext>
            </a:extLst>
          </p:cNvPr>
          <p:cNvSpPr txBox="1"/>
          <p:nvPr/>
        </p:nvSpPr>
        <p:spPr>
          <a:xfrm>
            <a:off x="612647" y="1523143"/>
            <a:ext cx="3749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Garamond" panose="02020404030301010803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Questions that focus on the objective facts, to defuse any  contentious situations 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413ACD-162D-B7BC-FB19-543BCA1FF02D}"/>
              </a:ext>
            </a:extLst>
          </p:cNvPr>
          <p:cNvSpPr/>
          <p:nvPr/>
        </p:nvSpPr>
        <p:spPr>
          <a:xfrm>
            <a:off x="4526280" y="1143000"/>
            <a:ext cx="4170724" cy="1329267"/>
          </a:xfrm>
          <a:prstGeom prst="rect">
            <a:avLst/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4EDA42-DE2C-A0CE-39EC-FCC0D30AC63F}"/>
              </a:ext>
            </a:extLst>
          </p:cNvPr>
          <p:cNvSpPr/>
          <p:nvPr/>
        </p:nvSpPr>
        <p:spPr>
          <a:xfrm>
            <a:off x="4526280" y="1143000"/>
            <a:ext cx="320040" cy="1329268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7B25B5-DA95-BF75-FECB-A88815505819}"/>
              </a:ext>
            </a:extLst>
          </p:cNvPr>
          <p:cNvSpPr txBox="1"/>
          <p:nvPr/>
        </p:nvSpPr>
        <p:spPr>
          <a:xfrm>
            <a:off x="4497788" y="1554480"/>
            <a:ext cx="3770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7393E7-B27B-D238-9288-E2CF6E44A5AD}"/>
              </a:ext>
            </a:extLst>
          </p:cNvPr>
          <p:cNvSpPr txBox="1"/>
          <p:nvPr/>
        </p:nvSpPr>
        <p:spPr>
          <a:xfrm>
            <a:off x="4910328" y="1207008"/>
            <a:ext cx="3749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2B5C"/>
                </a:solidFill>
                <a:latin typeface="Garamond"/>
              </a:rPr>
              <a:t>Hypothetical</a:t>
            </a:r>
            <a:endParaRPr sz="1600" b="1" dirty="0">
              <a:solidFill>
                <a:srgbClr val="002B5C"/>
              </a:solidFill>
              <a:latin typeface="Garamon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1A4834-957B-4FDC-E652-53210AAE7CE1}"/>
              </a:ext>
            </a:extLst>
          </p:cNvPr>
          <p:cNvSpPr txBox="1"/>
          <p:nvPr/>
        </p:nvSpPr>
        <p:spPr>
          <a:xfrm>
            <a:off x="4910328" y="1523143"/>
            <a:ext cx="37490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sz="1400" dirty="0">
                <a:solidFill>
                  <a:srgbClr val="000000"/>
                </a:solidFill>
                <a:latin typeface="Garamond" panose="02020404030301010803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When we already know the answer but are testing the responder’s– ‘what if’ questions allow exploring options without binding the parties  involved  </a:t>
            </a:r>
            <a:endParaRPr lang="en-US" sz="1400" dirty="0">
              <a:latin typeface="Garamond" panose="02020404030301010803" pitchFamily="18" charset="0"/>
              <a:ea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E11711-3B70-6E66-237C-7403F0732FD3}"/>
              </a:ext>
            </a:extLst>
          </p:cNvPr>
          <p:cNvSpPr/>
          <p:nvPr/>
        </p:nvSpPr>
        <p:spPr>
          <a:xfrm>
            <a:off x="228600" y="2560320"/>
            <a:ext cx="4167543" cy="1428596"/>
          </a:xfrm>
          <a:prstGeom prst="rect">
            <a:avLst/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A38980-F3E4-ABB7-D25A-69D2409DA027}"/>
              </a:ext>
            </a:extLst>
          </p:cNvPr>
          <p:cNvSpPr/>
          <p:nvPr/>
        </p:nvSpPr>
        <p:spPr>
          <a:xfrm>
            <a:off x="228600" y="2560320"/>
            <a:ext cx="320040" cy="1463886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781905-28F3-9C78-2141-F95D6B692F6B}"/>
              </a:ext>
            </a:extLst>
          </p:cNvPr>
          <p:cNvSpPr txBox="1"/>
          <p:nvPr/>
        </p:nvSpPr>
        <p:spPr>
          <a:xfrm>
            <a:off x="200107" y="3108960"/>
            <a:ext cx="3770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Garamond"/>
              </a:rPr>
              <a:t>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B93F3E-7DB4-F429-87FA-B2FAE821A8B4}"/>
              </a:ext>
            </a:extLst>
          </p:cNvPr>
          <p:cNvSpPr txBox="1"/>
          <p:nvPr/>
        </p:nvSpPr>
        <p:spPr>
          <a:xfrm>
            <a:off x="612647" y="2624327"/>
            <a:ext cx="3749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2B5C"/>
                </a:solidFill>
                <a:latin typeface="Garamond"/>
              </a:rPr>
              <a:t>Testing</a:t>
            </a:r>
            <a:endParaRPr sz="1600" b="1" dirty="0">
              <a:solidFill>
                <a:srgbClr val="002B5C"/>
              </a:solidFill>
              <a:latin typeface="Garamon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6BA4B1-45FC-B532-EC1A-73E36D15C0A2}"/>
              </a:ext>
            </a:extLst>
          </p:cNvPr>
          <p:cNvSpPr txBox="1"/>
          <p:nvPr/>
        </p:nvSpPr>
        <p:spPr>
          <a:xfrm>
            <a:off x="612647" y="2910228"/>
            <a:ext cx="374903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sz="1400" dirty="0">
                <a:solidFill>
                  <a:srgbClr val="000000"/>
                </a:solidFill>
                <a:latin typeface="Garamond" panose="02020404030301010803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Knowledge or skills. Softening up – these questions allow us to ‘soften up’ our  audience by building rapport or flattering. Often we will already know the answer to  these questions </a:t>
            </a:r>
            <a:endParaRPr lang="en-US" sz="1400" dirty="0">
              <a:latin typeface="Garamond" panose="02020404030301010803" pitchFamily="18" charset="0"/>
              <a:ea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F6A5A0-838F-F628-FEDC-A73DBCE9353F}"/>
              </a:ext>
            </a:extLst>
          </p:cNvPr>
          <p:cNvSpPr/>
          <p:nvPr/>
        </p:nvSpPr>
        <p:spPr>
          <a:xfrm>
            <a:off x="4526280" y="2783241"/>
            <a:ext cx="420624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F45668-8A84-8B7F-CDCD-0DC2EDA25606}"/>
              </a:ext>
            </a:extLst>
          </p:cNvPr>
          <p:cNvSpPr/>
          <p:nvPr/>
        </p:nvSpPr>
        <p:spPr>
          <a:xfrm>
            <a:off x="4526280" y="2783241"/>
            <a:ext cx="320040" cy="118872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266A9B-8CC2-1607-9D36-63D3D74F94C9}"/>
              </a:ext>
            </a:extLst>
          </p:cNvPr>
          <p:cNvSpPr txBox="1"/>
          <p:nvPr/>
        </p:nvSpPr>
        <p:spPr>
          <a:xfrm>
            <a:off x="4497788" y="3194721"/>
            <a:ext cx="3770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33F8D0-8EF6-809B-3533-DE8F66D69C23}"/>
              </a:ext>
            </a:extLst>
          </p:cNvPr>
          <p:cNvSpPr txBox="1"/>
          <p:nvPr/>
        </p:nvSpPr>
        <p:spPr>
          <a:xfrm>
            <a:off x="4910328" y="2847248"/>
            <a:ext cx="3749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2B5C"/>
                </a:solidFill>
                <a:latin typeface="Garamond"/>
              </a:rPr>
              <a:t>Reflective</a:t>
            </a:r>
            <a:endParaRPr sz="1600" b="1" dirty="0">
              <a:solidFill>
                <a:srgbClr val="002B5C"/>
              </a:solidFill>
              <a:latin typeface="Garamond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1C4504-7A87-03C6-75B3-8D5E75B1B085}"/>
              </a:ext>
            </a:extLst>
          </p:cNvPr>
          <p:cNvSpPr txBox="1"/>
          <p:nvPr/>
        </p:nvSpPr>
        <p:spPr>
          <a:xfrm>
            <a:off x="4947965" y="3070099"/>
            <a:ext cx="374903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Garamond" panose="02020404030301010803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 reflective question reflects the other person’s feelings to them, giving  them feedback that these feelings are acknowledged </a:t>
            </a:r>
            <a:endParaRPr lang="en-US" sz="1400" dirty="0"/>
          </a:p>
          <a:p>
            <a:endParaRPr sz="1400" dirty="0">
              <a:solidFill>
                <a:srgbClr val="1A1A1A"/>
              </a:solidFill>
              <a:latin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2778437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3B46E-512A-9A25-614F-7C1DB7D98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51BFF6-BA66-7275-E149-AC65DC4BA6C0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A33C23-0D7C-BADE-74E8-937436540ACD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F37D8B-E783-1203-80C9-7D8B624F04ED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7766C7-A063-28F1-1F6B-55E65911FB85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95A7A3-88BC-F80F-AE86-F0507BE68714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Garamond"/>
              </a:rPr>
              <a:t>⚡  </a:t>
            </a:r>
            <a:r>
              <a:rPr lang="en-US" sz="2600" b="1" dirty="0">
                <a:solidFill>
                  <a:srgbClr val="FFFFFF"/>
                </a:solidFill>
                <a:latin typeface="Garamond"/>
              </a:rPr>
              <a:t>Feedback Techniques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89F157-4AC6-6114-1E3E-749A9C4090D4}"/>
              </a:ext>
            </a:extLst>
          </p:cNvPr>
          <p:cNvSpPr/>
          <p:nvPr/>
        </p:nvSpPr>
        <p:spPr>
          <a:xfrm>
            <a:off x="228600" y="1131495"/>
            <a:ext cx="8229600" cy="1107996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154F26-878D-B68F-B263-4B2C9A589933}"/>
              </a:ext>
            </a:extLst>
          </p:cNvPr>
          <p:cNvSpPr txBox="1"/>
          <p:nvPr/>
        </p:nvSpPr>
        <p:spPr>
          <a:xfrm>
            <a:off x="457200" y="1211580"/>
            <a:ext cx="8229600" cy="799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491" marR="331946" indent="1429" algn="just">
              <a:lnSpc>
                <a:spcPct val="118000"/>
              </a:lnSpc>
              <a:spcBef>
                <a:spcPts val="203"/>
              </a:spcBef>
            </a:pPr>
            <a:r>
              <a:rPr lang="en-US" sz="2000" b="1" dirty="0">
                <a:solidFill>
                  <a:schemeClr val="bg1"/>
                </a:solidFill>
                <a:latin typeface="Garamond" panose="02020404030301010803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It gives the recipient advice, support, or constructive criticism. It includes both positive and negative aspects. </a:t>
            </a:r>
            <a:endParaRPr lang="en-US" sz="2000" b="1" dirty="0">
              <a:solidFill>
                <a:schemeClr val="bg1"/>
              </a:solidFill>
              <a:latin typeface="Garamond" panose="02020404030301010803" pitchFamily="18" charset="0"/>
              <a:ea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02F11E-756C-906C-3783-D0864997FB1A}"/>
              </a:ext>
            </a:extLst>
          </p:cNvPr>
          <p:cNvSpPr txBox="1"/>
          <p:nvPr/>
        </p:nvSpPr>
        <p:spPr>
          <a:xfrm>
            <a:off x="1185332" y="2513835"/>
            <a:ext cx="6189133" cy="114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491" marR="331946" indent="1429" algn="ctr">
              <a:lnSpc>
                <a:spcPct val="118000"/>
              </a:lnSpc>
              <a:spcBef>
                <a:spcPts val="203"/>
              </a:spcBef>
            </a:pPr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       For feedback to be constructive, it ought to be:</a:t>
            </a:r>
            <a:endParaRPr lang="en-US" dirty="0">
              <a:latin typeface="Garamond" panose="02020404030301010803" pitchFamily="18" charset="0"/>
              <a:ea typeface="Arial" panose="020B0604020202020204" pitchFamily="34" charset="0"/>
            </a:endParaRPr>
          </a:p>
          <a:p>
            <a:pPr marL="296227" algn="ctr">
              <a:lnSpc>
                <a:spcPct val="115000"/>
              </a:lnSpc>
              <a:spcBef>
                <a:spcPts val="840"/>
              </a:spcBef>
            </a:pPr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Fair  </a:t>
            </a:r>
            <a:r>
              <a:rPr lang="en-US" dirty="0">
                <a:latin typeface="Garamond" panose="02020404030301010803" pitchFamily="18" charset="0"/>
                <a:ea typeface="Book Antiqua" panose="02040602050305030304" pitchFamily="18" charset="0"/>
              </a:rPr>
              <a:t>- </a:t>
            </a:r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Accurate  </a:t>
            </a:r>
            <a:r>
              <a:rPr lang="en-US" dirty="0">
                <a:latin typeface="Garamond" panose="02020404030301010803" pitchFamily="18" charset="0"/>
                <a:ea typeface="Book Antiqua" panose="02040602050305030304" pitchFamily="18" charset="0"/>
              </a:rPr>
              <a:t>- </a:t>
            </a:r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Specific  </a:t>
            </a:r>
            <a:r>
              <a:rPr lang="en-US" dirty="0">
                <a:latin typeface="Garamond" panose="02020404030301010803" pitchFamily="18" charset="0"/>
                <a:ea typeface="Book Antiqua" panose="02040602050305030304" pitchFamily="18" charset="0"/>
              </a:rPr>
              <a:t>- </a:t>
            </a:r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Formally structured - Solution - oriented  </a:t>
            </a:r>
            <a:r>
              <a:rPr lang="en-US" dirty="0">
                <a:latin typeface="Garamond" panose="02020404030301010803" pitchFamily="18" charset="0"/>
                <a:ea typeface="Book Antiqua" panose="02040602050305030304" pitchFamily="18" charset="0"/>
              </a:rPr>
              <a:t> - </a:t>
            </a:r>
            <a:r>
              <a:rPr lang="en-US" dirty="0">
                <a:solidFill>
                  <a:srgbClr val="000000"/>
                </a:solidFill>
                <a:latin typeface="Garamond" panose="02020404030301010803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Focused on behavior, not personality </a:t>
            </a:r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8856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860C2-26FB-F2F2-D6A8-2BBE8500E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951179-6A4D-60D5-2A15-53EF63A7E5FE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F2D360-2AC0-C53D-5CDE-1F86EE7700FB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A450AD-1F85-B993-01A8-BC58D48B1A17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A8F8B8-A6E6-9713-0AB6-00A6C5330435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07E7D6-4391-CF45-C7FF-DF0BB08FED68}"/>
              </a:ext>
            </a:extLst>
          </p:cNvPr>
          <p:cNvSpPr txBox="1"/>
          <p:nvPr/>
        </p:nvSpPr>
        <p:spPr>
          <a:xfrm>
            <a:off x="228600" y="10090"/>
            <a:ext cx="8915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b="1" dirty="0">
                <a:solidFill>
                  <a:schemeClr val="bg1"/>
                </a:solidFill>
                <a:latin typeface="Garamond"/>
              </a:rPr>
              <a:t>Quiz 2: </a:t>
            </a:r>
            <a:r>
              <a:rPr lang="en-US" sz="2300" b="1" dirty="0">
                <a:solidFill>
                  <a:schemeClr val="bg1"/>
                </a:solidFill>
                <a:latin typeface="Garamond" panose="02020404030301010803" pitchFamily="18" charset="0"/>
              </a:rPr>
              <a:t>Test your authentic learning in applying effective communication skills techniques</a:t>
            </a:r>
            <a:endParaRPr sz="2300" b="1" dirty="0">
              <a:solidFill>
                <a:schemeClr val="bg1"/>
              </a:solidFill>
              <a:latin typeface="Garamond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EED7AE-372B-6B37-3AE4-CEFF51DF60EB}"/>
              </a:ext>
            </a:extLst>
          </p:cNvPr>
          <p:cNvSpPr/>
          <p:nvPr/>
        </p:nvSpPr>
        <p:spPr>
          <a:xfrm>
            <a:off x="228600" y="868680"/>
            <a:ext cx="8686800" cy="4572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02006D-EFC5-F927-CDC6-84F98B5112C6}"/>
              </a:ext>
            </a:extLst>
          </p:cNvPr>
          <p:cNvSpPr txBox="1"/>
          <p:nvPr/>
        </p:nvSpPr>
        <p:spPr>
          <a:xfrm>
            <a:off x="320040" y="886968"/>
            <a:ext cx="380565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b="1" i="1" dirty="0">
                <a:solidFill>
                  <a:srgbClr val="FFFFFF"/>
                </a:solidFill>
                <a:latin typeface="Garamond"/>
              </a:rPr>
              <a:t>Before we begin, please do the following</a:t>
            </a:r>
            <a:endParaRPr b="1" i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E6FD5F-886E-1501-609A-B63175FA467D}"/>
              </a:ext>
            </a:extLst>
          </p:cNvPr>
          <p:cNvSpPr/>
          <p:nvPr/>
        </p:nvSpPr>
        <p:spPr>
          <a:xfrm>
            <a:off x="228600" y="1444752"/>
            <a:ext cx="292608" cy="292608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7AAB17-4F12-A4E3-2123-C033CEBE603C}"/>
              </a:ext>
            </a:extLst>
          </p:cNvPr>
          <p:cNvSpPr txBox="1"/>
          <p:nvPr/>
        </p:nvSpPr>
        <p:spPr>
          <a:xfrm>
            <a:off x="241694" y="1444752"/>
            <a:ext cx="2664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61D205-D9BF-1B46-B272-84AED4D16930}"/>
              </a:ext>
            </a:extLst>
          </p:cNvPr>
          <p:cNvSpPr txBox="1"/>
          <p:nvPr/>
        </p:nvSpPr>
        <p:spPr>
          <a:xfrm>
            <a:off x="594360" y="1435608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A1A1A"/>
                </a:solidFill>
                <a:latin typeface="Garamond"/>
              </a:rPr>
              <a:t>Read through the flashcard (from listening technique to feedback) for 5-10 minutes and the accompanied notes on Moodle  </a:t>
            </a:r>
            <a:endParaRPr dirty="0">
              <a:solidFill>
                <a:srgbClr val="1A1A1A"/>
              </a:solidFill>
              <a:latin typeface="Garamond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C4BC16-83A3-2830-D9A9-A096FAD7DAFE}"/>
              </a:ext>
            </a:extLst>
          </p:cNvPr>
          <p:cNvSpPr/>
          <p:nvPr/>
        </p:nvSpPr>
        <p:spPr>
          <a:xfrm>
            <a:off x="230745" y="2178402"/>
            <a:ext cx="292608" cy="292608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FF2C9A-3D9C-A81B-F40B-2C2C82954F48}"/>
              </a:ext>
            </a:extLst>
          </p:cNvPr>
          <p:cNvSpPr txBox="1"/>
          <p:nvPr/>
        </p:nvSpPr>
        <p:spPr>
          <a:xfrm>
            <a:off x="236626" y="2178402"/>
            <a:ext cx="28084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2855E6-54FB-30C8-D1C1-6599DCF2D5AF}"/>
              </a:ext>
            </a:extLst>
          </p:cNvPr>
          <p:cNvSpPr txBox="1"/>
          <p:nvPr/>
        </p:nvSpPr>
        <p:spPr>
          <a:xfrm>
            <a:off x="594360" y="2110085"/>
            <a:ext cx="822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A1A1A"/>
                </a:solidFill>
                <a:latin typeface="Garamond"/>
              </a:rPr>
              <a:t>Attempt the quiz on this link: </a:t>
            </a:r>
            <a:r>
              <a:rPr lang="en-US" dirty="0">
                <a:latin typeface="Garamond" panose="02020404030301010803" pitchFamily="18" charset="0"/>
                <a:ea typeface="Arial" panose="020B0604020202020204" pitchFamily="34" charset="0"/>
                <a:hlinkClick r:id="rId2"/>
              </a:rPr>
              <a:t>https://quizizz.com/join?gc=63694040</a:t>
            </a:r>
            <a:endParaRPr lang="en-US" dirty="0">
              <a:latin typeface="Garamond" panose="02020404030301010803" pitchFamily="18" charset="0"/>
              <a:ea typeface="Arial" panose="020B060402020202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Garamond" panose="02020404030301010803" pitchFamily="18" charset="0"/>
              <a:ea typeface="Arial" panose="020B0604020202020204" pitchFamily="34" charset="0"/>
            </a:endParaRPr>
          </a:p>
          <a:p>
            <a:r>
              <a:rPr lang="en-US" dirty="0">
                <a:solidFill>
                  <a:srgbClr val="1A1A1A"/>
                </a:solidFill>
                <a:latin typeface="Garamond"/>
              </a:rPr>
              <a:t> </a:t>
            </a:r>
            <a:endParaRPr dirty="0">
              <a:solidFill>
                <a:srgbClr val="1A1A1A"/>
              </a:solidFill>
              <a:latin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42023543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3657600" cy="54864"/>
          </a:xfrm>
          <a:prstGeom prst="rect">
            <a:avLst/>
          </a:prstGeom>
          <a:solidFill>
            <a:srgbClr val="5BC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Garamond"/>
              </a:rPr>
              <a:t>Part 3: Effective Professional 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350955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i="1" dirty="0">
                <a:solidFill>
                  <a:srgbClr val="5BC2E7"/>
                </a:solidFill>
                <a:latin typeface="Garamond"/>
              </a:rPr>
              <a:t>Email · Reports · Professional Messages · The 5-Step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C2E7"/>
                </a:solidFill>
                <a:latin typeface="Garamond"/>
              </a:rPr>
              <a:t>FIT1055: IT Professional Practice and Ethics  |  Week 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Garamond"/>
              </a:rPr>
              <a:t>Effective Professional 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868680"/>
            <a:ext cx="8686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1" dirty="0">
                <a:solidFill>
                  <a:srgbClr val="027EB5"/>
                </a:solidFill>
                <a:latin typeface="Garamond"/>
              </a:rPr>
              <a:t>5-Step Approach to Professional Written 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48633"/>
            <a:ext cx="850392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9581" indent="-385763">
              <a:buFontTx/>
              <a:buAutoNum type="arabicPeriod"/>
            </a:pPr>
            <a:r>
              <a:rPr lang="en-GB" sz="2200" dirty="0">
                <a:latin typeface="Garamond" panose="02020404030301010803" pitchFamily="18" charset="0"/>
                <a:cs typeface="Arial" panose="020B0604020202020204" pitchFamily="34" charset="0"/>
              </a:rPr>
              <a:t>Identify the objectives (am I writing to apply a job, send a proposal, seek new ideas?)</a:t>
            </a:r>
            <a:endParaRPr lang="en-US" sz="2200" dirty="0">
              <a:latin typeface="Garamond" panose="02020404030301010803" pitchFamily="18" charset="0"/>
              <a:cs typeface="Arial" panose="020B0604020202020204" pitchFamily="34" charset="0"/>
            </a:endParaRPr>
          </a:p>
          <a:p>
            <a:pPr marL="459581" indent="-385763">
              <a:buFontTx/>
              <a:buAutoNum type="arabicPeriod"/>
            </a:pPr>
            <a:r>
              <a:rPr lang="en-GB" sz="2200" dirty="0">
                <a:latin typeface="Garamond" panose="02020404030301010803" pitchFamily="18" charset="0"/>
                <a:cs typeface="Arial" panose="020B0604020202020204" pitchFamily="34" charset="0"/>
              </a:rPr>
              <a:t>Conduct research (if it an internship job, what skills are they looking for?)</a:t>
            </a:r>
          </a:p>
          <a:p>
            <a:pPr marL="459581" indent="-385763">
              <a:buFontTx/>
              <a:buAutoNum type="arabicPeriod"/>
            </a:pPr>
            <a:r>
              <a:rPr lang="en-GB" sz="2200" dirty="0">
                <a:latin typeface="Garamond" panose="02020404030301010803" pitchFamily="18" charset="0"/>
                <a:cs typeface="Arial" panose="020B0604020202020204" pitchFamily="34" charset="0"/>
              </a:rPr>
              <a:t>Create background (e.g., who am I, how did I come about the information? Why should they bother to read this?)</a:t>
            </a:r>
          </a:p>
          <a:p>
            <a:pPr marL="459581" indent="-385763">
              <a:buFontTx/>
              <a:buAutoNum type="arabicPeriod"/>
            </a:pPr>
            <a:r>
              <a:rPr lang="en-GB" sz="2200" dirty="0">
                <a:latin typeface="Garamond" panose="02020404030301010803" pitchFamily="18" charset="0"/>
                <a:cs typeface="Arial" panose="020B0604020202020204" pitchFamily="34" charset="0"/>
              </a:rPr>
              <a:t>Compose a message</a:t>
            </a:r>
          </a:p>
          <a:p>
            <a:pPr marL="459581" indent="-385763">
              <a:buFontTx/>
              <a:buAutoNum type="arabicPeriod"/>
            </a:pPr>
            <a:r>
              <a:rPr lang="en-GB" sz="2200" dirty="0">
                <a:latin typeface="Garamond" panose="02020404030301010803" pitchFamily="18" charset="0"/>
                <a:cs typeface="Arial" panose="020B0604020202020204" pitchFamily="34" charset="0"/>
              </a:rPr>
              <a:t>Follow-up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B3374-E658-0E59-17BB-33C062C01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DF653F-DCBB-F623-9738-B65CBBF3595E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8722F0-7BBD-5DE1-6489-9C7CC6D39239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8BC6FF-98D7-1005-A012-30FA223BFBF0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B35C87-F7FC-94D1-A7AE-4F1E9644B67B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A7A2F2-C0C0-09B3-765D-CFF057098194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Garamond"/>
              </a:rPr>
              <a:t>General rules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06E72B-B573-C1CA-6ADD-56FC229CAB1D}"/>
              </a:ext>
            </a:extLst>
          </p:cNvPr>
          <p:cNvSpPr txBox="1"/>
          <p:nvPr/>
        </p:nvSpPr>
        <p:spPr>
          <a:xfrm>
            <a:off x="228600" y="868680"/>
            <a:ext cx="8686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1" dirty="0">
                <a:solidFill>
                  <a:srgbClr val="027EB5"/>
                </a:solidFill>
                <a:latin typeface="Garamond"/>
              </a:rPr>
              <a:t>How to compose message</a:t>
            </a:r>
            <a:endParaRPr sz="2400" b="0" i="1" dirty="0">
              <a:solidFill>
                <a:srgbClr val="027EB5"/>
              </a:solidFill>
              <a:latin typeface="Garamond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71CC06B-E740-EE96-5F48-438082BCF292}"/>
              </a:ext>
            </a:extLst>
          </p:cNvPr>
          <p:cNvSpPr txBox="1">
            <a:spLocks noChangeArrowheads="1"/>
          </p:cNvSpPr>
          <p:nvPr/>
        </p:nvSpPr>
        <p:spPr>
          <a:xfrm>
            <a:off x="-179784" y="777240"/>
            <a:ext cx="6048672" cy="3240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37248" lvl="1" indent="-371475">
              <a:buFontTx/>
              <a:buAutoNum type="arabicPeriod"/>
            </a:pPr>
            <a:r>
              <a:rPr lang="en-GB" dirty="0">
                <a:solidFill>
                  <a:srgbClr val="FF0000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Clearly </a:t>
            </a:r>
            <a:r>
              <a:rPr lang="en-GB" dirty="0">
                <a:latin typeface="Garamond" panose="02020404030301010803" pitchFamily="18" charset="0"/>
                <a:cs typeface="Arial" panose="020B0604020202020204" pitchFamily="34" charset="0"/>
              </a:rPr>
              <a:t>state who’s writing for whom</a:t>
            </a:r>
          </a:p>
          <a:p>
            <a:pPr marL="837248" lvl="1" indent="-371475">
              <a:buFontTx/>
              <a:buAutoNum type="arabicPeriod"/>
            </a:pPr>
            <a:r>
              <a:rPr lang="en-GB" dirty="0">
                <a:solidFill>
                  <a:srgbClr val="FF0000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Clarify </a:t>
            </a:r>
            <a:r>
              <a:rPr lang="en-GB" dirty="0">
                <a:latin typeface="Garamond" panose="02020404030301010803" pitchFamily="18" charset="0"/>
                <a:cs typeface="Arial" panose="020B0604020202020204" pitchFamily="34" charset="0"/>
              </a:rPr>
              <a:t>what the document/purpose of writing is all about</a:t>
            </a:r>
          </a:p>
          <a:p>
            <a:pPr marL="837248" lvl="1" indent="-371475">
              <a:buFontTx/>
              <a:buAutoNum type="arabicPeriod"/>
            </a:pPr>
            <a:r>
              <a:rPr lang="en-GB" dirty="0">
                <a:latin typeface="Garamond" panose="02020404030301010803" pitchFamily="18" charset="0"/>
                <a:cs typeface="Arial" panose="020B0604020202020204" pitchFamily="34" charset="0"/>
              </a:rPr>
              <a:t>Detail the information in a clear, concise and conclusive manner</a:t>
            </a:r>
          </a:p>
          <a:p>
            <a:pPr marL="837248" lvl="1" indent="-371475">
              <a:buFontTx/>
              <a:buAutoNum type="arabicPeriod"/>
            </a:pPr>
            <a:r>
              <a:rPr lang="en-GB" dirty="0">
                <a:latin typeface="Garamond" panose="02020404030301010803" pitchFamily="18" charset="0"/>
                <a:cs typeface="Arial" panose="020B0604020202020204" pitchFamily="34" charset="0"/>
              </a:rPr>
              <a:t>Make initiatives for the readers</a:t>
            </a:r>
          </a:p>
          <a:p>
            <a:pPr marL="837248" lvl="1" indent="-371475">
              <a:buFontTx/>
              <a:buAutoNum type="arabicPeriod"/>
            </a:pPr>
            <a:r>
              <a:rPr lang="en-GB" dirty="0">
                <a:latin typeface="Garamond" panose="02020404030301010803" pitchFamily="18" charset="0"/>
                <a:cs typeface="Arial" panose="020B0604020202020204" pitchFamily="34" charset="0"/>
              </a:rPr>
              <a:t>End the message </a:t>
            </a:r>
            <a:r>
              <a:rPr lang="en-GB" dirty="0">
                <a:solidFill>
                  <a:srgbClr val="FF0000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“nicely”</a:t>
            </a:r>
            <a:endParaRPr lang="en-AU" dirty="0">
              <a:solidFill>
                <a:srgbClr val="FF0000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1406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11A63-C5FB-A838-88D0-57E0B5130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B2087C-53CB-4FA1-41D2-0F1319F3184A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D212BA-A45E-DE9E-8002-111487F45C12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76B00F-DEE6-A372-66D3-4CCD5D786C11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602A68-4AB4-CA69-53B2-354210D3D23B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A620B9-4649-1FDD-A63B-18B6CC27C554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Garamond"/>
              </a:rPr>
              <a:t>Example of professional writing in email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9CE439-D9B9-8F10-16BD-4C46BA929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4" y="875029"/>
            <a:ext cx="6096000" cy="392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2927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3657600" cy="54864"/>
          </a:xfrm>
          <a:prstGeom prst="rect">
            <a:avLst/>
          </a:prstGeom>
          <a:solidFill>
            <a:srgbClr val="5BC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Garamond"/>
              </a:rPr>
              <a:t>Part 4: Oral Presentation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350955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i="1" dirty="0">
                <a:solidFill>
                  <a:srgbClr val="5BC2E7"/>
                </a:solidFill>
                <a:latin typeface="Garamond"/>
              </a:rPr>
              <a:t>Planning · Narrative · Delivery · Visual Aids · Minto Pyramid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C2E7"/>
                </a:solidFill>
                <a:latin typeface="Garamond"/>
              </a:rPr>
              <a:t>FIT1055: IT Professional Practice and Ethics  |  Week 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1C8B43-2479-32AA-E865-B9202274F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A82C58-EA5B-01E5-D43B-CE937F57390E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DF1ABC-0B70-92AC-F401-6520E4E6F413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1BC50-67A5-204B-C10E-65833C6EC073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34745A-58F5-544A-EF56-3F382C0AD4B0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FB3F73-CFE6-6AF9-1112-C0F0A6235F24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Garamond"/>
              </a:rPr>
              <a:t>The four stages in developing oral presentation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42BF8873-85B1-A7AC-A607-795115B147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343719"/>
              </p:ext>
            </p:extLst>
          </p:nvPr>
        </p:nvGraphicFramePr>
        <p:xfrm>
          <a:off x="137160" y="777240"/>
          <a:ext cx="8796897" cy="3834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64566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1660D5-1F06-F089-060D-3A3C3008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AA1DFB-B456-F271-23CD-BD9237238ADD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59B85-8016-E292-F141-67F35F999CD9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43742E-1622-A125-3306-F102BA11BE68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636F26-0209-7959-7AF5-583CE16EC3D2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CCCF42-6EEE-708F-C5CD-0837D3369250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Garamond"/>
              </a:rPr>
              <a:t>Stage 1: Planning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CFC04-7BB5-4E3D-D559-F3A609445651}"/>
              </a:ext>
            </a:extLst>
          </p:cNvPr>
          <p:cNvSpPr txBox="1"/>
          <p:nvPr/>
        </p:nvSpPr>
        <p:spPr>
          <a:xfrm>
            <a:off x="0" y="927978"/>
            <a:ext cx="5389032" cy="3561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37248" lvl="1" indent="-371475">
              <a:buFontTx/>
              <a:buAutoNum type="arabicPeriod"/>
            </a:pPr>
            <a:r>
              <a:rPr lang="en-GB" dirty="0">
                <a:latin typeface="Garamond" panose="02020404030301010803" pitchFamily="18" charset="0"/>
                <a:cs typeface="Arial" panose="020B0604020202020204" pitchFamily="34" charset="0"/>
              </a:rPr>
              <a:t>Presentation topic</a:t>
            </a:r>
          </a:p>
          <a:p>
            <a:pPr marL="837248" lvl="1" indent="-371475">
              <a:buFontTx/>
              <a:buAutoNum type="arabicPeriod"/>
            </a:pPr>
            <a:r>
              <a:rPr lang="en-GB" dirty="0">
                <a:latin typeface="Garamond" panose="02020404030301010803" pitchFamily="18" charset="0"/>
                <a:cs typeface="Arial" panose="020B0604020202020204" pitchFamily="34" charset="0"/>
              </a:rPr>
              <a:t>Occasion/event and goal</a:t>
            </a:r>
          </a:p>
          <a:p>
            <a:pPr marL="837248" lvl="1" indent="-371475">
              <a:buFontTx/>
              <a:buAutoNum type="arabicPeriod"/>
            </a:pPr>
            <a:r>
              <a:rPr lang="en-GB" dirty="0">
                <a:latin typeface="Garamond" panose="02020404030301010803" pitchFamily="18" charset="0"/>
                <a:cs typeface="Arial" panose="020B0604020202020204" pitchFamily="34" charset="0"/>
              </a:rPr>
              <a:t>Audience (size, demographic)</a:t>
            </a:r>
          </a:p>
          <a:p>
            <a:pPr marL="837248" lvl="1" indent="-371475">
              <a:buFontTx/>
              <a:buAutoNum type="arabicPeriod"/>
            </a:pPr>
            <a:r>
              <a:rPr lang="en-US" dirty="0">
                <a:latin typeface="Garamond" panose="02020404030301010803" pitchFamily="18" charset="0"/>
              </a:rPr>
              <a:t>How will the characteristics or needs of your audience impact the content of your presentation?</a:t>
            </a:r>
          </a:p>
          <a:p>
            <a:pPr marL="837248" lvl="1" indent="-371475">
              <a:buFontTx/>
              <a:buAutoNum type="arabicPeriod"/>
            </a:pPr>
            <a:r>
              <a:rPr lang="en-US" dirty="0">
                <a:latin typeface="Garamond" panose="02020404030301010803" pitchFamily="18" charset="0"/>
              </a:rPr>
              <a:t>Logistics (if applicable)</a:t>
            </a:r>
          </a:p>
          <a:p>
            <a:pPr>
              <a:lnSpc>
                <a:spcPts val="665"/>
              </a:lnSpc>
            </a:pPr>
            <a:r>
              <a:rPr lang="en-US" dirty="0">
                <a:latin typeface="Garamond" panose="02020404030301010803" pitchFamily="18" charset="0"/>
              </a:rPr>
              <a:t> </a:t>
            </a:r>
          </a:p>
          <a:p>
            <a:pPr marL="1257300" lvl="2" indent="-342900">
              <a:lnSpc>
                <a:spcPct val="107000"/>
              </a:lnSpc>
              <a:buFont typeface="Wingdings" pitchFamily="2" charset="2"/>
              <a:buChar char="§"/>
              <a:tabLst>
                <a:tab pos="228600" algn="l"/>
              </a:tabLst>
            </a:pPr>
            <a:r>
              <a:rPr lang="en-US" dirty="0">
                <a:latin typeface="Garamond" panose="02020404030301010803" pitchFamily="18" charset="0"/>
              </a:rPr>
              <a:t>Room size</a:t>
            </a:r>
          </a:p>
          <a:p>
            <a:pPr marL="1257300" lvl="2" indent="-342900">
              <a:lnSpc>
                <a:spcPct val="107000"/>
              </a:lnSpc>
              <a:buFont typeface="Wingdings" pitchFamily="2" charset="2"/>
              <a:buChar char="§"/>
              <a:tabLst>
                <a:tab pos="228600" algn="l"/>
              </a:tabLst>
            </a:pPr>
            <a:r>
              <a:rPr lang="en-US" dirty="0">
                <a:latin typeface="Garamond" panose="02020404030301010803" pitchFamily="18" charset="0"/>
              </a:rPr>
              <a:t>Available equipment</a:t>
            </a:r>
          </a:p>
          <a:p>
            <a:pPr marL="1257300" lvl="2" indent="-342900">
              <a:lnSpc>
                <a:spcPct val="107000"/>
              </a:lnSpc>
              <a:buFont typeface="Wingdings" pitchFamily="2" charset="2"/>
              <a:buChar char="§"/>
              <a:tabLst>
                <a:tab pos="228600" algn="l"/>
              </a:tabLst>
            </a:pPr>
            <a:r>
              <a:rPr lang="en-US" dirty="0">
                <a:latin typeface="Garamond" panose="02020404030301010803" pitchFamily="18" charset="0"/>
              </a:rPr>
              <a:t>Other speakers</a:t>
            </a:r>
          </a:p>
          <a:p>
            <a:pPr marL="1257300" lvl="2" indent="-342900">
              <a:lnSpc>
                <a:spcPct val="107000"/>
              </a:lnSpc>
              <a:buFont typeface="Wingdings" pitchFamily="2" charset="2"/>
              <a:buChar char="§"/>
              <a:tabLst>
                <a:tab pos="228600" algn="l"/>
              </a:tabLst>
            </a:pPr>
            <a:r>
              <a:rPr lang="en-US" dirty="0">
                <a:latin typeface="Garamond" panose="02020404030301010803" pitchFamily="18" charset="0"/>
              </a:rPr>
              <a:t>Time constraints</a:t>
            </a:r>
          </a:p>
          <a:p>
            <a:pPr>
              <a:lnSpc>
                <a:spcPct val="107000"/>
              </a:lnSpc>
            </a:pPr>
            <a:endParaRPr lang="en-US" sz="16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015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DB23E-1035-DC42-D942-4BE3821A3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8BB87C-0512-2950-9CF6-0948B1F8867E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519DC1-3F64-7C9C-272E-4E1C047A2CDA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EFA8C-2BE9-5736-86DA-942038C4AFDE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1DB100-C0FC-62CF-2D32-94CE25AAF260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09648F-6910-30FB-AD0F-1AF961CC91B0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Garamond"/>
              </a:rPr>
              <a:t>Learning about the audience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8ED1576-F5E6-EA28-E4FE-8ADA7B311297}"/>
              </a:ext>
            </a:extLst>
          </p:cNvPr>
          <p:cNvGrpSpPr/>
          <p:nvPr/>
        </p:nvGrpSpPr>
        <p:grpSpPr>
          <a:xfrm>
            <a:off x="4891311" y="2085696"/>
            <a:ext cx="432048" cy="1369945"/>
            <a:chOff x="5519936" y="2492896"/>
            <a:chExt cx="576064" cy="1826593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B60938-9C57-3125-9DB5-B908F90551C0}"/>
                </a:ext>
              </a:extLst>
            </p:cNvPr>
            <p:cNvSpPr/>
            <p:nvPr/>
          </p:nvSpPr>
          <p:spPr>
            <a:xfrm>
              <a:off x="5519936" y="2492896"/>
              <a:ext cx="576064" cy="57606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41B56C6-3AD1-036D-841D-EF917364000B}"/>
                </a:ext>
              </a:extLst>
            </p:cNvPr>
            <p:cNvSpPr/>
            <p:nvPr/>
          </p:nvSpPr>
          <p:spPr>
            <a:xfrm>
              <a:off x="5519936" y="2945904"/>
              <a:ext cx="576064" cy="56768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649068-6B4F-799A-601F-6A29EAAFD498}"/>
                </a:ext>
              </a:extLst>
            </p:cNvPr>
            <p:cNvSpPr/>
            <p:nvPr/>
          </p:nvSpPr>
          <p:spPr>
            <a:xfrm>
              <a:off x="5519936" y="3284984"/>
              <a:ext cx="576064" cy="103450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9D68B91-CD95-544D-A54D-F7CB1463552A}"/>
              </a:ext>
            </a:extLst>
          </p:cNvPr>
          <p:cNvGrpSpPr/>
          <p:nvPr/>
        </p:nvGrpSpPr>
        <p:grpSpPr>
          <a:xfrm>
            <a:off x="1650951" y="2079873"/>
            <a:ext cx="432048" cy="1369945"/>
            <a:chOff x="5519936" y="2492896"/>
            <a:chExt cx="576064" cy="1826593"/>
          </a:xfrm>
          <a:solidFill>
            <a:schemeClr val="accent1">
              <a:lumMod val="50000"/>
            </a:schemeClr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46DAE6F-6AEE-0E20-C06A-FD974C672BEB}"/>
                </a:ext>
              </a:extLst>
            </p:cNvPr>
            <p:cNvSpPr/>
            <p:nvPr/>
          </p:nvSpPr>
          <p:spPr>
            <a:xfrm>
              <a:off x="5519936" y="2492896"/>
              <a:ext cx="576064" cy="5760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86B2936-9499-1D8F-BE3B-F21ED769A745}"/>
                </a:ext>
              </a:extLst>
            </p:cNvPr>
            <p:cNvSpPr/>
            <p:nvPr/>
          </p:nvSpPr>
          <p:spPr>
            <a:xfrm>
              <a:off x="5519936" y="2945904"/>
              <a:ext cx="576064" cy="5676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3025DCE-76C4-BCD9-B0C9-AA10B75BC9E1}"/>
                </a:ext>
              </a:extLst>
            </p:cNvPr>
            <p:cNvSpPr/>
            <p:nvPr/>
          </p:nvSpPr>
          <p:spPr>
            <a:xfrm>
              <a:off x="5519936" y="3284984"/>
              <a:ext cx="576064" cy="103450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CBF9B76-E9D0-1109-16EF-FAC990BDB4CA}"/>
              </a:ext>
            </a:extLst>
          </p:cNvPr>
          <p:cNvGrpSpPr/>
          <p:nvPr/>
        </p:nvGrpSpPr>
        <p:grpSpPr>
          <a:xfrm>
            <a:off x="2186286" y="2085696"/>
            <a:ext cx="432048" cy="1369945"/>
            <a:chOff x="5519936" y="2492896"/>
            <a:chExt cx="576064" cy="1826593"/>
          </a:xfrm>
          <a:solidFill>
            <a:schemeClr val="accent1">
              <a:lumMod val="50000"/>
            </a:schemeClr>
          </a:solidFill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49D6DB9-6182-55E2-8B04-6C9EA0B2CF71}"/>
                </a:ext>
              </a:extLst>
            </p:cNvPr>
            <p:cNvSpPr/>
            <p:nvPr/>
          </p:nvSpPr>
          <p:spPr>
            <a:xfrm>
              <a:off x="5519936" y="2492896"/>
              <a:ext cx="576064" cy="5760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6680A1D-9C8F-8C9E-25E6-A09ECC8EC301}"/>
                </a:ext>
              </a:extLst>
            </p:cNvPr>
            <p:cNvSpPr/>
            <p:nvPr/>
          </p:nvSpPr>
          <p:spPr>
            <a:xfrm>
              <a:off x="5519936" y="2945904"/>
              <a:ext cx="576064" cy="5676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DB93B32-FD54-1B63-8CF6-E9CDFAD438D3}"/>
                </a:ext>
              </a:extLst>
            </p:cNvPr>
            <p:cNvSpPr/>
            <p:nvPr/>
          </p:nvSpPr>
          <p:spPr>
            <a:xfrm>
              <a:off x="5519936" y="3284984"/>
              <a:ext cx="576064" cy="103450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1044B86-ACAC-DCB6-9DAF-D4978347EAD5}"/>
              </a:ext>
            </a:extLst>
          </p:cNvPr>
          <p:cNvGrpSpPr/>
          <p:nvPr/>
        </p:nvGrpSpPr>
        <p:grpSpPr>
          <a:xfrm>
            <a:off x="2731071" y="2079873"/>
            <a:ext cx="432048" cy="1369945"/>
            <a:chOff x="5519936" y="2492896"/>
            <a:chExt cx="576064" cy="1826593"/>
          </a:xfrm>
          <a:solidFill>
            <a:schemeClr val="accent1">
              <a:lumMod val="50000"/>
            </a:schemeClr>
          </a:solidFill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2B93530-959D-5257-E611-FD38BB9B89F1}"/>
                </a:ext>
              </a:extLst>
            </p:cNvPr>
            <p:cNvSpPr/>
            <p:nvPr/>
          </p:nvSpPr>
          <p:spPr>
            <a:xfrm>
              <a:off x="5519936" y="2492896"/>
              <a:ext cx="576064" cy="5760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C0482F1-4E5C-CB74-3CA8-7B6DF8A79C15}"/>
                </a:ext>
              </a:extLst>
            </p:cNvPr>
            <p:cNvSpPr/>
            <p:nvPr/>
          </p:nvSpPr>
          <p:spPr>
            <a:xfrm>
              <a:off x="5519936" y="2945904"/>
              <a:ext cx="576064" cy="5676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188D35C-412A-D91D-23B8-4509A0C6061D}"/>
                </a:ext>
              </a:extLst>
            </p:cNvPr>
            <p:cNvSpPr/>
            <p:nvPr/>
          </p:nvSpPr>
          <p:spPr>
            <a:xfrm>
              <a:off x="5519936" y="3284984"/>
              <a:ext cx="576064" cy="103450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D715336-0A98-E5D7-6148-6243EFBA85C9}"/>
              </a:ext>
            </a:extLst>
          </p:cNvPr>
          <p:cNvGrpSpPr/>
          <p:nvPr/>
        </p:nvGrpSpPr>
        <p:grpSpPr>
          <a:xfrm>
            <a:off x="3282312" y="2079873"/>
            <a:ext cx="432048" cy="1369945"/>
            <a:chOff x="5519936" y="2492896"/>
            <a:chExt cx="576064" cy="1826593"/>
          </a:xfrm>
          <a:solidFill>
            <a:schemeClr val="accent1">
              <a:lumMod val="50000"/>
            </a:schemeClr>
          </a:solidFill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6B5B6A7-DDA2-59D4-E8B2-BBB677EE14D6}"/>
                </a:ext>
              </a:extLst>
            </p:cNvPr>
            <p:cNvSpPr/>
            <p:nvPr/>
          </p:nvSpPr>
          <p:spPr>
            <a:xfrm>
              <a:off x="5519936" y="2492896"/>
              <a:ext cx="576064" cy="5760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CFCD982-D61B-8714-0C7D-995D94AF1DFE}"/>
                </a:ext>
              </a:extLst>
            </p:cNvPr>
            <p:cNvSpPr/>
            <p:nvPr/>
          </p:nvSpPr>
          <p:spPr>
            <a:xfrm>
              <a:off x="5519936" y="2945904"/>
              <a:ext cx="576064" cy="5676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243C855-EABE-CC65-EF4E-58CFE3330322}"/>
                </a:ext>
              </a:extLst>
            </p:cNvPr>
            <p:cNvSpPr/>
            <p:nvPr/>
          </p:nvSpPr>
          <p:spPr>
            <a:xfrm>
              <a:off x="5519936" y="3284984"/>
              <a:ext cx="576064" cy="103450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0815E66-745B-ACB9-9CEA-875EA5E9EA60}"/>
              </a:ext>
            </a:extLst>
          </p:cNvPr>
          <p:cNvGrpSpPr/>
          <p:nvPr/>
        </p:nvGrpSpPr>
        <p:grpSpPr>
          <a:xfrm>
            <a:off x="6727515" y="2443944"/>
            <a:ext cx="432048" cy="1369945"/>
            <a:chOff x="5519936" y="2492896"/>
            <a:chExt cx="576064" cy="1826593"/>
          </a:xfrm>
          <a:solidFill>
            <a:schemeClr val="accent1">
              <a:lumMod val="75000"/>
            </a:schemeClr>
          </a:solidFill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E7D1D64-5D97-538D-8144-EAFC5018BC53}"/>
                </a:ext>
              </a:extLst>
            </p:cNvPr>
            <p:cNvSpPr/>
            <p:nvPr/>
          </p:nvSpPr>
          <p:spPr>
            <a:xfrm>
              <a:off x="5519936" y="2492896"/>
              <a:ext cx="576064" cy="5760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E70719C-F8D2-0306-D606-313285156356}"/>
                </a:ext>
              </a:extLst>
            </p:cNvPr>
            <p:cNvSpPr/>
            <p:nvPr/>
          </p:nvSpPr>
          <p:spPr>
            <a:xfrm>
              <a:off x="5519936" y="2945904"/>
              <a:ext cx="576064" cy="5676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49C0ADF-2710-0D69-09BB-FCE2BC56F640}"/>
                </a:ext>
              </a:extLst>
            </p:cNvPr>
            <p:cNvSpPr/>
            <p:nvPr/>
          </p:nvSpPr>
          <p:spPr>
            <a:xfrm>
              <a:off x="5519936" y="3284984"/>
              <a:ext cx="576064" cy="103450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9DF5B06-A451-8056-0C13-B55CC9987A59}"/>
              </a:ext>
            </a:extLst>
          </p:cNvPr>
          <p:cNvGrpSpPr/>
          <p:nvPr/>
        </p:nvGrpSpPr>
        <p:grpSpPr>
          <a:xfrm>
            <a:off x="7272300" y="2443944"/>
            <a:ext cx="432048" cy="1369945"/>
            <a:chOff x="5519936" y="2492896"/>
            <a:chExt cx="576064" cy="1826593"/>
          </a:xfrm>
          <a:solidFill>
            <a:schemeClr val="accent1">
              <a:lumMod val="75000"/>
            </a:schemeClr>
          </a:solidFill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8A66657-7D89-ED0D-5D6B-F1052B30B372}"/>
                </a:ext>
              </a:extLst>
            </p:cNvPr>
            <p:cNvSpPr/>
            <p:nvPr/>
          </p:nvSpPr>
          <p:spPr>
            <a:xfrm>
              <a:off x="5519936" y="2492896"/>
              <a:ext cx="576064" cy="5760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6ED4CEF-8AB4-A85C-7153-CD1229BD30DB}"/>
                </a:ext>
              </a:extLst>
            </p:cNvPr>
            <p:cNvSpPr/>
            <p:nvPr/>
          </p:nvSpPr>
          <p:spPr>
            <a:xfrm>
              <a:off x="5519936" y="2945904"/>
              <a:ext cx="576064" cy="5676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0B6E250-E1F2-90AB-962A-C1F8492D23EB}"/>
                </a:ext>
              </a:extLst>
            </p:cNvPr>
            <p:cNvSpPr/>
            <p:nvPr/>
          </p:nvSpPr>
          <p:spPr>
            <a:xfrm>
              <a:off x="5519936" y="3284984"/>
              <a:ext cx="576064" cy="103450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</p:grpSp>
      <p:sp>
        <p:nvSpPr>
          <p:cNvPr id="37" name="Rounded Rectangular Callout 36">
            <a:extLst>
              <a:ext uri="{FF2B5EF4-FFF2-40B4-BE49-F238E27FC236}">
                <a16:creationId xmlns:a16="http://schemas.microsoft.com/office/drawing/2014/main" id="{F37D35AF-A929-C086-6044-AC80D079AFAC}"/>
              </a:ext>
            </a:extLst>
          </p:cNvPr>
          <p:cNvSpPr/>
          <p:nvPr/>
        </p:nvSpPr>
        <p:spPr>
          <a:xfrm>
            <a:off x="5593389" y="1437606"/>
            <a:ext cx="706803" cy="459485"/>
          </a:xfrm>
          <a:prstGeom prst="wedgeRoundRectCallout">
            <a:avLst>
              <a:gd name="adj1" fmla="val -75388"/>
              <a:gd name="adj2" fmla="val 127799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8F158C32-A5B7-D120-3D19-A909689933BF}"/>
              </a:ext>
            </a:extLst>
          </p:cNvPr>
          <p:cNvSpPr/>
          <p:nvPr/>
        </p:nvSpPr>
        <p:spPr>
          <a:xfrm rot="10800000">
            <a:off x="4027215" y="2679762"/>
            <a:ext cx="540060" cy="48605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DA42C5E-C754-9D45-5A6A-BB45FC6337FF}"/>
              </a:ext>
            </a:extLst>
          </p:cNvPr>
          <p:cNvSpPr/>
          <p:nvPr/>
        </p:nvSpPr>
        <p:spPr>
          <a:xfrm>
            <a:off x="1272909" y="1187370"/>
            <a:ext cx="5130570" cy="295055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4B44C4-9FE5-057B-59F7-4D270CB7C4D6}"/>
              </a:ext>
            </a:extLst>
          </p:cNvPr>
          <p:cNvSpPr txBox="1"/>
          <p:nvPr/>
        </p:nvSpPr>
        <p:spPr>
          <a:xfrm>
            <a:off x="6624228" y="1381326"/>
            <a:ext cx="12961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350" b="1" dirty="0">
                <a:latin typeface="Garamond" panose="02020404030301010803" pitchFamily="18" charset="0"/>
              </a:rPr>
              <a:t>Those who wanted the comm. To take place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9D2573-819D-2AEF-3EF7-C6B5EA2B1716}"/>
              </a:ext>
            </a:extLst>
          </p:cNvPr>
          <p:cNvSpPr txBox="1"/>
          <p:nvPr/>
        </p:nvSpPr>
        <p:spPr>
          <a:xfrm>
            <a:off x="4459263" y="3462742"/>
            <a:ext cx="129614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350" b="1" dirty="0">
                <a:latin typeface="Garamond" panose="02020404030301010803" pitchFamily="18" charset="0"/>
              </a:rPr>
              <a:t>You as the presenter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54961B-CD98-C5B0-E66E-581552B68CE0}"/>
              </a:ext>
            </a:extLst>
          </p:cNvPr>
          <p:cNvSpPr txBox="1"/>
          <p:nvPr/>
        </p:nvSpPr>
        <p:spPr>
          <a:xfrm>
            <a:off x="2024492" y="1442685"/>
            <a:ext cx="12961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350" b="1" dirty="0">
                <a:latin typeface="Garamond" panose="02020404030301010803" pitchFamily="18" charset="0"/>
              </a:rPr>
              <a:t>Audience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0FE935-EF15-8ADB-4FD9-F10AA29982C2}"/>
              </a:ext>
            </a:extLst>
          </p:cNvPr>
          <p:cNvSpPr txBox="1"/>
          <p:nvPr/>
        </p:nvSpPr>
        <p:spPr>
          <a:xfrm>
            <a:off x="5298719" y="1504127"/>
            <a:ext cx="12961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350" b="1" dirty="0">
                <a:latin typeface="Garamond" panose="02020404030301010803" pitchFamily="18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5229864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959B97-A9F7-ED27-38FA-B40CED5B4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E2D44C-CAD8-3DB9-883F-2D44C5B82FF1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713B9F-F559-E342-B05D-7689882C255E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5443E4-3034-18E2-D559-23D8FA0D020A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081D2-C7E9-47BF-121E-33657AE91041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9A951C-CEDE-A474-066B-496958C75545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Garamond"/>
              </a:rPr>
              <a:t>Learning about the audience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10EDF86-7ADB-26FF-30E4-08C0F12FE701}"/>
              </a:ext>
            </a:extLst>
          </p:cNvPr>
          <p:cNvGrpSpPr/>
          <p:nvPr/>
        </p:nvGrpSpPr>
        <p:grpSpPr>
          <a:xfrm>
            <a:off x="4139952" y="2085696"/>
            <a:ext cx="432048" cy="1369945"/>
            <a:chOff x="5519936" y="2492896"/>
            <a:chExt cx="576064" cy="182659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F4D98D8-2024-B1C5-B057-84169500068C}"/>
                </a:ext>
              </a:extLst>
            </p:cNvPr>
            <p:cNvSpPr/>
            <p:nvPr/>
          </p:nvSpPr>
          <p:spPr>
            <a:xfrm>
              <a:off x="5519936" y="2492896"/>
              <a:ext cx="576064" cy="57606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C9293A5-6309-6B9F-C190-AA00228C32E9}"/>
                </a:ext>
              </a:extLst>
            </p:cNvPr>
            <p:cNvSpPr/>
            <p:nvPr/>
          </p:nvSpPr>
          <p:spPr>
            <a:xfrm>
              <a:off x="5519936" y="2945904"/>
              <a:ext cx="576064" cy="56768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852A7B7-C138-5E52-FDA7-45097208CFCB}"/>
                </a:ext>
              </a:extLst>
            </p:cNvPr>
            <p:cNvSpPr/>
            <p:nvPr/>
          </p:nvSpPr>
          <p:spPr>
            <a:xfrm>
              <a:off x="5519936" y="3284984"/>
              <a:ext cx="576064" cy="103450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12E8ADB-976D-7635-8805-B41EA9BB8DBA}"/>
              </a:ext>
            </a:extLst>
          </p:cNvPr>
          <p:cNvGrpSpPr/>
          <p:nvPr/>
        </p:nvGrpSpPr>
        <p:grpSpPr>
          <a:xfrm>
            <a:off x="899592" y="2079873"/>
            <a:ext cx="432048" cy="1369945"/>
            <a:chOff x="5519936" y="2492896"/>
            <a:chExt cx="576064" cy="1826593"/>
          </a:xfrm>
          <a:solidFill>
            <a:schemeClr val="accent1">
              <a:lumMod val="50000"/>
            </a:schemeClr>
          </a:solidFill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51B13DF-94F4-D188-2631-F6F41923D635}"/>
                </a:ext>
              </a:extLst>
            </p:cNvPr>
            <p:cNvSpPr/>
            <p:nvPr/>
          </p:nvSpPr>
          <p:spPr>
            <a:xfrm>
              <a:off x="5519936" y="2492896"/>
              <a:ext cx="576064" cy="5760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B419449-954D-E3EA-D9A1-922F97C32C4A}"/>
                </a:ext>
              </a:extLst>
            </p:cNvPr>
            <p:cNvSpPr/>
            <p:nvPr/>
          </p:nvSpPr>
          <p:spPr>
            <a:xfrm>
              <a:off x="5519936" y="2945904"/>
              <a:ext cx="576064" cy="5676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C28F806-3D7E-5C0B-000B-41D902C1C050}"/>
                </a:ext>
              </a:extLst>
            </p:cNvPr>
            <p:cNvSpPr/>
            <p:nvPr/>
          </p:nvSpPr>
          <p:spPr>
            <a:xfrm>
              <a:off x="5519936" y="3284984"/>
              <a:ext cx="576064" cy="103450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BB454E9-9380-CF7E-6FD5-019ED5A9E0A4}"/>
              </a:ext>
            </a:extLst>
          </p:cNvPr>
          <p:cNvGrpSpPr/>
          <p:nvPr/>
        </p:nvGrpSpPr>
        <p:grpSpPr>
          <a:xfrm>
            <a:off x="1434927" y="2085696"/>
            <a:ext cx="432048" cy="1369945"/>
            <a:chOff x="5519936" y="2492896"/>
            <a:chExt cx="576064" cy="1826593"/>
          </a:xfrm>
          <a:solidFill>
            <a:schemeClr val="accent1">
              <a:lumMod val="50000"/>
            </a:schemeClr>
          </a:solidFill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437E6F3E-35CF-9192-9209-5AE1D2CD17A7}"/>
                </a:ext>
              </a:extLst>
            </p:cNvPr>
            <p:cNvSpPr/>
            <p:nvPr/>
          </p:nvSpPr>
          <p:spPr>
            <a:xfrm>
              <a:off x="5519936" y="2492896"/>
              <a:ext cx="576064" cy="5760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794E102-D5B5-F907-98C4-3B6D989FFDF9}"/>
                </a:ext>
              </a:extLst>
            </p:cNvPr>
            <p:cNvSpPr/>
            <p:nvPr/>
          </p:nvSpPr>
          <p:spPr>
            <a:xfrm>
              <a:off x="5519936" y="2945904"/>
              <a:ext cx="576064" cy="5676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43D4BB6-DA95-A381-64BC-7B7EE3AE892D}"/>
                </a:ext>
              </a:extLst>
            </p:cNvPr>
            <p:cNvSpPr/>
            <p:nvPr/>
          </p:nvSpPr>
          <p:spPr>
            <a:xfrm>
              <a:off x="5519936" y="3284984"/>
              <a:ext cx="576064" cy="103450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DF6364F-FCDE-BDB3-BF89-FD4056FAF21A}"/>
              </a:ext>
            </a:extLst>
          </p:cNvPr>
          <p:cNvGrpSpPr/>
          <p:nvPr/>
        </p:nvGrpSpPr>
        <p:grpSpPr>
          <a:xfrm>
            <a:off x="1979712" y="2079873"/>
            <a:ext cx="432048" cy="1369945"/>
            <a:chOff x="5519936" y="2492896"/>
            <a:chExt cx="576064" cy="1826593"/>
          </a:xfrm>
          <a:solidFill>
            <a:schemeClr val="accent1">
              <a:lumMod val="50000"/>
            </a:schemeClr>
          </a:solidFill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C1A4E639-B1D0-2AC0-D9BC-6499D58FB418}"/>
                </a:ext>
              </a:extLst>
            </p:cNvPr>
            <p:cNvSpPr/>
            <p:nvPr/>
          </p:nvSpPr>
          <p:spPr>
            <a:xfrm>
              <a:off x="5519936" y="2492896"/>
              <a:ext cx="576064" cy="5760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CE1C248-A260-24A6-FA0B-934888CC9F22}"/>
                </a:ext>
              </a:extLst>
            </p:cNvPr>
            <p:cNvSpPr/>
            <p:nvPr/>
          </p:nvSpPr>
          <p:spPr>
            <a:xfrm>
              <a:off x="5519936" y="2945904"/>
              <a:ext cx="576064" cy="5676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0689375-4C18-7228-3229-C15C9D655A1E}"/>
                </a:ext>
              </a:extLst>
            </p:cNvPr>
            <p:cNvSpPr/>
            <p:nvPr/>
          </p:nvSpPr>
          <p:spPr>
            <a:xfrm>
              <a:off x="5519936" y="3284984"/>
              <a:ext cx="576064" cy="103450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31115A1-DF65-1BA6-E4DF-FD767B7F43DB}"/>
              </a:ext>
            </a:extLst>
          </p:cNvPr>
          <p:cNvGrpSpPr/>
          <p:nvPr/>
        </p:nvGrpSpPr>
        <p:grpSpPr>
          <a:xfrm>
            <a:off x="2530953" y="2079873"/>
            <a:ext cx="432048" cy="1369945"/>
            <a:chOff x="5519936" y="2492896"/>
            <a:chExt cx="576064" cy="1826593"/>
          </a:xfrm>
          <a:solidFill>
            <a:schemeClr val="accent1">
              <a:lumMod val="50000"/>
            </a:schemeClr>
          </a:solidFill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BEEDC8D-BC57-ACB3-DE3F-B82AD8A4639C}"/>
                </a:ext>
              </a:extLst>
            </p:cNvPr>
            <p:cNvSpPr/>
            <p:nvPr/>
          </p:nvSpPr>
          <p:spPr>
            <a:xfrm>
              <a:off x="5519936" y="2492896"/>
              <a:ext cx="576064" cy="5760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C8A069E2-2464-512A-0902-C940B3CE93D6}"/>
                </a:ext>
              </a:extLst>
            </p:cNvPr>
            <p:cNvSpPr/>
            <p:nvPr/>
          </p:nvSpPr>
          <p:spPr>
            <a:xfrm>
              <a:off x="5519936" y="2945904"/>
              <a:ext cx="576064" cy="5676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2A2E828-E0D5-FED3-9834-DED1F8BE0B8E}"/>
                </a:ext>
              </a:extLst>
            </p:cNvPr>
            <p:cNvSpPr/>
            <p:nvPr/>
          </p:nvSpPr>
          <p:spPr>
            <a:xfrm>
              <a:off x="5519936" y="3284984"/>
              <a:ext cx="576064" cy="103450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733DAAC-564B-311D-B567-B7CE71A6D7D6}"/>
              </a:ext>
            </a:extLst>
          </p:cNvPr>
          <p:cNvGrpSpPr/>
          <p:nvPr/>
        </p:nvGrpSpPr>
        <p:grpSpPr>
          <a:xfrm>
            <a:off x="5868144" y="2085696"/>
            <a:ext cx="432048" cy="1369945"/>
            <a:chOff x="5519936" y="2492896"/>
            <a:chExt cx="576064" cy="1826593"/>
          </a:xfrm>
          <a:solidFill>
            <a:schemeClr val="accent1">
              <a:lumMod val="75000"/>
            </a:schemeClr>
          </a:solidFill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2EBDE1D-8A5A-AF06-D10C-F90CA870D5DB}"/>
                </a:ext>
              </a:extLst>
            </p:cNvPr>
            <p:cNvSpPr/>
            <p:nvPr/>
          </p:nvSpPr>
          <p:spPr>
            <a:xfrm>
              <a:off x="5519936" y="2492896"/>
              <a:ext cx="576064" cy="5760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312BF02-3132-101A-7803-37B8753170D6}"/>
                </a:ext>
              </a:extLst>
            </p:cNvPr>
            <p:cNvSpPr/>
            <p:nvPr/>
          </p:nvSpPr>
          <p:spPr>
            <a:xfrm>
              <a:off x="5519936" y="2945904"/>
              <a:ext cx="576064" cy="5676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05E6A26-889F-AAE0-AB77-CC8E241BB933}"/>
                </a:ext>
              </a:extLst>
            </p:cNvPr>
            <p:cNvSpPr/>
            <p:nvPr/>
          </p:nvSpPr>
          <p:spPr>
            <a:xfrm>
              <a:off x="5519936" y="3284984"/>
              <a:ext cx="576064" cy="103450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BBF9C7C-1FB0-F355-4FDF-9DBC3263F294}"/>
              </a:ext>
            </a:extLst>
          </p:cNvPr>
          <p:cNvGrpSpPr/>
          <p:nvPr/>
        </p:nvGrpSpPr>
        <p:grpSpPr>
          <a:xfrm>
            <a:off x="6412929" y="2085696"/>
            <a:ext cx="432048" cy="1369945"/>
            <a:chOff x="5519936" y="2492896"/>
            <a:chExt cx="576064" cy="1826593"/>
          </a:xfrm>
          <a:solidFill>
            <a:schemeClr val="accent1">
              <a:lumMod val="75000"/>
            </a:schemeClr>
          </a:solidFill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1CF879F2-A50E-E993-B274-9F43C15E74E2}"/>
                </a:ext>
              </a:extLst>
            </p:cNvPr>
            <p:cNvSpPr/>
            <p:nvPr/>
          </p:nvSpPr>
          <p:spPr>
            <a:xfrm>
              <a:off x="5519936" y="2492896"/>
              <a:ext cx="576064" cy="5760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301317F-158E-595F-30EB-77B0CB98C5A0}"/>
                </a:ext>
              </a:extLst>
            </p:cNvPr>
            <p:cNvSpPr/>
            <p:nvPr/>
          </p:nvSpPr>
          <p:spPr>
            <a:xfrm>
              <a:off x="5519936" y="2945904"/>
              <a:ext cx="576064" cy="5676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7FA604D-7CCD-E012-83C8-1DEC2142D122}"/>
                </a:ext>
              </a:extLst>
            </p:cNvPr>
            <p:cNvSpPr/>
            <p:nvPr/>
          </p:nvSpPr>
          <p:spPr>
            <a:xfrm>
              <a:off x="5519936" y="3284984"/>
              <a:ext cx="576064" cy="103450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/>
            </a:p>
          </p:txBody>
        </p:sp>
      </p:grpSp>
      <p:sp>
        <p:nvSpPr>
          <p:cNvPr id="70" name="Rounded Rectangular Callout 69">
            <a:extLst>
              <a:ext uri="{FF2B5EF4-FFF2-40B4-BE49-F238E27FC236}">
                <a16:creationId xmlns:a16="http://schemas.microsoft.com/office/drawing/2014/main" id="{D55637E0-61D8-3211-5A3A-CD3BD93B1FDB}"/>
              </a:ext>
            </a:extLst>
          </p:cNvPr>
          <p:cNvSpPr/>
          <p:nvPr/>
        </p:nvSpPr>
        <p:spPr>
          <a:xfrm>
            <a:off x="4842030" y="1437606"/>
            <a:ext cx="523782" cy="459485"/>
          </a:xfrm>
          <a:prstGeom prst="wedgeRoundRectCallout">
            <a:avLst>
              <a:gd name="adj1" fmla="val -75388"/>
              <a:gd name="adj2" fmla="val 127799"/>
              <a:gd name="adj3" fmla="val 1666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71" name="Right Arrow 70">
            <a:extLst>
              <a:ext uri="{FF2B5EF4-FFF2-40B4-BE49-F238E27FC236}">
                <a16:creationId xmlns:a16="http://schemas.microsoft.com/office/drawing/2014/main" id="{04A9B4A4-DEA7-A536-211A-62539D904D41}"/>
              </a:ext>
            </a:extLst>
          </p:cNvPr>
          <p:cNvSpPr/>
          <p:nvPr/>
        </p:nvSpPr>
        <p:spPr>
          <a:xfrm rot="10800000">
            <a:off x="3275856" y="2679762"/>
            <a:ext cx="540060" cy="48605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72" name="Right Arrow 71">
            <a:extLst>
              <a:ext uri="{FF2B5EF4-FFF2-40B4-BE49-F238E27FC236}">
                <a16:creationId xmlns:a16="http://schemas.microsoft.com/office/drawing/2014/main" id="{E1DAE122-9EE3-A8F1-B974-6A60B2E5B897}"/>
              </a:ext>
            </a:extLst>
          </p:cNvPr>
          <p:cNvSpPr/>
          <p:nvPr/>
        </p:nvSpPr>
        <p:spPr>
          <a:xfrm>
            <a:off x="4950042" y="2679762"/>
            <a:ext cx="540060" cy="48605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BD2F5123-B874-165D-2758-F91DAE8BFD9C}"/>
              </a:ext>
            </a:extLst>
          </p:cNvPr>
          <p:cNvSpPr/>
          <p:nvPr/>
        </p:nvSpPr>
        <p:spPr>
          <a:xfrm>
            <a:off x="521550" y="1187370"/>
            <a:ext cx="6750750" cy="25725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DB9A837-3E50-0B93-E8DB-B28B24A80600}"/>
              </a:ext>
            </a:extLst>
          </p:cNvPr>
          <p:cNvSpPr txBox="1"/>
          <p:nvPr/>
        </p:nvSpPr>
        <p:spPr>
          <a:xfrm>
            <a:off x="5706126" y="1476801"/>
            <a:ext cx="12961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350" b="1" dirty="0">
                <a:latin typeface="Garamond" panose="02020404030301010803" pitchFamily="18" charset="0"/>
              </a:rPr>
              <a:t>Management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0E89691-3B16-7175-35D5-3D05894BD46D}"/>
              </a:ext>
            </a:extLst>
          </p:cNvPr>
          <p:cNvSpPr txBox="1"/>
          <p:nvPr/>
        </p:nvSpPr>
        <p:spPr>
          <a:xfrm>
            <a:off x="3081370" y="3460880"/>
            <a:ext cx="270502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350" b="1" dirty="0">
                <a:latin typeface="Garamond" panose="02020404030301010803" pitchFamily="18" charset="0"/>
              </a:rPr>
              <a:t>You as Subject Matter Expert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034A1FA-037F-062B-E37A-B2F96D720CE3}"/>
              </a:ext>
            </a:extLst>
          </p:cNvPr>
          <p:cNvSpPr txBox="1"/>
          <p:nvPr/>
        </p:nvSpPr>
        <p:spPr>
          <a:xfrm>
            <a:off x="1273133" y="1442685"/>
            <a:ext cx="12961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350" b="1" dirty="0">
                <a:latin typeface="Garamond" panose="02020404030301010803" pitchFamily="18" charset="0"/>
              </a:rPr>
              <a:t>Employees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FA1C8F8-66F0-3D73-DA4A-ECC56485258A}"/>
              </a:ext>
            </a:extLst>
          </p:cNvPr>
          <p:cNvSpPr txBox="1"/>
          <p:nvPr/>
        </p:nvSpPr>
        <p:spPr>
          <a:xfrm>
            <a:off x="3904647" y="3881939"/>
            <a:ext cx="4614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>
                <a:latin typeface="Garamond" panose="02020404030301010803" pitchFamily="18" charset="0"/>
              </a:rPr>
              <a:t>How much do you know?</a:t>
            </a:r>
          </a:p>
          <a:p>
            <a:pPr algn="r"/>
            <a:r>
              <a:rPr lang="en-US" sz="1800" dirty="0">
                <a:latin typeface="Garamond" panose="02020404030301010803" pitchFamily="18" charset="0"/>
              </a:rPr>
              <a:t>How much does the audience know?</a:t>
            </a:r>
          </a:p>
          <a:p>
            <a:pPr algn="r"/>
            <a:r>
              <a:rPr lang="en-US" sz="1800" dirty="0">
                <a:latin typeface="Garamond" panose="02020404030301010803" pitchFamily="18" charset="0"/>
              </a:rPr>
              <a:t>How much does the audience think you know?</a:t>
            </a:r>
          </a:p>
        </p:txBody>
      </p:sp>
    </p:spTree>
    <p:extLst>
      <p:ext uri="{BB962C8B-B14F-4D97-AF65-F5344CB8AC3E}">
        <p14:creationId xmlns:p14="http://schemas.microsoft.com/office/powerpoint/2010/main" val="42012463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78B0E0-33C1-7111-4E26-C4788A9EF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F6D0A2-F67D-27D8-9E1A-5908D1AFCAF5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BF491B-A017-0B1D-5852-EAB799C8D5EB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B94114-D97F-2544-202A-3C1FFCBF8102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162614-56F8-2176-6662-A595AD29F308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131960-A431-A79B-E964-2AE9B4578C48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Garamond"/>
              </a:rPr>
              <a:t>Stage 2 : Development and Writing 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93443E-A7E6-2F11-7E1D-5C339DCF2D43}"/>
              </a:ext>
            </a:extLst>
          </p:cNvPr>
          <p:cNvSpPr txBox="1"/>
          <p:nvPr/>
        </p:nvSpPr>
        <p:spPr>
          <a:xfrm>
            <a:off x="347132" y="921173"/>
            <a:ext cx="8212667" cy="4287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1600" dirty="0">
                <a:latin typeface="Garamond" panose="02020404030301010803" pitchFamily="18" charset="0"/>
              </a:rPr>
              <a:t>1. Type of presentation:</a:t>
            </a:r>
          </a:p>
          <a:p>
            <a:pPr marL="285750" indent="-285750" fontAlgn="t">
              <a:buFont typeface="Wingdings" pitchFamily="2" charset="2"/>
              <a:buChar char="§"/>
            </a:pPr>
            <a:r>
              <a:rPr lang="en-US" sz="1600" dirty="0">
                <a:latin typeface="Garamond" panose="02020404030301010803" pitchFamily="18" charset="0"/>
              </a:rPr>
              <a:t>Informational</a:t>
            </a:r>
          </a:p>
          <a:p>
            <a:pPr marL="285750" indent="-285750" fontAlgn="t">
              <a:buFont typeface="Wingdings" pitchFamily="2" charset="2"/>
              <a:buChar char="§"/>
            </a:pPr>
            <a:r>
              <a:rPr lang="en-US" sz="1600" dirty="0">
                <a:latin typeface="Garamond" panose="02020404030301010803" pitchFamily="18" charset="0"/>
              </a:rPr>
              <a:t>Motivational</a:t>
            </a:r>
          </a:p>
          <a:p>
            <a:pPr marL="285750" indent="-285750" fontAlgn="t">
              <a:buFont typeface="Wingdings" pitchFamily="2" charset="2"/>
              <a:buChar char="§"/>
            </a:pPr>
            <a:r>
              <a:rPr lang="en-US" sz="1600" dirty="0">
                <a:latin typeface="Garamond" panose="02020404030301010803" pitchFamily="18" charset="0"/>
              </a:rPr>
              <a:t>Situational</a:t>
            </a:r>
          </a:p>
          <a:p>
            <a:pPr marL="285750" indent="-285750" fontAlgn="t">
              <a:buFont typeface="Wingdings" pitchFamily="2" charset="2"/>
              <a:buChar char="§"/>
            </a:pPr>
            <a:r>
              <a:rPr lang="en-US" sz="1600" dirty="0">
                <a:latin typeface="Garamond" panose="02020404030301010803" pitchFamily="18" charset="0"/>
              </a:rPr>
              <a:t>All of the above</a:t>
            </a:r>
          </a:p>
          <a:p>
            <a:pPr fontAlgn="t"/>
            <a:r>
              <a:rPr lang="en-US" sz="1600" dirty="0">
                <a:latin typeface="Garamond" panose="02020404030301010803" pitchFamily="18" charset="0"/>
              </a:rPr>
              <a:t> </a:t>
            </a:r>
          </a:p>
          <a:p>
            <a:pPr fontAlgn="t"/>
            <a:r>
              <a:rPr lang="en-US" sz="1600" dirty="0">
                <a:latin typeface="Garamond" panose="02020404030301010803" pitchFamily="18" charset="0"/>
              </a:rPr>
              <a:t>2. Outline the presentation, including key points for the introduction, key messages, and sequence of ideas. </a:t>
            </a:r>
          </a:p>
          <a:p>
            <a:pPr fontAlgn="t"/>
            <a:endParaRPr lang="en-US" sz="1600" dirty="0">
              <a:latin typeface="Garamond" panose="02020404030301010803" pitchFamily="18" charset="0"/>
            </a:endParaRPr>
          </a:p>
          <a:p>
            <a:pPr fontAlgn="t"/>
            <a:r>
              <a:rPr lang="en-US" sz="1600" dirty="0">
                <a:latin typeface="Garamond" panose="02020404030301010803" pitchFamily="18" charset="0"/>
              </a:rPr>
              <a:t>3. Determine what information is needed to support your message?</a:t>
            </a:r>
          </a:p>
          <a:p>
            <a:pPr fontAlgn="t"/>
            <a:endParaRPr lang="en-AU" sz="1600" u="sng" dirty="0">
              <a:latin typeface="Garamond" panose="02020404030301010803" pitchFamily="18" charset="0"/>
            </a:endParaRPr>
          </a:p>
          <a:p>
            <a:pPr fontAlgn="t"/>
            <a:r>
              <a:rPr lang="en-AU" sz="1600" u="sng" dirty="0">
                <a:latin typeface="Garamond" panose="02020404030301010803" pitchFamily="18" charset="0"/>
              </a:rPr>
              <a:t>Tips:</a:t>
            </a:r>
            <a:r>
              <a:rPr lang="en-AU" sz="1600" dirty="0">
                <a:latin typeface="Garamond" panose="02020404030301010803" pitchFamily="18" charset="0"/>
              </a:rPr>
              <a:t> Your presentation should have a clear structure, and do not forget to link them together. In such a brief allotted time, you won’t have time to do much besides summarising the main points and providing key messages you want to impart to the audience.</a:t>
            </a:r>
            <a:endParaRPr lang="en-US" sz="1600" dirty="0">
              <a:latin typeface="Garamond" panose="02020404030301010803" pitchFamily="18" charset="0"/>
            </a:endParaRPr>
          </a:p>
          <a:p>
            <a:pPr fontAlgn="t"/>
            <a:r>
              <a:rPr lang="en-US" sz="1600" dirty="0">
                <a:latin typeface="Garamond" panose="02020404030301010803" pitchFamily="18" charset="0"/>
              </a:rPr>
              <a:t> </a:t>
            </a:r>
          </a:p>
          <a:p>
            <a:pPr fontAlgn="t"/>
            <a:r>
              <a:rPr lang="en-US" sz="1600" dirty="0">
                <a:latin typeface="Garamond" panose="02020404030301010803" pitchFamily="18" charset="0"/>
              </a:rPr>
              <a:t> </a:t>
            </a:r>
          </a:p>
          <a:p>
            <a:pPr>
              <a:lnSpc>
                <a:spcPct val="107000"/>
              </a:lnSpc>
            </a:pPr>
            <a:endParaRPr lang="en-US" sz="16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9249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096B16-2D58-88C0-DD5D-E4D1D08B5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D7DC91-4A70-5C93-84C9-99B27E684A78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61EA70-DF1C-7D7C-119C-017AC8B53F9B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C50F2C-A18B-4B87-0980-0722C77A20F6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3277DF-C1C4-A529-E260-93D2F351D0ED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6C40F-3F60-208E-3DEB-C7D0D11812FC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Garamond"/>
              </a:rPr>
              <a:t>Stage 2 : Development and Writing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326B82-87ED-174C-00CF-9DA60ABB34A3}"/>
              </a:ext>
            </a:extLst>
          </p:cNvPr>
          <p:cNvSpPr txBox="1"/>
          <p:nvPr/>
        </p:nvSpPr>
        <p:spPr>
          <a:xfrm>
            <a:off x="347132" y="921173"/>
            <a:ext cx="8212667" cy="4075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600" dirty="0">
                <a:latin typeface="Garamond" panose="02020404030301010803" pitchFamily="18" charset="0"/>
              </a:rPr>
              <a:t>4. Develop the introduction, discussion, and conclusion.</a:t>
            </a:r>
          </a:p>
          <a:p>
            <a:pPr>
              <a:lnSpc>
                <a:spcPct val="107000"/>
              </a:lnSpc>
            </a:pPr>
            <a:endParaRPr lang="en-US" sz="1600" dirty="0">
              <a:latin typeface="Garamond" panose="02020404030301010803" pitchFamily="18" charset="0"/>
            </a:endParaRPr>
          </a:p>
          <a:p>
            <a:r>
              <a:rPr lang="en-AU" sz="1600" u="sng" dirty="0">
                <a:latin typeface="Garamond" panose="02020404030301010803" pitchFamily="18" charset="0"/>
              </a:rPr>
              <a:t>Introduction</a:t>
            </a:r>
            <a:r>
              <a:rPr lang="en-AU" sz="1600" dirty="0">
                <a:latin typeface="Garamond" panose="02020404030301010803" pitchFamily="18" charset="0"/>
              </a:rPr>
              <a:t>: Provide a clear introduction to the presentation. Make sure you cover the context, aim, and structure of the presentation. You may say something like this: </a:t>
            </a:r>
            <a:endParaRPr lang="en-US" sz="1600" dirty="0">
              <a:latin typeface="Garamond" panose="02020404030301010803" pitchFamily="18" charset="0"/>
            </a:endParaRPr>
          </a:p>
          <a:p>
            <a:r>
              <a:rPr lang="en-AU" sz="1600" dirty="0">
                <a:latin typeface="Garamond" panose="02020404030301010803" pitchFamily="18" charset="0"/>
              </a:rPr>
              <a:t>“</a:t>
            </a:r>
            <a:r>
              <a:rPr lang="en-AU" sz="1600" i="1" dirty="0">
                <a:latin typeface="Garamond" panose="02020404030301010803" pitchFamily="18" charset="0"/>
              </a:rPr>
              <a:t>We will be speaking on the article titled …, which was written by …, who specializes in the field of … as an investigative journalist. [i.e. the context] In this presentation, we will be providing you with the main highlights discussed in the article.., I will be speaking first to provide the introduction, and then X will be discussing the key messages, which will be followed by Y, who will conclude the takeaway message. [i.e. the structure</a:t>
            </a:r>
            <a:r>
              <a:rPr lang="en-AU" sz="1600" dirty="0">
                <a:latin typeface="Garamond" panose="02020404030301010803" pitchFamily="18" charset="0"/>
              </a:rPr>
              <a:t>]” </a:t>
            </a:r>
            <a:endParaRPr lang="en-US" sz="1600" dirty="0">
              <a:latin typeface="Garamond" panose="02020404030301010803" pitchFamily="18" charset="0"/>
            </a:endParaRPr>
          </a:p>
          <a:p>
            <a:r>
              <a:rPr lang="en-US" sz="1600" u="sng" dirty="0">
                <a:latin typeface="Garamond" panose="02020404030301010803" pitchFamily="18" charset="0"/>
              </a:rPr>
              <a:t>Conclusion:</a:t>
            </a:r>
            <a:r>
              <a:rPr lang="en-US" sz="1600" dirty="0">
                <a:latin typeface="Garamond" panose="02020404030301010803" pitchFamily="18" charset="0"/>
              </a:rPr>
              <a:t> </a:t>
            </a:r>
            <a:r>
              <a:rPr lang="en-AU" sz="1600" dirty="0">
                <a:latin typeface="Garamond" panose="02020404030301010803" pitchFamily="18" charset="0"/>
              </a:rPr>
              <a:t>Make sure you conclude the presentation properly by covering: a summary, a key takeaway point/points, and closing remarks. This may sound like this: </a:t>
            </a:r>
            <a:endParaRPr lang="en-US" sz="1600" dirty="0">
              <a:latin typeface="Garamond" panose="02020404030301010803" pitchFamily="18" charset="0"/>
            </a:endParaRPr>
          </a:p>
          <a:p>
            <a:r>
              <a:rPr lang="en-AU" sz="1600" dirty="0">
                <a:latin typeface="Garamond" panose="02020404030301010803" pitchFamily="18" charset="0"/>
              </a:rPr>
              <a:t>“Overall,</a:t>
            </a:r>
            <a:r>
              <a:rPr lang="en-AU" sz="1600" i="1" dirty="0">
                <a:latin typeface="Garamond" panose="02020404030301010803" pitchFamily="18" charset="0"/>
              </a:rPr>
              <a:t> we found that the article provides an interesting insight into the industry, namely… [i.e. a takeaway point] … This concludes our presentation, and thank you very much for listening. Do you have any questions? [i.e. a closing remark]”</a:t>
            </a:r>
            <a:endParaRPr lang="en-US" sz="1600" i="1" dirty="0">
              <a:latin typeface="Garamond" panose="02020404030301010803" pitchFamily="18" charset="0"/>
            </a:endParaRPr>
          </a:p>
          <a:p>
            <a:pPr fontAlgn="t"/>
            <a:r>
              <a:rPr lang="en-US" sz="1600" dirty="0">
                <a:latin typeface="Garamond" panose="02020404030301010803" pitchFamily="18" charset="0"/>
              </a:rPr>
              <a:t> </a:t>
            </a:r>
          </a:p>
          <a:p>
            <a:pPr fontAlgn="t"/>
            <a:r>
              <a:rPr lang="en-US" sz="1600" dirty="0">
                <a:latin typeface="Garamond" panose="02020404030301010803" pitchFamily="18" charset="0"/>
              </a:rPr>
              <a:t> </a:t>
            </a:r>
          </a:p>
          <a:p>
            <a:pPr>
              <a:lnSpc>
                <a:spcPct val="107000"/>
              </a:lnSpc>
            </a:pPr>
            <a:endParaRPr lang="en-US" sz="16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5099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A05DDA-7658-EACA-6D43-633899128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F721CC-808E-577F-4A90-1F861FF2F9D8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FEB731-7B47-35FC-8F66-DC8DEF612D49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8D3775-7998-94BD-2548-8C56F7D9026C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A9275A-B296-2A83-C02E-1342587C8437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21CDB7-2427-4499-1FCB-3E2900F728F9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Garamond"/>
              </a:rPr>
              <a:t>Stage 3 : Narratives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89A35B1-6F6A-6CA0-EE44-466B9DDFC7A0}"/>
              </a:ext>
            </a:extLst>
          </p:cNvPr>
          <p:cNvSpPr txBox="1">
            <a:spLocks/>
          </p:cNvSpPr>
          <p:nvPr/>
        </p:nvSpPr>
        <p:spPr>
          <a:xfrm>
            <a:off x="521550" y="1647068"/>
            <a:ext cx="8478942" cy="334837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2100" dirty="0">
              <a:latin typeface="Garamond" panose="020204040303010108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AC22D0-011F-F250-A6AD-24E5BE6BA0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990"/>
          <a:stretch/>
        </p:blipFill>
        <p:spPr>
          <a:xfrm>
            <a:off x="2401406" y="1448421"/>
            <a:ext cx="5243993" cy="2415772"/>
          </a:xfrm>
          <a:prstGeom prst="rect">
            <a:avLst/>
          </a:prstGeom>
          <a:effectLst/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E9673B1F-63AC-CA3C-99B6-91323FC5A810}"/>
              </a:ext>
            </a:extLst>
          </p:cNvPr>
          <p:cNvSpPr/>
          <p:nvPr/>
        </p:nvSpPr>
        <p:spPr>
          <a:xfrm>
            <a:off x="8514438" y="1923678"/>
            <a:ext cx="162018" cy="2160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A10E95-8460-FD0A-8EBB-27E86180BE6B}"/>
              </a:ext>
            </a:extLst>
          </p:cNvPr>
          <p:cNvSpPr txBox="1"/>
          <p:nvPr/>
        </p:nvSpPr>
        <p:spPr>
          <a:xfrm>
            <a:off x="297180" y="885556"/>
            <a:ext cx="8686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1" dirty="0">
                <a:solidFill>
                  <a:srgbClr val="027EB5"/>
                </a:solidFill>
                <a:latin typeface="Garamond"/>
              </a:rPr>
              <a:t>A good narrative makes the information relevant </a:t>
            </a:r>
            <a:r>
              <a:rPr lang="en-US" sz="2000" i="1" dirty="0">
                <a:solidFill>
                  <a:srgbClr val="027EB5"/>
                </a:solidFill>
                <a:latin typeface="Garamond"/>
              </a:rPr>
              <a:t>to the audience. </a:t>
            </a:r>
            <a:r>
              <a:rPr lang="en-US" sz="2000" b="0" i="1" dirty="0">
                <a:solidFill>
                  <a:srgbClr val="027EB5"/>
                </a:solidFill>
                <a:latin typeface="Garamond"/>
              </a:rPr>
              <a:t>It transforms the information into usable intelligence. </a:t>
            </a:r>
            <a:endParaRPr sz="2000" b="0" i="1" dirty="0">
              <a:solidFill>
                <a:srgbClr val="027EB5"/>
              </a:solidFill>
              <a:latin typeface="Garamon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0B1C8E-7202-5761-CA20-AF889E55E90E}"/>
              </a:ext>
            </a:extLst>
          </p:cNvPr>
          <p:cNvSpPr txBox="1"/>
          <p:nvPr/>
        </p:nvSpPr>
        <p:spPr>
          <a:xfrm>
            <a:off x="2616200" y="4134670"/>
            <a:ext cx="391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Garamond" panose="02020404030301010803" pitchFamily="18" charset="0"/>
              </a:rPr>
              <a:t>Story-telling is a good way of giving a good narrative.</a:t>
            </a:r>
          </a:p>
        </p:txBody>
      </p:sp>
    </p:spTree>
    <p:extLst>
      <p:ext uri="{BB962C8B-B14F-4D97-AF65-F5344CB8AC3E}">
        <p14:creationId xmlns:p14="http://schemas.microsoft.com/office/powerpoint/2010/main" val="24646708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CBBABA-26FA-576C-E2C3-8132D2E33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4F32BF-9377-81FD-C2B4-0170E4376585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48FB09-5231-3A43-A49A-0ADC999BCE94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6F0E43-044B-86F0-1078-2CC3DF21E897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77A573-55F5-28F6-A998-785003EC7E78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909E5F-C87B-789A-3641-97F8DCAB8320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Garamond"/>
              </a:rPr>
              <a:t>Stage 4 : Delivery Style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F70D54B-64C5-1286-BDDF-85D077745FED}"/>
              </a:ext>
            </a:extLst>
          </p:cNvPr>
          <p:cNvSpPr txBox="1">
            <a:spLocks/>
          </p:cNvSpPr>
          <p:nvPr/>
        </p:nvSpPr>
        <p:spPr>
          <a:xfrm>
            <a:off x="521550" y="1647068"/>
            <a:ext cx="8478942" cy="334837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2100" dirty="0">
              <a:latin typeface="Garamond" panose="02020404030301010803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DB15832-53C8-10E0-EDAB-6C341A91C54E}"/>
              </a:ext>
            </a:extLst>
          </p:cNvPr>
          <p:cNvSpPr/>
          <p:nvPr/>
        </p:nvSpPr>
        <p:spPr>
          <a:xfrm>
            <a:off x="8514438" y="1923678"/>
            <a:ext cx="162018" cy="2160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7EDD17-4573-7DF0-3388-471603032F13}"/>
              </a:ext>
            </a:extLst>
          </p:cNvPr>
          <p:cNvSpPr txBox="1"/>
          <p:nvPr/>
        </p:nvSpPr>
        <p:spPr>
          <a:xfrm>
            <a:off x="297180" y="885556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kern="0" dirty="0">
                <a:solidFill>
                  <a:srgbClr val="00B0F0"/>
                </a:solidFill>
                <a:latin typeface="Garamond" panose="02020404030301010803" pitchFamily="18" charset="0"/>
              </a:rPr>
              <a:t>Presentations as performance: </a:t>
            </a:r>
            <a:r>
              <a:rPr lang="en-US" sz="2000" i="1" dirty="0">
                <a:solidFill>
                  <a:srgbClr val="00B0F0"/>
                </a:solidFill>
                <a:latin typeface="Garamond" panose="02020404030301010803" pitchFamily="18" charset="0"/>
              </a:rPr>
              <a:t>Who presents, matters. </a:t>
            </a:r>
          </a:p>
        </p:txBody>
      </p:sp>
      <p:pic>
        <p:nvPicPr>
          <p:cNvPr id="7" name="MnrJzXM7a6o">
            <a:extLst>
              <a:ext uri="{FF2B5EF4-FFF2-40B4-BE49-F238E27FC236}">
                <a16:creationId xmlns:a16="http://schemas.microsoft.com/office/drawing/2014/main" id="{8C24129F-D57C-4F88-9CEC-758531862D1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418521" y="1393982"/>
            <a:ext cx="5778642" cy="325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364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aramond"/>
              </a:rPr>
              <a:t>Delivery Tips — How You Present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868680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 dirty="0">
                <a:solidFill>
                  <a:srgbClr val="027EB5"/>
                </a:solidFill>
                <a:latin typeface="Garamond"/>
              </a:rPr>
              <a:t>Amy Cuddy's TED Talk “Your Body Language May Shape Who You Are” — Key Insights: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80160"/>
            <a:ext cx="85039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buChar char="▪"/>
            </a:pPr>
            <a:r>
              <a:rPr sz="2000" b="0" i="0" dirty="0">
                <a:solidFill>
                  <a:srgbClr val="1A1A1A"/>
                </a:solidFill>
                <a:latin typeface="Garamond"/>
              </a:rPr>
              <a:t>Power postures affect confidence and how others perceive your competence</a:t>
            </a:r>
          </a:p>
          <a:p>
            <a:pPr marL="182880" indent="-182880">
              <a:buChar char="▪"/>
            </a:pPr>
            <a:r>
              <a:rPr sz="2000" b="0" i="0" dirty="0">
                <a:solidFill>
                  <a:srgbClr val="1A1A1A"/>
                </a:solidFill>
                <a:latin typeface="Garamond"/>
              </a:rPr>
              <a:t>Eye contact, posture, voice projection, and pacing all communicate credibility</a:t>
            </a:r>
          </a:p>
          <a:p>
            <a:pPr marL="182880" indent="-182880">
              <a:buChar char="▪"/>
            </a:pPr>
            <a:r>
              <a:rPr sz="2000" b="0" i="0" dirty="0" err="1">
                <a:solidFill>
                  <a:srgbClr val="1A1A1A"/>
                </a:solidFill>
                <a:latin typeface="Garamond"/>
              </a:rPr>
              <a:t>Practise</a:t>
            </a:r>
            <a:r>
              <a:rPr sz="2000" b="0" i="0" dirty="0">
                <a:solidFill>
                  <a:srgbClr val="1A1A1A"/>
                </a:solidFill>
                <a:latin typeface="Garamond"/>
              </a:rPr>
              <a:t> out loud — reading silently and presenting aloud are very different skills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aramond"/>
              </a:rPr>
              <a:t>Visual Aids &amp; Delivery — Best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868680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 dirty="0">
                <a:solidFill>
                  <a:srgbClr val="027EB5"/>
                </a:solidFill>
                <a:latin typeface="Garamond"/>
              </a:rPr>
              <a:t>The 10-20-30 Rule (Guy Kawasaki) for presentations: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80160"/>
            <a:ext cx="85039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buChar char="▪"/>
            </a:pPr>
            <a:r>
              <a:rPr sz="2000" b="0" i="0" dirty="0">
                <a:solidFill>
                  <a:srgbClr val="1A1A1A"/>
                </a:solidFill>
                <a:latin typeface="Garamond"/>
              </a:rPr>
              <a:t>10 slides — the optimal number. More than 10 slides = losing your audience.</a:t>
            </a:r>
          </a:p>
          <a:p>
            <a:pPr marL="182880" indent="-182880">
              <a:buChar char="▪"/>
            </a:pPr>
            <a:r>
              <a:rPr sz="2000" b="0" i="0" dirty="0">
                <a:solidFill>
                  <a:srgbClr val="1A1A1A"/>
                </a:solidFill>
                <a:latin typeface="Garamond"/>
              </a:rPr>
              <a:t>20 minutes — maximum speaking time to maintain audience attention and energy.</a:t>
            </a:r>
          </a:p>
          <a:p>
            <a:pPr marL="182880" indent="-182880">
              <a:buChar char="▪"/>
            </a:pPr>
            <a:r>
              <a:rPr sz="2000" b="0" i="0" dirty="0">
                <a:solidFill>
                  <a:srgbClr val="1A1A1A"/>
                </a:solidFill>
                <a:latin typeface="Garamond"/>
              </a:rPr>
              <a:t>30 point font — minimum size. If you need to go smaller, you have too much text on that slide.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aramond"/>
              </a:rPr>
              <a:t>💬  Discussion Point — Know Your Audience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68680"/>
            <a:ext cx="8686800" cy="4572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320040" y="886968"/>
            <a:ext cx="45736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1">
                <a:solidFill>
                  <a:srgbClr val="FFFFFF"/>
                </a:solidFill>
                <a:latin typeface="Garamond"/>
              </a:rPr>
              <a:t>3 minutes — discuss with the person next to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44752"/>
            <a:ext cx="292608" cy="292608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241694" y="1444752"/>
            <a:ext cx="26642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35608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1A"/>
                </a:solidFill>
                <a:latin typeface="Garamond"/>
              </a:rPr>
              <a:t>Think of a presentation you've seen. Who was the intended audience — and how could you tell?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039112"/>
            <a:ext cx="292608" cy="292608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234481" y="2039112"/>
            <a:ext cx="2808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951905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1A1A1A"/>
                </a:solidFill>
                <a:latin typeface="Garamond"/>
              </a:rPr>
              <a:t>As an IT professional presenting to non-technical management — what would you change about your language and structure?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633472"/>
            <a:ext cx="292608" cy="292608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234481" y="2633472"/>
            <a:ext cx="2808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24328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1A"/>
                </a:solidFill>
                <a:latin typeface="Garamond"/>
              </a:rPr>
              <a:t>What is the difference between an informational and a motivational presentation? When would you use each?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83C6E8-6715-16EF-5217-C9F085F8D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890426-77C3-4B12-9126-75C239D801EF}"/>
              </a:ext>
            </a:extLst>
          </p:cNvPr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B25E10-102B-39B2-B198-621F8025CD3D}"/>
              </a:ext>
            </a:extLst>
          </p:cNvPr>
          <p:cNvSpPr/>
          <p:nvPr/>
        </p:nvSpPr>
        <p:spPr>
          <a:xfrm>
            <a:off x="457200" y="2286000"/>
            <a:ext cx="3657600" cy="54864"/>
          </a:xfrm>
          <a:prstGeom prst="rect">
            <a:avLst/>
          </a:prstGeom>
          <a:solidFill>
            <a:srgbClr val="5BC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2D93C5-4EE6-EBF3-1D55-B2EBB7C671C1}"/>
              </a:ext>
            </a:extLst>
          </p:cNvPr>
          <p:cNvSpPr txBox="1"/>
          <p:nvPr/>
        </p:nvSpPr>
        <p:spPr>
          <a:xfrm>
            <a:off x="457200" y="137160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Garamond"/>
              </a:rPr>
              <a:t>Part 5 :</a:t>
            </a:r>
            <a:r>
              <a:rPr sz="3600" b="1" dirty="0">
                <a:solidFill>
                  <a:srgbClr val="FFFFFF"/>
                </a:solidFill>
                <a:latin typeface="Garamond"/>
              </a:rPr>
              <a:t> Minto Pyramid Principle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E21A9-2EBC-AE38-1C9A-D910675E5E0D}"/>
              </a:ext>
            </a:extLst>
          </p:cNvPr>
          <p:cNvSpPr txBox="1"/>
          <p:nvPr/>
        </p:nvSpPr>
        <p:spPr>
          <a:xfrm>
            <a:off x="457200" y="2560320"/>
            <a:ext cx="460792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200" i="1" dirty="0">
                <a:solidFill>
                  <a:srgbClr val="5BC2E7"/>
                </a:solidFill>
                <a:latin typeface="Garamond"/>
              </a:rPr>
              <a:t>Visual Aids techniques to engage your audience</a:t>
            </a:r>
            <a:endParaRPr sz="2200" i="1" dirty="0">
              <a:solidFill>
                <a:srgbClr val="5BC2E7"/>
              </a:solidFill>
              <a:latin typeface="Garamon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2960A-759F-B4CB-49E9-72297B7B5CF0}"/>
              </a:ext>
            </a:extLst>
          </p:cNvPr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C2E7"/>
                </a:solidFill>
                <a:latin typeface="Garamond"/>
              </a:rPr>
              <a:t>FIT1055: IT Professional Practice and Ethics  |  Week 2</a:t>
            </a:r>
          </a:p>
        </p:txBody>
      </p:sp>
    </p:spTree>
    <p:extLst>
      <p:ext uri="{BB962C8B-B14F-4D97-AF65-F5344CB8AC3E}">
        <p14:creationId xmlns:p14="http://schemas.microsoft.com/office/powerpoint/2010/main" val="1470007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aramond"/>
              </a:rPr>
              <a:t>🔺  The Minto Pyramid Principle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68680"/>
            <a:ext cx="8686800" cy="4572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320040" y="886968"/>
            <a:ext cx="45736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1">
                <a:solidFill>
                  <a:srgbClr val="FFFFFF"/>
                </a:solidFill>
                <a:latin typeface="Garamond"/>
              </a:rPr>
              <a:t>Start with your conclusion — then support it with evidence (top-down structure)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44752"/>
            <a:ext cx="292608" cy="292608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241694" y="1444752"/>
            <a:ext cx="26642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35608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1A"/>
                </a:solidFill>
                <a:latin typeface="Garamond"/>
              </a:rPr>
              <a:t>Situation → Complication → Question → Answer (SCQA) — the backbone of structured communication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039112"/>
            <a:ext cx="292608" cy="292608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234481" y="2039112"/>
            <a:ext cx="2808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029968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1A"/>
                </a:solidFill>
                <a:latin typeface="Garamond"/>
              </a:rPr>
              <a:t>See “Sample slides using Minto Principle” on Week 2 Moodle under Resources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633472"/>
            <a:ext cx="292608" cy="292608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234481" y="2633472"/>
            <a:ext cx="2808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24328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A1A1A"/>
                </a:solidFill>
                <a:latin typeface="Garamond"/>
              </a:rPr>
              <a:t>Used widely in consulting — directly applicable to your Assignment 2 group presentation (10%)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907665-F387-A13B-3A95-7174DA2E5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455AF9-E31A-0B85-A0E5-C288E803738F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6EA4C2-B138-EA6D-DB75-59F66560E72B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7D4118-DEF9-B528-4ED7-428C7F9C4992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12AFA-490D-6DB3-EA9E-67EAE04B8CE5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E03631-B752-3C71-9C51-05FA1F66750B}"/>
              </a:ext>
            </a:extLst>
          </p:cNvPr>
          <p:cNvSpPr txBox="1"/>
          <p:nvPr/>
        </p:nvSpPr>
        <p:spPr>
          <a:xfrm>
            <a:off x="228599" y="73152"/>
            <a:ext cx="8974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FFFFF"/>
                </a:solidFill>
                <a:latin typeface="Garamond"/>
              </a:rPr>
              <a:t>🔺  </a:t>
            </a:r>
            <a:r>
              <a:rPr lang="en-US" sz="2400" b="1" dirty="0">
                <a:solidFill>
                  <a:srgbClr val="FFFFFF"/>
                </a:solidFill>
                <a:latin typeface="Garamond"/>
              </a:rPr>
              <a:t>How to structure a presentation: The Minto Pyramid Principle</a:t>
            </a:r>
            <a:endParaRPr sz="2400" b="1" dirty="0">
              <a:solidFill>
                <a:srgbClr val="FFFFFF"/>
              </a:solidFill>
              <a:latin typeface="Garamond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B1F1B19-D222-78B2-CD8C-FA01730C4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242" y="872503"/>
            <a:ext cx="6672624" cy="35929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B556412-075D-3C3E-6AF8-5F5669FE1D9A}"/>
              </a:ext>
            </a:extLst>
          </p:cNvPr>
          <p:cNvSpPr txBox="1"/>
          <p:nvPr/>
        </p:nvSpPr>
        <p:spPr>
          <a:xfrm>
            <a:off x="3395133" y="4444538"/>
            <a:ext cx="52884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1600" dirty="0">
                <a:latin typeface="Garamond" panose="02020404030301010803" pitchFamily="18" charset="0"/>
              </a:rPr>
              <a:t>(</a:t>
            </a:r>
            <a:r>
              <a:rPr lang="en-AU" sz="1600" dirty="0" err="1">
                <a:latin typeface="Garamond" panose="02020404030301010803" pitchFamily="18" charset="0"/>
                <a:hlinkClick r:id="rId3"/>
              </a:rPr>
              <a:t>PowerUser</a:t>
            </a:r>
            <a:r>
              <a:rPr lang="en-AU" sz="1600" dirty="0">
                <a:latin typeface="Garamond" panose="02020404030301010803" pitchFamily="18" charset="0"/>
                <a:hlinkClick r:id="rId3"/>
              </a:rPr>
              <a:t>, 2016</a:t>
            </a:r>
            <a:r>
              <a:rPr lang="en-AU" sz="1600" dirty="0">
                <a:latin typeface="Garamond" panose="02020404030301010803" pitchFamily="18" charset="0"/>
              </a:rPr>
              <a:t>; based on </a:t>
            </a:r>
            <a:r>
              <a:rPr lang="en-AU" sz="1600" dirty="0">
                <a:latin typeface="Garamond" panose="02020404030301010803" pitchFamily="18" charset="0"/>
                <a:hlinkClick r:id="rId4"/>
              </a:rPr>
              <a:t>Minto, 2009</a:t>
            </a:r>
            <a:r>
              <a:rPr lang="en-AU" sz="1600" dirty="0">
                <a:latin typeface="Garamond" panose="02020404030301010803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810974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0AF47-9045-6E0A-35B8-92256D516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90F128-7051-3632-BF64-87EA88344CB5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AF803D-4945-CD1A-3BBC-B9292FFADC4E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7E0147-2D36-622D-E9AE-E09D41BB243F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F0A53-9D9A-4C87-FC2E-F688E224326D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E49FE2-00D1-1F15-0F06-E70C9776B45D}"/>
              </a:ext>
            </a:extLst>
          </p:cNvPr>
          <p:cNvSpPr txBox="1"/>
          <p:nvPr/>
        </p:nvSpPr>
        <p:spPr>
          <a:xfrm>
            <a:off x="228600" y="10090"/>
            <a:ext cx="89154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b="1" dirty="0">
                <a:solidFill>
                  <a:schemeClr val="bg1"/>
                </a:solidFill>
                <a:latin typeface="Garamond"/>
              </a:rPr>
              <a:t>Quiz 3: </a:t>
            </a:r>
            <a:r>
              <a:rPr lang="en-US" sz="2300" b="1" dirty="0">
                <a:solidFill>
                  <a:schemeClr val="bg1"/>
                </a:solidFill>
                <a:latin typeface="Garamond" panose="02020404030301010803" pitchFamily="18" charset="0"/>
              </a:rPr>
              <a:t>Minto Pyramid Principle Application</a:t>
            </a:r>
            <a:endParaRPr sz="2300" b="1" dirty="0">
              <a:solidFill>
                <a:schemeClr val="bg1"/>
              </a:solidFill>
              <a:latin typeface="Garamond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8ED921-B479-BC9A-31B8-AF3DBCCFFFBE}"/>
              </a:ext>
            </a:extLst>
          </p:cNvPr>
          <p:cNvSpPr/>
          <p:nvPr/>
        </p:nvSpPr>
        <p:spPr>
          <a:xfrm>
            <a:off x="228600" y="868680"/>
            <a:ext cx="8686800" cy="4572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51779B-CB5F-2384-ADB6-B1ADF8180DCB}"/>
              </a:ext>
            </a:extLst>
          </p:cNvPr>
          <p:cNvSpPr txBox="1"/>
          <p:nvPr/>
        </p:nvSpPr>
        <p:spPr>
          <a:xfrm>
            <a:off x="320040" y="886968"/>
            <a:ext cx="380565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b="1" i="1" dirty="0">
                <a:solidFill>
                  <a:srgbClr val="FFFFFF"/>
                </a:solidFill>
                <a:latin typeface="Garamond"/>
              </a:rPr>
              <a:t>Before we begin, please do the following</a:t>
            </a:r>
            <a:endParaRPr b="1" i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D00495-CEC7-3E14-A14E-B6B3431DD17D}"/>
              </a:ext>
            </a:extLst>
          </p:cNvPr>
          <p:cNvSpPr/>
          <p:nvPr/>
        </p:nvSpPr>
        <p:spPr>
          <a:xfrm>
            <a:off x="228600" y="1444752"/>
            <a:ext cx="292608" cy="292608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0F7AF8-BD3E-0D98-781F-30CD8B8ADEEC}"/>
              </a:ext>
            </a:extLst>
          </p:cNvPr>
          <p:cNvSpPr txBox="1"/>
          <p:nvPr/>
        </p:nvSpPr>
        <p:spPr>
          <a:xfrm>
            <a:off x="241694" y="1444752"/>
            <a:ext cx="2664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668B76-CDD0-528A-7D05-AA38974AC8FB}"/>
              </a:ext>
            </a:extLst>
          </p:cNvPr>
          <p:cNvSpPr txBox="1"/>
          <p:nvPr/>
        </p:nvSpPr>
        <p:spPr>
          <a:xfrm>
            <a:off x="594360" y="1435608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A1A1A"/>
                </a:solidFill>
                <a:latin typeface="Garamond"/>
              </a:rPr>
              <a:t>First review the sample slide on Minto Pyramid Principle on Moodle Week 2 page, located under “Resources”. </a:t>
            </a:r>
            <a:endParaRPr dirty="0">
              <a:solidFill>
                <a:srgbClr val="1A1A1A"/>
              </a:solidFill>
              <a:latin typeface="Garamond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4494B5-62BA-F8E4-3B5F-A9DEFB704182}"/>
              </a:ext>
            </a:extLst>
          </p:cNvPr>
          <p:cNvSpPr/>
          <p:nvPr/>
        </p:nvSpPr>
        <p:spPr>
          <a:xfrm>
            <a:off x="228600" y="2039112"/>
            <a:ext cx="292608" cy="292608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9DBEAE-8C70-0E91-DDF0-0C45B9811D06}"/>
              </a:ext>
            </a:extLst>
          </p:cNvPr>
          <p:cNvSpPr txBox="1"/>
          <p:nvPr/>
        </p:nvSpPr>
        <p:spPr>
          <a:xfrm>
            <a:off x="234481" y="2039112"/>
            <a:ext cx="28084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E9CF8E-F644-3A86-4AF5-D4CE3F66E703}"/>
              </a:ext>
            </a:extLst>
          </p:cNvPr>
          <p:cNvSpPr txBox="1"/>
          <p:nvPr/>
        </p:nvSpPr>
        <p:spPr>
          <a:xfrm>
            <a:off x="534302" y="2571750"/>
            <a:ext cx="822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Garamond"/>
              </a:rPr>
              <a:t>Attempt the quiz on this link: </a:t>
            </a:r>
            <a:r>
              <a:rPr lang="en-US" dirty="0">
                <a:latin typeface="Garamond"/>
                <a:hlinkClick r:id="rId2"/>
              </a:rPr>
              <a:t>https://quizizz.com/join?gc=30926040</a:t>
            </a:r>
            <a:endParaRPr lang="en-US" dirty="0">
              <a:latin typeface="Garamond"/>
            </a:endParaRPr>
          </a:p>
          <a:p>
            <a:endParaRPr lang="en-US" dirty="0">
              <a:latin typeface="Garamond" panose="02020404030301010803" pitchFamily="18" charset="0"/>
              <a:ea typeface="Arial" panose="020B0604020202020204" pitchFamily="34" charset="0"/>
            </a:endParaRPr>
          </a:p>
          <a:p>
            <a:r>
              <a:rPr lang="en-US" dirty="0">
                <a:latin typeface="Garamond"/>
              </a:rPr>
              <a:t> </a:t>
            </a:r>
            <a:endParaRPr dirty="0">
              <a:latin typeface="Garamon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DEC3B3-FACA-C9BA-5BAE-2DBD6CDB06F4}"/>
              </a:ext>
            </a:extLst>
          </p:cNvPr>
          <p:cNvSpPr txBox="1"/>
          <p:nvPr/>
        </p:nvSpPr>
        <p:spPr>
          <a:xfrm>
            <a:off x="588479" y="2039112"/>
            <a:ext cx="4614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A1A1A"/>
                </a:solidFill>
                <a:latin typeface="Garamond"/>
              </a:rPr>
              <a:t>Spend 10 minutes to go through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A238BE-D348-138A-4199-AC05AC294678}"/>
              </a:ext>
            </a:extLst>
          </p:cNvPr>
          <p:cNvSpPr/>
          <p:nvPr/>
        </p:nvSpPr>
        <p:spPr>
          <a:xfrm>
            <a:off x="235813" y="2605117"/>
            <a:ext cx="292608" cy="292608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28A2D2-B93A-201B-5286-2C51B178EDE4}"/>
              </a:ext>
            </a:extLst>
          </p:cNvPr>
          <p:cNvSpPr txBox="1"/>
          <p:nvPr/>
        </p:nvSpPr>
        <p:spPr>
          <a:xfrm>
            <a:off x="241694" y="2605117"/>
            <a:ext cx="28084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70F8EA-FA7C-7430-A78B-346A5146D51B}"/>
              </a:ext>
            </a:extLst>
          </p:cNvPr>
          <p:cNvSpPr txBox="1"/>
          <p:nvPr/>
        </p:nvSpPr>
        <p:spPr>
          <a:xfrm>
            <a:off x="228600" y="3790069"/>
            <a:ext cx="82892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6DAE"/>
                </a:solidFill>
                <a:latin typeface="Garamond"/>
              </a:rPr>
              <a:t>What does this quiz assess?</a:t>
            </a:r>
          </a:p>
          <a:p>
            <a:pPr marL="182880" indent="-182880">
              <a:buChar char="▪"/>
            </a:pPr>
            <a:r>
              <a:rPr lang="en-US" sz="1800" dirty="0">
                <a:solidFill>
                  <a:srgbClr val="1A1A1A"/>
                </a:solidFill>
                <a:latin typeface="Garamond"/>
              </a:rPr>
              <a:t>Your ability to identify the structure in a real-world presentation</a:t>
            </a:r>
          </a:p>
          <a:p>
            <a:pPr marL="182880" indent="-182880">
              <a:buChar char="▪"/>
            </a:pPr>
            <a:r>
              <a:rPr lang="en-US" sz="1800" dirty="0">
                <a:solidFill>
                  <a:srgbClr val="1A1A1A"/>
                </a:solidFill>
                <a:latin typeface="Garamond"/>
              </a:rPr>
              <a:t>Your understanding of top-down communication — answer first, then evidence</a:t>
            </a:r>
            <a:endParaRPr lang="en-US" sz="1800" b="1" dirty="0">
              <a:solidFill>
                <a:srgbClr val="006DAE"/>
              </a:solidFill>
              <a:latin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1559848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A6ECF-D64D-62B0-86C0-1358D528A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3B3F44-5E57-1C24-E0F2-DF6E19AEBBB2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A8A444-AA9C-AD8E-B2BA-751C9C5EE73B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6E0AD0-F5CE-0732-3AA0-8DA491751985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C77070-F51B-EAC4-9D13-1CA61D7EDBC3}"/>
              </a:ext>
            </a:extLst>
          </p:cNvPr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A4FCE8-B506-DC11-31F3-21446170BB6D}"/>
              </a:ext>
            </a:extLst>
          </p:cNvPr>
          <p:cNvSpPr txBox="1"/>
          <p:nvPr/>
        </p:nvSpPr>
        <p:spPr>
          <a:xfrm>
            <a:off x="228600" y="73152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Garamond"/>
              </a:rPr>
              <a:t>One of the greatest talks</a:t>
            </a:r>
            <a:endParaRPr sz="26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2ED4FB-DF1B-4738-059A-7187ABBD5583}"/>
              </a:ext>
            </a:extLst>
          </p:cNvPr>
          <p:cNvSpPr/>
          <p:nvPr/>
        </p:nvSpPr>
        <p:spPr>
          <a:xfrm>
            <a:off x="228600" y="868680"/>
            <a:ext cx="8686800" cy="4572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B39453-F09D-551A-1A6E-87FB050A6EF3}"/>
              </a:ext>
            </a:extLst>
          </p:cNvPr>
          <p:cNvSpPr txBox="1"/>
          <p:nvPr/>
        </p:nvSpPr>
        <p:spPr>
          <a:xfrm>
            <a:off x="320040" y="886968"/>
            <a:ext cx="747031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i="1" dirty="0">
                <a:solidFill>
                  <a:srgbClr val="FFFFFF"/>
                </a:solidFill>
                <a:latin typeface="Garamond"/>
              </a:rPr>
              <a:t>Watch and gather some insights to understand what made this one of the top </a:t>
            </a:r>
            <a:r>
              <a:rPr lang="en-US" sz="1600" b="1" i="1" dirty="0" err="1">
                <a:solidFill>
                  <a:srgbClr val="FFFFFF"/>
                </a:solidFill>
                <a:latin typeface="Garamond"/>
              </a:rPr>
              <a:t>TEDTalks</a:t>
            </a:r>
            <a:r>
              <a:rPr lang="en-US" sz="1600" b="1" i="1" dirty="0">
                <a:solidFill>
                  <a:srgbClr val="FFFFFF"/>
                </a:solidFill>
                <a:latin typeface="Garamond"/>
              </a:rPr>
              <a:t>?</a:t>
            </a:r>
            <a:endParaRPr sz="1600" b="1" i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2ACCEC-BD6B-A37C-03E5-22F01E568262}"/>
              </a:ext>
            </a:extLst>
          </p:cNvPr>
          <p:cNvSpPr txBox="1"/>
          <p:nvPr/>
        </p:nvSpPr>
        <p:spPr>
          <a:xfrm>
            <a:off x="2819839" y="4471092"/>
            <a:ext cx="4614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Garamond" panose="02020404030301010803" pitchFamily="18" charset="0"/>
              </a:rPr>
              <a:t>Link: </a:t>
            </a:r>
            <a:r>
              <a:rPr lang="en-US" sz="1600" dirty="0">
                <a:latin typeface="Garamond" panose="02020404030301010803" pitchFamily="18" charset="0"/>
                <a:hlinkClick r:id="rId2"/>
              </a:rPr>
              <a:t>The power of Grit</a:t>
            </a:r>
            <a:endParaRPr lang="en-US" sz="1600" dirty="0">
              <a:latin typeface="Garamond" panose="020204040303010108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088838-2954-04FB-E84D-CB380D393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663" y="1417320"/>
            <a:ext cx="4259067" cy="298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725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aramond"/>
              </a:rPr>
              <a:t>Things To Do This Week 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868680"/>
            <a:ext cx="868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 dirty="0">
                <a:solidFill>
                  <a:srgbClr val="027EB5"/>
                </a:solidFill>
                <a:latin typeface="Garamond"/>
              </a:rPr>
              <a:t>Make sure you complete all of the following before next week's session: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80160"/>
            <a:ext cx="85039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000" dirty="0">
                <a:latin typeface="Garamond" panose="02020404030301010803" pitchFamily="18" charset="0"/>
              </a:rPr>
              <a:t>Attend your Applied Session — you will work in groups and </a:t>
            </a:r>
            <a:r>
              <a:rPr lang="en-US" sz="2000" dirty="0" err="1">
                <a:latin typeface="Garamond" panose="02020404030301010803" pitchFamily="18" charset="0"/>
              </a:rPr>
              <a:t>practise</a:t>
            </a:r>
            <a:r>
              <a:rPr lang="en-US" sz="2000" dirty="0">
                <a:latin typeface="Garamond" panose="02020404030301010803" pitchFamily="18" charset="0"/>
              </a:rPr>
              <a:t> your first group oral presentation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>
                <a:latin typeface="Garamond" panose="02020404030301010803" pitchFamily="18" charset="0"/>
              </a:rPr>
              <a:t>Review the "Sample Slides Using the Minto Pyramid Principle" under Resources on Week 2 Moodle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>
                <a:latin typeface="Garamond" panose="02020404030301010803" pitchFamily="18" charset="0"/>
              </a:rPr>
              <a:t>Understand the expectations for your Assignment 2b group oral presentation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422F37B-9A84-A222-C17A-4C88FB43D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Attend your Applied Session — you will work in groups and practise your first group oral presentation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the "Sample Slides Using the Minto Pyramid Principle" under Resources on Week 2 Moodle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the expectations for your Assignment 2b group oral presentation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AC3E8-B234-74D3-4BA0-977B5476E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Attend your Applied Session — you will work in groups and practise your first group oral presentation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the "Sample Slides Using the Minto Pyramid Principle" under Resources on Week 2 Moodle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the expectations for your Assignment 2b group oral presentation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49103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27EB5"/>
                </a:solidFill>
                <a:latin typeface="Garamond"/>
              </a:rPr>
              <a:t>FIT1055: IT Professional Practice and Ethics  |  Week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315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aramond"/>
              </a:rPr>
              <a:t>Summary — What You Covered in Week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68680"/>
            <a:ext cx="411480" cy="640080"/>
          </a:xfrm>
          <a:prstGeom prst="rect">
            <a:avLst/>
          </a:prstGeom>
          <a:solidFill>
            <a:srgbClr val="00A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1024127"/>
            <a:ext cx="411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✓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868680"/>
            <a:ext cx="8229600" cy="640080"/>
          </a:xfrm>
          <a:prstGeom prst="rect">
            <a:avLst/>
          </a:prstGeom>
          <a:solidFill>
            <a:srgbClr val="F5F5F5"/>
          </a:solidFill>
          <a:ln w="381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923544"/>
            <a:ext cx="79552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B5C"/>
                </a:solidFill>
                <a:latin typeface="Garamond"/>
              </a:rPr>
              <a:t>Theory of Communication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207007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Garamond"/>
              </a:rPr>
              <a:t>Speech Act Theory (Austin &amp; Searle) · Common Ground (Clark) · Grounding in conversation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673352"/>
            <a:ext cx="411480" cy="640080"/>
          </a:xfrm>
          <a:prstGeom prst="rect">
            <a:avLst/>
          </a:prstGeom>
          <a:solidFill>
            <a:srgbClr val="00A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" y="1828800"/>
            <a:ext cx="411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1673352"/>
            <a:ext cx="822960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1728216"/>
            <a:ext cx="79552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B5C"/>
                </a:solidFill>
                <a:latin typeface="Garamond"/>
              </a:rPr>
              <a:t>Professional Communication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011680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Garamond"/>
              </a:rPr>
              <a:t>Intrapersonal vs Interpersonal · Assertiveness · Active Listening · Questioning · Feedback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478024"/>
            <a:ext cx="411480" cy="640080"/>
          </a:xfrm>
          <a:prstGeom prst="rect">
            <a:avLst/>
          </a:prstGeom>
          <a:solidFill>
            <a:srgbClr val="00A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8600" y="2633472"/>
            <a:ext cx="411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2478024"/>
            <a:ext cx="8229600" cy="640080"/>
          </a:xfrm>
          <a:prstGeom prst="rect">
            <a:avLst/>
          </a:prstGeom>
          <a:solidFill>
            <a:srgbClr val="F5F5F5"/>
          </a:solidFill>
          <a:ln w="381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532888"/>
            <a:ext cx="79552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B5C"/>
                </a:solidFill>
                <a:latin typeface="Garamond"/>
              </a:rPr>
              <a:t>Effective Writing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816352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Garamond"/>
              </a:rPr>
              <a:t>5-Step approach · Composing clear messages · Professional email conventions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282696"/>
            <a:ext cx="411480" cy="640080"/>
          </a:xfrm>
          <a:prstGeom prst="rect">
            <a:avLst/>
          </a:prstGeom>
          <a:solidFill>
            <a:srgbClr val="00A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8600" y="3438144"/>
            <a:ext cx="411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3282696"/>
            <a:ext cx="822960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3337560"/>
            <a:ext cx="79552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B5C"/>
                </a:solidFill>
                <a:latin typeface="Garamond"/>
              </a:rPr>
              <a:t>Oral Presentation Skills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621024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Garamond"/>
              </a:rPr>
              <a:t>Planning · Narrative · Delivery · Visual Aids · The 10-20-30 Rule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087368"/>
            <a:ext cx="411480" cy="640080"/>
          </a:xfrm>
          <a:prstGeom prst="rect">
            <a:avLst/>
          </a:prstGeom>
          <a:solidFill>
            <a:srgbClr val="00A8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28600" y="4242816"/>
            <a:ext cx="411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Garamond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087368"/>
            <a:ext cx="8229600" cy="640080"/>
          </a:xfrm>
          <a:prstGeom prst="rect">
            <a:avLst/>
          </a:prstGeom>
          <a:solidFill>
            <a:srgbClr val="F5F5F5"/>
          </a:solidFill>
          <a:ln w="3810"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4142231"/>
            <a:ext cx="79552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B5C"/>
                </a:solidFill>
                <a:latin typeface="Garamond"/>
              </a:rPr>
              <a:t>Minto Pyramid Principle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425696"/>
            <a:ext cx="79552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1A1A1A"/>
                </a:solidFill>
                <a:latin typeface="Garamond"/>
              </a:rPr>
              <a:t>The</a:t>
            </a:r>
            <a:r>
              <a:rPr sz="1200" dirty="0">
                <a:solidFill>
                  <a:srgbClr val="1A1A1A"/>
                </a:solidFill>
                <a:latin typeface="Garamond"/>
              </a:rPr>
              <a:t> structure · Top-down communication · Direct application to Assignment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IT1055_Week1_Introduction to Unit_S1_2026" id="{CEE5EA5A-3DAE-AD4E-9B71-C76C29F39667}" vid="{4EA15DC1-AAFD-BA4B-A5CE-EEEEBFBF3F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1161</TotalTime>
  <Words>3282</Words>
  <Application>Microsoft Macintosh PowerPoint</Application>
  <PresentationFormat>On-screen Show (16:9)</PresentationFormat>
  <Paragraphs>374</Paragraphs>
  <Slides>55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Aptos</vt:lpstr>
      <vt:lpstr>Arial</vt:lpstr>
      <vt:lpstr>Calibri</vt:lpstr>
      <vt:lpstr>Garamond</vt:lpstr>
      <vt:lpstr>Wingdings</vt:lpstr>
      <vt:lpstr>Office Theme</vt:lpstr>
      <vt:lpstr>FIT1055: IT professional practice and Ethics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 nailah abdullah</cp:lastModifiedBy>
  <cp:revision>26</cp:revision>
  <dcterms:created xsi:type="dcterms:W3CDTF">2013-01-27T09:14:16Z</dcterms:created>
  <dcterms:modified xsi:type="dcterms:W3CDTF">2026-03-09T05:02:51Z</dcterms:modified>
  <cp:category/>
</cp:coreProperties>
</file>